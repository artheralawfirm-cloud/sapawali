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76" r:id="rId2"/>
    <p:sldId id="274" r:id="rId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Jawaban Klaster 1" id="{42D954AB-5964-A28A-8CA9-921A27830BDC}">
          <p14:sldIdLst>
            <p14:sldId id="276"/>
            <p14:sldId id="274"/>
          </p14:sldIdLst>
        </p14:section>
        <p14:section name="Fokus Pengaturan" id="{B03D1171-93E4-F3D6-E8BE-61CBB919F8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D38949-4467-4295-BB9A-57BE3FB083BE}" v="285" dt="2026-10-02T23:42:02.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6" d="100"/>
          <a:sy n="66" d="100"/>
        </p:scale>
        <p:origin x="413" y="41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la Natasha" userId="4779005ffd65046d" providerId="LiveId" clId="{EFD38949-4467-4295-BB9A-57BE3FB083BE}"/>
    <pc:docChg chg="undo custSel addSld delSld modSld modSection">
      <pc:chgData name="Shela Natasha" userId="4779005ffd65046d" providerId="LiveId" clId="{EFD38949-4467-4295-BB9A-57BE3FB083BE}" dt="2026-10-02T23:57:40.615" v="366"/>
      <pc:docMkLst>
        <pc:docMk/>
      </pc:docMkLst>
      <pc:sldChg chg="modSp del mod">
        <pc:chgData name="Shela Natasha" userId="4779005ffd65046d" providerId="LiveId" clId="{EFD38949-4467-4295-BB9A-57BE3FB083BE}" dt="2026-10-02T23:54:22.054" v="352"/>
        <pc:sldMkLst>
          <pc:docMk/>
          <pc:sldMk cId="0" sldId="256"/>
        </pc:sldMkLst>
        <pc:spChg chg="mod">
          <ac:chgData name="Shela Natasha" userId="4779005ffd65046d" providerId="LiveId" clId="{EFD38949-4467-4295-BB9A-57BE3FB083BE}" dt="2026-10-02T23:37:17.831" v="250" actId="1036"/>
          <ac:spMkLst>
            <pc:docMk/>
            <pc:sldMk cId="0" sldId="256"/>
            <ac:spMk id="6" creationId="{00000000-0000-0000-0000-000000000000}"/>
          </ac:spMkLst>
        </pc:spChg>
        <pc:spChg chg="mod">
          <ac:chgData name="Shela Natasha" userId="4779005ffd65046d" providerId="LiveId" clId="{EFD38949-4467-4295-BB9A-57BE3FB083BE}" dt="2026-10-02T23:37:31.180" v="251" actId="1076"/>
          <ac:spMkLst>
            <pc:docMk/>
            <pc:sldMk cId="0" sldId="256"/>
            <ac:spMk id="7" creationId="{00000000-0000-0000-0000-000000000000}"/>
          </ac:spMkLst>
        </pc:spChg>
        <pc:spChg chg="mod">
          <ac:chgData name="Shela Natasha" userId="4779005ffd65046d" providerId="LiveId" clId="{EFD38949-4467-4295-BB9A-57BE3FB083BE}" dt="2026-10-02T23:36:43.090" v="202" actId="1035"/>
          <ac:spMkLst>
            <pc:docMk/>
            <pc:sldMk cId="0" sldId="256"/>
            <ac:spMk id="8" creationId="{00000000-0000-0000-0000-000000000000}"/>
          </ac:spMkLst>
        </pc:spChg>
        <pc:spChg chg="mod">
          <ac:chgData name="Shela Natasha" userId="4779005ffd65046d" providerId="LiveId" clId="{EFD38949-4467-4295-BB9A-57BE3FB083BE}" dt="2026-10-02T23:36:23.340" v="189" actId="1035"/>
          <ac:spMkLst>
            <pc:docMk/>
            <pc:sldMk cId="0" sldId="256"/>
            <ac:spMk id="9" creationId="{00000000-0000-0000-0000-000000000000}"/>
          </ac:spMkLst>
        </pc:spChg>
        <pc:spChg chg="mod">
          <ac:chgData name="Shela Natasha" userId="4779005ffd65046d" providerId="LiveId" clId="{EFD38949-4467-4295-BB9A-57BE3FB083BE}" dt="2026-10-02T23:42:02.843" v="350" actId="20577"/>
          <ac:spMkLst>
            <pc:docMk/>
            <pc:sldMk cId="0" sldId="256"/>
            <ac:spMk id="10" creationId="{00000000-0000-0000-0000-000000000000}"/>
          </ac:spMkLst>
        </pc:spChg>
        <pc:spChg chg="mod">
          <ac:chgData name="Shela Natasha" userId="4779005ffd65046d" providerId="LiveId" clId="{EFD38949-4467-4295-BB9A-57BE3FB083BE}" dt="2026-10-02T23:40:53.357" v="329" actId="20577"/>
          <ac:spMkLst>
            <pc:docMk/>
            <pc:sldMk cId="0" sldId="256"/>
            <ac:spMk id="12" creationId="{00000000-0000-0000-0000-000000000000}"/>
          </ac:spMkLst>
        </pc:spChg>
        <pc:spChg chg="mod">
          <ac:chgData name="Shela Natasha" userId="4779005ffd65046d" providerId="LiveId" clId="{EFD38949-4467-4295-BB9A-57BE3FB083BE}" dt="2026-10-02T23:36:32.862" v="191" actId="1076"/>
          <ac:spMkLst>
            <pc:docMk/>
            <pc:sldMk cId="0" sldId="256"/>
            <ac:spMk id="26" creationId="{00000000-0000-0000-0000-000000000000}"/>
          </ac:spMkLst>
        </pc:spChg>
      </pc:sldChg>
      <pc:sldChg chg="del">
        <pc:chgData name="Shela Natasha" userId="4779005ffd65046d" providerId="LiveId" clId="{EFD38949-4467-4295-BB9A-57BE3FB083BE}" dt="2026-10-02T23:56:03.428" v="358"/>
        <pc:sldMkLst>
          <pc:docMk/>
          <pc:sldMk cId="0" sldId="257"/>
        </pc:sldMkLst>
      </pc:sldChg>
      <pc:sldChg chg="add del">
        <pc:chgData name="Shela Natasha" userId="4779005ffd65046d" providerId="LiveId" clId="{EFD38949-4467-4295-BB9A-57BE3FB083BE}" dt="2026-10-02T23:55:06.993" v="354"/>
        <pc:sldMkLst>
          <pc:docMk/>
          <pc:sldMk cId="2259477521" sldId="258"/>
        </pc:sldMkLst>
      </pc:sldChg>
      <pc:sldChg chg="add del">
        <pc:chgData name="Shela Natasha" userId="4779005ffd65046d" providerId="LiveId" clId="{EFD38949-4467-4295-BB9A-57BE3FB083BE}" dt="2026-10-02T23:55:36.445" v="356"/>
        <pc:sldMkLst>
          <pc:docMk/>
          <pc:sldMk cId="1246171106" sldId="259"/>
        </pc:sldMkLst>
      </pc:sldChg>
      <pc:sldChg chg="add del">
        <pc:chgData name="Shela Natasha" userId="4779005ffd65046d" providerId="LiveId" clId="{EFD38949-4467-4295-BB9A-57BE3FB083BE}" dt="2026-10-02T23:57:40.615" v="366"/>
        <pc:sldMkLst>
          <pc:docMk/>
          <pc:sldMk cId="3969774738" sldId="260"/>
        </pc:sldMkLst>
      </pc:sldChg>
      <pc:sldChg chg="add del">
        <pc:chgData name="Shela Natasha" userId="4779005ffd65046d" providerId="LiveId" clId="{EFD38949-4467-4295-BB9A-57BE3FB083BE}" dt="2026-10-02T23:56:37.973" v="360"/>
        <pc:sldMkLst>
          <pc:docMk/>
          <pc:sldMk cId="1058721791" sldId="261"/>
        </pc:sldMkLst>
      </pc:sldChg>
      <pc:sldChg chg="add del">
        <pc:chgData name="Shela Natasha" userId="4779005ffd65046d" providerId="LiveId" clId="{EFD38949-4467-4295-BB9A-57BE3FB083BE}" dt="2026-10-02T23:57:06.777" v="362"/>
        <pc:sldMkLst>
          <pc:docMk/>
          <pc:sldMk cId="1066143820" sldId="262"/>
        </pc:sldMkLst>
      </pc:sldChg>
      <pc:sldChg chg="add del">
        <pc:chgData name="Shela Natasha" userId="4779005ffd65046d" providerId="LiveId" clId="{EFD38949-4467-4295-BB9A-57BE3FB083BE}" dt="2026-10-02T23:57:38.466" v="364"/>
        <pc:sldMkLst>
          <pc:docMk/>
          <pc:sldMk cId="1462728076" sldId="263"/>
        </pc:sldMkLst>
      </pc:sldChg>
      <pc:sldChg chg="add">
        <pc:chgData name="Shela Natasha" userId="4779005ffd65046d" providerId="LiveId" clId="{EFD38949-4467-4295-BB9A-57BE3FB083BE}" dt="2026-10-02T23:57:38.451" v="363"/>
        <pc:sldMkLst>
          <pc:docMk/>
          <pc:sldMk cId="2646818907" sldId="264"/>
        </pc:sldMkLst>
      </pc:sldChg>
      <pc:sldChg chg="add">
        <pc:chgData name="Shela Natasha" userId="4779005ffd65046d" providerId="LiveId" clId="{EFD38949-4467-4295-BB9A-57BE3FB083BE}" dt="2026-10-02T23:57:40.544" v="365"/>
        <pc:sldMkLst>
          <pc:docMk/>
          <pc:sldMk cId="3407621308" sldId="26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6714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menjawab tiga pertanyaan Klaster 1 dengan urutan yang sama dengan Bahan Rapat AHU (01, 02, 03). Setiap jawaban disertai bukti dari laporan pengurusan BHP Medan dan data SIPP. Pita bawah memuat pengalaman BHP Medan (Klaster 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menerjemahkan jawaban slide 1 ke dalam Fokus Pengaturan AHU: kedudukan, pembagian peran, dan ruang penugasan BHP, ditutup dengan pembagian peran koordinasi antarlembaga. Rumusan pasal lengkap ada pada dokumen Narasi.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6492240"/>
            <a:ext cx="7315200" cy="228600"/>
          </a:xfrm>
          <a:prstGeom prst="rect">
            <a:avLst/>
          </a:prstGeom>
          <a:noFill/>
          <a:ln/>
        </p:spPr>
        <p:txBody>
          <a:bodyPr wrap="square" lIns="0" tIns="0" rIns="0" bIns="0" rtlCol="0" anchor="ctr"/>
          <a:lstStyle/>
          <a:p>
            <a:pPr marL="0" indent="0">
              <a:buNone/>
            </a:pPr>
            <a:r>
              <a:rPr lang="en-US" sz="900" dirty="0">
                <a:solidFill>
                  <a:srgbClr val="8C8C8C"/>
                </a:solidFill>
              </a:rPr>
              <a:t>Balai Harta Peninggalan Medan  |  RDP Komisi XIII DPR RI, 6 Oktober 2026</a:t>
            </a:r>
            <a:endParaRPr lang="en-US" sz="900" dirty="0"/>
          </a:p>
        </p:txBody>
      </p:sp>
      <p:sp>
        <p:nvSpPr>
          <p:cNvPr id="3" name="Text 1"/>
          <p:cNvSpPr>
            <a:spLocks noGrp="1"/>
          </p:cNvSpPr>
          <p:nvPr>
            <p:ph type="body" idx="101" hasCustomPrompt="1"/>
          </p:nvPr>
        </p:nvSpPr>
        <p:spPr>
          <a:xfrm>
            <a:off x="457200" y="292608"/>
            <a:ext cx="11247120" cy="274320"/>
          </a:xfrm>
          <a:prstGeom prst="rect">
            <a:avLst/>
          </a:prstGeom>
          <a:noFill/>
          <a:ln/>
        </p:spPr>
        <p:txBody>
          <a:bodyPr wrap="square" rtlCol="0"/>
          <a:lstStyle>
            <a:lvl1pPr marL="0" indent="0">
              <a:buNone/>
              <a:defRPr lang="en-US" sz="1100" b="1" kern="0" spc="200" dirty="0">
                <a:solidFill>
                  <a:schemeClr val="accent2"/>
                </a:solidFill>
              </a:defRPr>
            </a:lvl1pPr>
          </a:lstStyle>
          <a:p>
            <a:pPr marL="0" indent="0">
              <a:buNone/>
            </a:pPr>
            <a:endParaRPr lang="en-US" sz="1100" dirty="0"/>
          </a:p>
        </p:txBody>
      </p:sp>
      <p:sp>
        <p:nvSpPr>
          <p:cNvPr id="4" name="Text 1"/>
          <p:cNvSpPr>
            <a:spLocks noGrp="1"/>
          </p:cNvSpPr>
          <p:nvPr>
            <p:ph type="title" idx="102" hasCustomPrompt="1"/>
          </p:nvPr>
        </p:nvSpPr>
        <p:spPr>
          <a:xfrm>
            <a:off x="457200" y="548640"/>
            <a:ext cx="11247120" cy="548640"/>
          </a:xfrm>
          <a:prstGeom prst="rect">
            <a:avLst/>
          </a:prstGeom>
          <a:noFill/>
          <a:ln/>
        </p:spPr>
        <p:txBody>
          <a:bodyPr wrap="square" rtlCol="0"/>
          <a:lstStyle>
            <a:lvl1pPr marL="0" indent="0" algn="l">
              <a:buNone/>
              <a:defRPr lang="en-US" sz="2800" b="1" dirty="0">
                <a:solidFill>
                  <a:schemeClr val="accent1"/>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embamtaufik13-collab.github.io/Slide-bhp-medan/"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hyperlink" Target="https://embamtaufik13-collab.github.io/Slide-bhp-medan/"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KEDUDUKAN DAN PEMBAGIAN PERAN KURATOR</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Jawaban BHP Medan atas Tiga Pertanyaan Klaster 1</a:t>
            </a:r>
            <a:endParaRPr lang="en-US" sz="2800" dirty="0"/>
          </a:p>
        </p:txBody>
      </p:sp>
      <p:sp>
        <p:nvSpPr>
          <p:cNvPr id="4" name="g1_01"/>
          <p:cNvSpPr txBox="1"/>
          <p:nvPr/>
        </p:nvSpPr>
        <p:spPr>
          <a:xfrm>
            <a:off x="457200" y="1143000"/>
            <a:ext cx="8595360" cy="411480"/>
          </a:xfrm>
          <a:prstGeom prst="rect">
            <a:avLst/>
          </a:prstGeom>
          <a:noFill/>
          <a:ln/>
        </p:spPr>
        <p:txBody>
          <a:bodyPr wrap="square" lIns="0" tIns="0" rIns="0" bIns="0" rtlCol="0" anchor="t"/>
          <a:lstStyle/>
          <a:p>
            <a:pPr marL="0" indent="0">
              <a:buNone/>
            </a:pPr>
            <a:r>
              <a:rPr lang="en-US" sz="1200" b="1" dirty="0">
                <a:solidFill>
                  <a:srgbClr val="7A1F2B"/>
                </a:solidFill>
              </a:rPr>
              <a:t>Klaster Tumpang Tindih Kewenangan. </a:t>
            </a:r>
            <a:r>
              <a:rPr lang="en-US" sz="1200" dirty="0">
                <a:solidFill>
                  <a:srgbClr val="6B6B6B"/>
                </a:solidFill>
              </a:rPr>
              <a:t>Tiga kotak di bawah menjawab Pertanyaan 1, 2, dan 3 secara berurutan, masing-masing dengan bukti dari perkara BHP Medan.</a:t>
            </a:r>
            <a:endParaRPr lang="en-US" sz="1200" dirty="0"/>
          </a:p>
        </p:txBody>
      </p:sp>
      <p:sp>
        <p:nvSpPr>
          <p:cNvPr id="5" name="!!card0"/>
          <p:cNvSpPr/>
          <p:nvPr/>
        </p:nvSpPr>
        <p:spPr>
          <a:xfrm>
            <a:off x="457200" y="1600200"/>
            <a:ext cx="3611880" cy="47244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6" name="g2_02"/>
          <p:cNvSpPr/>
          <p:nvPr/>
        </p:nvSpPr>
        <p:spPr>
          <a:xfrm>
            <a:off x="63500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7" name="g2_03"/>
          <p:cNvSpPr txBox="1"/>
          <p:nvPr/>
        </p:nvSpPr>
        <p:spPr>
          <a:xfrm>
            <a:off x="63500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1</a:t>
            </a:r>
            <a:endParaRPr lang="en-US" sz="2200" dirty="0"/>
          </a:p>
        </p:txBody>
      </p:sp>
      <p:sp>
        <p:nvSpPr>
          <p:cNvPr id="8" name="g2_04"/>
          <p:cNvSpPr txBox="1"/>
          <p:nvPr/>
        </p:nvSpPr>
        <p:spPr>
          <a:xfrm>
            <a:off x="129540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1</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Mekanisme dan Kendala</a:t>
            </a:r>
            <a:endParaRPr lang="en-US" sz="1050" dirty="0"/>
          </a:p>
        </p:txBody>
      </p:sp>
      <p:sp>
        <p:nvSpPr>
          <p:cNvPr id="9" name="g2_05"/>
          <p:cNvSpPr txBox="1"/>
          <p:nvPr/>
        </p:nvSpPr>
        <p:spPr>
          <a:xfrm>
            <a:off x="62230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Bagaimana mekanisme BHP sebagai kurator, dan adakah kendala saat berhadapan dengan kurator privat dari asosiasi?</a:t>
            </a:r>
            <a:endParaRPr lang="en-US" sz="1050" dirty="0"/>
          </a:p>
        </p:txBody>
      </p:sp>
      <p:sp>
        <p:nvSpPr>
          <p:cNvPr id="10" name="g2_06"/>
          <p:cNvSpPr txBox="1"/>
          <p:nvPr/>
        </p:nvSpPr>
        <p:spPr>
          <a:xfrm>
            <a:off x="622300" y="2870200"/>
            <a:ext cx="3276600" cy="2286000"/>
          </a:xfrm>
          <a:prstGeom prst="rect">
            <a:avLst/>
          </a:prstGeom>
          <a:noFill/>
          <a:ln/>
        </p:spPr>
        <p:txBody>
          <a:bodyPr wrap="square" lIns="0" tIns="0" rIns="0" bIns="0" rtlCol="0" anchor="t"/>
          <a:lstStyle/>
          <a:p>
            <a:pPr marL="0" indent="0" algn="just">
              <a:spcAft>
                <a:spcPts val="250"/>
              </a:spcAft>
              <a:buNone/>
            </a:pPr>
            <a:r>
              <a:rPr lang="en-US" sz="1100" b="1" dirty="0" err="1">
                <a:solidFill>
                  <a:srgbClr val="2B2B2B"/>
                </a:solidFill>
              </a:rPr>
              <a:t>Berjalan</a:t>
            </a:r>
            <a:r>
              <a:rPr lang="en-US" sz="1100" b="1" dirty="0">
                <a:solidFill>
                  <a:srgbClr val="2B2B2B"/>
                </a:solidFill>
              </a:rPr>
              <a:t> </a:t>
            </a:r>
            <a:r>
              <a:rPr lang="en-US" sz="1100" b="1" dirty="0" err="1">
                <a:solidFill>
                  <a:srgbClr val="2B2B2B"/>
                </a:solidFill>
              </a:rPr>
              <a:t>sesuai</a:t>
            </a:r>
            <a:r>
              <a:rPr lang="en-US" sz="1100" b="1" dirty="0">
                <a:solidFill>
                  <a:srgbClr val="2B2B2B"/>
                </a:solidFill>
              </a:rPr>
              <a:t> SOP Kepailitan. </a:t>
            </a:r>
            <a:r>
              <a:rPr lang="en-US" sz="1100" dirty="0">
                <a:solidFill>
                  <a:srgbClr val="2B2B2B"/>
                </a:solidFill>
              </a:rPr>
              <a:t>Putusan pengadilan › tim Kurator Keperdataan › pengurusan dan pemberesan di bawah Hakim </a:t>
            </a:r>
            <a:r>
              <a:rPr lang="en-US" sz="1100" dirty="0" err="1">
                <a:solidFill>
                  <a:srgbClr val="2B2B2B"/>
                </a:solidFill>
              </a:rPr>
              <a:t>Pengawas</a:t>
            </a:r>
            <a:r>
              <a:rPr lang="en-US" sz="1100" dirty="0">
                <a:solidFill>
                  <a:srgbClr val="2B2B2B"/>
                </a:solidFill>
              </a:rPr>
              <a:t>.</a:t>
            </a:r>
            <a:r>
              <a:rPr lang="id-ID" sz="1100" dirty="0">
                <a:solidFill>
                  <a:srgbClr val="2B2B2B"/>
                </a:solidFill>
              </a:rPr>
              <a:t> Tim melapor per triwulan; imbalan jasa BHP disetor ke kas negara sebagai PNBP.</a:t>
            </a:r>
          </a:p>
          <a:p>
            <a:pPr marL="0" indent="0" algn="just">
              <a:spcAft>
                <a:spcPts val="250"/>
              </a:spcAft>
              <a:buNone/>
            </a:pPr>
            <a:r>
              <a:rPr lang="en-US" sz="1100" dirty="0">
                <a:solidFill>
                  <a:srgbClr val="2B2B2B"/>
                </a:solidFill>
              </a:rPr>
              <a:t>Yang </a:t>
            </a:r>
            <a:r>
              <a:rPr lang="en-US" sz="1100" dirty="0" err="1">
                <a:solidFill>
                  <a:srgbClr val="2B2B2B"/>
                </a:solidFill>
              </a:rPr>
              <a:t>menjadi</a:t>
            </a:r>
            <a:r>
              <a:rPr lang="en-US" sz="1100" dirty="0">
                <a:solidFill>
                  <a:srgbClr val="2B2B2B"/>
                </a:solidFill>
              </a:rPr>
              <a:t> </a:t>
            </a:r>
            <a:r>
              <a:rPr lang="en-US" sz="1100" dirty="0" err="1">
                <a:solidFill>
                  <a:srgbClr val="2B2B2B"/>
                </a:solidFill>
              </a:rPr>
              <a:t>kendala</a:t>
            </a:r>
            <a:r>
              <a:rPr lang="en-US" sz="1100" dirty="0">
                <a:solidFill>
                  <a:srgbClr val="2B2B2B"/>
                </a:solidFill>
              </a:rPr>
              <a:t> </a:t>
            </a:r>
            <a:r>
              <a:rPr lang="en-US" sz="1100" dirty="0" err="1">
                <a:solidFill>
                  <a:srgbClr val="2B2B2B"/>
                </a:solidFill>
              </a:rPr>
              <a:t>adalah</a:t>
            </a:r>
            <a:r>
              <a:rPr lang="en-US" sz="1100" dirty="0">
                <a:solidFill>
                  <a:srgbClr val="2B2B2B"/>
                </a:solidFill>
              </a:rPr>
              <a:t> </a:t>
            </a:r>
            <a:r>
              <a:rPr lang="en-US" sz="1100" dirty="0" err="1">
                <a:solidFill>
                  <a:srgbClr val="2B2B2B"/>
                </a:solidFill>
              </a:rPr>
              <a:t>ketika</a:t>
            </a:r>
            <a:r>
              <a:rPr lang="en-US" sz="1100" dirty="0">
                <a:solidFill>
                  <a:srgbClr val="2B2B2B"/>
                </a:solidFill>
              </a:rPr>
              <a:t> </a:t>
            </a:r>
            <a:r>
              <a:rPr lang="en-US" sz="1100" dirty="0" err="1">
                <a:solidFill>
                  <a:srgbClr val="2B2B2B"/>
                </a:solidFill>
              </a:rPr>
              <a:t>kurator</a:t>
            </a:r>
            <a:r>
              <a:rPr lang="en-US" sz="1100" dirty="0">
                <a:solidFill>
                  <a:srgbClr val="2B2B2B"/>
                </a:solidFill>
              </a:rPr>
              <a:t> BHP </a:t>
            </a:r>
            <a:r>
              <a:rPr lang="en-US" sz="1100" dirty="0" err="1">
                <a:solidFill>
                  <a:srgbClr val="2B2B2B"/>
                </a:solidFill>
              </a:rPr>
              <a:t>bekerja</a:t>
            </a:r>
            <a:r>
              <a:rPr lang="en-US" sz="1100" dirty="0">
                <a:solidFill>
                  <a:srgbClr val="2B2B2B"/>
                </a:solidFill>
              </a:rPr>
              <a:t> </a:t>
            </a:r>
            <a:r>
              <a:rPr lang="en-US" sz="1100" dirty="0" err="1">
                <a:solidFill>
                  <a:srgbClr val="2B2B2B"/>
                </a:solidFill>
              </a:rPr>
              <a:t>sama</a:t>
            </a:r>
            <a:r>
              <a:rPr lang="en-US" sz="1100" dirty="0">
                <a:solidFill>
                  <a:srgbClr val="2B2B2B"/>
                </a:solidFill>
              </a:rPr>
              <a:t> </a:t>
            </a:r>
            <a:r>
              <a:rPr lang="en-US" sz="1100" dirty="0" err="1">
                <a:solidFill>
                  <a:srgbClr val="2B2B2B"/>
                </a:solidFill>
              </a:rPr>
              <a:t>dengan</a:t>
            </a:r>
            <a:r>
              <a:rPr lang="en-US" sz="1100" dirty="0">
                <a:solidFill>
                  <a:srgbClr val="2B2B2B"/>
                </a:solidFill>
              </a:rPr>
              <a:t> </a:t>
            </a:r>
            <a:r>
              <a:rPr lang="en-US" sz="1100" dirty="0" err="1">
                <a:solidFill>
                  <a:srgbClr val="2B2B2B"/>
                </a:solidFill>
              </a:rPr>
              <a:t>kurator</a:t>
            </a:r>
            <a:r>
              <a:rPr lang="en-US" sz="1100" dirty="0">
                <a:solidFill>
                  <a:srgbClr val="2B2B2B"/>
                </a:solidFill>
              </a:rPr>
              <a:t> </a:t>
            </a:r>
            <a:r>
              <a:rPr lang="en-US" sz="1100" dirty="0" err="1">
                <a:solidFill>
                  <a:srgbClr val="2B2B2B"/>
                </a:solidFill>
              </a:rPr>
              <a:t>perseorangan</a:t>
            </a:r>
            <a:r>
              <a:rPr lang="en-US" sz="1100" dirty="0">
                <a:solidFill>
                  <a:srgbClr val="2B2B2B"/>
                </a:solidFill>
              </a:rPr>
              <a:t>, </a:t>
            </a:r>
            <a:r>
              <a:rPr lang="en-US" sz="1100" dirty="0" err="1">
                <a:solidFill>
                  <a:srgbClr val="2B2B2B"/>
                </a:solidFill>
              </a:rPr>
              <a:t>belum</a:t>
            </a:r>
            <a:r>
              <a:rPr lang="en-US" sz="1100" dirty="0">
                <a:solidFill>
                  <a:srgbClr val="2B2B2B"/>
                </a:solidFill>
              </a:rPr>
              <a:t> </a:t>
            </a:r>
            <a:r>
              <a:rPr lang="en-US" sz="1100" dirty="0" err="1">
                <a:solidFill>
                  <a:srgbClr val="2B2B2B"/>
                </a:solidFill>
              </a:rPr>
              <a:t>adanya</a:t>
            </a:r>
            <a:r>
              <a:rPr lang="en-US" sz="1100" dirty="0">
                <a:solidFill>
                  <a:srgbClr val="2B2B2B"/>
                </a:solidFill>
              </a:rPr>
              <a:t> </a:t>
            </a:r>
            <a:r>
              <a:rPr lang="en-US" sz="1100" dirty="0" err="1">
                <a:solidFill>
                  <a:srgbClr val="2B2B2B"/>
                </a:solidFill>
              </a:rPr>
              <a:t>aturan</a:t>
            </a:r>
            <a:r>
              <a:rPr lang="en-US" sz="1100" dirty="0">
                <a:solidFill>
                  <a:srgbClr val="2B2B2B"/>
                </a:solidFill>
              </a:rPr>
              <a:t> </a:t>
            </a:r>
            <a:r>
              <a:rPr lang="en-US" sz="1100" dirty="0" err="1">
                <a:solidFill>
                  <a:srgbClr val="2B2B2B"/>
                </a:solidFill>
              </a:rPr>
              <a:t>pembagian</a:t>
            </a:r>
            <a:r>
              <a:rPr lang="en-US" sz="1100" dirty="0">
                <a:solidFill>
                  <a:srgbClr val="2B2B2B"/>
                </a:solidFill>
              </a:rPr>
              <a:t> imbalan dan </a:t>
            </a:r>
            <a:r>
              <a:rPr lang="en-US" sz="1100" dirty="0" err="1">
                <a:solidFill>
                  <a:srgbClr val="2B2B2B"/>
                </a:solidFill>
              </a:rPr>
              <a:t>tanggung</a:t>
            </a:r>
            <a:r>
              <a:rPr lang="en-US" sz="1100" dirty="0">
                <a:solidFill>
                  <a:srgbClr val="2B2B2B"/>
                </a:solidFill>
              </a:rPr>
              <a:t> </a:t>
            </a:r>
            <a:r>
              <a:rPr lang="en-US" sz="1100" dirty="0" err="1">
                <a:solidFill>
                  <a:srgbClr val="2B2B2B"/>
                </a:solidFill>
              </a:rPr>
              <a:t>jawab</a:t>
            </a:r>
            <a:r>
              <a:rPr lang="en-US" sz="1100" dirty="0">
                <a:solidFill>
                  <a:srgbClr val="2B2B2B"/>
                </a:solidFill>
              </a:rPr>
              <a:t>. </a:t>
            </a:r>
            <a:r>
              <a:rPr lang="id-ID" sz="1100" dirty="0">
                <a:solidFill>
                  <a:srgbClr val="2B2B2B"/>
                </a:solidFill>
              </a:rPr>
              <a:t>Karena itu, perlu aturan tegas tentang pembagian imbalan jasa.</a:t>
            </a:r>
          </a:p>
          <a:p>
            <a:pPr marL="0" indent="0" algn="just">
              <a:spcAft>
                <a:spcPts val="250"/>
              </a:spcAft>
              <a:buNone/>
            </a:pPr>
            <a:r>
              <a:rPr lang="en-US" sz="1100" dirty="0" err="1">
                <a:solidFill>
                  <a:srgbClr val="2B2B2B"/>
                </a:solidFill>
              </a:rPr>
              <a:t>Kendala</a:t>
            </a:r>
            <a:r>
              <a:rPr lang="en-US" sz="1100" dirty="0">
                <a:solidFill>
                  <a:srgbClr val="2B2B2B"/>
                </a:solidFill>
              </a:rPr>
              <a:t> </a:t>
            </a:r>
            <a:r>
              <a:rPr lang="en-US" sz="1100" dirty="0" err="1">
                <a:solidFill>
                  <a:srgbClr val="2B2B2B"/>
                </a:solidFill>
              </a:rPr>
              <a:t>dalam</a:t>
            </a:r>
            <a:r>
              <a:rPr lang="en-US" sz="1100" dirty="0">
                <a:solidFill>
                  <a:srgbClr val="2B2B2B"/>
                </a:solidFill>
              </a:rPr>
              <a:t> </a:t>
            </a:r>
            <a:r>
              <a:rPr lang="en-US" sz="1100" dirty="0" err="1">
                <a:solidFill>
                  <a:srgbClr val="2B2B2B"/>
                </a:solidFill>
              </a:rPr>
              <a:t>komunikasi</a:t>
            </a:r>
            <a:r>
              <a:rPr lang="en-US" sz="1100" dirty="0">
                <a:solidFill>
                  <a:srgbClr val="2B2B2B"/>
                </a:solidFill>
              </a:rPr>
              <a:t> </a:t>
            </a:r>
            <a:r>
              <a:rPr lang="en-US" sz="1100" dirty="0" err="1">
                <a:solidFill>
                  <a:srgbClr val="2B2B2B"/>
                </a:solidFill>
              </a:rPr>
              <a:t>apabila</a:t>
            </a:r>
            <a:r>
              <a:rPr lang="en-US" sz="1100" dirty="0">
                <a:solidFill>
                  <a:srgbClr val="2B2B2B"/>
                </a:solidFill>
              </a:rPr>
              <a:t> PKPU oleh </a:t>
            </a:r>
            <a:r>
              <a:rPr lang="en-US" sz="1100" dirty="0" err="1">
                <a:solidFill>
                  <a:srgbClr val="2B2B2B"/>
                </a:solidFill>
              </a:rPr>
              <a:t>kurator</a:t>
            </a:r>
            <a:r>
              <a:rPr lang="en-US" sz="1100" dirty="0">
                <a:solidFill>
                  <a:srgbClr val="2B2B2B"/>
                </a:solidFill>
              </a:rPr>
              <a:t> </a:t>
            </a:r>
            <a:r>
              <a:rPr lang="en-US" sz="1100" dirty="0" err="1">
                <a:solidFill>
                  <a:srgbClr val="2B2B2B"/>
                </a:solidFill>
              </a:rPr>
              <a:t>perseorangan</a:t>
            </a:r>
            <a:r>
              <a:rPr lang="en-US" sz="1100" dirty="0">
                <a:solidFill>
                  <a:srgbClr val="2B2B2B"/>
                </a:solidFill>
              </a:rPr>
              <a:t> dan </a:t>
            </a:r>
            <a:r>
              <a:rPr lang="en-US" sz="1100" dirty="0" err="1">
                <a:solidFill>
                  <a:srgbClr val="2B2B2B"/>
                </a:solidFill>
              </a:rPr>
              <a:t>kepailitan</a:t>
            </a:r>
            <a:r>
              <a:rPr lang="en-US" sz="1100" dirty="0">
                <a:solidFill>
                  <a:srgbClr val="2B2B2B"/>
                </a:solidFill>
              </a:rPr>
              <a:t> oleh </a:t>
            </a:r>
            <a:r>
              <a:rPr lang="en-US" sz="1100" dirty="0" err="1">
                <a:solidFill>
                  <a:srgbClr val="2B2B2B"/>
                </a:solidFill>
              </a:rPr>
              <a:t>Kurator</a:t>
            </a:r>
            <a:r>
              <a:rPr lang="en-US" sz="1100" dirty="0">
                <a:solidFill>
                  <a:srgbClr val="2B2B2B"/>
                </a:solidFill>
              </a:rPr>
              <a:t> BHP. </a:t>
            </a:r>
            <a:r>
              <a:rPr lang="en-US" sz="1100" dirty="0" err="1">
                <a:solidFill>
                  <a:srgbClr val="2B2B2B"/>
                </a:solidFill>
              </a:rPr>
              <a:t>Dengan</a:t>
            </a:r>
            <a:r>
              <a:rPr lang="en-US" sz="1100" dirty="0">
                <a:solidFill>
                  <a:srgbClr val="2B2B2B"/>
                </a:solidFill>
              </a:rPr>
              <a:t> </a:t>
            </a:r>
            <a:r>
              <a:rPr lang="en-US" sz="1100" dirty="0" err="1">
                <a:solidFill>
                  <a:srgbClr val="2B2B2B"/>
                </a:solidFill>
              </a:rPr>
              <a:t>demikian</a:t>
            </a:r>
            <a:r>
              <a:rPr lang="en-US" sz="1100" dirty="0">
                <a:solidFill>
                  <a:srgbClr val="2B2B2B"/>
                </a:solidFill>
              </a:rPr>
              <a:t>, </a:t>
            </a:r>
            <a:r>
              <a:rPr lang="en-US" sz="1100" dirty="0" err="1">
                <a:solidFill>
                  <a:srgbClr val="2B2B2B"/>
                </a:solidFill>
              </a:rPr>
              <a:t>diusulkan</a:t>
            </a:r>
            <a:r>
              <a:rPr lang="en-US" sz="1100" dirty="0">
                <a:solidFill>
                  <a:srgbClr val="2B2B2B"/>
                </a:solidFill>
              </a:rPr>
              <a:t> BHP juga </a:t>
            </a:r>
            <a:r>
              <a:rPr lang="en-US" sz="1100" dirty="0" err="1">
                <a:solidFill>
                  <a:srgbClr val="2B2B2B"/>
                </a:solidFill>
              </a:rPr>
              <a:t>menjadi</a:t>
            </a:r>
            <a:r>
              <a:rPr lang="en-US" sz="1100" dirty="0">
                <a:solidFill>
                  <a:srgbClr val="2B2B2B"/>
                </a:solidFill>
              </a:rPr>
              <a:t> </a:t>
            </a:r>
            <a:r>
              <a:rPr lang="en-US" sz="1100" dirty="0" err="1">
                <a:solidFill>
                  <a:srgbClr val="2B2B2B"/>
                </a:solidFill>
              </a:rPr>
              <a:t>pengurus</a:t>
            </a:r>
            <a:r>
              <a:rPr lang="en-US" sz="1100" dirty="0">
                <a:solidFill>
                  <a:srgbClr val="2B2B2B"/>
                </a:solidFill>
              </a:rPr>
              <a:t> (PKPU).</a:t>
            </a:r>
            <a:endParaRPr lang="en-US" sz="1100" dirty="0"/>
          </a:p>
        </p:txBody>
      </p:sp>
      <p:sp>
        <p:nvSpPr>
          <p:cNvPr id="11" name="g2_07"/>
          <p:cNvSpPr/>
          <p:nvPr/>
        </p:nvSpPr>
        <p:spPr>
          <a:xfrm>
            <a:off x="584200" y="5257800"/>
            <a:ext cx="3352800" cy="990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12" name="g2_08"/>
          <p:cNvSpPr txBox="1"/>
          <p:nvPr/>
        </p:nvSpPr>
        <p:spPr>
          <a:xfrm>
            <a:off x="685800" y="5308600"/>
            <a:ext cx="3149600" cy="914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a:spcAft>
                <a:spcPts val="200"/>
              </a:spcAft>
            </a:pPr>
            <a:r>
              <a:rPr lang="en-US" sz="1050" dirty="0">
                <a:solidFill>
                  <a:srgbClr val="2B2B2B"/>
                </a:solidFill>
              </a:rPr>
              <a:t>PT Jasa Prima Mandiri (2015 s.d. 2019): </a:t>
            </a:r>
            <a:r>
              <a:rPr lang="en-US" sz="1050" dirty="0" err="1">
                <a:solidFill>
                  <a:srgbClr val="2B2B2B"/>
                </a:solidFill>
              </a:rPr>
              <a:t>kurator</a:t>
            </a:r>
            <a:r>
              <a:rPr lang="en-US" sz="1050" dirty="0">
                <a:solidFill>
                  <a:srgbClr val="2B2B2B"/>
                </a:solidFill>
              </a:rPr>
              <a:t> BHP </a:t>
            </a:r>
            <a:r>
              <a:rPr lang="en-US" sz="1050" dirty="0" err="1">
                <a:solidFill>
                  <a:srgbClr val="2B2B2B"/>
                </a:solidFill>
              </a:rPr>
              <a:t>bekerja</a:t>
            </a:r>
            <a:r>
              <a:rPr lang="en-US" sz="1050" dirty="0">
                <a:solidFill>
                  <a:srgbClr val="2B2B2B"/>
                </a:solidFill>
              </a:rPr>
              <a:t> </a:t>
            </a:r>
            <a:r>
              <a:rPr lang="en-US" sz="1050" dirty="0" err="1">
                <a:solidFill>
                  <a:srgbClr val="2B2B2B"/>
                </a:solidFill>
              </a:rPr>
              <a:t>sama</a:t>
            </a:r>
            <a:r>
              <a:rPr lang="en-US" sz="1050" dirty="0">
                <a:solidFill>
                  <a:srgbClr val="2B2B2B"/>
                </a:solidFill>
              </a:rPr>
              <a:t> </a:t>
            </a:r>
            <a:r>
              <a:rPr lang="en-US" sz="1050" dirty="0" err="1">
                <a:solidFill>
                  <a:srgbClr val="2B2B2B"/>
                </a:solidFill>
              </a:rPr>
              <a:t>dengan</a:t>
            </a:r>
            <a:r>
              <a:rPr lang="en-US" sz="1050" dirty="0">
                <a:solidFill>
                  <a:srgbClr val="2B2B2B"/>
                </a:solidFill>
              </a:rPr>
              <a:t> </a:t>
            </a:r>
            <a:r>
              <a:rPr lang="en-US" sz="1050" dirty="0" err="1">
                <a:solidFill>
                  <a:srgbClr val="2B2B2B"/>
                </a:solidFill>
              </a:rPr>
              <a:t>kurator</a:t>
            </a:r>
            <a:r>
              <a:rPr lang="en-US" sz="1050" dirty="0">
                <a:solidFill>
                  <a:srgbClr val="2B2B2B"/>
                </a:solidFill>
              </a:rPr>
              <a:t> </a:t>
            </a:r>
            <a:r>
              <a:rPr lang="en-US" sz="1050" dirty="0" err="1">
                <a:solidFill>
                  <a:srgbClr val="2B2B2B"/>
                </a:solidFill>
              </a:rPr>
              <a:t>perseorangan</a:t>
            </a:r>
            <a:r>
              <a:rPr lang="en-US" sz="1050" dirty="0">
                <a:solidFill>
                  <a:srgbClr val="2B2B2B"/>
                </a:solidFill>
              </a:rPr>
              <a:t> an. Kiki </a:t>
            </a:r>
            <a:r>
              <a:rPr lang="en-US" sz="1050" dirty="0" err="1">
                <a:solidFill>
                  <a:srgbClr val="2B2B2B"/>
                </a:solidFill>
              </a:rPr>
              <a:t>Nasirhadi</a:t>
            </a:r>
            <a:r>
              <a:rPr lang="en-US" sz="1050" dirty="0">
                <a:solidFill>
                  <a:srgbClr val="2B2B2B"/>
                </a:solidFill>
              </a:rPr>
              <a:t>, S.H.</a:t>
            </a:r>
            <a:r>
              <a:rPr lang="id-ID" sz="1050" dirty="0">
                <a:solidFill>
                  <a:srgbClr val="2B2B2B"/>
                </a:solidFill>
              </a:rPr>
              <a:t>; kerja sama berjalan baik, harta Rp12,85 miliar dibereskan dalam sekitar 4 tahun.</a:t>
            </a:r>
            <a:endParaRPr lang="en-US" sz="1050" dirty="0"/>
          </a:p>
        </p:txBody>
      </p:sp>
      <p:sp>
        <p:nvSpPr>
          <p:cNvPr id="13" name="!!card1"/>
          <p:cNvSpPr/>
          <p:nvPr/>
        </p:nvSpPr>
        <p:spPr>
          <a:xfrm>
            <a:off x="4274820" y="1600200"/>
            <a:ext cx="3611880" cy="47244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4" name="g3_09"/>
          <p:cNvSpPr/>
          <p:nvPr/>
        </p:nvSpPr>
        <p:spPr>
          <a:xfrm>
            <a:off x="445262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15" name="g3_10"/>
          <p:cNvSpPr txBox="1"/>
          <p:nvPr/>
        </p:nvSpPr>
        <p:spPr>
          <a:xfrm>
            <a:off x="445262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2</a:t>
            </a:r>
            <a:endParaRPr lang="en-US" sz="2200" dirty="0"/>
          </a:p>
        </p:txBody>
      </p:sp>
      <p:sp>
        <p:nvSpPr>
          <p:cNvPr id="16" name="g3_11"/>
          <p:cNvSpPr txBox="1"/>
          <p:nvPr/>
        </p:nvSpPr>
        <p:spPr>
          <a:xfrm>
            <a:off x="511302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2</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Pemisahan Peran BHP</a:t>
            </a:r>
            <a:endParaRPr lang="en-US" sz="1050" dirty="0"/>
          </a:p>
        </p:txBody>
      </p:sp>
      <p:sp>
        <p:nvSpPr>
          <p:cNvPr id="17" name="g3_12"/>
          <p:cNvSpPr txBox="1"/>
          <p:nvPr/>
        </p:nvSpPr>
        <p:spPr>
          <a:xfrm>
            <a:off x="443992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Perlukah pemisahan tegas peran BHP sebagai balai harta atau wali pengawas dengan peran kurator perseorangan?</a:t>
            </a:r>
            <a:endParaRPr lang="en-US" sz="1050" dirty="0"/>
          </a:p>
        </p:txBody>
      </p:sp>
      <p:sp>
        <p:nvSpPr>
          <p:cNvPr id="21" name="g3_16"/>
          <p:cNvSpPr txBox="1"/>
          <p:nvPr/>
        </p:nvSpPr>
        <p:spPr>
          <a:xfrm>
            <a:off x="6261100" y="3340100"/>
            <a:ext cx="1422400" cy="939800"/>
          </a:xfrm>
          <a:prstGeom prst="rect">
            <a:avLst/>
          </a:prstGeom>
          <a:noFill/>
          <a:ln/>
        </p:spPr>
        <p:txBody>
          <a:bodyPr wrap="square" lIns="0" tIns="0" rIns="0" bIns="0" rtlCol="0" anchor="t"/>
          <a:lstStyle/>
          <a:p>
            <a:pPr marL="0" indent="0">
              <a:buNone/>
            </a:pPr>
            <a:endParaRPr lang="en-US" sz="1000" dirty="0"/>
          </a:p>
        </p:txBody>
      </p:sp>
      <p:sp>
        <p:nvSpPr>
          <p:cNvPr id="22" name="g3_17"/>
          <p:cNvSpPr txBox="1"/>
          <p:nvPr/>
        </p:nvSpPr>
        <p:spPr>
          <a:xfrm>
            <a:off x="5981700" y="3606800"/>
            <a:ext cx="203200" cy="368300"/>
          </a:xfrm>
          <a:prstGeom prst="rect">
            <a:avLst/>
          </a:prstGeom>
          <a:noFill/>
          <a:ln/>
        </p:spPr>
        <p:txBody>
          <a:bodyPr wrap="square" lIns="0" tIns="0" rIns="0" bIns="0" rtlCol="0" anchor="ctr"/>
          <a:lstStyle/>
          <a:p>
            <a:pPr marL="0" indent="0" algn="ctr">
              <a:buNone/>
            </a:pPr>
            <a:endParaRPr lang="en-US" sz="1600" dirty="0"/>
          </a:p>
        </p:txBody>
      </p:sp>
      <p:sp>
        <p:nvSpPr>
          <p:cNvPr id="23" name="g3_18"/>
          <p:cNvSpPr txBox="1"/>
          <p:nvPr/>
        </p:nvSpPr>
        <p:spPr>
          <a:xfrm>
            <a:off x="4401820" y="2768600"/>
            <a:ext cx="3390900" cy="2578100"/>
          </a:xfrm>
          <a:prstGeom prst="rect">
            <a:avLst/>
          </a:prstGeom>
          <a:noFill/>
          <a:ln/>
        </p:spPr>
        <p:txBody>
          <a:bodyPr wrap="square" lIns="0" tIns="0" rIns="0" bIns="0" rtlCol="0" anchor="t"/>
          <a:lstStyle/>
          <a:p>
            <a:pPr algn="just">
              <a:spcAft>
                <a:spcPts val="400"/>
              </a:spcAft>
            </a:pPr>
            <a:r>
              <a:rPr lang="en-US" sz="1050" b="1" dirty="0" err="1"/>
              <a:t>Perlu</a:t>
            </a:r>
            <a:r>
              <a:rPr lang="en-US" sz="1050" dirty="0"/>
              <a:t>, </a:t>
            </a:r>
            <a:r>
              <a:rPr lang="en-US" sz="1050" dirty="0" err="1"/>
              <a:t>karena</a:t>
            </a:r>
            <a:r>
              <a:rPr lang="en-US" sz="1050" dirty="0"/>
              <a:t> </a:t>
            </a:r>
            <a:r>
              <a:rPr lang="en-US" sz="1050" dirty="0" err="1"/>
              <a:t>tugas</a:t>
            </a:r>
            <a:r>
              <a:rPr lang="en-US" sz="1050" dirty="0"/>
              <a:t> </a:t>
            </a:r>
            <a:r>
              <a:rPr lang="en-US" sz="1050" dirty="0" err="1"/>
              <a:t>keperdataan</a:t>
            </a:r>
            <a:r>
              <a:rPr lang="en-US" sz="1050" dirty="0"/>
              <a:t> BHP dan </a:t>
            </a:r>
            <a:r>
              <a:rPr lang="en-US" sz="1050" dirty="0" err="1"/>
              <a:t>tugas</a:t>
            </a:r>
            <a:r>
              <a:rPr lang="en-US" sz="1050" dirty="0"/>
              <a:t> BHP </a:t>
            </a:r>
            <a:r>
              <a:rPr lang="en-US" sz="1050" dirty="0" err="1"/>
              <a:t>sebagai</a:t>
            </a:r>
            <a:r>
              <a:rPr lang="en-US" sz="1050" dirty="0"/>
              <a:t> </a:t>
            </a:r>
            <a:r>
              <a:rPr lang="en-US" sz="1050" dirty="0" err="1"/>
              <a:t>kurator</a:t>
            </a:r>
            <a:r>
              <a:rPr lang="en-US" sz="1050" dirty="0"/>
              <a:t> </a:t>
            </a:r>
            <a:r>
              <a:rPr lang="en-US" sz="1050" dirty="0" err="1"/>
              <a:t>adalah</a:t>
            </a:r>
            <a:r>
              <a:rPr lang="en-US" sz="1050" dirty="0"/>
              <a:t> dua </a:t>
            </a:r>
            <a:r>
              <a:rPr lang="en-US" sz="1050" dirty="0" err="1"/>
              <a:t>hal</a:t>
            </a:r>
            <a:r>
              <a:rPr lang="en-US" sz="1050" dirty="0"/>
              <a:t> yang </a:t>
            </a:r>
            <a:r>
              <a:rPr lang="en-US" sz="1050" dirty="0" err="1"/>
              <a:t>berbeda</a:t>
            </a:r>
            <a:r>
              <a:rPr lang="en-US" sz="1050" dirty="0"/>
              <a:t>. Yang </a:t>
            </a:r>
            <a:r>
              <a:rPr lang="en-US" sz="1050" dirty="0" err="1"/>
              <a:t>dipisahkan</a:t>
            </a:r>
            <a:r>
              <a:rPr lang="en-US" sz="1050" dirty="0"/>
              <a:t> </a:t>
            </a:r>
            <a:r>
              <a:rPr lang="en-US" sz="1050" dirty="0" err="1"/>
              <a:t>adalah</a:t>
            </a:r>
            <a:r>
              <a:rPr lang="en-US" sz="1050" dirty="0"/>
              <a:t> </a:t>
            </a:r>
            <a:r>
              <a:rPr lang="en-US" sz="1050" dirty="0" err="1"/>
              <a:t>dasar</a:t>
            </a:r>
            <a:r>
              <a:rPr lang="en-US" sz="1050" dirty="0"/>
              <a:t> </a:t>
            </a:r>
            <a:r>
              <a:rPr lang="en-US" sz="1050" dirty="0" err="1"/>
              <a:t>hukum</a:t>
            </a:r>
            <a:r>
              <a:rPr lang="en-US" sz="1050" dirty="0"/>
              <a:t>, </a:t>
            </a:r>
            <a:r>
              <a:rPr lang="en-US" sz="1050" dirty="0" err="1"/>
              <a:t>pelaksanaan</a:t>
            </a:r>
            <a:r>
              <a:rPr lang="en-US" sz="1050" dirty="0"/>
              <a:t>, dan </a:t>
            </a:r>
            <a:r>
              <a:rPr lang="en-US" sz="1050" dirty="0" err="1"/>
              <a:t>pertanggungjawabannya</a:t>
            </a:r>
            <a:r>
              <a:rPr lang="en-US" sz="1050" dirty="0"/>
              <a:t>, </a:t>
            </a:r>
            <a:r>
              <a:rPr lang="en-US" sz="1050" dirty="0" err="1"/>
              <a:t>bukan</a:t>
            </a:r>
            <a:r>
              <a:rPr lang="en-US" sz="1050" dirty="0"/>
              <a:t> </a:t>
            </a:r>
            <a:r>
              <a:rPr lang="en-US" sz="1050" dirty="0" err="1"/>
              <a:t>lembaganya</a:t>
            </a:r>
            <a:r>
              <a:rPr lang="en-US" sz="1050" dirty="0"/>
              <a:t>.</a:t>
            </a:r>
          </a:p>
          <a:p>
            <a:pPr algn="just">
              <a:spcAft>
                <a:spcPts val="400"/>
              </a:spcAft>
            </a:pPr>
            <a:r>
              <a:rPr lang="en-US" sz="1050" dirty="0" err="1"/>
              <a:t>Dalam</a:t>
            </a:r>
            <a:r>
              <a:rPr lang="en-US" sz="1050" dirty="0"/>
              <a:t> </a:t>
            </a:r>
            <a:r>
              <a:rPr lang="en-US" sz="1050" dirty="0" err="1"/>
              <a:t>kepailitan</a:t>
            </a:r>
            <a:r>
              <a:rPr lang="en-US" sz="1050" dirty="0"/>
              <a:t>, BHP </a:t>
            </a:r>
            <a:r>
              <a:rPr lang="en-US" sz="1050" dirty="0" err="1"/>
              <a:t>berkedudukan</a:t>
            </a:r>
            <a:r>
              <a:rPr lang="en-US" sz="1050" dirty="0"/>
              <a:t> </a:t>
            </a:r>
            <a:r>
              <a:rPr lang="en-US" sz="1050" dirty="0" err="1"/>
              <a:t>sebagai</a:t>
            </a:r>
            <a:r>
              <a:rPr lang="en-US" sz="1050" dirty="0"/>
              <a:t> </a:t>
            </a:r>
            <a:r>
              <a:rPr lang="en-US" sz="1050" dirty="0" err="1"/>
              <a:t>kurator</a:t>
            </a:r>
            <a:r>
              <a:rPr lang="en-US" sz="1050" dirty="0"/>
              <a:t> </a:t>
            </a:r>
            <a:r>
              <a:rPr lang="en-US" sz="1050" dirty="0" err="1"/>
              <a:t>sebagaimana</a:t>
            </a:r>
            <a:r>
              <a:rPr lang="en-US" sz="1050" dirty="0"/>
              <a:t> </a:t>
            </a:r>
            <a:r>
              <a:rPr lang="en-US" sz="1050" dirty="0" err="1"/>
              <a:t>kurator</a:t>
            </a:r>
            <a:r>
              <a:rPr lang="en-US" sz="1050" dirty="0"/>
              <a:t> </a:t>
            </a:r>
            <a:r>
              <a:rPr lang="en-US" sz="1050" dirty="0" err="1"/>
              <a:t>perseorangan</a:t>
            </a:r>
            <a:r>
              <a:rPr lang="en-US" sz="1050" dirty="0"/>
              <a:t> yang </a:t>
            </a:r>
            <a:r>
              <a:rPr lang="en-US" sz="1050" dirty="0" err="1"/>
              <a:t>ditunjuk</a:t>
            </a:r>
            <a:r>
              <a:rPr lang="en-US" sz="1050" dirty="0"/>
              <a:t> </a:t>
            </a:r>
            <a:r>
              <a:rPr lang="en-US" sz="1050" dirty="0" err="1"/>
              <a:t>pengadilan</a:t>
            </a:r>
            <a:r>
              <a:rPr lang="en-US" sz="1050" dirty="0"/>
              <a:t>. </a:t>
            </a:r>
            <a:r>
              <a:rPr lang="en-US" sz="1050" dirty="0" err="1"/>
              <a:t>Sedangkan</a:t>
            </a:r>
            <a:r>
              <a:rPr lang="en-US" sz="1050" dirty="0"/>
              <a:t> </a:t>
            </a:r>
            <a:r>
              <a:rPr lang="en-US" sz="1050" dirty="0" err="1"/>
              <a:t>dalam</a:t>
            </a:r>
            <a:r>
              <a:rPr lang="en-US" sz="1050" dirty="0"/>
              <a:t> </a:t>
            </a:r>
            <a:r>
              <a:rPr lang="en-US" sz="1050" dirty="0" err="1"/>
              <a:t>tugas</a:t>
            </a:r>
            <a:r>
              <a:rPr lang="en-US" sz="1050" dirty="0"/>
              <a:t> </a:t>
            </a:r>
            <a:r>
              <a:rPr lang="en-US" sz="1050" dirty="0" err="1"/>
              <a:t>pokok</a:t>
            </a:r>
            <a:r>
              <a:rPr lang="en-US" sz="1050" dirty="0"/>
              <a:t> dan </a:t>
            </a:r>
            <a:r>
              <a:rPr lang="en-US" sz="1050" dirty="0" err="1"/>
              <a:t>fungsi</a:t>
            </a:r>
            <a:r>
              <a:rPr lang="en-US" sz="1050" dirty="0"/>
              <a:t> lain, BHP </a:t>
            </a:r>
            <a:r>
              <a:rPr lang="en-US" sz="1050" dirty="0" err="1"/>
              <a:t>berkedudukan</a:t>
            </a:r>
            <a:r>
              <a:rPr lang="en-US" sz="1050" dirty="0"/>
              <a:t> </a:t>
            </a:r>
            <a:r>
              <a:rPr lang="en-US" sz="1050" dirty="0" err="1"/>
              <a:t>sebagai</a:t>
            </a:r>
            <a:r>
              <a:rPr lang="en-US" sz="1050" dirty="0"/>
              <a:t> </a:t>
            </a:r>
            <a:r>
              <a:rPr lang="en-US" sz="1050" dirty="0" err="1"/>
              <a:t>wali</a:t>
            </a:r>
            <a:r>
              <a:rPr lang="en-US" sz="1050" dirty="0"/>
              <a:t> </a:t>
            </a:r>
            <a:r>
              <a:rPr lang="en-US" sz="1050" dirty="0" err="1"/>
              <a:t>pengawas</a:t>
            </a:r>
            <a:r>
              <a:rPr lang="en-US" sz="1050" dirty="0"/>
              <a:t>, </a:t>
            </a:r>
            <a:r>
              <a:rPr lang="en-US" sz="1050" dirty="0" err="1"/>
              <a:t>pendamping</a:t>
            </a:r>
            <a:r>
              <a:rPr lang="en-US" sz="1050" dirty="0"/>
              <a:t> </a:t>
            </a:r>
            <a:r>
              <a:rPr lang="en-US" sz="1050" dirty="0" err="1"/>
              <a:t>pengawas</a:t>
            </a:r>
            <a:r>
              <a:rPr lang="en-US" sz="1050" dirty="0"/>
              <a:t>, </a:t>
            </a:r>
            <a:r>
              <a:rPr lang="en-US" sz="1050" dirty="0" err="1"/>
              <a:t>dll</a:t>
            </a:r>
            <a:r>
              <a:rPr lang="en-US" sz="1050" dirty="0"/>
              <a:t> </a:t>
            </a:r>
            <a:r>
              <a:rPr lang="en-US" sz="1050" dirty="0" err="1"/>
              <a:t>sebagaimana</a:t>
            </a:r>
            <a:r>
              <a:rPr lang="en-US" sz="1050" dirty="0"/>
              <a:t> yang </a:t>
            </a:r>
            <a:r>
              <a:rPr lang="en-US" sz="1050" dirty="0" err="1"/>
              <a:t>diatur</a:t>
            </a:r>
            <a:r>
              <a:rPr lang="en-US" sz="1050" dirty="0"/>
              <a:t> </a:t>
            </a:r>
            <a:r>
              <a:rPr lang="en-US" sz="1050" dirty="0" err="1"/>
              <a:t>dalam</a:t>
            </a:r>
            <a:r>
              <a:rPr lang="en-US" sz="1050" dirty="0"/>
              <a:t> </a:t>
            </a:r>
            <a:r>
              <a:rPr lang="en-US" sz="1050" dirty="0" err="1"/>
              <a:t>KUHPerdata</a:t>
            </a:r>
            <a:r>
              <a:rPr lang="en-US" sz="1050" dirty="0"/>
              <a:t>.</a:t>
            </a:r>
          </a:p>
          <a:p>
            <a:pPr algn="just">
              <a:spcAft>
                <a:spcPts val="400"/>
              </a:spcAft>
            </a:pPr>
            <a:r>
              <a:rPr lang="id-ID" sz="1050" b="1" dirty="0">
                <a:solidFill>
                  <a:srgbClr val="2B2B2B"/>
                </a:solidFill>
              </a:rPr>
              <a:t>Usulan dalam RUU: </a:t>
            </a:r>
            <a:r>
              <a:rPr lang="id-ID" sz="1050" dirty="0">
                <a:solidFill>
                  <a:srgbClr val="2B2B2B"/>
                </a:solidFill>
              </a:rPr>
              <a:t>(1) pengakuan BHP sebagai kurator negara yang dapat menangani seluruh jenis perkara kepailitan; (2) kriteria perkara khusus BHP, yang sekaligus menjadi larangan bagi kurator perseorangan.</a:t>
            </a:r>
            <a:endParaRPr lang="id-ID" sz="1050" dirty="0"/>
          </a:p>
        </p:txBody>
      </p:sp>
      <p:sp>
        <p:nvSpPr>
          <p:cNvPr id="24" name="g3_19"/>
          <p:cNvSpPr/>
          <p:nvPr/>
        </p:nvSpPr>
        <p:spPr>
          <a:xfrm>
            <a:off x="4401820" y="5257800"/>
            <a:ext cx="3352800" cy="990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25" name="g3_20"/>
          <p:cNvSpPr txBox="1"/>
          <p:nvPr/>
        </p:nvSpPr>
        <p:spPr>
          <a:xfrm>
            <a:off x="4503420" y="5308600"/>
            <a:ext cx="3149600" cy="914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Dampak pemisahan</a:t>
            </a:r>
            <a:endParaRPr lang="en-US" sz="1050" dirty="0"/>
          </a:p>
          <a:p>
            <a:pPr marL="0" indent="0" algn="just">
              <a:spcAft>
                <a:spcPts val="200"/>
              </a:spcAft>
              <a:buNone/>
            </a:pPr>
            <a:r>
              <a:rPr lang="en-US" sz="1050" dirty="0">
                <a:solidFill>
                  <a:srgbClr val="2B2B2B"/>
                </a:solidFill>
              </a:rPr>
              <a:t>Kedudukan BHP sebagai kurator negara menjadi tegas dan setara; setiap tugas punya dasar, </a:t>
            </a:r>
            <a:r>
              <a:rPr lang="en-US" sz="1050" dirty="0" err="1">
                <a:solidFill>
                  <a:srgbClr val="2B2B2B"/>
                </a:solidFill>
              </a:rPr>
              <a:t>pelaksanaan</a:t>
            </a:r>
            <a:r>
              <a:rPr lang="en-US" sz="1050" dirty="0">
                <a:solidFill>
                  <a:srgbClr val="2B2B2B"/>
                </a:solidFill>
              </a:rPr>
              <a:t>, dan pertanggungjawaban yang jelas.</a:t>
            </a:r>
            <a:endParaRPr lang="en-US" sz="1050" dirty="0"/>
          </a:p>
        </p:txBody>
      </p:sp>
      <p:sp>
        <p:nvSpPr>
          <p:cNvPr id="26" name="!!card2"/>
          <p:cNvSpPr/>
          <p:nvPr/>
        </p:nvSpPr>
        <p:spPr>
          <a:xfrm>
            <a:off x="8092440" y="1600200"/>
            <a:ext cx="3611880" cy="47244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27" name="g4_21"/>
          <p:cNvSpPr/>
          <p:nvPr/>
        </p:nvSpPr>
        <p:spPr>
          <a:xfrm>
            <a:off x="827024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28" name="g4_22"/>
          <p:cNvSpPr txBox="1"/>
          <p:nvPr/>
        </p:nvSpPr>
        <p:spPr>
          <a:xfrm>
            <a:off x="827024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3</a:t>
            </a:r>
            <a:endParaRPr lang="en-US" sz="2200" dirty="0"/>
          </a:p>
        </p:txBody>
      </p:sp>
      <p:sp>
        <p:nvSpPr>
          <p:cNvPr id="29" name="g4_23"/>
          <p:cNvSpPr txBox="1"/>
          <p:nvPr/>
        </p:nvSpPr>
        <p:spPr>
          <a:xfrm>
            <a:off x="893064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3</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Kewajiban Memakai BHP</a:t>
            </a:r>
            <a:endParaRPr lang="en-US" sz="1050" dirty="0"/>
          </a:p>
        </p:txBody>
      </p:sp>
      <p:sp>
        <p:nvSpPr>
          <p:cNvPr id="30" name="g4_24"/>
          <p:cNvSpPr txBox="1"/>
          <p:nvPr/>
        </p:nvSpPr>
        <p:spPr>
          <a:xfrm>
            <a:off x="825754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Pandangan BHP tentang wajib memakai kurator BHP pada kasus tertentu (debitor tanpa ahli waris, harta tidak terurus)?</a:t>
            </a:r>
            <a:endParaRPr lang="en-US" sz="1050" dirty="0"/>
          </a:p>
        </p:txBody>
      </p:sp>
      <p:sp>
        <p:nvSpPr>
          <p:cNvPr id="31" name="g4_25"/>
          <p:cNvSpPr txBox="1"/>
          <p:nvPr/>
        </p:nvSpPr>
        <p:spPr>
          <a:xfrm>
            <a:off x="8257540" y="2873248"/>
            <a:ext cx="3276600" cy="2489200"/>
          </a:xfrm>
          <a:prstGeom prst="rect">
            <a:avLst/>
          </a:prstGeom>
          <a:noFill/>
          <a:ln/>
        </p:spPr>
        <p:txBody>
          <a:bodyPr wrap="square" lIns="0" tIns="0" rIns="0" bIns="0" rtlCol="0" anchor="t"/>
          <a:lstStyle/>
          <a:p>
            <a:pPr algn="just">
              <a:spcAft>
                <a:spcPts val="400"/>
              </a:spcAft>
            </a:pPr>
            <a:r>
              <a:rPr lang="en-US" sz="1050" b="1" dirty="0"/>
              <a:t>BHP </a:t>
            </a:r>
            <a:r>
              <a:rPr lang="en-US" sz="1050" b="1" dirty="0" err="1"/>
              <a:t>setuju</a:t>
            </a:r>
            <a:r>
              <a:rPr lang="en-US" sz="1050" dirty="0"/>
              <a:t>, dan </a:t>
            </a:r>
            <a:r>
              <a:rPr lang="en-US" sz="1050" dirty="0" err="1"/>
              <a:t>hal</a:t>
            </a:r>
            <a:r>
              <a:rPr lang="en-US" sz="1050" dirty="0"/>
              <a:t> </a:t>
            </a:r>
            <a:r>
              <a:rPr lang="en-US" sz="1050" dirty="0" err="1"/>
              <a:t>tersebut</a:t>
            </a:r>
            <a:r>
              <a:rPr lang="en-US" sz="1050" dirty="0"/>
              <a:t> </a:t>
            </a:r>
            <a:r>
              <a:rPr lang="en-US" sz="1050" dirty="0" err="1"/>
              <a:t>sudah</a:t>
            </a:r>
            <a:r>
              <a:rPr lang="en-US" sz="1050" dirty="0"/>
              <a:t> </a:t>
            </a:r>
            <a:r>
              <a:rPr lang="en-US" sz="1050" dirty="0" err="1"/>
              <a:t>semestinya</a:t>
            </a:r>
            <a:r>
              <a:rPr lang="en-US" sz="1050" dirty="0"/>
              <a:t> </a:t>
            </a:r>
            <a:r>
              <a:rPr lang="en-US" sz="1050" dirty="0" err="1"/>
              <a:t>diatur</a:t>
            </a:r>
            <a:r>
              <a:rPr lang="en-US" sz="1050" dirty="0"/>
              <a:t> </a:t>
            </a:r>
            <a:r>
              <a:rPr lang="en-US" sz="1050" dirty="0" err="1"/>
              <a:t>untuk</a:t>
            </a:r>
            <a:r>
              <a:rPr lang="en-US" sz="1050" dirty="0"/>
              <a:t> </a:t>
            </a:r>
            <a:r>
              <a:rPr lang="en-US" sz="1050" dirty="0" err="1"/>
              <a:t>perkara</a:t>
            </a:r>
            <a:r>
              <a:rPr lang="en-US" sz="1050" dirty="0"/>
              <a:t> </a:t>
            </a:r>
            <a:r>
              <a:rPr lang="en-US" sz="1050" dirty="0" err="1"/>
              <a:t>khusus</a:t>
            </a:r>
            <a:r>
              <a:rPr lang="en-US" sz="1050" dirty="0"/>
              <a:t> </a:t>
            </a:r>
            <a:r>
              <a:rPr lang="en-US" sz="1050" dirty="0" err="1"/>
              <a:t>seperti</a:t>
            </a:r>
            <a:r>
              <a:rPr lang="en-US" sz="1050" dirty="0"/>
              <a:t> </a:t>
            </a:r>
            <a:r>
              <a:rPr lang="en-US" sz="1050" dirty="0" err="1"/>
              <a:t>debitor</a:t>
            </a:r>
            <a:r>
              <a:rPr lang="en-US" sz="1050" dirty="0"/>
              <a:t> yang </a:t>
            </a:r>
            <a:r>
              <a:rPr lang="en-US" sz="1050" dirty="0" err="1"/>
              <a:t>meninggal</a:t>
            </a:r>
            <a:r>
              <a:rPr lang="en-US" sz="1050" dirty="0"/>
              <a:t> </a:t>
            </a:r>
            <a:r>
              <a:rPr lang="en-US" sz="1050" dirty="0" err="1"/>
              <a:t>tanpa</a:t>
            </a:r>
            <a:r>
              <a:rPr lang="en-US" sz="1050" dirty="0"/>
              <a:t> </a:t>
            </a:r>
            <a:r>
              <a:rPr lang="en-US" sz="1050" dirty="0" err="1"/>
              <a:t>ahli</a:t>
            </a:r>
            <a:r>
              <a:rPr lang="en-US" sz="1050" dirty="0"/>
              <a:t> </a:t>
            </a:r>
            <a:r>
              <a:rPr lang="en-US" sz="1050" dirty="0" err="1"/>
              <a:t>waris</a:t>
            </a:r>
            <a:r>
              <a:rPr lang="en-US" sz="1050" dirty="0"/>
              <a:t> </a:t>
            </a:r>
            <a:r>
              <a:rPr lang="en-US" sz="1050" dirty="0" err="1"/>
              <a:t>atau</a:t>
            </a:r>
            <a:r>
              <a:rPr lang="en-US" sz="1050" dirty="0"/>
              <a:t> </a:t>
            </a:r>
            <a:r>
              <a:rPr lang="en-US" sz="1050" dirty="0" err="1"/>
              <a:t>hartanya</a:t>
            </a:r>
            <a:r>
              <a:rPr lang="en-US" sz="1050" dirty="0"/>
              <a:t> </a:t>
            </a:r>
            <a:r>
              <a:rPr lang="en-US" sz="1050" dirty="0" err="1"/>
              <a:t>tidak</a:t>
            </a:r>
            <a:r>
              <a:rPr lang="en-US" sz="1050" dirty="0"/>
              <a:t> </a:t>
            </a:r>
            <a:r>
              <a:rPr lang="en-US" sz="1050" dirty="0" err="1"/>
              <a:t>terurus</a:t>
            </a:r>
            <a:r>
              <a:rPr lang="en-US" sz="1050" dirty="0"/>
              <a:t>, </a:t>
            </a:r>
            <a:r>
              <a:rPr lang="en-US" sz="1050" dirty="0" err="1"/>
              <a:t>debitor</a:t>
            </a:r>
            <a:r>
              <a:rPr lang="en-US" sz="1050" dirty="0"/>
              <a:t> yang </a:t>
            </a:r>
            <a:r>
              <a:rPr lang="en-US" sz="1050" dirty="0" err="1"/>
              <a:t>tidak</a:t>
            </a:r>
            <a:r>
              <a:rPr lang="en-US" sz="1050" dirty="0"/>
              <a:t> </a:t>
            </a:r>
            <a:r>
              <a:rPr lang="en-US" sz="1050" dirty="0" err="1"/>
              <a:t>diketahui</a:t>
            </a:r>
            <a:r>
              <a:rPr lang="en-US" sz="1050" dirty="0"/>
              <a:t> </a:t>
            </a:r>
            <a:r>
              <a:rPr lang="en-US" sz="1050" dirty="0" err="1"/>
              <a:t>keberadaannya</a:t>
            </a:r>
            <a:r>
              <a:rPr lang="en-US" sz="1050" dirty="0"/>
              <a:t>, </a:t>
            </a:r>
            <a:r>
              <a:rPr lang="en-US" sz="1050" dirty="0" err="1"/>
              <a:t>perkara</a:t>
            </a:r>
            <a:r>
              <a:rPr lang="en-US" sz="1050" dirty="0"/>
              <a:t> </a:t>
            </a:r>
            <a:r>
              <a:rPr lang="en-US" sz="1050" dirty="0" err="1"/>
              <a:t>pekerja</a:t>
            </a:r>
            <a:r>
              <a:rPr lang="en-US" sz="1050" dirty="0"/>
              <a:t>, </a:t>
            </a:r>
            <a:r>
              <a:rPr lang="en-US" sz="1050" dirty="0" err="1"/>
              <a:t>perkara</a:t>
            </a:r>
            <a:r>
              <a:rPr lang="en-US" sz="1050" dirty="0"/>
              <a:t> </a:t>
            </a:r>
            <a:r>
              <a:rPr lang="en-US" sz="1050" dirty="0" err="1"/>
              <a:t>dengan</a:t>
            </a:r>
            <a:r>
              <a:rPr lang="en-US" sz="1050" dirty="0"/>
              <a:t> </a:t>
            </a:r>
            <a:r>
              <a:rPr lang="en-US" sz="1050" dirty="0" err="1"/>
              <a:t>harta</a:t>
            </a:r>
            <a:r>
              <a:rPr lang="en-US" sz="1050" dirty="0"/>
              <a:t> </a:t>
            </a:r>
            <a:r>
              <a:rPr lang="en-US" sz="1050" dirty="0" err="1"/>
              <a:t>kecil</a:t>
            </a:r>
            <a:r>
              <a:rPr lang="en-US" sz="1050" dirty="0"/>
              <a:t>, dan </a:t>
            </a:r>
            <a:r>
              <a:rPr lang="en-US" sz="1050" dirty="0" err="1"/>
              <a:t>perkara</a:t>
            </a:r>
            <a:r>
              <a:rPr lang="en-US" sz="1050" dirty="0"/>
              <a:t> yang </a:t>
            </a:r>
            <a:r>
              <a:rPr lang="en-US" sz="1050" dirty="0" err="1"/>
              <a:t>kehilangan</a:t>
            </a:r>
            <a:r>
              <a:rPr lang="en-US" sz="1050" dirty="0"/>
              <a:t> </a:t>
            </a:r>
            <a:r>
              <a:rPr lang="en-US" sz="1050" dirty="0" err="1"/>
              <a:t>kurator</a:t>
            </a:r>
            <a:r>
              <a:rPr lang="en-US" sz="1050" dirty="0"/>
              <a:t>.</a:t>
            </a:r>
          </a:p>
          <a:p>
            <a:pPr algn="just">
              <a:spcAft>
                <a:spcPts val="400"/>
              </a:spcAft>
            </a:pPr>
            <a:r>
              <a:rPr lang="en-US" sz="1050" dirty="0"/>
              <a:t>Di </a:t>
            </a:r>
            <a:r>
              <a:rPr lang="en-US" sz="1050" dirty="0" err="1"/>
              <a:t>luar</a:t>
            </a:r>
            <a:r>
              <a:rPr lang="en-US" sz="1050" dirty="0"/>
              <a:t> </a:t>
            </a:r>
            <a:r>
              <a:rPr lang="en-US" sz="1050" dirty="0" err="1"/>
              <a:t>itu</a:t>
            </a:r>
            <a:r>
              <a:rPr lang="en-US" sz="1050" dirty="0"/>
              <a:t>, para </a:t>
            </a:r>
            <a:r>
              <a:rPr lang="en-US" sz="1050" dirty="0" err="1"/>
              <a:t>pihak</a:t>
            </a:r>
            <a:r>
              <a:rPr lang="en-US" sz="1050" dirty="0"/>
              <a:t> </a:t>
            </a:r>
            <a:r>
              <a:rPr lang="en-US" sz="1050" dirty="0" err="1"/>
              <a:t>tetap</a:t>
            </a:r>
            <a:r>
              <a:rPr lang="en-US" sz="1050" dirty="0"/>
              <a:t> </a:t>
            </a:r>
            <a:r>
              <a:rPr lang="en-US" sz="1050" dirty="0" err="1"/>
              <a:t>bebas</a:t>
            </a:r>
            <a:r>
              <a:rPr lang="en-US" sz="1050" dirty="0"/>
              <a:t> </a:t>
            </a:r>
            <a:r>
              <a:rPr lang="en-US" sz="1050" dirty="0" err="1"/>
              <a:t>memilih</a:t>
            </a:r>
            <a:r>
              <a:rPr lang="en-US" sz="1050" dirty="0"/>
              <a:t> </a:t>
            </a:r>
            <a:r>
              <a:rPr lang="en-US" sz="1050" dirty="0" err="1"/>
              <a:t>kurator</a:t>
            </a:r>
            <a:r>
              <a:rPr lang="en-US" sz="1050" dirty="0"/>
              <a:t>. RUU </a:t>
            </a:r>
            <a:r>
              <a:rPr lang="en-US" sz="1050" dirty="0" err="1"/>
              <a:t>Profesi</a:t>
            </a:r>
            <a:r>
              <a:rPr lang="en-US" sz="1050" dirty="0"/>
              <a:t> </a:t>
            </a:r>
            <a:r>
              <a:rPr lang="en-US" sz="1050" dirty="0" err="1"/>
              <a:t>Kurator</a:t>
            </a:r>
            <a:r>
              <a:rPr lang="en-US" sz="1050" dirty="0"/>
              <a:t> </a:t>
            </a:r>
            <a:r>
              <a:rPr lang="en-US" sz="1050" dirty="0" err="1"/>
              <a:t>cukup</a:t>
            </a:r>
            <a:r>
              <a:rPr lang="en-US" sz="1050" dirty="0"/>
              <a:t> </a:t>
            </a:r>
            <a:r>
              <a:rPr lang="en-US" sz="1050" dirty="0" err="1"/>
              <a:t>memuat</a:t>
            </a:r>
            <a:r>
              <a:rPr lang="en-US" sz="1050" dirty="0"/>
              <a:t> </a:t>
            </a:r>
            <a:r>
              <a:rPr lang="en-US" sz="1050" dirty="0" err="1"/>
              <a:t>dasar</a:t>
            </a:r>
            <a:r>
              <a:rPr lang="en-US" sz="1050" dirty="0"/>
              <a:t> </a:t>
            </a:r>
            <a:r>
              <a:rPr lang="en-US" sz="1050" dirty="0" err="1"/>
              <a:t>penugasan</a:t>
            </a:r>
            <a:r>
              <a:rPr lang="en-US" sz="1050" dirty="0"/>
              <a:t> </a:t>
            </a:r>
            <a:r>
              <a:rPr lang="en-US" sz="1050" dirty="0" err="1"/>
              <a:t>ini</a:t>
            </a:r>
            <a:r>
              <a:rPr lang="en-US" sz="1050" dirty="0"/>
              <a:t>, </a:t>
            </a:r>
            <a:r>
              <a:rPr lang="en-US" sz="1050" dirty="0" err="1"/>
              <a:t>sedangkan</a:t>
            </a:r>
            <a:r>
              <a:rPr lang="en-US" sz="1050" dirty="0"/>
              <a:t> </a:t>
            </a:r>
            <a:r>
              <a:rPr lang="en-US" sz="1050" dirty="0" err="1"/>
              <a:t>kriteria</a:t>
            </a:r>
            <a:r>
              <a:rPr lang="en-US" sz="1050" dirty="0"/>
              <a:t> dan tata </a:t>
            </a:r>
            <a:r>
              <a:rPr lang="en-US" sz="1050" dirty="0" err="1"/>
              <a:t>cara</a:t>
            </a:r>
            <a:r>
              <a:rPr lang="en-US" sz="1050" dirty="0"/>
              <a:t> </a:t>
            </a:r>
            <a:r>
              <a:rPr lang="en-US" sz="1050" dirty="0" err="1"/>
              <a:t>penunjukannya</a:t>
            </a:r>
            <a:r>
              <a:rPr lang="en-US" sz="1050" dirty="0"/>
              <a:t> </a:t>
            </a:r>
            <a:r>
              <a:rPr lang="en-US" sz="1050" dirty="0" err="1"/>
              <a:t>diatur</a:t>
            </a:r>
            <a:r>
              <a:rPr lang="en-US" sz="1050" dirty="0"/>
              <a:t> </a:t>
            </a:r>
            <a:r>
              <a:rPr lang="en-US" sz="1050" dirty="0" err="1"/>
              <a:t>dalam</a:t>
            </a:r>
            <a:r>
              <a:rPr lang="en-US" sz="1050" dirty="0"/>
              <a:t> RUU </a:t>
            </a:r>
            <a:r>
              <a:rPr lang="en-US" sz="1050" dirty="0" err="1"/>
              <a:t>Kepailitan</a:t>
            </a:r>
            <a:r>
              <a:rPr lang="en-US" sz="1050" dirty="0"/>
              <a:t> dan PKPU.</a:t>
            </a:r>
          </a:p>
        </p:txBody>
      </p:sp>
      <p:sp>
        <p:nvSpPr>
          <p:cNvPr id="70" name="g4_box"/>
          <p:cNvSpPr/>
          <p:nvPr/>
        </p:nvSpPr>
        <p:spPr>
          <a:xfrm>
            <a:off x="8211820" y="5257800"/>
            <a:ext cx="3352800" cy="990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71" name="g4_boxtext"/>
          <p:cNvSpPr txBox="1"/>
          <p:nvPr/>
        </p:nvSpPr>
        <p:spPr>
          <a:xfrm>
            <a:off x="8313420" y="5308600"/>
            <a:ext cx="3149600" cy="914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Diatur di RUU Kepailitan dan PKPU</a:t>
            </a:r>
            <a:endParaRPr lang="en-US" sz="1050" dirty="0"/>
          </a:p>
          <a:p>
            <a:pPr marL="0" indent="0" algn="just">
              <a:spcAft>
                <a:spcPts val="200"/>
              </a:spcAft>
              <a:buNone/>
            </a:pPr>
            <a:r>
              <a:rPr lang="en-US" sz="1050" dirty="0">
                <a:solidFill>
                  <a:srgbClr val="2B2B2B"/>
                </a:solidFill>
              </a:rPr>
              <a:t>Kriteria dan tata cara penunjukan BHP pada perkara tertentu, kepailitan harta peninggalan tanpa ahli waris, dan kelanjutan perkara apabila debitor menghilang.</a:t>
            </a:r>
            <a:endParaRPr lang="en-US" sz="1050" dirty="0"/>
          </a:p>
        </p:txBody>
      </p:sp>
      <p:sp>
        <p:nvSpPr>
          <p:cNvPr id="46" name="src_1"/>
          <p:cNvSpPr txBox="1"/>
          <p:nvPr/>
        </p:nvSpPr>
        <p:spPr>
          <a:xfrm>
            <a:off x="4191000" y="6489700"/>
            <a:ext cx="7048500" cy="228600"/>
          </a:xfrm>
          <a:prstGeom prst="rect">
            <a:avLst/>
          </a:prstGeom>
          <a:noFill/>
          <a:ln/>
        </p:spPr>
        <p:txBody>
          <a:bodyPr wrap="square" lIns="0" tIns="0" rIns="0" bIns="0" rtlCol="0" anchor="ctr"/>
          <a:lstStyle/>
          <a:p>
            <a:pPr marL="0" indent="0" algn="r">
              <a:buNone/>
            </a:pPr>
            <a:r>
              <a:rPr lang="en-US" sz="900" dirty="0">
                <a:solidFill>
                  <a:srgbClr val="6B6B6B"/>
                </a:solidFill>
              </a:rPr>
              <a:t>Sumber: Buku Register Kepailitan dan laporan pengurusan BHP Medan; SIPP PN Medan per 2 Oktober 2026, diolah.</a:t>
            </a:r>
            <a:endParaRPr lang="en-US" sz="900" dirty="0"/>
          </a:p>
        </p:txBody>
      </p:sp>
      <p:sp>
        <p:nvSpPr>
          <p:cNvPr id="47" name="link_data_ring">
            <a:hlinkClick r:id="rId3"/>
            <a:hlinkHover r:id="rId3"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48" name="link_data_bg">
            <a:hlinkClick r:id="rId3"/>
            <a:hlinkHover r:id="rId3"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49" name="link_data_c">
            <a:hlinkClick r:id="rId3"/>
            <a:hlinkHover r:id="rId3"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50" name="link_data_i" descr="preencoded.png">
            <a:hlinkClick r:id="rId3"/>
            <a:hlinkHover r:id="rId3" highlightClick="1"/>
          </p:cNvPr>
          <p:cNvPicPr>
            <a:picLocks noChangeAspect="1"/>
          </p:cNvPicPr>
          <p:nvPr/>
        </p:nvPicPr>
        <p:blipFill>
          <a:blip r:embed="rId4"/>
          <a:stretch>
            <a:fillRect/>
          </a:stretch>
        </p:blipFill>
        <p:spPr>
          <a:xfrm>
            <a:off x="9400032" y="410464"/>
            <a:ext cx="201168" cy="201168"/>
          </a:xfrm>
          <a:prstGeom prst="rect">
            <a:avLst/>
          </a:prstGeom>
        </p:spPr>
      </p:pic>
      <p:sp>
        <p:nvSpPr>
          <p:cNvPr id="51" name="link_data_t">
            <a:hlinkClick r:id="rId3"/>
            <a:hlinkHover r:id="rId3"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52" name="link_data_cap">
            <a:hlinkClick r:id="rId3"/>
            <a:hlinkHover r:id="rId3" highlightClick="1"/>
          </p:cNvPr>
          <p:cNvSpPr txBox="1"/>
          <p:nvPr/>
        </p:nvSpPr>
        <p:spPr>
          <a:xfrm>
            <a:off x="9262872" y="821944"/>
            <a:ext cx="2468880" cy="36576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53"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8C8C8C"/>
                </a:solidFill>
              </a:defRPr>
            </a:lvl1pPr>
          </a:lstStyle>
          <a:p>
            <a:pPr algn="r"/>
            <a:fld id="{F7021451-1387-4CA6-816F-3879F97B5CBC}" type="slidenum">
              <a:rPr lang="en-US" b="0"/>
              <a:t>1</a:t>
            </a:fld>
            <a:endParaRPr lang="en-US"/>
          </a:p>
        </p:txBody>
      </p:sp>
    </p:spTree>
    <p:extLst>
      <p:ext uri="{BB962C8B-B14F-4D97-AF65-F5344CB8AC3E}">
        <p14:creationId xmlns:p14="http://schemas.microsoft.com/office/powerpoint/2010/main" val="244726098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53" presetClass="entr" presetSubtype="16" fill="hold" nodeType="withEffect">
                                  <p:stCondLst>
                                    <p:cond delay="220"/>
                                  </p:stCondLst>
                                  <p:childTnLst>
                                    <p:set>
                                      <p:cBhvr>
                                        <p:cTn id="16" dur="1" fill="hold">
                                          <p:stCondLst>
                                            <p:cond delay="0"/>
                                          </p:stCondLst>
                                        </p:cTn>
                                        <p:tgtEl>
                                          <p:spTgt spid="4"/>
                                        </p:tgtEl>
                                        <p:attrNameLst>
                                          <p:attrName>style.visibility</p:attrName>
                                        </p:attrNameLst>
                                      </p:cBhvr>
                                      <p:to>
                                        <p:strVal val="visible"/>
                                      </p:to>
                                    </p:set>
                                    <p:anim calcmode="lin" valueType="num">
                                      <p:cBhvr>
                                        <p:cTn id="17" dur="450" decel="100000" fill="hold"/>
                                        <p:tgtEl>
                                          <p:spTgt spid="4"/>
                                        </p:tgtEl>
                                        <p:attrNameLst>
                                          <p:attrName>ppt_w</p:attrName>
                                        </p:attrNameLst>
                                      </p:cBhvr>
                                      <p:tavLst>
                                        <p:tav tm="0">
                                          <p:val>
                                            <p:fltVal val="0"/>
                                          </p:val>
                                        </p:tav>
                                        <p:tav tm="100000">
                                          <p:val>
                                            <p:strVal val="#ppt_w"/>
                                          </p:val>
                                        </p:tav>
                                      </p:tavLst>
                                    </p:anim>
                                    <p:anim calcmode="lin" valueType="num">
                                      <p:cBhvr>
                                        <p:cTn id="18" dur="450" decel="100000" fill="hold"/>
                                        <p:tgtEl>
                                          <p:spTgt spid="4"/>
                                        </p:tgtEl>
                                        <p:attrNameLst>
                                          <p:attrName>ppt_h</p:attrName>
                                        </p:attrNameLst>
                                      </p:cBhvr>
                                      <p:tavLst>
                                        <p:tav tm="0">
                                          <p:val>
                                            <p:fltVal val="0"/>
                                          </p:val>
                                        </p:tav>
                                        <p:tav tm="100000">
                                          <p:val>
                                            <p:strVal val="#ppt_h"/>
                                          </p:val>
                                        </p:tav>
                                      </p:tavLst>
                                    </p:anim>
                                    <p:animEffect transition="in" filter="fade">
                                      <p:cBhvr>
                                        <p:cTn id="19" dur="450"/>
                                        <p:tgtEl>
                                          <p:spTgt spid="4"/>
                                        </p:tgtEl>
                                      </p:cBhvr>
                                    </p:animEffect>
                                  </p:childTnLst>
                                </p:cTn>
                              </p:par>
                              <p:par>
                                <p:cTn id="20" presetID="6" presetClass="emph" presetSubtype="0" repeatCount="indefinite" fill="hold" nodeType="withEffect">
                                  <p:stCondLst>
                                    <p:cond delay="600"/>
                                  </p:stCondLst>
                                  <p:childTnLst>
                                    <p:animScale>
                                      <p:cBhvr>
                                        <p:cTn id="21" dur="1100" accel="50000" decel="50000" autoRev="1" fill="hold"/>
                                        <p:tgtEl>
                                          <p:spTgt spid="47"/>
                                        </p:tgtEl>
                                      </p:cBhvr>
                                      <p:by x="112000" y="112000"/>
                                    </p:animScale>
                                  </p:childTnLst>
                                </p:cTn>
                              </p:par>
                              <p:par>
                                <p:cTn id="22" presetID="6" presetClass="emph" presetSubtype="0" repeatCount="indefinite" fill="hold" nodeType="withEffect">
                                  <p:stCondLst>
                                    <p:cond delay="600"/>
                                  </p:stCondLst>
                                  <p:childTnLst>
                                    <p:animScale>
                                      <p:cBhvr>
                                        <p:cTn id="23" dur="1100" accel="50000" decel="50000" autoRev="1" fill="hold"/>
                                        <p:tgtEl>
                                          <p:spTgt spid="48"/>
                                        </p:tgtEl>
                                      </p:cBhvr>
                                      <p:by x="103000" y="103000"/>
                                    </p:animScale>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11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22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33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par>
                                <p:cTn id="46" presetID="53" presetClass="entr" presetSubtype="16" fill="hold" nodeType="withEffect">
                                  <p:stCondLst>
                                    <p:cond delay="440"/>
                                  </p:stCondLst>
                                  <p:childTnLst>
                                    <p:set>
                                      <p:cBhvr>
                                        <p:cTn id="47" dur="1" fill="hold">
                                          <p:stCondLst>
                                            <p:cond delay="0"/>
                                          </p:stCondLst>
                                        </p:cTn>
                                        <p:tgtEl>
                                          <p:spTgt spid="10"/>
                                        </p:tgtEl>
                                        <p:attrNameLst>
                                          <p:attrName>style.visibility</p:attrName>
                                        </p:attrNameLst>
                                      </p:cBhvr>
                                      <p:to>
                                        <p:strVal val="visible"/>
                                      </p:to>
                                    </p:set>
                                    <p:anim calcmode="lin" valueType="num">
                                      <p:cBhvr>
                                        <p:cTn id="48" dur="450" decel="100000" fill="hold"/>
                                        <p:tgtEl>
                                          <p:spTgt spid="10"/>
                                        </p:tgtEl>
                                        <p:attrNameLst>
                                          <p:attrName>ppt_w</p:attrName>
                                        </p:attrNameLst>
                                      </p:cBhvr>
                                      <p:tavLst>
                                        <p:tav tm="0">
                                          <p:val>
                                            <p:fltVal val="0"/>
                                          </p:val>
                                        </p:tav>
                                        <p:tav tm="100000">
                                          <p:val>
                                            <p:strVal val="#ppt_w"/>
                                          </p:val>
                                        </p:tav>
                                      </p:tavLst>
                                    </p:anim>
                                    <p:anim calcmode="lin" valueType="num">
                                      <p:cBhvr>
                                        <p:cTn id="49" dur="450" decel="100000" fill="hold"/>
                                        <p:tgtEl>
                                          <p:spTgt spid="10"/>
                                        </p:tgtEl>
                                        <p:attrNameLst>
                                          <p:attrName>ppt_h</p:attrName>
                                        </p:attrNameLst>
                                      </p:cBhvr>
                                      <p:tavLst>
                                        <p:tav tm="0">
                                          <p:val>
                                            <p:fltVal val="0"/>
                                          </p:val>
                                        </p:tav>
                                        <p:tav tm="100000">
                                          <p:val>
                                            <p:strVal val="#ppt_h"/>
                                          </p:val>
                                        </p:tav>
                                      </p:tavLst>
                                    </p:anim>
                                    <p:animEffect transition="in" filter="fade">
                                      <p:cBhvr>
                                        <p:cTn id="50" dur="450"/>
                                        <p:tgtEl>
                                          <p:spTgt spid="10"/>
                                        </p:tgtEl>
                                      </p:cBhvr>
                                    </p:animEffect>
                                  </p:childTnLst>
                                </p:cTn>
                              </p:par>
                              <p:par>
                                <p:cTn id="51" presetID="53" presetClass="entr" presetSubtype="16" fill="hold" nodeType="withEffect">
                                  <p:stCondLst>
                                    <p:cond delay="550"/>
                                  </p:stCondLst>
                                  <p:childTnLst>
                                    <p:set>
                                      <p:cBhvr>
                                        <p:cTn id="52" dur="1" fill="hold">
                                          <p:stCondLst>
                                            <p:cond delay="0"/>
                                          </p:stCondLst>
                                        </p:cTn>
                                        <p:tgtEl>
                                          <p:spTgt spid="11"/>
                                        </p:tgtEl>
                                        <p:attrNameLst>
                                          <p:attrName>style.visibility</p:attrName>
                                        </p:attrNameLst>
                                      </p:cBhvr>
                                      <p:to>
                                        <p:strVal val="visible"/>
                                      </p:to>
                                    </p:set>
                                    <p:anim calcmode="lin" valueType="num">
                                      <p:cBhvr>
                                        <p:cTn id="53" dur="450" decel="100000" fill="hold"/>
                                        <p:tgtEl>
                                          <p:spTgt spid="11"/>
                                        </p:tgtEl>
                                        <p:attrNameLst>
                                          <p:attrName>ppt_w</p:attrName>
                                        </p:attrNameLst>
                                      </p:cBhvr>
                                      <p:tavLst>
                                        <p:tav tm="0">
                                          <p:val>
                                            <p:fltVal val="0"/>
                                          </p:val>
                                        </p:tav>
                                        <p:tav tm="100000">
                                          <p:val>
                                            <p:strVal val="#ppt_w"/>
                                          </p:val>
                                        </p:tav>
                                      </p:tavLst>
                                    </p:anim>
                                    <p:anim calcmode="lin" valueType="num">
                                      <p:cBhvr>
                                        <p:cTn id="54" dur="450" decel="100000" fill="hold"/>
                                        <p:tgtEl>
                                          <p:spTgt spid="11"/>
                                        </p:tgtEl>
                                        <p:attrNameLst>
                                          <p:attrName>ppt_h</p:attrName>
                                        </p:attrNameLst>
                                      </p:cBhvr>
                                      <p:tavLst>
                                        <p:tav tm="0">
                                          <p:val>
                                            <p:fltVal val="0"/>
                                          </p:val>
                                        </p:tav>
                                        <p:tav tm="100000">
                                          <p:val>
                                            <p:strVal val="#ppt_h"/>
                                          </p:val>
                                        </p:tav>
                                      </p:tavLst>
                                    </p:anim>
                                    <p:animEffect transition="in" filter="fade">
                                      <p:cBhvr>
                                        <p:cTn id="55" dur="450"/>
                                        <p:tgtEl>
                                          <p:spTgt spid="11"/>
                                        </p:tgtEl>
                                      </p:cBhvr>
                                    </p:animEffect>
                                  </p:childTnLst>
                                </p:cTn>
                              </p:par>
                              <p:par>
                                <p:cTn id="56" presetID="53" presetClass="entr" presetSubtype="16" fill="hold" nodeType="withEffect">
                                  <p:stCondLst>
                                    <p:cond delay="660"/>
                                  </p:stCondLst>
                                  <p:childTnLst>
                                    <p:set>
                                      <p:cBhvr>
                                        <p:cTn id="57" dur="1" fill="hold">
                                          <p:stCondLst>
                                            <p:cond delay="0"/>
                                          </p:stCondLst>
                                        </p:cTn>
                                        <p:tgtEl>
                                          <p:spTgt spid="12"/>
                                        </p:tgtEl>
                                        <p:attrNameLst>
                                          <p:attrName>style.visibility</p:attrName>
                                        </p:attrNameLst>
                                      </p:cBhvr>
                                      <p:to>
                                        <p:strVal val="visible"/>
                                      </p:to>
                                    </p:set>
                                    <p:anim calcmode="lin" valueType="num">
                                      <p:cBhvr>
                                        <p:cTn id="58" dur="450" decel="100000" fill="hold"/>
                                        <p:tgtEl>
                                          <p:spTgt spid="12"/>
                                        </p:tgtEl>
                                        <p:attrNameLst>
                                          <p:attrName>ppt_w</p:attrName>
                                        </p:attrNameLst>
                                      </p:cBhvr>
                                      <p:tavLst>
                                        <p:tav tm="0">
                                          <p:val>
                                            <p:fltVal val="0"/>
                                          </p:val>
                                        </p:tav>
                                        <p:tav tm="100000">
                                          <p:val>
                                            <p:strVal val="#ppt_w"/>
                                          </p:val>
                                        </p:tav>
                                      </p:tavLst>
                                    </p:anim>
                                    <p:anim calcmode="lin" valueType="num">
                                      <p:cBhvr>
                                        <p:cTn id="59" dur="450" decel="100000" fill="hold"/>
                                        <p:tgtEl>
                                          <p:spTgt spid="12"/>
                                        </p:tgtEl>
                                        <p:attrNameLst>
                                          <p:attrName>ppt_h</p:attrName>
                                        </p:attrNameLst>
                                      </p:cBhvr>
                                      <p:tavLst>
                                        <p:tav tm="0">
                                          <p:val>
                                            <p:fltVal val="0"/>
                                          </p:val>
                                        </p:tav>
                                        <p:tav tm="100000">
                                          <p:val>
                                            <p:strVal val="#ppt_h"/>
                                          </p:val>
                                        </p:tav>
                                      </p:tavLst>
                                    </p:anim>
                                    <p:animEffect transition="in" filter="fade">
                                      <p:cBhvr>
                                        <p:cTn id="60" dur="45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nodeType="click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11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par>
                                <p:cTn id="73" presetID="53" presetClass="entr" presetSubtype="16" fill="hold" nodeType="withEffect">
                                  <p:stCondLst>
                                    <p:cond delay="220"/>
                                  </p:stCondLst>
                                  <p:childTnLst>
                                    <p:set>
                                      <p:cBhvr>
                                        <p:cTn id="74" dur="1" fill="hold">
                                          <p:stCondLst>
                                            <p:cond delay="0"/>
                                          </p:stCondLst>
                                        </p:cTn>
                                        <p:tgtEl>
                                          <p:spTgt spid="16"/>
                                        </p:tgtEl>
                                        <p:attrNameLst>
                                          <p:attrName>style.visibility</p:attrName>
                                        </p:attrNameLst>
                                      </p:cBhvr>
                                      <p:to>
                                        <p:strVal val="visible"/>
                                      </p:to>
                                    </p:set>
                                    <p:anim calcmode="lin" valueType="num">
                                      <p:cBhvr>
                                        <p:cTn id="75" dur="450" decel="100000" fill="hold"/>
                                        <p:tgtEl>
                                          <p:spTgt spid="16"/>
                                        </p:tgtEl>
                                        <p:attrNameLst>
                                          <p:attrName>ppt_w</p:attrName>
                                        </p:attrNameLst>
                                      </p:cBhvr>
                                      <p:tavLst>
                                        <p:tav tm="0">
                                          <p:val>
                                            <p:fltVal val="0"/>
                                          </p:val>
                                        </p:tav>
                                        <p:tav tm="100000">
                                          <p:val>
                                            <p:strVal val="#ppt_w"/>
                                          </p:val>
                                        </p:tav>
                                      </p:tavLst>
                                    </p:anim>
                                    <p:anim calcmode="lin" valueType="num">
                                      <p:cBhvr>
                                        <p:cTn id="76" dur="450" decel="100000" fill="hold"/>
                                        <p:tgtEl>
                                          <p:spTgt spid="16"/>
                                        </p:tgtEl>
                                        <p:attrNameLst>
                                          <p:attrName>ppt_h</p:attrName>
                                        </p:attrNameLst>
                                      </p:cBhvr>
                                      <p:tavLst>
                                        <p:tav tm="0">
                                          <p:val>
                                            <p:fltVal val="0"/>
                                          </p:val>
                                        </p:tav>
                                        <p:tav tm="100000">
                                          <p:val>
                                            <p:strVal val="#ppt_h"/>
                                          </p:val>
                                        </p:tav>
                                      </p:tavLst>
                                    </p:anim>
                                    <p:animEffect transition="in" filter="fade">
                                      <p:cBhvr>
                                        <p:cTn id="77" dur="450"/>
                                        <p:tgtEl>
                                          <p:spTgt spid="16"/>
                                        </p:tgtEl>
                                      </p:cBhvr>
                                    </p:animEffect>
                                  </p:childTnLst>
                                </p:cTn>
                              </p:par>
                              <p:par>
                                <p:cTn id="78" presetID="53" presetClass="entr" presetSubtype="16" fill="hold" nodeType="withEffect">
                                  <p:stCondLst>
                                    <p:cond delay="330"/>
                                  </p:stCondLst>
                                  <p:childTnLst>
                                    <p:set>
                                      <p:cBhvr>
                                        <p:cTn id="79" dur="1" fill="hold">
                                          <p:stCondLst>
                                            <p:cond delay="0"/>
                                          </p:stCondLst>
                                        </p:cTn>
                                        <p:tgtEl>
                                          <p:spTgt spid="17"/>
                                        </p:tgtEl>
                                        <p:attrNameLst>
                                          <p:attrName>style.visibility</p:attrName>
                                        </p:attrNameLst>
                                      </p:cBhvr>
                                      <p:to>
                                        <p:strVal val="visible"/>
                                      </p:to>
                                    </p:set>
                                    <p:anim calcmode="lin" valueType="num">
                                      <p:cBhvr>
                                        <p:cTn id="80" dur="450" decel="100000" fill="hold"/>
                                        <p:tgtEl>
                                          <p:spTgt spid="17"/>
                                        </p:tgtEl>
                                        <p:attrNameLst>
                                          <p:attrName>ppt_w</p:attrName>
                                        </p:attrNameLst>
                                      </p:cBhvr>
                                      <p:tavLst>
                                        <p:tav tm="0">
                                          <p:val>
                                            <p:fltVal val="0"/>
                                          </p:val>
                                        </p:tav>
                                        <p:tav tm="100000">
                                          <p:val>
                                            <p:strVal val="#ppt_w"/>
                                          </p:val>
                                        </p:tav>
                                      </p:tavLst>
                                    </p:anim>
                                    <p:anim calcmode="lin" valueType="num">
                                      <p:cBhvr>
                                        <p:cTn id="81" dur="450" decel="100000" fill="hold"/>
                                        <p:tgtEl>
                                          <p:spTgt spid="17"/>
                                        </p:tgtEl>
                                        <p:attrNameLst>
                                          <p:attrName>ppt_h</p:attrName>
                                        </p:attrNameLst>
                                      </p:cBhvr>
                                      <p:tavLst>
                                        <p:tav tm="0">
                                          <p:val>
                                            <p:fltVal val="0"/>
                                          </p:val>
                                        </p:tav>
                                        <p:tav tm="100000">
                                          <p:val>
                                            <p:strVal val="#ppt_h"/>
                                          </p:val>
                                        </p:tav>
                                      </p:tavLst>
                                    </p:anim>
                                    <p:animEffect transition="in" filter="fade">
                                      <p:cBhvr>
                                        <p:cTn id="82" dur="450"/>
                                        <p:tgtEl>
                                          <p:spTgt spid="17"/>
                                        </p:tgtEl>
                                      </p:cBhvr>
                                    </p:animEffect>
                                  </p:childTnLst>
                                </p:cTn>
                              </p:par>
                              <p:par>
                                <p:cTn id="83" presetID="53" presetClass="entr" presetSubtype="16" fill="hold" nodeType="withEffect">
                                  <p:stCondLst>
                                    <p:cond delay="770"/>
                                  </p:stCondLst>
                                  <p:childTnLst>
                                    <p:set>
                                      <p:cBhvr>
                                        <p:cTn id="84" dur="1" fill="hold">
                                          <p:stCondLst>
                                            <p:cond delay="0"/>
                                          </p:stCondLst>
                                        </p:cTn>
                                        <p:tgtEl>
                                          <p:spTgt spid="21"/>
                                        </p:tgtEl>
                                        <p:attrNameLst>
                                          <p:attrName>style.visibility</p:attrName>
                                        </p:attrNameLst>
                                      </p:cBhvr>
                                      <p:to>
                                        <p:strVal val="visible"/>
                                      </p:to>
                                    </p:set>
                                    <p:anim calcmode="lin" valueType="num">
                                      <p:cBhvr>
                                        <p:cTn id="85" dur="450" decel="100000" fill="hold"/>
                                        <p:tgtEl>
                                          <p:spTgt spid="21"/>
                                        </p:tgtEl>
                                        <p:attrNameLst>
                                          <p:attrName>ppt_w</p:attrName>
                                        </p:attrNameLst>
                                      </p:cBhvr>
                                      <p:tavLst>
                                        <p:tav tm="0">
                                          <p:val>
                                            <p:fltVal val="0"/>
                                          </p:val>
                                        </p:tav>
                                        <p:tav tm="100000">
                                          <p:val>
                                            <p:strVal val="#ppt_w"/>
                                          </p:val>
                                        </p:tav>
                                      </p:tavLst>
                                    </p:anim>
                                    <p:anim calcmode="lin" valueType="num">
                                      <p:cBhvr>
                                        <p:cTn id="86" dur="450" decel="100000" fill="hold"/>
                                        <p:tgtEl>
                                          <p:spTgt spid="21"/>
                                        </p:tgtEl>
                                        <p:attrNameLst>
                                          <p:attrName>ppt_h</p:attrName>
                                        </p:attrNameLst>
                                      </p:cBhvr>
                                      <p:tavLst>
                                        <p:tav tm="0">
                                          <p:val>
                                            <p:fltVal val="0"/>
                                          </p:val>
                                        </p:tav>
                                        <p:tav tm="100000">
                                          <p:val>
                                            <p:strVal val="#ppt_h"/>
                                          </p:val>
                                        </p:tav>
                                      </p:tavLst>
                                    </p:anim>
                                    <p:animEffect transition="in" filter="fade">
                                      <p:cBhvr>
                                        <p:cTn id="87" dur="450"/>
                                        <p:tgtEl>
                                          <p:spTgt spid="21"/>
                                        </p:tgtEl>
                                      </p:cBhvr>
                                    </p:animEffect>
                                  </p:childTnLst>
                                </p:cTn>
                              </p:par>
                              <p:par>
                                <p:cTn id="88" presetID="53" presetClass="entr" presetSubtype="16" fill="hold" nodeType="withEffect">
                                  <p:stCondLst>
                                    <p:cond delay="880"/>
                                  </p:stCondLst>
                                  <p:childTnLst>
                                    <p:set>
                                      <p:cBhvr>
                                        <p:cTn id="89" dur="1" fill="hold">
                                          <p:stCondLst>
                                            <p:cond delay="0"/>
                                          </p:stCondLst>
                                        </p:cTn>
                                        <p:tgtEl>
                                          <p:spTgt spid="22"/>
                                        </p:tgtEl>
                                        <p:attrNameLst>
                                          <p:attrName>style.visibility</p:attrName>
                                        </p:attrNameLst>
                                      </p:cBhvr>
                                      <p:to>
                                        <p:strVal val="visible"/>
                                      </p:to>
                                    </p:set>
                                    <p:anim calcmode="lin" valueType="num">
                                      <p:cBhvr>
                                        <p:cTn id="90" dur="450" decel="100000" fill="hold"/>
                                        <p:tgtEl>
                                          <p:spTgt spid="22"/>
                                        </p:tgtEl>
                                        <p:attrNameLst>
                                          <p:attrName>ppt_w</p:attrName>
                                        </p:attrNameLst>
                                      </p:cBhvr>
                                      <p:tavLst>
                                        <p:tav tm="0">
                                          <p:val>
                                            <p:fltVal val="0"/>
                                          </p:val>
                                        </p:tav>
                                        <p:tav tm="100000">
                                          <p:val>
                                            <p:strVal val="#ppt_w"/>
                                          </p:val>
                                        </p:tav>
                                      </p:tavLst>
                                    </p:anim>
                                    <p:anim calcmode="lin" valueType="num">
                                      <p:cBhvr>
                                        <p:cTn id="91" dur="450" decel="100000" fill="hold"/>
                                        <p:tgtEl>
                                          <p:spTgt spid="22"/>
                                        </p:tgtEl>
                                        <p:attrNameLst>
                                          <p:attrName>ppt_h</p:attrName>
                                        </p:attrNameLst>
                                      </p:cBhvr>
                                      <p:tavLst>
                                        <p:tav tm="0">
                                          <p:val>
                                            <p:fltVal val="0"/>
                                          </p:val>
                                        </p:tav>
                                        <p:tav tm="100000">
                                          <p:val>
                                            <p:strVal val="#ppt_h"/>
                                          </p:val>
                                        </p:tav>
                                      </p:tavLst>
                                    </p:anim>
                                    <p:animEffect transition="in" filter="fade">
                                      <p:cBhvr>
                                        <p:cTn id="92" dur="450"/>
                                        <p:tgtEl>
                                          <p:spTgt spid="22"/>
                                        </p:tgtEl>
                                      </p:cBhvr>
                                    </p:animEffect>
                                  </p:childTnLst>
                                </p:cTn>
                              </p:par>
                              <p:par>
                                <p:cTn id="93" presetID="53" presetClass="entr" presetSubtype="16" fill="hold" nodeType="withEffect">
                                  <p:stCondLst>
                                    <p:cond delay="990"/>
                                  </p:stCondLst>
                                  <p:childTnLst>
                                    <p:set>
                                      <p:cBhvr>
                                        <p:cTn id="94" dur="1" fill="hold">
                                          <p:stCondLst>
                                            <p:cond delay="0"/>
                                          </p:stCondLst>
                                        </p:cTn>
                                        <p:tgtEl>
                                          <p:spTgt spid="23"/>
                                        </p:tgtEl>
                                        <p:attrNameLst>
                                          <p:attrName>style.visibility</p:attrName>
                                        </p:attrNameLst>
                                      </p:cBhvr>
                                      <p:to>
                                        <p:strVal val="visible"/>
                                      </p:to>
                                    </p:set>
                                    <p:anim calcmode="lin" valueType="num">
                                      <p:cBhvr>
                                        <p:cTn id="95" dur="450" decel="100000" fill="hold"/>
                                        <p:tgtEl>
                                          <p:spTgt spid="23"/>
                                        </p:tgtEl>
                                        <p:attrNameLst>
                                          <p:attrName>ppt_w</p:attrName>
                                        </p:attrNameLst>
                                      </p:cBhvr>
                                      <p:tavLst>
                                        <p:tav tm="0">
                                          <p:val>
                                            <p:fltVal val="0"/>
                                          </p:val>
                                        </p:tav>
                                        <p:tav tm="100000">
                                          <p:val>
                                            <p:strVal val="#ppt_w"/>
                                          </p:val>
                                        </p:tav>
                                      </p:tavLst>
                                    </p:anim>
                                    <p:anim calcmode="lin" valueType="num">
                                      <p:cBhvr>
                                        <p:cTn id="96" dur="450" decel="100000" fill="hold"/>
                                        <p:tgtEl>
                                          <p:spTgt spid="23"/>
                                        </p:tgtEl>
                                        <p:attrNameLst>
                                          <p:attrName>ppt_h</p:attrName>
                                        </p:attrNameLst>
                                      </p:cBhvr>
                                      <p:tavLst>
                                        <p:tav tm="0">
                                          <p:val>
                                            <p:fltVal val="0"/>
                                          </p:val>
                                        </p:tav>
                                        <p:tav tm="100000">
                                          <p:val>
                                            <p:strVal val="#ppt_h"/>
                                          </p:val>
                                        </p:tav>
                                      </p:tavLst>
                                    </p:anim>
                                    <p:animEffect transition="in" filter="fade">
                                      <p:cBhvr>
                                        <p:cTn id="97" dur="450"/>
                                        <p:tgtEl>
                                          <p:spTgt spid="23"/>
                                        </p:tgtEl>
                                      </p:cBhvr>
                                    </p:animEffect>
                                  </p:childTnLst>
                                </p:cTn>
                              </p:par>
                              <p:par>
                                <p:cTn id="98" presetID="53" presetClass="entr" presetSubtype="16" fill="hold" nodeType="withEffect">
                                  <p:stCondLst>
                                    <p:cond delay="1100"/>
                                  </p:stCondLst>
                                  <p:childTnLst>
                                    <p:set>
                                      <p:cBhvr>
                                        <p:cTn id="99" dur="1" fill="hold">
                                          <p:stCondLst>
                                            <p:cond delay="0"/>
                                          </p:stCondLst>
                                        </p:cTn>
                                        <p:tgtEl>
                                          <p:spTgt spid="24"/>
                                        </p:tgtEl>
                                        <p:attrNameLst>
                                          <p:attrName>style.visibility</p:attrName>
                                        </p:attrNameLst>
                                      </p:cBhvr>
                                      <p:to>
                                        <p:strVal val="visible"/>
                                      </p:to>
                                    </p:set>
                                    <p:anim calcmode="lin" valueType="num">
                                      <p:cBhvr>
                                        <p:cTn id="100" dur="450" decel="100000" fill="hold"/>
                                        <p:tgtEl>
                                          <p:spTgt spid="24"/>
                                        </p:tgtEl>
                                        <p:attrNameLst>
                                          <p:attrName>ppt_w</p:attrName>
                                        </p:attrNameLst>
                                      </p:cBhvr>
                                      <p:tavLst>
                                        <p:tav tm="0">
                                          <p:val>
                                            <p:fltVal val="0"/>
                                          </p:val>
                                        </p:tav>
                                        <p:tav tm="100000">
                                          <p:val>
                                            <p:strVal val="#ppt_w"/>
                                          </p:val>
                                        </p:tav>
                                      </p:tavLst>
                                    </p:anim>
                                    <p:anim calcmode="lin" valueType="num">
                                      <p:cBhvr>
                                        <p:cTn id="101" dur="450" decel="100000" fill="hold"/>
                                        <p:tgtEl>
                                          <p:spTgt spid="24"/>
                                        </p:tgtEl>
                                        <p:attrNameLst>
                                          <p:attrName>ppt_h</p:attrName>
                                        </p:attrNameLst>
                                      </p:cBhvr>
                                      <p:tavLst>
                                        <p:tav tm="0">
                                          <p:val>
                                            <p:fltVal val="0"/>
                                          </p:val>
                                        </p:tav>
                                        <p:tav tm="100000">
                                          <p:val>
                                            <p:strVal val="#ppt_h"/>
                                          </p:val>
                                        </p:tav>
                                      </p:tavLst>
                                    </p:anim>
                                    <p:animEffect transition="in" filter="fade">
                                      <p:cBhvr>
                                        <p:cTn id="102" dur="450"/>
                                        <p:tgtEl>
                                          <p:spTgt spid="24"/>
                                        </p:tgtEl>
                                      </p:cBhvr>
                                    </p:animEffect>
                                  </p:childTnLst>
                                </p:cTn>
                              </p:par>
                              <p:par>
                                <p:cTn id="103" presetID="53" presetClass="entr" presetSubtype="16" fill="hold" nodeType="withEffect">
                                  <p:stCondLst>
                                    <p:cond delay="1210"/>
                                  </p:stCondLst>
                                  <p:childTnLst>
                                    <p:set>
                                      <p:cBhvr>
                                        <p:cTn id="104" dur="1" fill="hold">
                                          <p:stCondLst>
                                            <p:cond delay="0"/>
                                          </p:stCondLst>
                                        </p:cTn>
                                        <p:tgtEl>
                                          <p:spTgt spid="25"/>
                                        </p:tgtEl>
                                        <p:attrNameLst>
                                          <p:attrName>style.visibility</p:attrName>
                                        </p:attrNameLst>
                                      </p:cBhvr>
                                      <p:to>
                                        <p:strVal val="visible"/>
                                      </p:to>
                                    </p:set>
                                    <p:anim calcmode="lin" valueType="num">
                                      <p:cBhvr>
                                        <p:cTn id="105" dur="450" decel="100000" fill="hold"/>
                                        <p:tgtEl>
                                          <p:spTgt spid="25"/>
                                        </p:tgtEl>
                                        <p:attrNameLst>
                                          <p:attrName>ppt_w</p:attrName>
                                        </p:attrNameLst>
                                      </p:cBhvr>
                                      <p:tavLst>
                                        <p:tav tm="0">
                                          <p:val>
                                            <p:fltVal val="0"/>
                                          </p:val>
                                        </p:tav>
                                        <p:tav tm="100000">
                                          <p:val>
                                            <p:strVal val="#ppt_w"/>
                                          </p:val>
                                        </p:tav>
                                      </p:tavLst>
                                    </p:anim>
                                    <p:anim calcmode="lin" valueType="num">
                                      <p:cBhvr>
                                        <p:cTn id="106" dur="450" decel="100000" fill="hold"/>
                                        <p:tgtEl>
                                          <p:spTgt spid="25"/>
                                        </p:tgtEl>
                                        <p:attrNameLst>
                                          <p:attrName>ppt_h</p:attrName>
                                        </p:attrNameLst>
                                      </p:cBhvr>
                                      <p:tavLst>
                                        <p:tav tm="0">
                                          <p:val>
                                            <p:fltVal val="0"/>
                                          </p:val>
                                        </p:tav>
                                        <p:tav tm="100000">
                                          <p:val>
                                            <p:strVal val="#ppt_h"/>
                                          </p:val>
                                        </p:tav>
                                      </p:tavLst>
                                    </p:anim>
                                    <p:animEffect transition="in" filter="fade">
                                      <p:cBhvr>
                                        <p:cTn id="107" dur="450"/>
                                        <p:tgtEl>
                                          <p:spTgt spid="25"/>
                                        </p:tgtEl>
                                      </p:cBhvr>
                                    </p:animEffect>
                                  </p:childTnLst>
                                </p:cTn>
                              </p:par>
                            </p:childTnLst>
                          </p:cTn>
                        </p:par>
                      </p:childTnLst>
                    </p:cTn>
                  </p:par>
                  <p:par>
                    <p:cTn id="108" fill="hold">
                      <p:stCondLst>
                        <p:cond delay="indefinite"/>
                      </p:stCondLst>
                      <p:childTnLst>
                        <p:par>
                          <p:cTn id="109" fill="hold">
                            <p:stCondLst>
                              <p:cond delay="0"/>
                            </p:stCondLst>
                            <p:childTnLst>
                              <p:par>
                                <p:cTn id="110" presetID="53" presetClass="entr" presetSubtype="16" fill="hold" nodeType="clickEffect">
                                  <p:stCondLst>
                                    <p:cond delay="0"/>
                                  </p:stCondLst>
                                  <p:childTnLst>
                                    <p:set>
                                      <p:cBhvr>
                                        <p:cTn id="111" dur="1" fill="hold">
                                          <p:stCondLst>
                                            <p:cond delay="0"/>
                                          </p:stCondLst>
                                        </p:cTn>
                                        <p:tgtEl>
                                          <p:spTgt spid="27"/>
                                        </p:tgtEl>
                                        <p:attrNameLst>
                                          <p:attrName>style.visibility</p:attrName>
                                        </p:attrNameLst>
                                      </p:cBhvr>
                                      <p:to>
                                        <p:strVal val="visible"/>
                                      </p:to>
                                    </p:set>
                                    <p:anim calcmode="lin" valueType="num">
                                      <p:cBhvr>
                                        <p:cTn id="112" dur="450" decel="100000" fill="hold"/>
                                        <p:tgtEl>
                                          <p:spTgt spid="27"/>
                                        </p:tgtEl>
                                        <p:attrNameLst>
                                          <p:attrName>ppt_w</p:attrName>
                                        </p:attrNameLst>
                                      </p:cBhvr>
                                      <p:tavLst>
                                        <p:tav tm="0">
                                          <p:val>
                                            <p:fltVal val="0"/>
                                          </p:val>
                                        </p:tav>
                                        <p:tav tm="100000">
                                          <p:val>
                                            <p:strVal val="#ppt_w"/>
                                          </p:val>
                                        </p:tav>
                                      </p:tavLst>
                                    </p:anim>
                                    <p:anim calcmode="lin" valueType="num">
                                      <p:cBhvr>
                                        <p:cTn id="113" dur="450" decel="100000" fill="hold"/>
                                        <p:tgtEl>
                                          <p:spTgt spid="27"/>
                                        </p:tgtEl>
                                        <p:attrNameLst>
                                          <p:attrName>ppt_h</p:attrName>
                                        </p:attrNameLst>
                                      </p:cBhvr>
                                      <p:tavLst>
                                        <p:tav tm="0">
                                          <p:val>
                                            <p:fltVal val="0"/>
                                          </p:val>
                                        </p:tav>
                                        <p:tav tm="100000">
                                          <p:val>
                                            <p:strVal val="#ppt_h"/>
                                          </p:val>
                                        </p:tav>
                                      </p:tavLst>
                                    </p:anim>
                                    <p:animEffect transition="in" filter="fade">
                                      <p:cBhvr>
                                        <p:cTn id="114" dur="450"/>
                                        <p:tgtEl>
                                          <p:spTgt spid="27"/>
                                        </p:tgtEl>
                                      </p:cBhvr>
                                    </p:animEffect>
                                  </p:childTnLst>
                                </p:cTn>
                              </p:par>
                              <p:par>
                                <p:cTn id="115" presetID="53" presetClass="entr" presetSubtype="16" fill="hold" nodeType="withEffect">
                                  <p:stCondLst>
                                    <p:cond delay="110"/>
                                  </p:stCondLst>
                                  <p:childTnLst>
                                    <p:set>
                                      <p:cBhvr>
                                        <p:cTn id="116" dur="1" fill="hold">
                                          <p:stCondLst>
                                            <p:cond delay="0"/>
                                          </p:stCondLst>
                                        </p:cTn>
                                        <p:tgtEl>
                                          <p:spTgt spid="28"/>
                                        </p:tgtEl>
                                        <p:attrNameLst>
                                          <p:attrName>style.visibility</p:attrName>
                                        </p:attrNameLst>
                                      </p:cBhvr>
                                      <p:to>
                                        <p:strVal val="visible"/>
                                      </p:to>
                                    </p:set>
                                    <p:anim calcmode="lin" valueType="num">
                                      <p:cBhvr>
                                        <p:cTn id="117" dur="450" decel="100000" fill="hold"/>
                                        <p:tgtEl>
                                          <p:spTgt spid="28"/>
                                        </p:tgtEl>
                                        <p:attrNameLst>
                                          <p:attrName>ppt_w</p:attrName>
                                        </p:attrNameLst>
                                      </p:cBhvr>
                                      <p:tavLst>
                                        <p:tav tm="0">
                                          <p:val>
                                            <p:fltVal val="0"/>
                                          </p:val>
                                        </p:tav>
                                        <p:tav tm="100000">
                                          <p:val>
                                            <p:strVal val="#ppt_w"/>
                                          </p:val>
                                        </p:tav>
                                      </p:tavLst>
                                    </p:anim>
                                    <p:anim calcmode="lin" valueType="num">
                                      <p:cBhvr>
                                        <p:cTn id="118" dur="450" decel="100000" fill="hold"/>
                                        <p:tgtEl>
                                          <p:spTgt spid="28"/>
                                        </p:tgtEl>
                                        <p:attrNameLst>
                                          <p:attrName>ppt_h</p:attrName>
                                        </p:attrNameLst>
                                      </p:cBhvr>
                                      <p:tavLst>
                                        <p:tav tm="0">
                                          <p:val>
                                            <p:fltVal val="0"/>
                                          </p:val>
                                        </p:tav>
                                        <p:tav tm="100000">
                                          <p:val>
                                            <p:strVal val="#ppt_h"/>
                                          </p:val>
                                        </p:tav>
                                      </p:tavLst>
                                    </p:anim>
                                    <p:animEffect transition="in" filter="fade">
                                      <p:cBhvr>
                                        <p:cTn id="119" dur="450"/>
                                        <p:tgtEl>
                                          <p:spTgt spid="28"/>
                                        </p:tgtEl>
                                      </p:cBhvr>
                                    </p:animEffect>
                                  </p:childTnLst>
                                </p:cTn>
                              </p:par>
                              <p:par>
                                <p:cTn id="120" presetID="53" presetClass="entr" presetSubtype="16" fill="hold" nodeType="withEffect">
                                  <p:stCondLst>
                                    <p:cond delay="220"/>
                                  </p:stCondLst>
                                  <p:childTnLst>
                                    <p:set>
                                      <p:cBhvr>
                                        <p:cTn id="121" dur="1" fill="hold">
                                          <p:stCondLst>
                                            <p:cond delay="0"/>
                                          </p:stCondLst>
                                        </p:cTn>
                                        <p:tgtEl>
                                          <p:spTgt spid="29"/>
                                        </p:tgtEl>
                                        <p:attrNameLst>
                                          <p:attrName>style.visibility</p:attrName>
                                        </p:attrNameLst>
                                      </p:cBhvr>
                                      <p:to>
                                        <p:strVal val="visible"/>
                                      </p:to>
                                    </p:set>
                                    <p:anim calcmode="lin" valueType="num">
                                      <p:cBhvr>
                                        <p:cTn id="122" dur="450" decel="100000" fill="hold"/>
                                        <p:tgtEl>
                                          <p:spTgt spid="29"/>
                                        </p:tgtEl>
                                        <p:attrNameLst>
                                          <p:attrName>ppt_w</p:attrName>
                                        </p:attrNameLst>
                                      </p:cBhvr>
                                      <p:tavLst>
                                        <p:tav tm="0">
                                          <p:val>
                                            <p:fltVal val="0"/>
                                          </p:val>
                                        </p:tav>
                                        <p:tav tm="100000">
                                          <p:val>
                                            <p:strVal val="#ppt_w"/>
                                          </p:val>
                                        </p:tav>
                                      </p:tavLst>
                                    </p:anim>
                                    <p:anim calcmode="lin" valueType="num">
                                      <p:cBhvr>
                                        <p:cTn id="123" dur="450" decel="100000" fill="hold"/>
                                        <p:tgtEl>
                                          <p:spTgt spid="29"/>
                                        </p:tgtEl>
                                        <p:attrNameLst>
                                          <p:attrName>ppt_h</p:attrName>
                                        </p:attrNameLst>
                                      </p:cBhvr>
                                      <p:tavLst>
                                        <p:tav tm="0">
                                          <p:val>
                                            <p:fltVal val="0"/>
                                          </p:val>
                                        </p:tav>
                                        <p:tav tm="100000">
                                          <p:val>
                                            <p:strVal val="#ppt_h"/>
                                          </p:val>
                                        </p:tav>
                                      </p:tavLst>
                                    </p:anim>
                                    <p:animEffect transition="in" filter="fade">
                                      <p:cBhvr>
                                        <p:cTn id="124" dur="450"/>
                                        <p:tgtEl>
                                          <p:spTgt spid="29"/>
                                        </p:tgtEl>
                                      </p:cBhvr>
                                    </p:animEffect>
                                  </p:childTnLst>
                                </p:cTn>
                              </p:par>
                              <p:par>
                                <p:cTn id="125" presetID="53" presetClass="entr" presetSubtype="16" fill="hold" nodeType="withEffect">
                                  <p:stCondLst>
                                    <p:cond delay="330"/>
                                  </p:stCondLst>
                                  <p:childTnLst>
                                    <p:set>
                                      <p:cBhvr>
                                        <p:cTn id="126" dur="1" fill="hold">
                                          <p:stCondLst>
                                            <p:cond delay="0"/>
                                          </p:stCondLst>
                                        </p:cTn>
                                        <p:tgtEl>
                                          <p:spTgt spid="30"/>
                                        </p:tgtEl>
                                        <p:attrNameLst>
                                          <p:attrName>style.visibility</p:attrName>
                                        </p:attrNameLst>
                                      </p:cBhvr>
                                      <p:to>
                                        <p:strVal val="visible"/>
                                      </p:to>
                                    </p:set>
                                    <p:anim calcmode="lin" valueType="num">
                                      <p:cBhvr>
                                        <p:cTn id="127" dur="450" decel="100000" fill="hold"/>
                                        <p:tgtEl>
                                          <p:spTgt spid="30"/>
                                        </p:tgtEl>
                                        <p:attrNameLst>
                                          <p:attrName>ppt_w</p:attrName>
                                        </p:attrNameLst>
                                      </p:cBhvr>
                                      <p:tavLst>
                                        <p:tav tm="0">
                                          <p:val>
                                            <p:fltVal val="0"/>
                                          </p:val>
                                        </p:tav>
                                        <p:tav tm="100000">
                                          <p:val>
                                            <p:strVal val="#ppt_w"/>
                                          </p:val>
                                        </p:tav>
                                      </p:tavLst>
                                    </p:anim>
                                    <p:anim calcmode="lin" valueType="num">
                                      <p:cBhvr>
                                        <p:cTn id="128" dur="450" decel="100000" fill="hold"/>
                                        <p:tgtEl>
                                          <p:spTgt spid="30"/>
                                        </p:tgtEl>
                                        <p:attrNameLst>
                                          <p:attrName>ppt_h</p:attrName>
                                        </p:attrNameLst>
                                      </p:cBhvr>
                                      <p:tavLst>
                                        <p:tav tm="0">
                                          <p:val>
                                            <p:fltVal val="0"/>
                                          </p:val>
                                        </p:tav>
                                        <p:tav tm="100000">
                                          <p:val>
                                            <p:strVal val="#ppt_h"/>
                                          </p:val>
                                        </p:tav>
                                      </p:tavLst>
                                    </p:anim>
                                    <p:animEffect transition="in" filter="fade">
                                      <p:cBhvr>
                                        <p:cTn id="129" dur="450"/>
                                        <p:tgtEl>
                                          <p:spTgt spid="30"/>
                                        </p:tgtEl>
                                      </p:cBhvr>
                                    </p:animEffect>
                                  </p:childTnLst>
                                </p:cTn>
                              </p:par>
                              <p:par>
                                <p:cTn id="130" presetID="53" presetClass="entr" presetSubtype="16" fill="hold" nodeType="withEffect">
                                  <p:stCondLst>
                                    <p:cond delay="440"/>
                                  </p:stCondLst>
                                  <p:childTnLst>
                                    <p:set>
                                      <p:cBhvr>
                                        <p:cTn id="131" dur="1" fill="hold">
                                          <p:stCondLst>
                                            <p:cond delay="0"/>
                                          </p:stCondLst>
                                        </p:cTn>
                                        <p:tgtEl>
                                          <p:spTgt spid="31"/>
                                        </p:tgtEl>
                                        <p:attrNameLst>
                                          <p:attrName>style.visibility</p:attrName>
                                        </p:attrNameLst>
                                      </p:cBhvr>
                                      <p:to>
                                        <p:strVal val="visible"/>
                                      </p:to>
                                    </p:set>
                                    <p:anim calcmode="lin" valueType="num">
                                      <p:cBhvr>
                                        <p:cTn id="132" dur="450" decel="100000" fill="hold"/>
                                        <p:tgtEl>
                                          <p:spTgt spid="31"/>
                                        </p:tgtEl>
                                        <p:attrNameLst>
                                          <p:attrName>ppt_w</p:attrName>
                                        </p:attrNameLst>
                                      </p:cBhvr>
                                      <p:tavLst>
                                        <p:tav tm="0">
                                          <p:val>
                                            <p:fltVal val="0"/>
                                          </p:val>
                                        </p:tav>
                                        <p:tav tm="100000">
                                          <p:val>
                                            <p:strVal val="#ppt_w"/>
                                          </p:val>
                                        </p:tav>
                                      </p:tavLst>
                                    </p:anim>
                                    <p:anim calcmode="lin" valueType="num">
                                      <p:cBhvr>
                                        <p:cTn id="133" dur="450" decel="100000" fill="hold"/>
                                        <p:tgtEl>
                                          <p:spTgt spid="31"/>
                                        </p:tgtEl>
                                        <p:attrNameLst>
                                          <p:attrName>ppt_h</p:attrName>
                                        </p:attrNameLst>
                                      </p:cBhvr>
                                      <p:tavLst>
                                        <p:tav tm="0">
                                          <p:val>
                                            <p:fltVal val="0"/>
                                          </p:val>
                                        </p:tav>
                                        <p:tav tm="100000">
                                          <p:val>
                                            <p:strVal val="#ppt_h"/>
                                          </p:val>
                                        </p:tav>
                                      </p:tavLst>
                                    </p:anim>
                                    <p:animEffect transition="in" filter="fade">
                                      <p:cBhvr>
                                        <p:cTn id="13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ARAH PENGATURAN RUU</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err="1">
                <a:solidFill>
                  <a:schemeClr val="accent1"/>
                </a:solidFill>
                <a:latin typeface="Cambria" pitchFamily="34" charset="0"/>
                <a:ea typeface="Cambria" pitchFamily="34" charset="-122"/>
                <a:cs typeface="Cambria" pitchFamily="34" charset="-120"/>
              </a:rPr>
              <a:t>Perkara</a:t>
            </a:r>
            <a:r>
              <a:rPr lang="en-US" sz="2800" b="1" dirty="0">
                <a:solidFill>
                  <a:schemeClr val="accent1"/>
                </a:solidFill>
                <a:latin typeface="Cambria" pitchFamily="34" charset="0"/>
                <a:ea typeface="Cambria" pitchFamily="34" charset="-122"/>
                <a:cs typeface="Cambria" pitchFamily="34" charset="-120"/>
              </a:rPr>
              <a:t> </a:t>
            </a:r>
            <a:r>
              <a:rPr lang="en-US" sz="2800" b="1" dirty="0" err="1">
                <a:solidFill>
                  <a:schemeClr val="accent1"/>
                </a:solidFill>
                <a:latin typeface="Cambria" pitchFamily="34" charset="0"/>
                <a:ea typeface="Cambria" pitchFamily="34" charset="-122"/>
                <a:cs typeface="Cambria" pitchFamily="34" charset="-120"/>
              </a:rPr>
              <a:t>Kepailitan</a:t>
            </a:r>
            <a:r>
              <a:rPr lang="en-US" sz="2800" b="1" dirty="0">
                <a:solidFill>
                  <a:schemeClr val="accent1"/>
                </a:solidFill>
                <a:latin typeface="Cambria" pitchFamily="34" charset="0"/>
                <a:ea typeface="Cambria" pitchFamily="34" charset="-122"/>
                <a:cs typeface="Cambria" pitchFamily="34" charset="-120"/>
              </a:rPr>
              <a:t> Yang Sedang </a:t>
            </a:r>
            <a:r>
              <a:rPr lang="en-US" sz="2800" b="1" dirty="0" err="1">
                <a:solidFill>
                  <a:schemeClr val="accent1"/>
                </a:solidFill>
                <a:latin typeface="Cambria" pitchFamily="34" charset="0"/>
                <a:ea typeface="Cambria" pitchFamily="34" charset="-122"/>
                <a:cs typeface="Cambria" pitchFamily="34" charset="-120"/>
              </a:rPr>
              <a:t>Ditangani</a:t>
            </a:r>
            <a:r>
              <a:rPr lang="en-US" sz="2800" b="1" dirty="0">
                <a:solidFill>
                  <a:schemeClr val="accent1"/>
                </a:solidFill>
                <a:latin typeface="Cambria" pitchFamily="34" charset="0"/>
                <a:ea typeface="Cambria" pitchFamily="34" charset="-122"/>
                <a:cs typeface="Cambria" pitchFamily="34" charset="-120"/>
              </a:rPr>
              <a:t> BHP Medan</a:t>
            </a:r>
            <a:endParaRPr lang="en-US" sz="2800" dirty="0"/>
          </a:p>
        </p:txBody>
      </p:sp>
      <p:sp>
        <p:nvSpPr>
          <p:cNvPr id="34" name="link_data_ring">
            <a:hlinkClick r:id="rId3"/>
            <a:hlinkHover r:id="rId3"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35" name="link_data_bg">
            <a:hlinkClick r:id="rId3"/>
            <a:hlinkHover r:id="rId3"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36" name="link_data_c">
            <a:hlinkClick r:id="rId3"/>
            <a:hlinkHover r:id="rId3"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37" name="link_data_i" descr="preencoded.png">
            <a:hlinkClick r:id="rId3"/>
            <a:hlinkHover r:id="rId3" highlightClick="1"/>
          </p:cNvPr>
          <p:cNvPicPr>
            <a:picLocks noChangeAspect="1"/>
          </p:cNvPicPr>
          <p:nvPr/>
        </p:nvPicPr>
        <p:blipFill>
          <a:blip r:embed="rId4"/>
          <a:stretch>
            <a:fillRect/>
          </a:stretch>
        </p:blipFill>
        <p:spPr>
          <a:xfrm>
            <a:off x="9400032" y="410464"/>
            <a:ext cx="201168" cy="201168"/>
          </a:xfrm>
          <a:prstGeom prst="rect">
            <a:avLst/>
          </a:prstGeom>
        </p:spPr>
      </p:pic>
      <p:sp>
        <p:nvSpPr>
          <p:cNvPr id="38" name="link_data_t">
            <a:hlinkClick r:id="rId3"/>
            <a:hlinkHover r:id="rId3"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39" name="link_data_cap">
            <a:hlinkClick r:id="rId3"/>
            <a:hlinkHover r:id="rId3" highlightClick="1"/>
          </p:cNvPr>
          <p:cNvSpPr txBox="1"/>
          <p:nvPr/>
        </p:nvSpPr>
        <p:spPr>
          <a:xfrm>
            <a:off x="9400032" y="838200"/>
            <a:ext cx="2398268" cy="508000"/>
          </a:xfrm>
          <a:prstGeom prst="rect">
            <a:avLst/>
          </a:prstGeom>
          <a:noFill/>
          <a:ln/>
        </p:spPr>
        <p:txBody>
          <a:bodyPr wrap="square" lIns="0" tIns="0" rIns="0" bIns="0" rtlCol="0" anchor="t"/>
          <a:lstStyle/>
          <a:p>
            <a:pPr marL="0" indent="0" algn="just">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40"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 xmlns:ma14="http://schemas.microsoft.com/office/mac/drawingml/2011/main" val="0"/>
            </a:ext>
          </a:extLst>
        </p:spPr>
        <p:txBody>
          <a:bodyPr/>
          <a:lstStyle>
            <a:lvl1pPr>
              <a:defRPr sz="900">
                <a:solidFill>
                  <a:srgbClr val="8C8C8C"/>
                </a:solidFill>
              </a:defRPr>
            </a:lvl1pPr>
          </a:lstStyle>
          <a:p>
            <a:pPr algn="r"/>
            <a:fld id="{F7021451-1387-4CA6-816F-3879F97B5CBC}" type="slidenum">
              <a:rPr lang="en-US" b="0"/>
              <a:t>2</a:t>
            </a:fld>
            <a:endParaRPr lang="en-US"/>
          </a:p>
        </p:txBody>
      </p:sp>
      <p:graphicFrame>
        <p:nvGraphicFramePr>
          <p:cNvPr id="60" name="Tabel Perkara"/>
          <p:cNvGraphicFramePr>
            <a:graphicFrameLocks noGrp="1"/>
          </p:cNvGraphicFramePr>
          <p:nvPr/>
        </p:nvGraphicFramePr>
        <p:xfrm>
          <a:off x="457200" y="2438400"/>
          <a:ext cx="11277600" cy="3811778"/>
        </p:xfrm>
        <a:graphic>
          <a:graphicData uri="http://schemas.openxmlformats.org/drawingml/2006/table">
            <a:tbl>
              <a:tblPr/>
              <a:tblGrid>
                <a:gridCol w="381000">
                  <a:extLst>
                    <a:ext uri="{9D8B030D-6E8A-4147-A177-3AD203B41FA5}">
                      <a16:colId xmlns:a16="http://schemas.microsoft.com/office/drawing/2014/main" val="20000"/>
                    </a:ext>
                  </a:extLst>
                </a:gridCol>
                <a:gridCol w="3683000">
                  <a:extLst>
                    <a:ext uri="{9D8B030D-6E8A-4147-A177-3AD203B41FA5}">
                      <a16:colId xmlns:a16="http://schemas.microsoft.com/office/drawing/2014/main" val="20001"/>
                    </a:ext>
                  </a:extLst>
                </a:gridCol>
                <a:gridCol w="4318000">
                  <a:extLst>
                    <a:ext uri="{9D8B030D-6E8A-4147-A177-3AD203B41FA5}">
                      <a16:colId xmlns:a16="http://schemas.microsoft.com/office/drawing/2014/main" val="20002"/>
                    </a:ext>
                  </a:extLst>
                </a:gridCol>
                <a:gridCol w="2895600">
                  <a:extLst>
                    <a:ext uri="{9D8B030D-6E8A-4147-A177-3AD203B41FA5}">
                      <a16:colId xmlns:a16="http://schemas.microsoft.com/office/drawing/2014/main" val="20003"/>
                    </a:ext>
                  </a:extLst>
                </a:gridCol>
              </a:tblGrid>
              <a:tr h="203200">
                <a:tc>
                  <a:txBody>
                    <a:bodyPr/>
                    <a:lstStyle/>
                    <a:p>
                      <a:pPr algn="ctr">
                        <a:lnSpc>
                          <a:spcPct val="80000"/>
                        </a:lnSpc>
                        <a:spcBef>
                          <a:spcPts val="0"/>
                        </a:spcBef>
                        <a:spcAft>
                          <a:spcPts val="0"/>
                        </a:spcAft>
                      </a:pPr>
                      <a:r>
                        <a:rPr lang="id-ID" sz="1400" b="1" dirty="0">
                          <a:solidFill>
                            <a:schemeClr val="accent1"/>
                          </a:solidFill>
                        </a:rPr>
                        <a:t>No</a:t>
                      </a:r>
                      <a:endParaRPr lang="id-ID" sz="1400" dirty="0"/>
                    </a:p>
                  </a:txBody>
                  <a:tcPr marL="68580" marR="68580" marT="6350" marB="6350" anchor="b">
                    <a:lnL w="0">
                      <a:noFill/>
                    </a:lnL>
                    <a:lnR w="0">
                      <a:noFill/>
                    </a:lnR>
                    <a:lnT w="0">
                      <a:noFill/>
                    </a:lnT>
                    <a:lnB w="19050" cap="flat" cmpd="sng" algn="ctr">
                      <a:solidFill>
                        <a:schemeClr val="accent1"/>
                      </a:solidFill>
                      <a:prstDash val="solid"/>
                    </a:lnB>
                    <a:noFill/>
                  </a:tcPr>
                </a:tc>
                <a:tc>
                  <a:txBody>
                    <a:bodyPr/>
                    <a:lstStyle/>
                    <a:p>
                      <a:pPr algn="l">
                        <a:lnSpc>
                          <a:spcPct val="80000"/>
                        </a:lnSpc>
                        <a:spcBef>
                          <a:spcPts val="0"/>
                        </a:spcBef>
                        <a:spcAft>
                          <a:spcPts val="0"/>
                        </a:spcAft>
                      </a:pPr>
                      <a:r>
                        <a:rPr lang="id-ID" sz="1400" b="1" dirty="0">
                          <a:solidFill>
                            <a:schemeClr val="accent1"/>
                          </a:solidFill>
                        </a:rPr>
                        <a:t>Nomor perkara dan tanggal putusan pailit</a:t>
                      </a:r>
                      <a:endParaRPr lang="id-ID" sz="1400" dirty="0"/>
                    </a:p>
                  </a:txBody>
                  <a:tcPr marL="68580" marR="68580" marT="6350" marB="6350" anchor="b">
                    <a:lnL w="0">
                      <a:noFill/>
                    </a:lnL>
                    <a:lnR w="0">
                      <a:noFill/>
                    </a:lnR>
                    <a:lnT w="0">
                      <a:noFill/>
                    </a:lnT>
                    <a:lnB w="19050" cap="flat" cmpd="sng" algn="ctr">
                      <a:solidFill>
                        <a:schemeClr val="accent1"/>
                      </a:solidFill>
                      <a:prstDash val="solid"/>
                    </a:lnB>
                    <a:noFill/>
                  </a:tcPr>
                </a:tc>
                <a:tc>
                  <a:txBody>
                    <a:bodyPr/>
                    <a:lstStyle/>
                    <a:p>
                      <a:pPr algn="l">
                        <a:lnSpc>
                          <a:spcPct val="80000"/>
                        </a:lnSpc>
                        <a:spcBef>
                          <a:spcPts val="0"/>
                        </a:spcBef>
                        <a:spcAft>
                          <a:spcPts val="0"/>
                        </a:spcAft>
                      </a:pPr>
                      <a:r>
                        <a:rPr lang="id-ID" sz="1400" b="1" dirty="0">
                          <a:solidFill>
                            <a:schemeClr val="accent1"/>
                          </a:solidFill>
                        </a:rPr>
                        <a:t>Debitor dan domisili</a:t>
                      </a:r>
                      <a:endParaRPr lang="id-ID" sz="1400" dirty="0"/>
                    </a:p>
                  </a:txBody>
                  <a:tcPr marL="68580" marR="68580" marT="6350" marB="6350" anchor="b">
                    <a:lnL w="0">
                      <a:noFill/>
                    </a:lnL>
                    <a:lnR w="0">
                      <a:noFill/>
                    </a:lnR>
                    <a:lnT w="0">
                      <a:noFill/>
                    </a:lnT>
                    <a:lnB w="19050" cap="flat" cmpd="sng" algn="ctr">
                      <a:solidFill>
                        <a:schemeClr val="accent1"/>
                      </a:solidFill>
                      <a:prstDash val="solid"/>
                    </a:lnB>
                    <a:noFill/>
                  </a:tcPr>
                </a:tc>
                <a:tc>
                  <a:txBody>
                    <a:bodyPr/>
                    <a:lstStyle/>
                    <a:p>
                      <a:pPr algn="l">
                        <a:lnSpc>
                          <a:spcPct val="80000"/>
                        </a:lnSpc>
                        <a:spcBef>
                          <a:spcPts val="0"/>
                        </a:spcBef>
                        <a:spcAft>
                          <a:spcPts val="0"/>
                        </a:spcAft>
                      </a:pPr>
                      <a:r>
                        <a:rPr lang="id-ID" sz="1400" b="1" dirty="0">
                          <a:solidFill>
                            <a:schemeClr val="accent1"/>
                          </a:solidFill>
                        </a:rPr>
                        <a:t>Pemohon menurut register</a:t>
                      </a:r>
                      <a:endParaRPr lang="id-ID" sz="1400" dirty="0"/>
                    </a:p>
                  </a:txBody>
                  <a:tcPr marL="68580" marR="68580" marT="6350" marB="6350" anchor="b">
                    <a:lnL w="0">
                      <a:noFill/>
                    </a:lnL>
                    <a:lnR w="0">
                      <a:noFill/>
                    </a:lnR>
                    <a:lnT w="0">
                      <a:noFill/>
                    </a:lnT>
                    <a:lnB w="19050" cap="flat" cmpd="sng" algn="ctr">
                      <a:solidFill>
                        <a:schemeClr val="accent1"/>
                      </a:solidFill>
                      <a:prstDash val="solid"/>
                    </a:lnB>
                    <a:noFill/>
                  </a:tcPr>
                </a:tc>
                <a:extLst>
                  <a:ext uri="{0D108BD9-81ED-4DB2-BD59-A6C34878D82A}">
                    <a16:rowId xmlns:a16="http://schemas.microsoft.com/office/drawing/2014/main" val="10000"/>
                  </a:ext>
                </a:extLst>
              </a:tr>
              <a:tr h="203200">
                <a:tc>
                  <a:txBody>
                    <a:bodyPr/>
                    <a:lstStyle/>
                    <a:p>
                      <a:pPr algn="ctr">
                        <a:lnSpc>
                          <a:spcPct val="80000"/>
                        </a:lnSpc>
                        <a:spcBef>
                          <a:spcPts val="0"/>
                        </a:spcBef>
                        <a:spcAft>
                          <a:spcPts val="0"/>
                        </a:spcAft>
                      </a:pPr>
                      <a:r>
                        <a:rPr lang="id-ID" sz="1500" dirty="0">
                          <a:solidFill>
                            <a:srgbClr val="262626"/>
                          </a:solidFill>
                        </a:rPr>
                        <a:t>1.</a:t>
                      </a:r>
                      <a:endParaRPr lang="id-ID" sz="1500" dirty="0"/>
                    </a:p>
                  </a:txBody>
                  <a:tcPr marL="68580" marR="68580" marT="6350" marB="6350">
                    <a:lnL w="0">
                      <a:noFill/>
                    </a:lnL>
                    <a:lnR w="0">
                      <a:noFill/>
                    </a:lnR>
                    <a:lnT w="19050" cap="flat" cmpd="sng" algn="ctr">
                      <a:solidFill>
                        <a:schemeClr val="accent1"/>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2/Pdt.Sus-Pailit/2016/PN Niaga Mdn</a:t>
                      </a:r>
                      <a:endParaRPr lang="id-ID" sz="1500" dirty="0"/>
                    </a:p>
                    <a:p>
                      <a:pPr algn="l">
                        <a:lnSpc>
                          <a:spcPct val="80000"/>
                        </a:lnSpc>
                        <a:spcBef>
                          <a:spcPts val="0"/>
                        </a:spcBef>
                        <a:spcAft>
                          <a:spcPts val="0"/>
                        </a:spcAft>
                      </a:pPr>
                      <a:r>
                        <a:rPr lang="id-ID" sz="1200" dirty="0">
                          <a:solidFill>
                            <a:srgbClr val="6B6B6B"/>
                          </a:solidFill>
                        </a:rPr>
                        <a:t>17 Februari 2016</a:t>
                      </a:r>
                      <a:endParaRPr lang="id-ID" sz="1200" dirty="0"/>
                    </a:p>
                  </a:txBody>
                  <a:tcPr marL="68580" marR="68580" marT="6350" marB="6350">
                    <a:lnL w="0">
                      <a:noFill/>
                    </a:lnL>
                    <a:lnR w="0">
                      <a:noFill/>
                    </a:lnR>
                    <a:lnT w="19050" cap="flat" cmpd="sng" algn="ctr">
                      <a:solidFill>
                        <a:schemeClr val="accent1"/>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Gwe Tjoen alias Atman Wiratman</a:t>
                      </a:r>
                      <a:endParaRPr lang="id-ID" sz="1500" dirty="0"/>
                    </a:p>
                    <a:p>
                      <a:pPr algn="l">
                        <a:lnSpc>
                          <a:spcPct val="80000"/>
                        </a:lnSpc>
                        <a:spcBef>
                          <a:spcPts val="0"/>
                        </a:spcBef>
                        <a:spcAft>
                          <a:spcPts val="0"/>
                        </a:spcAft>
                      </a:pPr>
                      <a:r>
                        <a:rPr lang="id-ID" sz="1200" dirty="0">
                          <a:solidFill>
                            <a:srgbClr val="6B6B6B"/>
                          </a:solidFill>
                        </a:rPr>
                        <a:t>Binjai, Sumatera Utara</a:t>
                      </a:r>
                      <a:endParaRPr lang="id-ID" sz="1200" dirty="0"/>
                    </a:p>
                  </a:txBody>
                  <a:tcPr marL="68580" marR="68580" marT="6350" marB="6350">
                    <a:lnL w="0">
                      <a:noFill/>
                    </a:lnL>
                    <a:lnR w="0">
                      <a:noFill/>
                    </a:lnR>
                    <a:lnT w="19050" cap="flat" cmpd="sng" algn="ctr">
                      <a:solidFill>
                        <a:schemeClr val="accent1"/>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Debitor sendiri</a:t>
                      </a:r>
                      <a:endParaRPr lang="id-ID" sz="1500" dirty="0"/>
                    </a:p>
                  </a:txBody>
                  <a:tcPr marL="68580" marR="68580" marT="6350" marB="6350">
                    <a:lnL w="0">
                      <a:noFill/>
                    </a:lnL>
                    <a:lnR w="0">
                      <a:noFill/>
                    </a:lnR>
                    <a:lnT w="19050" cap="flat" cmpd="sng" algn="ctr">
                      <a:solidFill>
                        <a:schemeClr val="accent1"/>
                      </a:solidFill>
                      <a:prstDash val="solid"/>
                      <a:round/>
                      <a:headEnd type="none" w="med" len="med"/>
                      <a:tailEnd type="none" w="med" len="med"/>
                    </a:lnT>
                    <a:lnB w="6350" cap="flat" cmpd="sng" algn="ctr">
                      <a:solidFill>
                        <a:srgbClr val="D9D9D9"/>
                      </a:solidFill>
                      <a:prstDash val="solid"/>
                    </a:lnB>
                    <a:noFill/>
                  </a:tcPr>
                </a:tc>
                <a:extLst>
                  <a:ext uri="{0D108BD9-81ED-4DB2-BD59-A6C34878D82A}">
                    <a16:rowId xmlns:a16="http://schemas.microsoft.com/office/drawing/2014/main" val="10001"/>
                  </a:ext>
                </a:extLst>
              </a:tr>
              <a:tr h="203200">
                <a:tc>
                  <a:txBody>
                    <a:bodyPr/>
                    <a:lstStyle/>
                    <a:p>
                      <a:pPr algn="ctr">
                        <a:lnSpc>
                          <a:spcPct val="80000"/>
                        </a:lnSpc>
                        <a:spcBef>
                          <a:spcPts val="0"/>
                        </a:spcBef>
                        <a:spcAft>
                          <a:spcPts val="0"/>
                        </a:spcAft>
                      </a:pPr>
                      <a:r>
                        <a:rPr lang="id-ID" sz="1500" dirty="0">
                          <a:solidFill>
                            <a:srgbClr val="262626"/>
                          </a:solidFill>
                        </a:rPr>
                        <a:t>2.</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01/Pdt.Sus-Pailit/2017/PN Niaga Mdn</a:t>
                      </a:r>
                      <a:endParaRPr lang="id-ID" sz="1500" dirty="0"/>
                    </a:p>
                    <a:p>
                      <a:pPr algn="l">
                        <a:lnSpc>
                          <a:spcPct val="80000"/>
                        </a:lnSpc>
                        <a:spcBef>
                          <a:spcPts val="0"/>
                        </a:spcBef>
                        <a:spcAft>
                          <a:spcPts val="0"/>
                        </a:spcAft>
                      </a:pPr>
                      <a:r>
                        <a:rPr lang="id-ID" sz="1200" dirty="0">
                          <a:solidFill>
                            <a:srgbClr val="6B6B6B"/>
                          </a:solidFill>
                        </a:rPr>
                        <a:t>25 April 2017</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Muhammad Arifin Hasibuan (CV Hitado)</a:t>
                      </a:r>
                      <a:endParaRPr lang="id-ID" sz="1500" dirty="0"/>
                    </a:p>
                    <a:p>
                      <a:pPr algn="l">
                        <a:lnSpc>
                          <a:spcPct val="80000"/>
                        </a:lnSpc>
                        <a:spcBef>
                          <a:spcPts val="0"/>
                        </a:spcBef>
                        <a:spcAft>
                          <a:spcPts val="0"/>
                        </a:spcAft>
                      </a:pPr>
                      <a:r>
                        <a:rPr lang="id-ID" sz="1200" dirty="0">
                          <a:solidFill>
                            <a:srgbClr val="6B6B6B"/>
                          </a:solidFill>
                        </a:rPr>
                        <a:t>Medan, Sumatera Utara</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Muhammad Arifin Nasution</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extLst>
                  <a:ext uri="{0D108BD9-81ED-4DB2-BD59-A6C34878D82A}">
                    <a16:rowId xmlns:a16="http://schemas.microsoft.com/office/drawing/2014/main" val="10002"/>
                  </a:ext>
                </a:extLst>
              </a:tr>
              <a:tr h="203200">
                <a:tc>
                  <a:txBody>
                    <a:bodyPr/>
                    <a:lstStyle/>
                    <a:p>
                      <a:pPr algn="ctr">
                        <a:lnSpc>
                          <a:spcPct val="80000"/>
                        </a:lnSpc>
                        <a:spcBef>
                          <a:spcPts val="0"/>
                        </a:spcBef>
                        <a:spcAft>
                          <a:spcPts val="0"/>
                        </a:spcAft>
                      </a:pPr>
                      <a:r>
                        <a:rPr lang="id-ID" sz="1500" dirty="0">
                          <a:solidFill>
                            <a:srgbClr val="262626"/>
                          </a:solidFill>
                        </a:rPr>
                        <a:t>3.</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2/Pdt.Sus-Pailit/2018/PN Niaga Mdn</a:t>
                      </a:r>
                      <a:endParaRPr lang="id-ID" sz="1500" dirty="0"/>
                    </a:p>
                    <a:p>
                      <a:pPr algn="l">
                        <a:lnSpc>
                          <a:spcPct val="80000"/>
                        </a:lnSpc>
                        <a:spcBef>
                          <a:spcPts val="0"/>
                        </a:spcBef>
                        <a:spcAft>
                          <a:spcPts val="0"/>
                        </a:spcAft>
                      </a:pPr>
                      <a:r>
                        <a:rPr lang="id-ID" sz="1200" dirty="0">
                          <a:solidFill>
                            <a:srgbClr val="6B6B6B"/>
                          </a:solidFill>
                        </a:rPr>
                        <a:t>28 Juni 2018</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PT Pro Mekanika Indonusa</a:t>
                      </a:r>
                      <a:endParaRPr lang="id-ID" sz="1500" dirty="0"/>
                    </a:p>
                    <a:p>
                      <a:pPr algn="l">
                        <a:lnSpc>
                          <a:spcPct val="80000"/>
                        </a:lnSpc>
                        <a:spcBef>
                          <a:spcPts val="0"/>
                        </a:spcBef>
                        <a:spcAft>
                          <a:spcPts val="0"/>
                        </a:spcAft>
                      </a:pPr>
                      <a:r>
                        <a:rPr lang="id-ID" sz="1200" dirty="0">
                          <a:solidFill>
                            <a:srgbClr val="6B6B6B"/>
                          </a:solidFill>
                        </a:rPr>
                        <a:t>Medan, Sumatera Utara</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PT Trimurti Perkasa dan Hotmaulin Simare Mare</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extLst>
                  <a:ext uri="{0D108BD9-81ED-4DB2-BD59-A6C34878D82A}">
                    <a16:rowId xmlns:a16="http://schemas.microsoft.com/office/drawing/2014/main" val="10003"/>
                  </a:ext>
                </a:extLst>
              </a:tr>
              <a:tr h="203200">
                <a:tc>
                  <a:txBody>
                    <a:bodyPr/>
                    <a:lstStyle/>
                    <a:p>
                      <a:pPr algn="ctr">
                        <a:lnSpc>
                          <a:spcPct val="80000"/>
                        </a:lnSpc>
                        <a:spcBef>
                          <a:spcPts val="0"/>
                        </a:spcBef>
                        <a:spcAft>
                          <a:spcPts val="0"/>
                        </a:spcAft>
                      </a:pPr>
                      <a:r>
                        <a:rPr lang="id-ID" sz="1500" dirty="0">
                          <a:solidFill>
                            <a:srgbClr val="262626"/>
                          </a:solidFill>
                        </a:rPr>
                        <a:t>4.</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7/Pdt.Sus-Pailit/2018/PN Niaga Mdn</a:t>
                      </a:r>
                      <a:endParaRPr lang="id-ID" sz="1500" dirty="0"/>
                    </a:p>
                    <a:p>
                      <a:pPr algn="l">
                        <a:lnSpc>
                          <a:spcPct val="80000"/>
                        </a:lnSpc>
                        <a:spcBef>
                          <a:spcPts val="0"/>
                        </a:spcBef>
                        <a:spcAft>
                          <a:spcPts val="0"/>
                        </a:spcAft>
                      </a:pPr>
                      <a:r>
                        <a:rPr lang="id-ID" sz="1200" dirty="0">
                          <a:solidFill>
                            <a:srgbClr val="6B6B6B"/>
                          </a:solidFill>
                        </a:rPr>
                        <a:t>20 Desember 2018</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Badaruddin HSB bin Multen Hasibuan</a:t>
                      </a:r>
                      <a:endParaRPr lang="id-ID" sz="1500" dirty="0"/>
                    </a:p>
                    <a:p>
                      <a:pPr algn="l">
                        <a:lnSpc>
                          <a:spcPct val="80000"/>
                        </a:lnSpc>
                        <a:spcBef>
                          <a:spcPts val="0"/>
                        </a:spcBef>
                        <a:spcAft>
                          <a:spcPts val="0"/>
                        </a:spcAft>
                      </a:pPr>
                      <a:r>
                        <a:rPr lang="id-ID" sz="1200" dirty="0">
                          <a:solidFill>
                            <a:srgbClr val="6B6B6B"/>
                          </a:solidFill>
                        </a:rPr>
                        <a:t>Aceh Singkil, Aceh</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Debitor sendiri</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extLst>
                  <a:ext uri="{0D108BD9-81ED-4DB2-BD59-A6C34878D82A}">
                    <a16:rowId xmlns:a16="http://schemas.microsoft.com/office/drawing/2014/main" val="10004"/>
                  </a:ext>
                </a:extLst>
              </a:tr>
              <a:tr h="203200">
                <a:tc>
                  <a:txBody>
                    <a:bodyPr/>
                    <a:lstStyle/>
                    <a:p>
                      <a:pPr algn="ctr">
                        <a:lnSpc>
                          <a:spcPct val="80000"/>
                        </a:lnSpc>
                        <a:spcBef>
                          <a:spcPts val="0"/>
                        </a:spcBef>
                        <a:spcAft>
                          <a:spcPts val="0"/>
                        </a:spcAft>
                      </a:pPr>
                      <a:r>
                        <a:rPr lang="id-ID" sz="1500" dirty="0">
                          <a:solidFill>
                            <a:srgbClr val="262626"/>
                          </a:solidFill>
                        </a:rPr>
                        <a:t>5.</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8/Pdt.Sus-Pailit/2019/PN Niaga Mdn</a:t>
                      </a:r>
                      <a:endParaRPr lang="id-ID" sz="1500" dirty="0"/>
                    </a:p>
                    <a:p>
                      <a:pPr algn="l">
                        <a:lnSpc>
                          <a:spcPct val="80000"/>
                        </a:lnSpc>
                        <a:spcBef>
                          <a:spcPts val="0"/>
                        </a:spcBef>
                        <a:spcAft>
                          <a:spcPts val="0"/>
                        </a:spcAft>
                      </a:pPr>
                      <a:r>
                        <a:rPr lang="id-ID" sz="1200" dirty="0">
                          <a:solidFill>
                            <a:srgbClr val="6B6B6B"/>
                          </a:solidFill>
                        </a:rPr>
                        <a:t>8 November 2019</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Suparjo Rustam</a:t>
                      </a:r>
                      <a:endParaRPr lang="id-ID" sz="1500" dirty="0"/>
                    </a:p>
                    <a:p>
                      <a:pPr algn="l">
                        <a:lnSpc>
                          <a:spcPct val="80000"/>
                        </a:lnSpc>
                        <a:spcBef>
                          <a:spcPts val="0"/>
                        </a:spcBef>
                        <a:spcAft>
                          <a:spcPts val="0"/>
                        </a:spcAft>
                      </a:pPr>
                      <a:r>
                        <a:rPr lang="id-ID" sz="1200" dirty="0">
                          <a:solidFill>
                            <a:srgbClr val="6B6B6B"/>
                          </a:solidFill>
                        </a:rPr>
                        <a:t>Medan, Sumatera Utara</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Debitor sendiri</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extLst>
                  <a:ext uri="{0D108BD9-81ED-4DB2-BD59-A6C34878D82A}">
                    <a16:rowId xmlns:a16="http://schemas.microsoft.com/office/drawing/2014/main" val="10005"/>
                  </a:ext>
                </a:extLst>
              </a:tr>
              <a:tr h="203200">
                <a:tc>
                  <a:txBody>
                    <a:bodyPr/>
                    <a:lstStyle/>
                    <a:p>
                      <a:pPr algn="ctr">
                        <a:lnSpc>
                          <a:spcPct val="80000"/>
                        </a:lnSpc>
                        <a:spcBef>
                          <a:spcPts val="0"/>
                        </a:spcBef>
                        <a:spcAft>
                          <a:spcPts val="0"/>
                        </a:spcAft>
                      </a:pPr>
                      <a:r>
                        <a:rPr lang="id-ID" sz="1500" dirty="0">
                          <a:solidFill>
                            <a:srgbClr val="262626"/>
                          </a:solidFill>
                        </a:rPr>
                        <a:t>6.</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2/Pdt.Sus-Pailit/2020/PN Niaga Mdn</a:t>
                      </a:r>
                      <a:endParaRPr lang="id-ID" sz="1500" dirty="0"/>
                    </a:p>
                    <a:p>
                      <a:pPr algn="l">
                        <a:lnSpc>
                          <a:spcPct val="80000"/>
                        </a:lnSpc>
                        <a:spcBef>
                          <a:spcPts val="0"/>
                        </a:spcBef>
                        <a:spcAft>
                          <a:spcPts val="0"/>
                        </a:spcAft>
                      </a:pPr>
                      <a:r>
                        <a:rPr lang="id-ID" sz="1200" dirty="0">
                          <a:solidFill>
                            <a:srgbClr val="6B6B6B"/>
                          </a:solidFill>
                        </a:rPr>
                        <a:t>12 Maret 2020</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PT Rimba Cipta Niaga (Direktur Hermanto)</a:t>
                      </a:r>
                      <a:endParaRPr lang="id-ID" sz="1500" dirty="0"/>
                    </a:p>
                    <a:p>
                      <a:pPr algn="l">
                        <a:lnSpc>
                          <a:spcPct val="80000"/>
                        </a:lnSpc>
                        <a:spcBef>
                          <a:spcPts val="0"/>
                        </a:spcBef>
                        <a:spcAft>
                          <a:spcPts val="0"/>
                        </a:spcAft>
                      </a:pPr>
                      <a:r>
                        <a:rPr lang="id-ID" sz="1200" dirty="0">
                          <a:solidFill>
                            <a:srgbClr val="6B6B6B"/>
                          </a:solidFill>
                        </a:rPr>
                        <a:t>Medan, Sumatera Utara</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Debitor sendiri</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extLst>
                  <a:ext uri="{0D108BD9-81ED-4DB2-BD59-A6C34878D82A}">
                    <a16:rowId xmlns:a16="http://schemas.microsoft.com/office/drawing/2014/main" val="10006"/>
                  </a:ext>
                </a:extLst>
              </a:tr>
              <a:tr h="203200">
                <a:tc>
                  <a:txBody>
                    <a:bodyPr/>
                    <a:lstStyle/>
                    <a:p>
                      <a:pPr algn="ctr">
                        <a:lnSpc>
                          <a:spcPct val="80000"/>
                        </a:lnSpc>
                        <a:spcBef>
                          <a:spcPts val="0"/>
                        </a:spcBef>
                        <a:spcAft>
                          <a:spcPts val="0"/>
                        </a:spcAft>
                      </a:pPr>
                      <a:r>
                        <a:rPr lang="id-ID" sz="1500" dirty="0">
                          <a:solidFill>
                            <a:srgbClr val="262626"/>
                          </a:solidFill>
                        </a:rPr>
                        <a:t>7.</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33/Pdt.Sus-PKPU/2022/PN Niaga Mdn</a:t>
                      </a:r>
                      <a:endParaRPr lang="id-ID" sz="1500" dirty="0"/>
                    </a:p>
                    <a:p>
                      <a:pPr algn="l">
                        <a:lnSpc>
                          <a:spcPct val="80000"/>
                        </a:lnSpc>
                        <a:spcBef>
                          <a:spcPts val="0"/>
                        </a:spcBef>
                        <a:spcAft>
                          <a:spcPts val="0"/>
                        </a:spcAft>
                      </a:pPr>
                      <a:r>
                        <a:rPr lang="id-ID" sz="1200" dirty="0">
                          <a:solidFill>
                            <a:srgbClr val="6B6B6B"/>
                          </a:solidFill>
                        </a:rPr>
                        <a:t>10 April 2023</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PT Rata Makmur</a:t>
                      </a:r>
                      <a:endParaRPr lang="id-ID" sz="1500" dirty="0"/>
                    </a:p>
                    <a:p>
                      <a:pPr algn="l">
                        <a:lnSpc>
                          <a:spcPct val="80000"/>
                        </a:lnSpc>
                        <a:spcBef>
                          <a:spcPts val="0"/>
                        </a:spcBef>
                        <a:spcAft>
                          <a:spcPts val="0"/>
                        </a:spcAft>
                      </a:pPr>
                      <a:r>
                        <a:rPr lang="id-ID" sz="1200" dirty="0">
                          <a:solidFill>
                            <a:srgbClr val="6B6B6B"/>
                          </a:solidFill>
                        </a:rPr>
                        <a:t>Medan dan Langkat, Sumatera Utara</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Samin K dan kawan-kawan (eks pekerja)</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extLst>
                  <a:ext uri="{0D108BD9-81ED-4DB2-BD59-A6C34878D82A}">
                    <a16:rowId xmlns:a16="http://schemas.microsoft.com/office/drawing/2014/main" val="10007"/>
                  </a:ext>
                </a:extLst>
              </a:tr>
              <a:tr h="203200">
                <a:tc>
                  <a:txBody>
                    <a:bodyPr/>
                    <a:lstStyle/>
                    <a:p>
                      <a:pPr algn="ctr">
                        <a:lnSpc>
                          <a:spcPct val="80000"/>
                        </a:lnSpc>
                        <a:spcBef>
                          <a:spcPts val="0"/>
                        </a:spcBef>
                        <a:spcAft>
                          <a:spcPts val="0"/>
                        </a:spcAft>
                      </a:pPr>
                      <a:r>
                        <a:rPr lang="id-ID" sz="1500" dirty="0">
                          <a:solidFill>
                            <a:srgbClr val="262626"/>
                          </a:solidFill>
                        </a:rPr>
                        <a:t>8.</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6/Pdt.Sus-Pailit/2023/PN Niaga Mdn jo. 1123 K/Pdt.Sus-Pailit/2023</a:t>
                      </a:r>
                      <a:endParaRPr lang="id-ID" sz="1500" dirty="0"/>
                    </a:p>
                    <a:p>
                      <a:pPr algn="l">
                        <a:lnSpc>
                          <a:spcPct val="80000"/>
                        </a:lnSpc>
                        <a:spcBef>
                          <a:spcPts val="0"/>
                        </a:spcBef>
                        <a:spcAft>
                          <a:spcPts val="0"/>
                        </a:spcAft>
                      </a:pPr>
                      <a:r>
                        <a:rPr lang="id-ID" sz="1200" dirty="0">
                          <a:solidFill>
                            <a:srgbClr val="6B6B6B"/>
                          </a:solidFill>
                        </a:rPr>
                        <a:t>17 Oktober 2023</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KSO PT Maju Abadi Jaya Utama dan PT Kurnia Putra Maduma</a:t>
                      </a:r>
                      <a:endParaRPr lang="id-ID" sz="1500" dirty="0"/>
                    </a:p>
                    <a:p>
                      <a:pPr algn="l">
                        <a:lnSpc>
                          <a:spcPct val="80000"/>
                        </a:lnSpc>
                        <a:spcBef>
                          <a:spcPts val="0"/>
                        </a:spcBef>
                        <a:spcAft>
                          <a:spcPts val="0"/>
                        </a:spcAft>
                      </a:pPr>
                      <a:r>
                        <a:rPr lang="id-ID" sz="1200" dirty="0">
                          <a:solidFill>
                            <a:srgbClr val="6B6B6B"/>
                          </a:solidFill>
                        </a:rPr>
                        <a:t>Medan, Sumatera Utara</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tc>
                  <a:txBody>
                    <a:bodyPr/>
                    <a:lstStyle/>
                    <a:p>
                      <a:pPr algn="l">
                        <a:lnSpc>
                          <a:spcPct val="80000"/>
                        </a:lnSpc>
                        <a:spcBef>
                          <a:spcPts val="0"/>
                        </a:spcBef>
                        <a:spcAft>
                          <a:spcPts val="0"/>
                        </a:spcAft>
                      </a:pPr>
                      <a:r>
                        <a:rPr lang="id-ID" sz="1500" dirty="0">
                          <a:solidFill>
                            <a:srgbClr val="262626"/>
                          </a:solidFill>
                        </a:rPr>
                        <a:t>Koperasi Yantek Maju Bersama dan kawan-kawan</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6350" cap="flat" cmpd="sng" algn="ctr">
                      <a:solidFill>
                        <a:srgbClr val="D9D9D9"/>
                      </a:solidFill>
                      <a:prstDash val="solid"/>
                    </a:lnB>
                    <a:noFill/>
                  </a:tcPr>
                </a:tc>
                <a:extLst>
                  <a:ext uri="{0D108BD9-81ED-4DB2-BD59-A6C34878D82A}">
                    <a16:rowId xmlns:a16="http://schemas.microsoft.com/office/drawing/2014/main" val="10008"/>
                  </a:ext>
                </a:extLst>
              </a:tr>
              <a:tr h="203200">
                <a:tc>
                  <a:txBody>
                    <a:bodyPr/>
                    <a:lstStyle/>
                    <a:p>
                      <a:pPr algn="ctr">
                        <a:lnSpc>
                          <a:spcPct val="80000"/>
                        </a:lnSpc>
                        <a:spcBef>
                          <a:spcPts val="0"/>
                        </a:spcBef>
                        <a:spcAft>
                          <a:spcPts val="0"/>
                        </a:spcAft>
                      </a:pPr>
                      <a:r>
                        <a:rPr lang="id-ID" sz="1500" dirty="0">
                          <a:solidFill>
                            <a:srgbClr val="262626"/>
                          </a:solidFill>
                        </a:rPr>
                        <a:t>9.</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0">
                      <a:noFill/>
                    </a:lnB>
                    <a:noFill/>
                  </a:tcPr>
                </a:tc>
                <a:tc>
                  <a:txBody>
                    <a:bodyPr/>
                    <a:lstStyle/>
                    <a:p>
                      <a:pPr algn="l">
                        <a:lnSpc>
                          <a:spcPct val="80000"/>
                        </a:lnSpc>
                        <a:spcBef>
                          <a:spcPts val="0"/>
                        </a:spcBef>
                        <a:spcAft>
                          <a:spcPts val="0"/>
                        </a:spcAft>
                      </a:pPr>
                      <a:r>
                        <a:rPr lang="id-ID" sz="1500" dirty="0">
                          <a:solidFill>
                            <a:srgbClr val="262626"/>
                          </a:solidFill>
                        </a:rPr>
                        <a:t>12/Pdt.Sus-Pailit/2025/PN Niaga Mdn</a:t>
                      </a:r>
                      <a:endParaRPr lang="id-ID" sz="1500" dirty="0"/>
                    </a:p>
                    <a:p>
                      <a:pPr algn="l">
                        <a:lnSpc>
                          <a:spcPct val="80000"/>
                        </a:lnSpc>
                        <a:spcBef>
                          <a:spcPts val="0"/>
                        </a:spcBef>
                        <a:spcAft>
                          <a:spcPts val="0"/>
                        </a:spcAft>
                      </a:pPr>
                      <a:r>
                        <a:rPr lang="id-ID" sz="1200" dirty="0">
                          <a:solidFill>
                            <a:srgbClr val="6B6B6B"/>
                          </a:solidFill>
                        </a:rPr>
                        <a:t>11 Desember 2025</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0">
                      <a:noFill/>
                    </a:lnB>
                    <a:noFill/>
                  </a:tcPr>
                </a:tc>
                <a:tc>
                  <a:txBody>
                    <a:bodyPr/>
                    <a:lstStyle/>
                    <a:p>
                      <a:pPr algn="l">
                        <a:lnSpc>
                          <a:spcPct val="80000"/>
                        </a:lnSpc>
                        <a:spcBef>
                          <a:spcPts val="0"/>
                        </a:spcBef>
                        <a:spcAft>
                          <a:spcPts val="0"/>
                        </a:spcAft>
                      </a:pPr>
                      <a:r>
                        <a:rPr lang="id-ID" sz="1500" dirty="0">
                          <a:solidFill>
                            <a:srgbClr val="262626"/>
                          </a:solidFill>
                        </a:rPr>
                        <a:t>Frans Winner</a:t>
                      </a:r>
                      <a:endParaRPr lang="id-ID" sz="1500" dirty="0"/>
                    </a:p>
                    <a:p>
                      <a:pPr algn="l">
                        <a:lnSpc>
                          <a:spcPct val="80000"/>
                        </a:lnSpc>
                        <a:spcBef>
                          <a:spcPts val="0"/>
                        </a:spcBef>
                        <a:spcAft>
                          <a:spcPts val="0"/>
                        </a:spcAft>
                      </a:pPr>
                      <a:r>
                        <a:rPr lang="id-ID" sz="1200" dirty="0">
                          <a:solidFill>
                            <a:srgbClr val="6B6B6B"/>
                          </a:solidFill>
                        </a:rPr>
                        <a:t>Medan, Sumatera Utara</a:t>
                      </a:r>
                      <a:endParaRPr lang="id-ID" sz="12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0">
                      <a:noFill/>
                    </a:lnB>
                    <a:noFill/>
                  </a:tcPr>
                </a:tc>
                <a:tc>
                  <a:txBody>
                    <a:bodyPr/>
                    <a:lstStyle/>
                    <a:p>
                      <a:pPr algn="l">
                        <a:lnSpc>
                          <a:spcPct val="80000"/>
                        </a:lnSpc>
                        <a:spcBef>
                          <a:spcPts val="0"/>
                        </a:spcBef>
                        <a:spcAft>
                          <a:spcPts val="0"/>
                        </a:spcAft>
                      </a:pPr>
                      <a:r>
                        <a:rPr lang="id-ID" sz="1500" dirty="0">
                          <a:solidFill>
                            <a:srgbClr val="262626"/>
                          </a:solidFill>
                        </a:rPr>
                        <a:t>Salim Hadi Saputra dan Maratur P. Siregar</a:t>
                      </a:r>
                      <a:endParaRPr lang="id-ID" sz="1500" dirty="0"/>
                    </a:p>
                  </a:txBody>
                  <a:tcPr marL="68580" marR="68580" marT="6350" marB="6350">
                    <a:lnL w="0">
                      <a:noFill/>
                    </a:lnL>
                    <a:lnR w="0">
                      <a:noFill/>
                    </a:lnR>
                    <a:lnT w="6350" cap="flat" cmpd="sng" algn="ctr">
                      <a:solidFill>
                        <a:srgbClr val="D9D9D9"/>
                      </a:solidFill>
                      <a:prstDash val="solid"/>
                      <a:round/>
                      <a:headEnd type="none" w="med" len="med"/>
                      <a:tailEnd type="none" w="med" len="med"/>
                    </a:lnT>
                    <a:lnB w="0">
                      <a:noFill/>
                    </a:lnB>
                    <a:noFill/>
                  </a:tcPr>
                </a:tc>
                <a:extLst>
                  <a:ext uri="{0D108BD9-81ED-4DB2-BD59-A6C34878D82A}">
                    <a16:rowId xmlns:a16="http://schemas.microsoft.com/office/drawing/2014/main" val="10009"/>
                  </a:ext>
                </a:extLst>
              </a:tr>
              <a:tr h="203200">
                <a:tc>
                  <a:txBody>
                    <a:bodyPr/>
                    <a:lstStyle/>
                    <a:p>
                      <a:pPr algn="ctr">
                        <a:lnSpc>
                          <a:spcPct val="80000"/>
                        </a:lnSpc>
                        <a:spcBef>
                          <a:spcPts val="0"/>
                        </a:spcBef>
                        <a:spcAft>
                          <a:spcPts val="0"/>
                        </a:spcAft>
                      </a:pPr>
                      <a:endParaRPr lang="id-ID" sz="1500" dirty="0"/>
                    </a:p>
                  </a:txBody>
                  <a:tcPr marL="68580" marR="68580" marT="6350" marB="6350">
                    <a:lnL w="0">
                      <a:noFill/>
                    </a:lnL>
                    <a:lnR w="0">
                      <a:noFill/>
                    </a:lnR>
                    <a:lnT w="12700" cap="flat" cmpd="sng" algn="ctr">
                      <a:noFill/>
                      <a:prstDash val="solid"/>
                    </a:lnT>
                    <a:lnB w="12700" cap="flat" cmpd="sng" algn="ctr">
                      <a:solidFill>
                        <a:schemeClr val="accent1"/>
                      </a:solidFill>
                      <a:prstDash val="solid"/>
                    </a:lnB>
                    <a:noFill/>
                  </a:tcPr>
                </a:tc>
                <a:tc>
                  <a:txBody>
                    <a:bodyPr/>
                    <a:lstStyle/>
                    <a:p>
                      <a:pPr algn="l">
                        <a:lnSpc>
                          <a:spcPct val="80000"/>
                        </a:lnSpc>
                        <a:spcBef>
                          <a:spcPts val="0"/>
                        </a:spcBef>
                        <a:spcAft>
                          <a:spcPts val="0"/>
                        </a:spcAft>
                      </a:pPr>
                      <a:endParaRPr lang="id-ID" sz="1500" dirty="0"/>
                    </a:p>
                  </a:txBody>
                  <a:tcPr marL="68580" marR="68580" marT="6350" marB="6350">
                    <a:lnL w="0">
                      <a:noFill/>
                    </a:lnL>
                    <a:lnR w="0">
                      <a:noFill/>
                    </a:lnR>
                    <a:lnT w="12700" cap="flat" cmpd="sng" algn="ctr">
                      <a:noFill/>
                      <a:prstDash val="solid"/>
                    </a:lnT>
                    <a:lnB w="12700" cap="flat" cmpd="sng" algn="ctr">
                      <a:solidFill>
                        <a:schemeClr val="accent1"/>
                      </a:solidFill>
                      <a:prstDash val="solid"/>
                    </a:lnB>
                    <a:noFill/>
                  </a:tcPr>
                </a:tc>
                <a:tc>
                  <a:txBody>
                    <a:bodyPr/>
                    <a:lstStyle/>
                    <a:p>
                      <a:pPr algn="l">
                        <a:lnSpc>
                          <a:spcPct val="80000"/>
                        </a:lnSpc>
                        <a:spcBef>
                          <a:spcPts val="0"/>
                        </a:spcBef>
                        <a:spcAft>
                          <a:spcPts val="0"/>
                        </a:spcAft>
                      </a:pPr>
                      <a:r>
                        <a:rPr lang="id-ID" sz="1500" b="1" dirty="0">
                          <a:solidFill>
                            <a:srgbClr val="262626"/>
                          </a:solidFill>
                        </a:rPr>
                        <a:t>Jumlah</a:t>
                      </a:r>
                      <a:endParaRPr lang="id-ID" sz="1500" dirty="0"/>
                    </a:p>
                  </a:txBody>
                  <a:tcPr marL="68580" marR="68580" marT="6350" marB="6350">
                    <a:lnL w="0">
                      <a:noFill/>
                    </a:lnL>
                    <a:lnR w="0">
                      <a:noFill/>
                    </a:lnR>
                    <a:lnT w="12700" cap="flat" cmpd="sng" algn="ctr">
                      <a:noFill/>
                      <a:prstDash val="solid"/>
                    </a:lnT>
                    <a:lnB w="12700" cap="flat" cmpd="sng" algn="ctr">
                      <a:solidFill>
                        <a:schemeClr val="accent1"/>
                      </a:solidFill>
                      <a:prstDash val="solid"/>
                    </a:lnB>
                    <a:noFill/>
                  </a:tcPr>
                </a:tc>
                <a:tc>
                  <a:txBody>
                    <a:bodyPr/>
                    <a:lstStyle/>
                    <a:p>
                      <a:pPr algn="l">
                        <a:lnSpc>
                          <a:spcPct val="80000"/>
                        </a:lnSpc>
                        <a:spcBef>
                          <a:spcPts val="0"/>
                        </a:spcBef>
                        <a:spcAft>
                          <a:spcPts val="0"/>
                        </a:spcAft>
                      </a:pPr>
                      <a:endParaRPr lang="id-ID" sz="1500" dirty="0"/>
                    </a:p>
                  </a:txBody>
                  <a:tcPr marL="68580" marR="68580" marT="6350" marB="6350">
                    <a:lnL w="0">
                      <a:noFill/>
                    </a:lnL>
                    <a:lnR w="0">
                      <a:noFill/>
                    </a:lnR>
                    <a:lnT w="12700" cap="flat" cmpd="sng" algn="ctr">
                      <a:noFill/>
                      <a:prstDash val="solid"/>
                    </a:lnT>
                    <a:lnB w="12700" cap="flat" cmpd="sng" algn="ctr">
                      <a:solidFill>
                        <a:schemeClr val="accent1"/>
                      </a:solidFill>
                      <a:prstDash val="solid"/>
                    </a:lnB>
                    <a:noFill/>
                  </a:tcPr>
                </a:tc>
                <a:extLst>
                  <a:ext uri="{0D108BD9-81ED-4DB2-BD59-A6C34878D82A}">
                    <a16:rowId xmlns:a16="http://schemas.microsoft.com/office/drawing/2014/main" val="10010"/>
                  </a:ext>
                </a:extLst>
              </a:tr>
            </a:tbl>
          </a:graphicData>
        </a:graphic>
      </p:graphicFrame>
      <p:grpSp>
        <p:nvGrpSpPr>
          <p:cNvPr id="11" name="Grup 10">
            <a:extLst>
              <a:ext uri="{FF2B5EF4-FFF2-40B4-BE49-F238E27FC236}">
                <a16:creationId xmlns:a16="http://schemas.microsoft.com/office/drawing/2014/main" id="{DE436277-9DE7-05F3-94BB-142486D37A5F}"/>
              </a:ext>
            </a:extLst>
          </p:cNvPr>
          <p:cNvGrpSpPr/>
          <p:nvPr/>
        </p:nvGrpSpPr>
        <p:grpSpPr>
          <a:xfrm>
            <a:off x="457200" y="1371600"/>
            <a:ext cx="11274552" cy="990600"/>
            <a:chOff x="457200" y="5359400"/>
            <a:chExt cx="11274552" cy="990600"/>
          </a:xfrm>
        </p:grpSpPr>
        <p:sp>
          <p:nvSpPr>
            <p:cNvPr id="4" name="!!band"/>
            <p:cNvSpPr/>
            <p:nvPr/>
          </p:nvSpPr>
          <p:spPr>
            <a:xfrm>
              <a:off x="457200" y="5359400"/>
              <a:ext cx="11274552" cy="990600"/>
            </a:xfrm>
            <a:prstGeom prst="roundRect">
              <a:avLst>
                <a:gd name="adj" fmla="val 9091"/>
              </a:avLst>
            </a:prstGeom>
            <a:solidFill>
              <a:srgbClr val="7A1F2B"/>
            </a:solidFill>
            <a:ln w="12700">
              <a:solidFill>
                <a:srgbClr val="7A1F2B"/>
              </a:solidFill>
              <a:prstDash val="solid"/>
            </a:ln>
          </p:spPr>
          <p:txBody>
            <a:bodyPr/>
            <a:lstStyle/>
            <a:p>
              <a:endParaRPr lang="id-ID"/>
            </a:p>
          </p:txBody>
        </p:sp>
        <p:sp>
          <p:nvSpPr>
            <p:cNvPr id="5" name="g5_28"/>
            <p:cNvSpPr txBox="1"/>
            <p:nvPr/>
          </p:nvSpPr>
          <p:spPr>
            <a:xfrm>
              <a:off x="658368" y="5359400"/>
              <a:ext cx="1463040" cy="990600"/>
            </a:xfrm>
            <a:prstGeom prst="rect">
              <a:avLst/>
            </a:prstGeom>
            <a:noFill/>
            <a:ln/>
          </p:spPr>
          <p:txBody>
            <a:bodyPr wrap="square" lIns="0" tIns="0" rIns="0" bIns="0" rtlCol="0" anchor="ctr"/>
            <a:lstStyle/>
            <a:p>
              <a:pPr marL="0" indent="0">
                <a:buNone/>
              </a:pPr>
              <a:r>
                <a:rPr lang="en-US" sz="1150" b="1" kern="0" spc="100">
                  <a:solidFill>
                    <a:srgbClr val="E8CB80"/>
                  </a:solidFill>
                </a:rPr>
                <a:t>PERKARA</a:t>
              </a:r>
              <a:endParaRPr lang="en-US" sz="1150" dirty="0"/>
            </a:p>
            <a:p>
              <a:pPr marL="0" indent="0">
                <a:buNone/>
              </a:pPr>
              <a:r>
                <a:rPr lang="en-US" sz="1150" b="1" kern="0" spc="100" dirty="0">
                  <a:solidFill>
                    <a:srgbClr val="E8CB80"/>
                  </a:solidFill>
                </a:rPr>
                <a:t>BHP MEDAN</a:t>
              </a:r>
              <a:endParaRPr lang="en-US" sz="1150" dirty="0"/>
            </a:p>
          </p:txBody>
        </p:sp>
        <p:sp>
          <p:nvSpPr>
            <p:cNvPr id="6" name="g5_29"/>
            <p:cNvSpPr txBox="1"/>
            <p:nvPr/>
          </p:nvSpPr>
          <p:spPr>
            <a:xfrm>
              <a:off x="2194560"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9</a:t>
              </a:r>
              <a:endParaRPr lang="en-US" sz="2200" dirty="0"/>
            </a:p>
          </p:txBody>
        </p:sp>
        <p:sp>
          <p:nvSpPr>
            <p:cNvPr id="7" name="g5_30"/>
            <p:cNvSpPr txBox="1"/>
            <p:nvPr/>
          </p:nvSpPr>
          <p:spPr>
            <a:xfrm>
              <a:off x="2194560"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kepailitan sedang ditangani</a:t>
              </a:r>
              <a:endParaRPr lang="en-US" sz="1150" dirty="0"/>
            </a:p>
          </p:txBody>
        </p:sp>
        <p:sp>
          <p:nvSpPr>
            <p:cNvPr id="8" name="g5_31"/>
            <p:cNvSpPr txBox="1"/>
            <p:nvPr/>
          </p:nvSpPr>
          <p:spPr>
            <a:xfrm>
              <a:off x="407456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Rp47,35 M</a:t>
              </a:r>
              <a:endParaRPr lang="en-US" sz="2200" dirty="0"/>
            </a:p>
          </p:txBody>
        </p:sp>
        <p:sp>
          <p:nvSpPr>
            <p:cNvPr id="9" name="g5_32"/>
            <p:cNvSpPr txBox="1"/>
            <p:nvPr/>
          </p:nvSpPr>
          <p:spPr>
            <a:xfrm>
              <a:off x="407456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total tagihan kreditor</a:t>
              </a:r>
              <a:endParaRPr lang="en-US" sz="1150" dirty="0"/>
            </a:p>
          </p:txBody>
        </p:sp>
        <p:sp>
          <p:nvSpPr>
            <p:cNvPr id="10" name="g5_33"/>
            <p:cNvSpPr txBox="1"/>
            <p:nvPr/>
          </p:nvSpPr>
          <p:spPr>
            <a:xfrm>
              <a:off x="5954573"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6 dari 9</a:t>
              </a:r>
              <a:endParaRPr lang="en-US" sz="2200" dirty="0"/>
            </a:p>
          </p:txBody>
        </p:sp>
        <p:sp>
          <p:nvSpPr>
            <p:cNvPr id="41" name="g5_34"/>
            <p:cNvSpPr txBox="1"/>
            <p:nvPr/>
          </p:nvSpPr>
          <p:spPr>
            <a:xfrm>
              <a:off x="5954573"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berjalan lebih dari 5 tahun</a:t>
              </a:r>
              <a:endParaRPr lang="en-US" sz="1150" dirty="0"/>
            </a:p>
          </p:txBody>
        </p:sp>
        <p:sp>
          <p:nvSpPr>
            <p:cNvPr id="42" name="g5_35"/>
            <p:cNvSpPr txBox="1"/>
            <p:nvPr/>
          </p:nvSpPr>
          <p:spPr>
            <a:xfrm>
              <a:off x="7834579"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2 dari 9</a:t>
              </a:r>
              <a:endParaRPr lang="en-US" sz="2200" dirty="0"/>
            </a:p>
          </p:txBody>
        </p:sp>
        <p:sp>
          <p:nvSpPr>
            <p:cNvPr id="43" name="g5_36"/>
            <p:cNvSpPr txBox="1"/>
            <p:nvPr/>
          </p:nvSpPr>
          <p:spPr>
            <a:xfrm>
              <a:off x="7834579"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2025 mengangkat BHP</a:t>
              </a:r>
              <a:endParaRPr lang="en-US" sz="1150" dirty="0"/>
            </a:p>
          </p:txBody>
        </p:sp>
        <p:sp>
          <p:nvSpPr>
            <p:cNvPr id="44" name="g5_37"/>
            <p:cNvSpPr txBox="1"/>
            <p:nvPr/>
          </p:nvSpPr>
          <p:spPr>
            <a:xfrm>
              <a:off x="971458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0 dari 7</a:t>
              </a:r>
              <a:endParaRPr lang="en-US" sz="2200" dirty="0"/>
            </a:p>
          </p:txBody>
        </p:sp>
        <p:sp>
          <p:nvSpPr>
            <p:cNvPr id="45" name="g5_38"/>
            <p:cNvSpPr txBox="1"/>
            <p:nvPr/>
          </p:nvSpPr>
          <p:spPr>
            <a:xfrm>
              <a:off x="971458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2026 mengangkat BHP</a:t>
              </a:r>
              <a:endParaRPr lang="en-US" sz="1150" dirty="0"/>
            </a:p>
          </p:txBody>
        </p:sp>
      </p:grpSp>
    </p:spTree>
    <p:extLst>
      <p:ext uri="{BB962C8B-B14F-4D97-AF65-F5344CB8AC3E}">
        <p14:creationId xmlns:p14="http://schemas.microsoft.com/office/powerpoint/2010/main" val="14242032"/>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6" presetClass="emph" presetSubtype="0" repeatCount="indefinite" fill="hold" nodeType="withEffect">
                                  <p:stCondLst>
                                    <p:cond delay="600"/>
                                  </p:stCondLst>
                                  <p:childTnLst>
                                    <p:animScale>
                                      <p:cBhvr>
                                        <p:cTn id="16" dur="1100" accel="50000" decel="50000" autoRev="1" fill="hold"/>
                                        <p:tgtEl>
                                          <p:spTgt spid="34"/>
                                        </p:tgtEl>
                                      </p:cBhvr>
                                      <p:by x="112000" y="112000"/>
                                    </p:animScale>
                                  </p:childTnLst>
                                </p:cTn>
                              </p:par>
                              <p:par>
                                <p:cTn id="17" presetID="6" presetClass="emph" presetSubtype="0" repeatCount="indefinite" fill="hold" nodeType="withEffect">
                                  <p:stCondLst>
                                    <p:cond delay="600"/>
                                  </p:stCondLst>
                                  <p:childTnLst>
                                    <p:animScale>
                                      <p:cBhvr>
                                        <p:cTn id="18" dur="1100" accel="50000" decel="50000" autoRev="1" fill="hold"/>
                                        <p:tgtEl>
                                          <p:spTgt spid="35"/>
                                        </p:tgtEl>
                                      </p:cBhvr>
                                      <p:by x="103000" y="103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0" grpId="0" animBg="1"/>
      <p:bldP spid="41" grpId="0" animBg="1"/>
      <p:bldP spid="42" grpId="0" animBg="1"/>
      <p:bldP spid="43" grpId="0" animBg="1"/>
      <p:bldP spid="44" grpId="0" animBg="1"/>
      <p:bldP spid="45" grpId="0" animBg="1"/>
    </p:bldLst>
  </p:timing>
</p:sld>
</file>

<file path=ppt/theme/theme1.xml><?xml version="1.0" encoding="utf-8"?>
<a:theme xmlns:a="http://schemas.openxmlformats.org/drawingml/2006/main" name="BHP Medan Maroon">
  <a:themeElements>
    <a:clrScheme name="BHP Medan Maroon">
      <a:dk1>
        <a:srgbClr val="2B2B2B"/>
      </a:dk1>
      <a:lt1>
        <a:srgbClr val="FFFFFF"/>
      </a:lt1>
      <a:dk2>
        <a:srgbClr val="5A1420"/>
      </a:dk2>
      <a:lt2>
        <a:srgbClr val="F4F4F6"/>
      </a:lt2>
      <a:accent1>
        <a:srgbClr val="7A1F2B"/>
      </a:accent1>
      <a:accent2>
        <a:srgbClr val="C9A24A"/>
      </a:accent2>
      <a:accent3>
        <a:srgbClr val="4E1219"/>
      </a:accent3>
      <a:accent4>
        <a:srgbClr val="8C8C8C"/>
      </a:accent4>
      <a:accent5>
        <a:srgbClr val="E9D9B0"/>
      </a:accent5>
      <a:accent6>
        <a:srgbClr val="3F5E7A"/>
      </a:accent6>
      <a:hlink>
        <a:srgbClr val="7A1F2B"/>
      </a:hlink>
      <a:folHlink>
        <a:srgbClr val="4E1219"/>
      </a:folHlink>
    </a:clrScheme>
    <a:fontScheme name="BHP Medan Maro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0B50DD-F3B5-485A-BBCB-CFC0F80412AC}">
  <we:reference id="wa200010001" version="1.0.0.1" store="id-ID" storeType="OMEX"/>
  <we:alternateReferences>
    <we:reference id="wa200010001" version="1.0.0.1" store="wa200010001" storeType="OMEX"/>
  </we:alternateReferences>
  <we:properties>
    <we:property name="claude.fileId" value="&quot;61506ca7-31d6-4b22-ab96-ae61c375e42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104</TotalTime>
  <Words>984</Words>
  <Application>Microsoft Office PowerPoint</Application>
  <PresentationFormat>Layar Lebar</PresentationFormat>
  <Paragraphs>115</Paragraphs>
  <Slides>2</Slides>
  <Notes>2</Notes>
  <HiddenSlides>0</HiddenSlides>
  <MMClips>0</MMClips>
  <ScaleCrop>false</ScaleCrop>
  <HeadingPairs>
    <vt:vector size="6" baseType="variant">
      <vt:variant>
        <vt:lpstr>Font Dipakai</vt:lpstr>
      </vt:variant>
      <vt:variant>
        <vt:i4>3</vt:i4>
      </vt:variant>
      <vt:variant>
        <vt:lpstr>Tema</vt:lpstr>
      </vt:variant>
      <vt:variant>
        <vt:i4>1</vt:i4>
      </vt:variant>
      <vt:variant>
        <vt:lpstr>Judul Slide</vt:lpstr>
      </vt:variant>
      <vt:variant>
        <vt:i4>2</vt:i4>
      </vt:variant>
    </vt:vector>
  </HeadingPairs>
  <TitlesOfParts>
    <vt:vector size="6" baseType="lpstr">
      <vt:lpstr>Arial</vt:lpstr>
      <vt:lpstr>Calibri</vt:lpstr>
      <vt:lpstr>Cambria</vt:lpstr>
      <vt:lpstr>BHP Medan Maroon</vt:lpstr>
      <vt:lpstr>Jawaban BHP Medan atas Tiga Pertanyaan Klaster 1</vt:lpstr>
      <vt:lpstr>Perkara Kepailitan Yang Sedang Ditangani BHP Medan</vt:lpstr>
    </vt:vector>
  </TitlesOfParts>
  <Company>Balai Harta Peninggalan Medan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BHP Medan - Tumpang Tindih Kewenangan - Paparan</dc:title>
  <dc:subject>PptxGenJS Presentation</dc:subject>
  <dc:creator>BHP Medan</dc:creator>
  <cp:lastModifiedBy>Shela Natasha</cp:lastModifiedBy>
  <cp:revision>3</cp:revision>
  <dcterms:created xsi:type="dcterms:W3CDTF">2026-10-02T23:24:55Z</dcterms:created>
  <dcterms:modified xsi:type="dcterms:W3CDTF">2026-10-03T13:14:13Z</dcterms:modified>
</cp:coreProperties>
</file>