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hnCNz2vAlXrSx3tHg6hlc0gCZ4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236144-A4EE-4B44-B41C-F018C5874E7C}">
  <a:tblStyle styleId="{3C236144-A4EE-4B44-B41C-F018C5874E7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 name="Google Shape;15;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6" name="Google Shape;16;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78" name="Google Shape;7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ONTEN">
  <p:cSld name="KONTEN">
    <p:bg>
      <p:bgPr>
        <a:solidFill>
          <a:srgbClr val="FFFFFF"/>
        </a:solidFill>
      </p:bgPr>
    </p:bg>
    <p:spTree>
      <p:nvGrpSpPr>
        <p:cNvPr id="7" name="Shape 7"/>
        <p:cNvGrpSpPr/>
        <p:nvPr/>
      </p:nvGrpSpPr>
      <p:grpSpPr>
        <a:xfrm>
          <a:off x="0" y="0"/>
          <a:ext cx="0" cy="0"/>
          <a:chOff x="0" y="0"/>
          <a:chExt cx="0" cy="0"/>
        </a:xfrm>
      </p:grpSpPr>
      <p:sp>
        <p:nvSpPr>
          <p:cNvPr id="8" name="Google Shape;8;p4"/>
          <p:cNvSpPr/>
          <p:nvPr/>
        </p:nvSpPr>
        <p:spPr>
          <a:xfrm>
            <a:off x="457200" y="6492240"/>
            <a:ext cx="7315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8C8C"/>
              </a:buClr>
              <a:buSzPts val="900"/>
              <a:buFont typeface="Calibri"/>
              <a:buNone/>
            </a:pPr>
            <a:r>
              <a:rPr b="0" i="0" lang="en-US" sz="900" u="none" cap="none" strike="noStrike">
                <a:solidFill>
                  <a:srgbClr val="8C8C8C"/>
                </a:solidFill>
                <a:latin typeface="Calibri"/>
                <a:ea typeface="Calibri"/>
                <a:cs typeface="Calibri"/>
                <a:sym typeface="Calibri"/>
              </a:rPr>
              <a:t>Balai Harta Peninggalan Medan  |  RDP Komisi XIII DPR RI, 6 Oktober 2026</a:t>
            </a:r>
            <a:endParaRPr b="0" i="0" sz="900" u="none" cap="none" strike="noStrike">
              <a:solidFill>
                <a:schemeClr val="dk1"/>
              </a:solidFill>
              <a:latin typeface="Calibri"/>
              <a:ea typeface="Calibri"/>
              <a:cs typeface="Calibri"/>
              <a:sym typeface="Calibri"/>
            </a:endParaRPr>
          </a:p>
        </p:txBody>
      </p:sp>
      <p:sp>
        <p:nvSpPr>
          <p:cNvPr id="9" name="Google Shape;9;p4"/>
          <p:cNvSpPr txBox="1"/>
          <p:nvPr>
            <p:ph idx="1" type="body"/>
          </p:nvPr>
        </p:nvSpPr>
        <p:spPr>
          <a:xfrm>
            <a:off x="457200" y="292608"/>
            <a:ext cx="1124712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20"/>
              </a:spcBef>
              <a:spcAft>
                <a:spcPts val="0"/>
              </a:spcAft>
              <a:buClr>
                <a:schemeClr val="accent2"/>
              </a:buClr>
              <a:buSzPts val="1100"/>
              <a:buFont typeface="Arial"/>
              <a:buNone/>
              <a:defRPr b="1" i="0" sz="1100" u="none" cap="none" strike="noStrike">
                <a:solidFill>
                  <a:schemeClr val="accen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 name="Google Shape;10;p4"/>
          <p:cNvSpPr txBox="1"/>
          <p:nvPr>
            <p:ph type="title"/>
          </p:nvPr>
        </p:nvSpPr>
        <p:spPr>
          <a:xfrm>
            <a:off x="457200" y="548640"/>
            <a:ext cx="11247120" cy="5486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accent1"/>
              </a:buClr>
              <a:buSzPts val="2800"/>
              <a:buFont typeface="Cambria"/>
              <a:buNone/>
              <a:defRPr b="1" i="0" sz="2800" u="none" cap="none" strike="noStrike">
                <a:solidFill>
                  <a:schemeClr val="accen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
          <p:cNvSpPr txBox="1"/>
          <p:nvPr>
            <p:ph idx="12" type="sldNum"/>
          </p:nvPr>
        </p:nvSpPr>
        <p:spPr>
          <a:xfrm>
            <a:off x="11338560" y="6473952"/>
            <a:ext cx="411480" cy="256032"/>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8C8C8C"/>
                </a:solidFill>
                <a:latin typeface="Calibri"/>
                <a:ea typeface="Calibri"/>
                <a:cs typeface="Calibri"/>
                <a:sym typeface="Calibri"/>
              </a:defRPr>
            </a:lvl1pPr>
            <a:lvl2pPr indent="0" lvl="1" marL="0" marR="0" algn="r">
              <a:spcBef>
                <a:spcPts val="0"/>
              </a:spcBef>
              <a:buNone/>
              <a:defRPr b="0" i="0" sz="900" u="none" cap="none" strike="noStrike">
                <a:solidFill>
                  <a:srgbClr val="8C8C8C"/>
                </a:solidFill>
                <a:latin typeface="Calibri"/>
                <a:ea typeface="Calibri"/>
                <a:cs typeface="Calibri"/>
                <a:sym typeface="Calibri"/>
              </a:defRPr>
            </a:lvl2pPr>
            <a:lvl3pPr indent="0" lvl="2" marL="0" marR="0" algn="r">
              <a:spcBef>
                <a:spcPts val="0"/>
              </a:spcBef>
              <a:buNone/>
              <a:defRPr b="0" i="0" sz="900" u="none" cap="none" strike="noStrike">
                <a:solidFill>
                  <a:srgbClr val="8C8C8C"/>
                </a:solidFill>
                <a:latin typeface="Calibri"/>
                <a:ea typeface="Calibri"/>
                <a:cs typeface="Calibri"/>
                <a:sym typeface="Calibri"/>
              </a:defRPr>
            </a:lvl3pPr>
            <a:lvl4pPr indent="0" lvl="3" marL="0" marR="0" algn="r">
              <a:spcBef>
                <a:spcPts val="0"/>
              </a:spcBef>
              <a:buNone/>
              <a:defRPr b="0" i="0" sz="900" u="none" cap="none" strike="noStrike">
                <a:solidFill>
                  <a:srgbClr val="8C8C8C"/>
                </a:solidFill>
                <a:latin typeface="Calibri"/>
                <a:ea typeface="Calibri"/>
                <a:cs typeface="Calibri"/>
                <a:sym typeface="Calibri"/>
              </a:defRPr>
            </a:lvl4pPr>
            <a:lvl5pPr indent="0" lvl="4" marL="0" marR="0" algn="r">
              <a:spcBef>
                <a:spcPts val="0"/>
              </a:spcBef>
              <a:buNone/>
              <a:defRPr b="0" i="0" sz="900" u="none" cap="none" strike="noStrike">
                <a:solidFill>
                  <a:srgbClr val="8C8C8C"/>
                </a:solidFill>
                <a:latin typeface="Calibri"/>
                <a:ea typeface="Calibri"/>
                <a:cs typeface="Calibri"/>
                <a:sym typeface="Calibri"/>
              </a:defRPr>
            </a:lvl5pPr>
            <a:lvl6pPr indent="0" lvl="5" marL="0" marR="0" algn="r">
              <a:spcBef>
                <a:spcPts val="0"/>
              </a:spcBef>
              <a:buNone/>
              <a:defRPr b="0" i="0" sz="900" u="none" cap="none" strike="noStrike">
                <a:solidFill>
                  <a:srgbClr val="8C8C8C"/>
                </a:solidFill>
                <a:latin typeface="Calibri"/>
                <a:ea typeface="Calibri"/>
                <a:cs typeface="Calibri"/>
                <a:sym typeface="Calibri"/>
              </a:defRPr>
            </a:lvl6pPr>
            <a:lvl7pPr indent="0" lvl="6" marL="0" marR="0" algn="r">
              <a:spcBef>
                <a:spcPts val="0"/>
              </a:spcBef>
              <a:buNone/>
              <a:defRPr b="0" i="0" sz="900" u="none" cap="none" strike="noStrike">
                <a:solidFill>
                  <a:srgbClr val="8C8C8C"/>
                </a:solidFill>
                <a:latin typeface="Calibri"/>
                <a:ea typeface="Calibri"/>
                <a:cs typeface="Calibri"/>
                <a:sym typeface="Calibri"/>
              </a:defRPr>
            </a:lvl7pPr>
            <a:lvl8pPr indent="0" lvl="7" marL="0" marR="0" algn="r">
              <a:spcBef>
                <a:spcPts val="0"/>
              </a:spcBef>
              <a:buNone/>
              <a:defRPr b="0" i="0" sz="900" u="none" cap="none" strike="noStrike">
                <a:solidFill>
                  <a:srgbClr val="8C8C8C"/>
                </a:solidFill>
                <a:latin typeface="Calibri"/>
                <a:ea typeface="Calibri"/>
                <a:cs typeface="Calibri"/>
                <a:sym typeface="Calibri"/>
              </a:defRPr>
            </a:lvl8pPr>
            <a:lvl9pPr indent="0" lvl="8" marL="0" marR="0" algn="r">
              <a:spcBef>
                <a:spcPts val="0"/>
              </a:spcBef>
              <a:buNone/>
              <a:defRPr b="0" i="0" sz="900" u="none" cap="none" strike="noStrike">
                <a:solidFill>
                  <a:srgbClr val="8C8C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
          <p:cNvSpPr txBox="1"/>
          <p:nvPr>
            <p:ph idx="12" type="sldNum"/>
          </p:nvPr>
        </p:nvSpPr>
        <p:spPr>
          <a:xfrm>
            <a:off x="11338560" y="6473952"/>
            <a:ext cx="411480" cy="256032"/>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8C8C8C"/>
                </a:solidFill>
                <a:latin typeface="Calibri"/>
                <a:ea typeface="Calibri"/>
                <a:cs typeface="Calibri"/>
                <a:sym typeface="Calibri"/>
              </a:defRPr>
            </a:lvl1pPr>
            <a:lvl2pPr indent="0" lvl="1" marL="0" marR="0" rtl="0" algn="r">
              <a:spcBef>
                <a:spcPts val="0"/>
              </a:spcBef>
              <a:buNone/>
              <a:defRPr b="0" i="0" sz="900" u="none" cap="none" strike="noStrike">
                <a:solidFill>
                  <a:srgbClr val="8C8C8C"/>
                </a:solidFill>
                <a:latin typeface="Calibri"/>
                <a:ea typeface="Calibri"/>
                <a:cs typeface="Calibri"/>
                <a:sym typeface="Calibri"/>
              </a:defRPr>
            </a:lvl2pPr>
            <a:lvl3pPr indent="0" lvl="2" marL="0" marR="0" rtl="0" algn="r">
              <a:spcBef>
                <a:spcPts val="0"/>
              </a:spcBef>
              <a:buNone/>
              <a:defRPr b="0" i="0" sz="900" u="none" cap="none" strike="noStrike">
                <a:solidFill>
                  <a:srgbClr val="8C8C8C"/>
                </a:solidFill>
                <a:latin typeface="Calibri"/>
                <a:ea typeface="Calibri"/>
                <a:cs typeface="Calibri"/>
                <a:sym typeface="Calibri"/>
              </a:defRPr>
            </a:lvl3pPr>
            <a:lvl4pPr indent="0" lvl="3" marL="0" marR="0" rtl="0" algn="r">
              <a:spcBef>
                <a:spcPts val="0"/>
              </a:spcBef>
              <a:buNone/>
              <a:defRPr b="0" i="0" sz="900" u="none" cap="none" strike="noStrike">
                <a:solidFill>
                  <a:srgbClr val="8C8C8C"/>
                </a:solidFill>
                <a:latin typeface="Calibri"/>
                <a:ea typeface="Calibri"/>
                <a:cs typeface="Calibri"/>
                <a:sym typeface="Calibri"/>
              </a:defRPr>
            </a:lvl4pPr>
            <a:lvl5pPr indent="0" lvl="4" marL="0" marR="0" rtl="0" algn="r">
              <a:spcBef>
                <a:spcPts val="0"/>
              </a:spcBef>
              <a:buNone/>
              <a:defRPr b="0" i="0" sz="900" u="none" cap="none" strike="noStrike">
                <a:solidFill>
                  <a:srgbClr val="8C8C8C"/>
                </a:solidFill>
                <a:latin typeface="Calibri"/>
                <a:ea typeface="Calibri"/>
                <a:cs typeface="Calibri"/>
                <a:sym typeface="Calibri"/>
              </a:defRPr>
            </a:lvl5pPr>
            <a:lvl6pPr indent="0" lvl="5" marL="0" marR="0" rtl="0" algn="r">
              <a:spcBef>
                <a:spcPts val="0"/>
              </a:spcBef>
              <a:buNone/>
              <a:defRPr b="0" i="0" sz="900" u="none" cap="none" strike="noStrike">
                <a:solidFill>
                  <a:srgbClr val="8C8C8C"/>
                </a:solidFill>
                <a:latin typeface="Calibri"/>
                <a:ea typeface="Calibri"/>
                <a:cs typeface="Calibri"/>
                <a:sym typeface="Calibri"/>
              </a:defRPr>
            </a:lvl6pPr>
            <a:lvl7pPr indent="0" lvl="6" marL="0" marR="0" rtl="0" algn="r">
              <a:spcBef>
                <a:spcPts val="0"/>
              </a:spcBef>
              <a:buNone/>
              <a:defRPr b="0" i="0" sz="900" u="none" cap="none" strike="noStrike">
                <a:solidFill>
                  <a:srgbClr val="8C8C8C"/>
                </a:solidFill>
                <a:latin typeface="Calibri"/>
                <a:ea typeface="Calibri"/>
                <a:cs typeface="Calibri"/>
                <a:sym typeface="Calibri"/>
              </a:defRPr>
            </a:lvl7pPr>
            <a:lvl8pPr indent="0" lvl="7" marL="0" marR="0" rtl="0" algn="r">
              <a:spcBef>
                <a:spcPts val="0"/>
              </a:spcBef>
              <a:buNone/>
              <a:defRPr b="0" i="0" sz="900" u="none" cap="none" strike="noStrike">
                <a:solidFill>
                  <a:srgbClr val="8C8C8C"/>
                </a:solidFill>
                <a:latin typeface="Calibri"/>
                <a:ea typeface="Calibri"/>
                <a:cs typeface="Calibri"/>
                <a:sym typeface="Calibri"/>
              </a:defRPr>
            </a:lvl8pPr>
            <a:lvl9pPr indent="0" lvl="8" marL="0" marR="0" rtl="0" algn="r">
              <a:spcBef>
                <a:spcPts val="0"/>
              </a:spcBef>
              <a:buNone/>
              <a:defRPr b="0" i="0" sz="900" u="none" cap="none" strike="noStrike">
                <a:solidFill>
                  <a:srgbClr val="8C8C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embamtaufik13-collab.github.io/Slide-bhp-medan/" TargetMode="External"/><Relationship Id="rId4" Type="http://schemas.openxmlformats.org/officeDocument/2006/relationships/hyperlink" Target="https://embamtaufik13-collab.github.io/Slide-bhp-medan/" TargetMode="External"/><Relationship Id="rId9" Type="http://schemas.openxmlformats.org/officeDocument/2006/relationships/hyperlink" Target="https://embamtaufik13-collab.github.io/Slide-bhp-medan/" TargetMode="External"/><Relationship Id="rId5" Type="http://schemas.openxmlformats.org/officeDocument/2006/relationships/hyperlink" Target="https://embamtaufik13-collab.github.io/Slide-bhp-medan/" TargetMode="External"/><Relationship Id="rId6" Type="http://schemas.openxmlformats.org/officeDocument/2006/relationships/hyperlink" Target="https://embamtaufik13-collab.github.io/Slide-bhp-medan/" TargetMode="External"/><Relationship Id="rId7" Type="http://schemas.openxmlformats.org/officeDocument/2006/relationships/image" Target="../media/image1.png"/><Relationship Id="rId8" Type="http://schemas.openxmlformats.org/officeDocument/2006/relationships/hyperlink" Target="https://embamtaufik13-collab.github.io/Slide-bhp-meda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embamtaufik13-collab.github.io/Slide-bhp-medan/" TargetMode="External"/><Relationship Id="rId4" Type="http://schemas.openxmlformats.org/officeDocument/2006/relationships/hyperlink" Target="https://embamtaufik13-collab.github.io/Slide-bhp-medan/" TargetMode="External"/><Relationship Id="rId9" Type="http://schemas.openxmlformats.org/officeDocument/2006/relationships/hyperlink" Target="https://embamtaufik13-collab.github.io/Slide-bhp-medan/" TargetMode="External"/><Relationship Id="rId5" Type="http://schemas.openxmlformats.org/officeDocument/2006/relationships/hyperlink" Target="https://embamtaufik13-collab.github.io/Slide-bhp-medan/" TargetMode="External"/><Relationship Id="rId6" Type="http://schemas.openxmlformats.org/officeDocument/2006/relationships/hyperlink" Target="https://embamtaufik13-collab.github.io/Slide-bhp-medan/" TargetMode="External"/><Relationship Id="rId7" Type="http://schemas.openxmlformats.org/officeDocument/2006/relationships/image" Target="../media/image1.png"/><Relationship Id="rId8" Type="http://schemas.openxmlformats.org/officeDocument/2006/relationships/hyperlink" Target="https://embamtaufik13-collab.github.io/Slide-bhp-meda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1"/>
          <p:cNvSpPr txBox="1"/>
          <p:nvPr>
            <p:ph idx="1" type="body"/>
          </p:nvPr>
        </p:nvSpPr>
        <p:spPr>
          <a:xfrm>
            <a:off x="457200" y="152400"/>
            <a:ext cx="11247120" cy="17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2"/>
              </a:buClr>
              <a:buSzPts val="950"/>
              <a:buNone/>
            </a:pPr>
            <a:r>
              <a:rPr b="1" lang="en-US" sz="950">
                <a:solidFill>
                  <a:schemeClr val="accent2"/>
                </a:solidFill>
              </a:rPr>
              <a:t>POKOK BAHASAN 1 KEWENANGAN DAN KOORDINASI  ·  KEDUDUKAN DAN PEMBAGIAN PERAN KURATOR</a:t>
            </a:r>
            <a:endParaRPr sz="950"/>
          </a:p>
        </p:txBody>
      </p:sp>
      <p:sp>
        <p:nvSpPr>
          <p:cNvPr id="19" name="Google Shape;19;p1"/>
          <p:cNvSpPr txBox="1"/>
          <p:nvPr>
            <p:ph type="title"/>
          </p:nvPr>
        </p:nvSpPr>
        <p:spPr>
          <a:xfrm>
            <a:off x="457200" y="304800"/>
            <a:ext cx="8636000" cy="40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400"/>
              <a:buFont typeface="Cambria"/>
              <a:buNone/>
            </a:pPr>
            <a:r>
              <a:rPr b="1" lang="en-US" sz="2400">
                <a:solidFill>
                  <a:schemeClr val="accent1"/>
                </a:solidFill>
                <a:latin typeface="Cambria"/>
                <a:ea typeface="Cambria"/>
                <a:cs typeface="Cambria"/>
                <a:sym typeface="Cambria"/>
              </a:rPr>
              <a:t>Jawaban BHP Medan atas Tiga Pertanyaan Klaster 1</a:t>
            </a:r>
            <a:endParaRPr sz="2400"/>
          </a:p>
        </p:txBody>
      </p:sp>
      <p:sp>
        <p:nvSpPr>
          <p:cNvPr id="20" name="Google Shape;20;p1"/>
          <p:cNvSpPr txBox="1"/>
          <p:nvPr/>
        </p:nvSpPr>
        <p:spPr>
          <a:xfrm>
            <a:off x="457200" y="736600"/>
            <a:ext cx="8636000" cy="33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1F2B"/>
              </a:buClr>
              <a:buSzPts val="1100"/>
              <a:buFont typeface="Calibri"/>
              <a:buNone/>
            </a:pPr>
            <a:r>
              <a:rPr b="1" i="0" lang="en-US" sz="1100" u="none" cap="none" strike="noStrike">
                <a:solidFill>
                  <a:srgbClr val="6B6B6B"/>
                </a:solidFill>
                <a:latin typeface="Calibri"/>
                <a:ea typeface="Calibri"/>
                <a:cs typeface="Calibri"/>
                <a:sym typeface="Calibri"/>
              </a:rPr>
              <a:t>Klaster Tumpang Tindih Kewenangan.</a:t>
            </a:r>
            <a:r>
              <a:rPr i="0" lang="en-US" sz="1100" u="none" cap="none" strike="noStrike">
                <a:solidFill>
                  <a:srgbClr val="6B6B6B"/>
                </a:solidFill>
                <a:latin typeface="Calibri"/>
                <a:ea typeface="Calibri"/>
                <a:cs typeface="Calibri"/>
                <a:sym typeface="Calibri"/>
              </a:rPr>
              <a:t> Jawaban Pertanyaan 1–3, selaras dengan Naskah RDP bersama lima BHP.</a:t>
            </a:r>
            <a:endParaRPr b="0" i="0" sz="1100" u="none" cap="none" strike="noStrike">
              <a:solidFill>
                <a:schemeClr val="dk1"/>
              </a:solidFill>
              <a:latin typeface="Calibri"/>
              <a:ea typeface="Calibri"/>
              <a:cs typeface="Calibri"/>
              <a:sym typeface="Calibri"/>
            </a:endParaRPr>
          </a:p>
        </p:txBody>
      </p:sp>
      <p:sp>
        <p:nvSpPr>
          <p:cNvPr id="21" name="Google Shape;21;p1"/>
          <p:cNvSpPr/>
          <p:nvPr/>
        </p:nvSpPr>
        <p:spPr>
          <a:xfrm>
            <a:off x="457200" y="1143000"/>
            <a:ext cx="11277600" cy="2032000"/>
          </a:xfrm>
          <a:prstGeom prst="roundRect">
            <a:avLst>
              <a:gd fmla="val 2577" name="adj"/>
            </a:avLst>
          </a:prstGeom>
          <a:solidFill>
            <a:srgbClr val="F4F4F6"/>
          </a:solidFill>
          <a:ln cap="flat" cmpd="sng" w="15875">
            <a:solidFill>
              <a:srgbClr val="A8868C"/>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2" name="Google Shape;22;p1"/>
          <p:cNvSpPr/>
          <p:nvPr/>
        </p:nvSpPr>
        <p:spPr>
          <a:xfrm>
            <a:off x="609600" y="1244600"/>
            <a:ext cx="381000" cy="381000"/>
          </a:xfrm>
          <a:prstGeom prst="ellipse">
            <a:avLst/>
          </a:prstGeom>
          <a:solidFill>
            <a:srgbClr val="7A1F2B"/>
          </a:solidFill>
          <a:ln cap="flat" cmpd="sng" w="12700">
            <a:solidFill>
              <a:srgbClr val="7A1F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3" name="Google Shape;23;p1"/>
          <p:cNvSpPr txBox="1"/>
          <p:nvPr/>
        </p:nvSpPr>
        <p:spPr>
          <a:xfrm>
            <a:off x="609600" y="1244600"/>
            <a:ext cx="381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4A"/>
              </a:buClr>
              <a:buSzPts val="1600"/>
              <a:buFont typeface="Cambria"/>
              <a:buNone/>
            </a:pPr>
            <a:r>
              <a:rPr b="1" lang="en-US" sz="1600">
                <a:solidFill>
                  <a:srgbClr val="C9A24A"/>
                </a:solidFill>
                <a:latin typeface="Cambria"/>
                <a:ea typeface="Cambria"/>
                <a:cs typeface="Cambria"/>
                <a:sym typeface="Cambria"/>
              </a:rPr>
              <a:t>1</a:t>
            </a:r>
            <a:endParaRPr sz="1600">
              <a:solidFill>
                <a:schemeClr val="dk1"/>
              </a:solidFill>
              <a:latin typeface="Calibri"/>
              <a:ea typeface="Calibri"/>
              <a:cs typeface="Calibri"/>
              <a:sym typeface="Calibri"/>
            </a:endParaRPr>
          </a:p>
        </p:txBody>
      </p:sp>
      <p:sp>
        <p:nvSpPr>
          <p:cNvPr id="24" name="Google Shape;24;p1"/>
          <p:cNvSpPr txBox="1"/>
          <p:nvPr/>
        </p:nvSpPr>
        <p:spPr>
          <a:xfrm>
            <a:off x="1066800" y="1219200"/>
            <a:ext cx="2184400" cy="43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6A22"/>
              </a:buClr>
              <a:buSzPts val="1050"/>
              <a:buFont typeface="Calibri"/>
              <a:buNone/>
            </a:pPr>
            <a:r>
              <a:rPr b="1" lang="en-US" sz="1050">
                <a:solidFill>
                  <a:srgbClr val="8A6A22"/>
                </a:solidFill>
                <a:latin typeface="Calibri"/>
                <a:ea typeface="Calibri"/>
                <a:cs typeface="Calibri"/>
                <a:sym typeface="Calibri"/>
              </a:rPr>
              <a:t>PERTANYAAN 1</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7A1F2B"/>
              </a:buClr>
              <a:buSzPts val="1400"/>
              <a:buFont typeface="Cambria"/>
              <a:buNone/>
            </a:pPr>
            <a:r>
              <a:rPr b="1" lang="en-US" sz="1400">
                <a:solidFill>
                  <a:srgbClr val="7A1F2B"/>
                </a:solidFill>
                <a:latin typeface="Cambria"/>
                <a:ea typeface="Cambria"/>
                <a:cs typeface="Cambria"/>
                <a:sym typeface="Cambria"/>
              </a:rPr>
              <a:t>Mekanisme dan Kendala</a:t>
            </a:r>
            <a:endParaRPr sz="1400">
              <a:solidFill>
                <a:schemeClr val="dk1"/>
              </a:solidFill>
              <a:latin typeface="Calibri"/>
              <a:ea typeface="Calibri"/>
              <a:cs typeface="Calibri"/>
              <a:sym typeface="Calibri"/>
            </a:endParaRPr>
          </a:p>
        </p:txBody>
      </p:sp>
      <p:sp>
        <p:nvSpPr>
          <p:cNvPr id="25" name="Google Shape;25;p1"/>
          <p:cNvSpPr txBox="1"/>
          <p:nvPr/>
        </p:nvSpPr>
        <p:spPr>
          <a:xfrm>
            <a:off x="584200" y="1701800"/>
            <a:ext cx="2590800" cy="1422400"/>
          </a:xfrm>
          <a:prstGeom prst="rect">
            <a:avLst/>
          </a:prstGeom>
          <a:noFill/>
          <a:ln>
            <a:noFill/>
          </a:ln>
        </p:spPr>
        <p:txBody>
          <a:bodyPr anchorCtr="0" anchor="t" bIns="0" lIns="45700" spcFirstLastPara="1" rIns="45700" wrap="square" tIns="0">
            <a:noAutofit/>
          </a:bodyPr>
          <a:lstStyle/>
          <a:p>
            <a:pPr indent="0" lvl="0" marL="0" marR="0" rtl="0" algn="just">
              <a:lnSpc>
                <a:spcPct val="84000"/>
              </a:lnSpc>
              <a:spcBef>
                <a:spcPts val="0"/>
              </a:spcBef>
              <a:spcAft>
                <a:spcPts val="0"/>
              </a:spcAft>
              <a:buClr>
                <a:srgbClr val="555555"/>
              </a:buClr>
              <a:buSzPts val="1400"/>
              <a:buFont typeface="Calibri"/>
              <a:buNone/>
            </a:pPr>
            <a:r>
              <a:rPr i="1" lang="en-US" sz="1400">
                <a:solidFill>
                  <a:srgbClr val="555555"/>
                </a:solidFill>
                <a:latin typeface="Calibri"/>
                <a:ea typeface="Calibri"/>
                <a:cs typeface="Calibri"/>
                <a:sym typeface="Calibri"/>
              </a:rPr>
              <a:t>Bagaimana mekanisme BHP sebagai kurator, dan adakah kendala saat berhadapan dengan kurator perseorangan?</a:t>
            </a:r>
            <a:endParaRPr sz="1400">
              <a:solidFill>
                <a:schemeClr val="dk1"/>
              </a:solidFill>
              <a:latin typeface="Calibri"/>
              <a:ea typeface="Calibri"/>
              <a:cs typeface="Calibri"/>
              <a:sym typeface="Calibri"/>
            </a:endParaRPr>
          </a:p>
        </p:txBody>
      </p:sp>
      <p:sp>
        <p:nvSpPr>
          <p:cNvPr id="26" name="Google Shape;26;p1"/>
          <p:cNvSpPr txBox="1"/>
          <p:nvPr/>
        </p:nvSpPr>
        <p:spPr>
          <a:xfrm>
            <a:off x="3276600" y="1193800"/>
            <a:ext cx="8382000" cy="1371600"/>
          </a:xfrm>
          <a:prstGeom prst="rect">
            <a:avLst/>
          </a:prstGeom>
          <a:noFill/>
          <a:ln>
            <a:noFill/>
          </a:ln>
        </p:spPr>
        <p:txBody>
          <a:bodyPr anchorCtr="0" anchor="t" bIns="0" lIns="45700" spcFirstLastPara="1" rIns="45700" wrap="square" tIns="0">
            <a:noAutofit/>
          </a:bodyPr>
          <a:lstStyle/>
          <a:p>
            <a:pPr indent="-279400" lvl="0" marL="285750" marR="0" rtl="0" algn="just">
              <a:lnSpc>
                <a:spcPct val="84000"/>
              </a:lnSpc>
              <a:spcBef>
                <a:spcPts val="0"/>
              </a:spcBef>
              <a:spcAft>
                <a:spcPts val="0"/>
              </a:spcAft>
              <a:buClr>
                <a:srgbClr val="7B1E2B"/>
              </a:buClr>
              <a:buSzPts val="1600"/>
              <a:buFont typeface="Cambria"/>
              <a:buAutoNum type="arabicPeriod"/>
            </a:pPr>
            <a:r>
              <a:rPr lang="en-US" sz="1600" b="1">
                <a:solidFill>
                  <a:srgbClr val="2B2B2B"/>
                </a:solidFill>
                <a:latin typeface="Calibri"/>
                <a:ea typeface="Calibri"/>
                <a:cs typeface="Calibri"/>
                <a:sym typeface="Calibri"/>
              </a:rPr>
              <a:t>Mekanisme:</a:t>
            </a:r>
            <a:r>
              <a:rPr lang="en-US" sz="1600">
                <a:solidFill>
                  <a:srgbClr val="2B2B2B"/>
                </a:solidFill>
                <a:latin typeface="Calibri"/>
                <a:ea typeface="Calibri"/>
                <a:cs typeface="Calibri"/>
                <a:sym typeface="Calibri"/>
              </a:rPr>
              <a:t> sesuai Pasal 1 angka 5 dan 15 ayat (2) UU 37/2004, sama seperti kurator perseorangan di bawah Hakim Pengawas; pembedanya: ditunjuk sebagai institusi, pelaksana ASN, imbalan jasa PNBP. BHP tidak berwenang sebagai Pengurus PKPU.</a:t>
            </a:r>
            <a:endParaRPr sz="1300"/>
          </a:p>
          <a:p>
            <a:pPr indent="-279400" lvl="0" marL="285750" marR="0" rtl="0" algn="just">
              <a:lnSpc>
                <a:spcPct val="84000"/>
              </a:lnSpc>
              <a:spcBef>
                <a:spcPts val="250"/>
              </a:spcBef>
              <a:spcAft>
                <a:spcPts val="0"/>
              </a:spcAft>
              <a:buClr>
                <a:srgbClr val="7B1E2B"/>
              </a:buClr>
              <a:buSzPts val="1600"/>
              <a:buFont typeface="Cambria"/>
              <a:buAutoNum type="arabicPeriod"/>
            </a:pPr>
            <a:r>
              <a:rPr lang="en-US" sz="1600" b="1">
                <a:solidFill>
                  <a:srgbClr val="2B2B2B"/>
                </a:solidFill>
                <a:latin typeface="Calibri"/>
                <a:ea typeface="Calibri"/>
                <a:cs typeface="Calibri"/>
                <a:sym typeface="Calibri"/>
              </a:rPr>
              <a:t>Kendala:</a:t>
            </a:r>
            <a:r>
              <a:rPr lang="en-US" sz="1600">
                <a:solidFill>
                  <a:srgbClr val="2B2B2B"/>
                </a:solidFill>
                <a:latin typeface="Calibri"/>
                <a:ea typeface="Calibri"/>
                <a:cs typeface="Calibri"/>
                <a:sym typeface="Calibri"/>
              </a:rPr>
              <a:t> pembagian tugas, tanggung jawab, dan imbalan jasa dalam tugas bersama belum jelas; pada pailit dari PKPU atau sebagai Kurator pengganti, informasi dan serah terima terbatas.</a:t>
            </a:r>
            <a:endParaRPr sz="1600">
              <a:solidFill>
                <a:schemeClr val="dk1"/>
              </a:solidFill>
              <a:latin typeface="Calibri"/>
              <a:ea typeface="Calibri"/>
              <a:cs typeface="Calibri"/>
              <a:sym typeface="Calibri"/>
            </a:endParaRPr>
          </a:p>
        </p:txBody>
      </p:sp>
      <p:sp>
        <p:nvSpPr>
          <p:cNvPr id="27" name="Google Shape;27;p1"/>
          <p:cNvSpPr/>
          <p:nvPr/>
        </p:nvSpPr>
        <p:spPr>
          <a:xfrm>
            <a:off x="457200" y="3251200"/>
            <a:ext cx="11277600" cy="1447800"/>
          </a:xfrm>
          <a:prstGeom prst="roundRect">
            <a:avLst>
              <a:gd fmla="val 2577" name="adj"/>
            </a:avLst>
          </a:prstGeom>
          <a:solidFill>
            <a:srgbClr val="F4F4F6"/>
          </a:solidFill>
          <a:ln cap="flat" cmpd="sng" w="15875">
            <a:solidFill>
              <a:srgbClr val="A8868C"/>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8" name="Google Shape;28;p1"/>
          <p:cNvSpPr/>
          <p:nvPr/>
        </p:nvSpPr>
        <p:spPr>
          <a:xfrm>
            <a:off x="609600" y="3352800"/>
            <a:ext cx="381000" cy="381000"/>
          </a:xfrm>
          <a:prstGeom prst="ellipse">
            <a:avLst/>
          </a:prstGeom>
          <a:solidFill>
            <a:srgbClr val="7A1F2B"/>
          </a:solidFill>
          <a:ln cap="flat" cmpd="sng" w="12700">
            <a:solidFill>
              <a:srgbClr val="7A1F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9" name="Google Shape;29;p1"/>
          <p:cNvSpPr txBox="1"/>
          <p:nvPr/>
        </p:nvSpPr>
        <p:spPr>
          <a:xfrm>
            <a:off x="609600" y="3352800"/>
            <a:ext cx="381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4A"/>
              </a:buClr>
              <a:buSzPts val="1600"/>
              <a:buFont typeface="Cambria"/>
              <a:buNone/>
            </a:pPr>
            <a:r>
              <a:rPr b="1" lang="en-US" sz="1600">
                <a:solidFill>
                  <a:srgbClr val="C9A24A"/>
                </a:solidFill>
                <a:latin typeface="Cambria"/>
                <a:ea typeface="Cambria"/>
                <a:cs typeface="Cambria"/>
                <a:sym typeface="Cambria"/>
              </a:rPr>
              <a:t>2</a:t>
            </a:r>
            <a:endParaRPr sz="1600">
              <a:solidFill>
                <a:schemeClr val="dk1"/>
              </a:solidFill>
              <a:latin typeface="Calibri"/>
              <a:ea typeface="Calibri"/>
              <a:cs typeface="Calibri"/>
              <a:sym typeface="Calibri"/>
            </a:endParaRPr>
          </a:p>
        </p:txBody>
      </p:sp>
      <p:sp>
        <p:nvSpPr>
          <p:cNvPr id="30" name="Google Shape;30;p1"/>
          <p:cNvSpPr txBox="1"/>
          <p:nvPr/>
        </p:nvSpPr>
        <p:spPr>
          <a:xfrm>
            <a:off x="1066800" y="3327400"/>
            <a:ext cx="2184400" cy="43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6A22"/>
              </a:buClr>
              <a:buSzPts val="1050"/>
              <a:buFont typeface="Calibri"/>
              <a:buNone/>
            </a:pPr>
            <a:r>
              <a:rPr b="1" lang="en-US" sz="1050">
                <a:solidFill>
                  <a:srgbClr val="8A6A22"/>
                </a:solidFill>
                <a:latin typeface="Calibri"/>
                <a:ea typeface="Calibri"/>
                <a:cs typeface="Calibri"/>
                <a:sym typeface="Calibri"/>
              </a:rPr>
              <a:t>PERTANYAAN 2</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7A1F2B"/>
              </a:buClr>
              <a:buSzPts val="1400"/>
              <a:buFont typeface="Cambria"/>
              <a:buNone/>
            </a:pPr>
            <a:r>
              <a:rPr b="1" lang="en-US" sz="1400">
                <a:solidFill>
                  <a:srgbClr val="7A1F2B"/>
                </a:solidFill>
                <a:latin typeface="Cambria"/>
                <a:ea typeface="Cambria"/>
                <a:cs typeface="Cambria"/>
                <a:sym typeface="Cambria"/>
              </a:rPr>
              <a:t>Pemisahan Peran BHP</a:t>
            </a:r>
            <a:endParaRPr sz="1400">
              <a:solidFill>
                <a:schemeClr val="dk1"/>
              </a:solidFill>
              <a:latin typeface="Calibri"/>
              <a:ea typeface="Calibri"/>
              <a:cs typeface="Calibri"/>
              <a:sym typeface="Calibri"/>
            </a:endParaRPr>
          </a:p>
        </p:txBody>
      </p:sp>
      <p:sp>
        <p:nvSpPr>
          <p:cNvPr id="31" name="Google Shape;31;p1"/>
          <p:cNvSpPr txBox="1"/>
          <p:nvPr/>
        </p:nvSpPr>
        <p:spPr>
          <a:xfrm>
            <a:off x="584200" y="3810000"/>
            <a:ext cx="2590800" cy="838200"/>
          </a:xfrm>
          <a:prstGeom prst="rect">
            <a:avLst/>
          </a:prstGeom>
          <a:noFill/>
          <a:ln>
            <a:noFill/>
          </a:ln>
        </p:spPr>
        <p:txBody>
          <a:bodyPr anchorCtr="0" anchor="t" bIns="0" lIns="45700" spcFirstLastPara="1" rIns="45700" wrap="square" tIns="0">
            <a:noAutofit/>
          </a:bodyPr>
          <a:lstStyle/>
          <a:p>
            <a:pPr indent="0" lvl="0" marL="0" marR="0" rtl="0" algn="just">
              <a:lnSpc>
                <a:spcPct val="84000"/>
              </a:lnSpc>
              <a:spcBef>
                <a:spcPts val="0"/>
              </a:spcBef>
              <a:spcAft>
                <a:spcPts val="0"/>
              </a:spcAft>
              <a:buClr>
                <a:schemeClr val="dk1"/>
              </a:buClr>
              <a:buSzPts val="1400"/>
              <a:buFont typeface="Calibri"/>
              <a:buNone/>
            </a:pPr>
            <a:r>
              <a:rPr i="1" lang="en-US" sz="1400">
                <a:solidFill>
                  <a:schemeClr val="dk1"/>
                </a:solidFill>
                <a:latin typeface="Calibri"/>
                <a:ea typeface="Calibri"/>
                <a:cs typeface="Calibri"/>
                <a:sym typeface="Calibri"/>
              </a:rPr>
              <a:t>Perlukah pemisahan tegas peran BHP sebagai balai harta atau wali pengawas dengan peran kurator perseorangan?</a:t>
            </a:r>
            <a:endParaRPr sz="1400">
              <a:solidFill>
                <a:schemeClr val="dk1"/>
              </a:solidFill>
              <a:latin typeface="Calibri"/>
              <a:ea typeface="Calibri"/>
              <a:cs typeface="Calibri"/>
              <a:sym typeface="Calibri"/>
            </a:endParaRPr>
          </a:p>
        </p:txBody>
      </p:sp>
      <p:sp>
        <p:nvSpPr>
          <p:cNvPr id="32" name="Google Shape;32;p1"/>
          <p:cNvSpPr txBox="1"/>
          <p:nvPr/>
        </p:nvSpPr>
        <p:spPr>
          <a:xfrm>
            <a:off x="711200" y="3708400"/>
            <a:ext cx="127000" cy="12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33" name="Google Shape;33;p1"/>
          <p:cNvSpPr txBox="1"/>
          <p:nvPr/>
        </p:nvSpPr>
        <p:spPr>
          <a:xfrm>
            <a:off x="711200" y="3708400"/>
            <a:ext cx="127000" cy="12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4" name="Google Shape;34;p1"/>
          <p:cNvSpPr txBox="1"/>
          <p:nvPr/>
        </p:nvSpPr>
        <p:spPr>
          <a:xfrm>
            <a:off x="3276600" y="3302000"/>
            <a:ext cx="8382000" cy="1371600"/>
          </a:xfrm>
          <a:prstGeom prst="rect">
            <a:avLst/>
          </a:prstGeom>
          <a:noFill/>
          <a:ln>
            <a:noFill/>
          </a:ln>
        </p:spPr>
        <p:txBody>
          <a:bodyPr anchorCtr="0" anchor="t" bIns="0" lIns="45700" spcFirstLastPara="1" rIns="45700" wrap="square" tIns="0">
            <a:noAutofit/>
          </a:bodyPr>
          <a:lstStyle/>
          <a:p>
            <a:pPr indent="0" lvl="0" marL="0" marR="0" rtl="0" algn="just">
              <a:lnSpc>
                <a:spcPct val="84000"/>
              </a:lnSpc>
              <a:spcBef>
                <a:spcPts val="0"/>
              </a:spcBef>
              <a:spcAft>
                <a:spcPts val="0"/>
              </a:spcAft>
              <a:buNone/>
            </a:pPr>
            <a:r>
              <a:rPr lang="en-US" sz="1600" b="1">
                <a:solidFill>
                  <a:schemeClr val="dk1"/>
                </a:solidFill>
                <a:latin typeface="Calibri"/>
                <a:ea typeface="Calibri"/>
                <a:cs typeface="Calibri"/>
                <a:sym typeface="Calibri"/>
              </a:rPr>
              <a:t>Perlu.</a:t>
            </a:r>
            <a:r>
              <a:rPr lang="en-US" sz="1600">
                <a:solidFill>
                  <a:schemeClr val="dk1"/>
                </a:solidFill>
                <a:latin typeface="Calibri"/>
                <a:ea typeface="Calibri"/>
                <a:cs typeface="Calibri"/>
                <a:sym typeface="Calibri"/>
              </a:rPr>
              <a:t> Kurator kepailitan adalah salah satu dari 8 fungsi BHP, dan dalam fungsi itu BHP bertindak sebagai lembaga pemerintah, bukan profesi: terikat UU Kepailitan dan PKPU serta UU ASN, diawasi Hakim Pengawas dan APIP.</a:t>
            </a:r>
            <a:endParaRPr sz="1300"/>
          </a:p>
          <a:p>
            <a:pPr indent="0" lvl="0" marL="0" marR="0" rtl="0" algn="just">
              <a:lnSpc>
                <a:spcPct val="84000"/>
              </a:lnSpc>
              <a:spcBef>
                <a:spcPts val="400"/>
              </a:spcBef>
              <a:spcAft>
                <a:spcPts val="0"/>
              </a:spcAft>
              <a:buNone/>
            </a:pPr>
            <a:r>
              <a:rPr lang="en-US" sz="1600">
                <a:solidFill>
                  <a:schemeClr val="dk1"/>
                </a:solidFill>
                <a:latin typeface="Calibri"/>
                <a:ea typeface="Calibri"/>
                <a:cs typeface="Calibri"/>
                <a:sym typeface="Calibri"/>
              </a:rPr>
              <a:t>Karena itu, pengaturan profesi (persyaratan, sertifikasi, registrasi, organisasi profesi) tidak berkaitan dengan BHP. RUU perlu mengatur Dewan Etik dan Kode Etik Bersama, dengan nomenklatur “RUU Kurator dan Pengurus”.</a:t>
            </a:r>
            <a:endParaRPr sz="1300"/>
          </a:p>
        </p:txBody>
      </p:sp>
      <p:sp>
        <p:nvSpPr>
          <p:cNvPr id="35" name="Google Shape;35;p1"/>
          <p:cNvSpPr/>
          <p:nvPr/>
        </p:nvSpPr>
        <p:spPr>
          <a:xfrm>
            <a:off x="457200" y="4775200"/>
            <a:ext cx="11277600" cy="1600200"/>
          </a:xfrm>
          <a:prstGeom prst="roundRect">
            <a:avLst>
              <a:gd fmla="val 2577" name="adj"/>
            </a:avLst>
          </a:prstGeom>
          <a:solidFill>
            <a:srgbClr val="F4F4F6"/>
          </a:solidFill>
          <a:ln cap="flat" cmpd="sng" w="15875">
            <a:solidFill>
              <a:srgbClr val="A8868C"/>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36" name="Google Shape;36;p1"/>
          <p:cNvSpPr/>
          <p:nvPr/>
        </p:nvSpPr>
        <p:spPr>
          <a:xfrm>
            <a:off x="609600" y="4876800"/>
            <a:ext cx="381000" cy="381000"/>
          </a:xfrm>
          <a:prstGeom prst="ellipse">
            <a:avLst/>
          </a:prstGeom>
          <a:solidFill>
            <a:srgbClr val="7A1F2B"/>
          </a:solidFill>
          <a:ln cap="flat" cmpd="sng" w="12700">
            <a:solidFill>
              <a:srgbClr val="7A1F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37" name="Google Shape;37;p1"/>
          <p:cNvSpPr txBox="1"/>
          <p:nvPr/>
        </p:nvSpPr>
        <p:spPr>
          <a:xfrm>
            <a:off x="609600" y="4876800"/>
            <a:ext cx="381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4A"/>
              </a:buClr>
              <a:buSzPts val="1600"/>
              <a:buFont typeface="Cambria"/>
              <a:buNone/>
            </a:pPr>
            <a:r>
              <a:rPr b="1" lang="en-US" sz="1600">
                <a:solidFill>
                  <a:srgbClr val="C9A24A"/>
                </a:solidFill>
                <a:latin typeface="Cambria"/>
                <a:ea typeface="Cambria"/>
                <a:cs typeface="Cambria"/>
                <a:sym typeface="Cambria"/>
              </a:rPr>
              <a:t>3</a:t>
            </a:r>
            <a:endParaRPr sz="1600">
              <a:solidFill>
                <a:schemeClr val="dk1"/>
              </a:solidFill>
              <a:latin typeface="Calibri"/>
              <a:ea typeface="Calibri"/>
              <a:cs typeface="Calibri"/>
              <a:sym typeface="Calibri"/>
            </a:endParaRPr>
          </a:p>
        </p:txBody>
      </p:sp>
      <p:sp>
        <p:nvSpPr>
          <p:cNvPr id="38" name="Google Shape;38;p1"/>
          <p:cNvSpPr txBox="1"/>
          <p:nvPr/>
        </p:nvSpPr>
        <p:spPr>
          <a:xfrm>
            <a:off x="1066800" y="4851400"/>
            <a:ext cx="2184400" cy="43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6A22"/>
              </a:buClr>
              <a:buSzPts val="1050"/>
              <a:buFont typeface="Calibri"/>
              <a:buNone/>
            </a:pPr>
            <a:r>
              <a:rPr b="1" lang="en-US" sz="1050">
                <a:solidFill>
                  <a:srgbClr val="8A6A22"/>
                </a:solidFill>
                <a:latin typeface="Calibri"/>
                <a:ea typeface="Calibri"/>
                <a:cs typeface="Calibri"/>
                <a:sym typeface="Calibri"/>
              </a:rPr>
              <a:t>PERTANYAAN 3</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7A1F2B"/>
              </a:buClr>
              <a:buSzPts val="1400"/>
              <a:buFont typeface="Cambria"/>
              <a:buNone/>
            </a:pPr>
            <a:r>
              <a:rPr b="1" lang="en-US" sz="1400">
                <a:solidFill>
                  <a:srgbClr val="7A1F2B"/>
                </a:solidFill>
                <a:latin typeface="Cambria"/>
                <a:ea typeface="Cambria"/>
                <a:cs typeface="Cambria"/>
                <a:sym typeface="Cambria"/>
              </a:rPr>
              <a:t>Kewajiban Memakai BHP</a:t>
            </a:r>
            <a:endParaRPr sz="1400">
              <a:solidFill>
                <a:schemeClr val="dk1"/>
              </a:solidFill>
              <a:latin typeface="Calibri"/>
              <a:ea typeface="Calibri"/>
              <a:cs typeface="Calibri"/>
              <a:sym typeface="Calibri"/>
            </a:endParaRPr>
          </a:p>
        </p:txBody>
      </p:sp>
      <p:sp>
        <p:nvSpPr>
          <p:cNvPr id="39" name="Google Shape;39;p1"/>
          <p:cNvSpPr txBox="1"/>
          <p:nvPr/>
        </p:nvSpPr>
        <p:spPr>
          <a:xfrm>
            <a:off x="584200" y="5334000"/>
            <a:ext cx="2590800" cy="990600"/>
          </a:xfrm>
          <a:prstGeom prst="rect">
            <a:avLst/>
          </a:prstGeom>
          <a:noFill/>
          <a:ln>
            <a:noFill/>
          </a:ln>
        </p:spPr>
        <p:txBody>
          <a:bodyPr anchorCtr="0" anchor="t" bIns="0" lIns="45700" spcFirstLastPara="1" rIns="45700" wrap="square" tIns="0">
            <a:noAutofit/>
          </a:bodyPr>
          <a:lstStyle/>
          <a:p>
            <a:pPr indent="0" lvl="0" marL="0" marR="0" rtl="0" algn="just">
              <a:lnSpc>
                <a:spcPct val="84000"/>
              </a:lnSpc>
              <a:spcBef>
                <a:spcPts val="0"/>
              </a:spcBef>
              <a:spcAft>
                <a:spcPts val="0"/>
              </a:spcAft>
              <a:buClr>
                <a:schemeClr val="dk1"/>
              </a:buClr>
              <a:buSzPts val="1400"/>
              <a:buFont typeface="Calibri"/>
              <a:buNone/>
            </a:pPr>
            <a:r>
              <a:rPr i="1" lang="en-US" sz="1400">
                <a:solidFill>
                  <a:schemeClr val="dk1"/>
                </a:solidFill>
                <a:latin typeface="Calibri"/>
                <a:ea typeface="Calibri"/>
                <a:cs typeface="Calibri"/>
                <a:sym typeface="Calibri"/>
              </a:rPr>
              <a:t>Pandangan BHP tentang wajib memakai kurator BHP pada kasus tertentu (debitor tanpa ahli waris, harta tidak terurus)?</a:t>
            </a:r>
            <a:endParaRPr sz="1400">
              <a:solidFill>
                <a:schemeClr val="dk1"/>
              </a:solidFill>
              <a:latin typeface="Calibri"/>
              <a:ea typeface="Calibri"/>
              <a:cs typeface="Calibri"/>
              <a:sym typeface="Calibri"/>
            </a:endParaRPr>
          </a:p>
        </p:txBody>
      </p:sp>
      <p:sp>
        <p:nvSpPr>
          <p:cNvPr id="40" name="Google Shape;40;p1"/>
          <p:cNvSpPr txBox="1"/>
          <p:nvPr/>
        </p:nvSpPr>
        <p:spPr>
          <a:xfrm>
            <a:off x="3276600" y="4826000"/>
            <a:ext cx="8382000" cy="1524000"/>
          </a:xfrm>
          <a:prstGeom prst="rect">
            <a:avLst/>
          </a:prstGeom>
          <a:noFill/>
          <a:ln>
            <a:noFill/>
          </a:ln>
        </p:spPr>
        <p:txBody>
          <a:bodyPr anchorCtr="0" anchor="t" bIns="0" lIns="45700" spcFirstLastPara="1" rIns="45700" wrap="square" tIns="0">
            <a:noAutofit/>
          </a:bodyPr>
          <a:lstStyle/>
          <a:p>
            <a:pPr indent="0" lvl="0" marL="0" marR="0" rtl="0" algn="just">
              <a:lnSpc>
                <a:spcPct val="84000"/>
              </a:lnSpc>
              <a:spcBef>
                <a:spcPts val="0"/>
              </a:spcBef>
              <a:spcAft>
                <a:spcPts val="0"/>
              </a:spcAft>
              <a:buNone/>
            </a:pPr>
            <a:r>
              <a:rPr lang="en-US" sz="1600" b="1">
                <a:solidFill>
                  <a:schemeClr val="dk1"/>
                </a:solidFill>
                <a:latin typeface="Calibri"/>
                <a:ea typeface="Calibri"/>
                <a:cs typeface="Calibri"/>
                <a:sym typeface="Calibri"/>
              </a:rPr>
              <a:t>BHP Medan pada prinsipnya setuju</a:t>
            </a:r>
            <a:r>
              <a:rPr lang="en-US" sz="1600">
                <a:solidFill>
                  <a:schemeClr val="dk1"/>
                </a:solidFill>
                <a:latin typeface="Calibri"/>
                <a:ea typeface="Calibri"/>
                <a:cs typeface="Calibri"/>
                <a:sym typeface="Calibri"/>
              </a:rPr>
              <a:t> untuk perkara yang beririsan dengan tugas keperdataan BHP: debitor meninggal tanpa ahli waris atau hartanya tidak terurus, debitor tidak diketahui keberadaannya, serta ahli waris di bawah umur atau dalam pengampuan.</a:t>
            </a:r>
            <a:endParaRPr sz="1300"/>
          </a:p>
          <a:p>
            <a:pPr indent="0" lvl="0" marL="0" marR="0" rtl="0" algn="just">
              <a:lnSpc>
                <a:spcPct val="84000"/>
              </a:lnSpc>
              <a:spcBef>
                <a:spcPts val="400"/>
              </a:spcBef>
              <a:spcAft>
                <a:spcPts val="0"/>
              </a:spcAft>
              <a:buNone/>
            </a:pPr>
            <a:r>
              <a:rPr lang="en-US" sz="1600">
                <a:solidFill>
                  <a:schemeClr val="dk1"/>
                </a:solidFill>
                <a:latin typeface="Calibri"/>
                <a:ea typeface="Calibri"/>
                <a:cs typeface="Calibri"/>
                <a:sym typeface="Calibri"/>
              </a:rPr>
              <a:t>Karena kedudukan BHP sebagai Kurator bersumber dari UU Kepailitan dan PKPU, penugasan ini tepat diatur di sana, disertai akses informasi perkara dan fleksibilitas anggaran DIPA. Di luar itu, para pihak tetap bebas mengusulkan kurator.</a:t>
            </a:r>
            <a:endParaRPr sz="1300"/>
          </a:p>
        </p:txBody>
      </p:sp>
      <p:cxnSp>
        <p:nvCxnSpPr>
          <p:cNvPr id="41" name="Google Shape;41;p1"/>
          <p:cNvCxnSpPr/>
          <p:nvPr/>
        </p:nvCxnSpPr>
        <p:spPr>
          <a:xfrm>
            <a:off x="3187700" y="1244600"/>
            <a:ext cx="0" cy="1270000"/>
          </a:xfrm>
          <a:prstGeom prst="straightConnector1">
            <a:avLst/>
          </a:prstGeom>
          <a:noFill/>
          <a:ln cap="flat" cmpd="sng" w="15875">
            <a:solidFill>
              <a:srgbClr val="C9A04A"/>
            </a:solidFill>
            <a:prstDash val="solid"/>
            <a:round/>
            <a:headEnd len="sm" w="sm" type="none"/>
            <a:tailEnd len="sm" w="sm" type="none"/>
          </a:ln>
        </p:spPr>
      </p:cxnSp>
      <p:cxnSp>
        <p:nvCxnSpPr>
          <p:cNvPr id="42" name="Google Shape;42;p1"/>
          <p:cNvCxnSpPr/>
          <p:nvPr/>
        </p:nvCxnSpPr>
        <p:spPr>
          <a:xfrm>
            <a:off x="3187700" y="3352800"/>
            <a:ext cx="0" cy="1270000"/>
          </a:xfrm>
          <a:prstGeom prst="straightConnector1">
            <a:avLst/>
          </a:prstGeom>
          <a:noFill/>
          <a:ln cap="flat" cmpd="sng" w="15875">
            <a:solidFill>
              <a:srgbClr val="C9A04A"/>
            </a:solidFill>
            <a:prstDash val="solid"/>
            <a:round/>
            <a:headEnd len="sm" w="sm" type="none"/>
            <a:tailEnd len="sm" w="sm" type="none"/>
          </a:ln>
        </p:spPr>
      </p:cxnSp>
      <p:cxnSp>
        <p:nvCxnSpPr>
          <p:cNvPr id="43" name="Google Shape;43;p1"/>
          <p:cNvCxnSpPr/>
          <p:nvPr/>
        </p:nvCxnSpPr>
        <p:spPr>
          <a:xfrm>
            <a:off x="3187700" y="4876800"/>
            <a:ext cx="0" cy="1422400"/>
          </a:xfrm>
          <a:prstGeom prst="straightConnector1">
            <a:avLst/>
          </a:prstGeom>
          <a:noFill/>
          <a:ln cap="flat" cmpd="sng" w="15875">
            <a:solidFill>
              <a:srgbClr val="C9A04A"/>
            </a:solidFill>
            <a:prstDash val="solid"/>
            <a:round/>
            <a:headEnd len="sm" w="sm" type="none"/>
            <a:tailEnd len="sm" w="sm" type="none"/>
          </a:ln>
        </p:spPr>
      </p:cxnSp>
      <p:sp>
        <p:nvSpPr>
          <p:cNvPr id="44" name="Google Shape;44;p1"/>
          <p:cNvSpPr txBox="1"/>
          <p:nvPr/>
        </p:nvSpPr>
        <p:spPr>
          <a:xfrm>
            <a:off x="4191000" y="6489700"/>
            <a:ext cx="70485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lang="en-US" sz="900">
                <a:solidFill>
                  <a:srgbClr val="6B6B6B"/>
                </a:solidFill>
                <a:latin typeface="Calibri"/>
                <a:ea typeface="Calibri"/>
                <a:cs typeface="Calibri"/>
                <a:sym typeface="Calibri"/>
              </a:rPr>
              <a:t>Sumber: Naskah RDP bersama lima BHP; Buku Register Kepailitan BHP Medan; SIPP PN Medan per 2 Oktober 2026, diolah.</a:t>
            </a:r>
            <a:endParaRPr sz="900">
              <a:solidFill>
                <a:schemeClr val="dk1"/>
              </a:solidFill>
              <a:latin typeface="Calibri"/>
              <a:ea typeface="Calibri"/>
              <a:cs typeface="Calibri"/>
              <a:sym typeface="Calibri"/>
            </a:endParaRPr>
          </a:p>
        </p:txBody>
      </p:sp>
      <p:sp>
        <p:nvSpPr>
          <p:cNvPr id="45" name="Google Shape;45;p1">
            <a:hlinkClick r:id="rId3"/>
          </p:cNvPr>
          <p:cNvSpPr/>
          <p:nvPr/>
        </p:nvSpPr>
        <p:spPr>
          <a:xfrm>
            <a:off x="9189720" y="-31566"/>
            <a:ext cx="2615184" cy="566928"/>
          </a:xfrm>
          <a:prstGeom prst="roundRect">
            <a:avLst>
              <a:gd fmla="val 50000" name="adj"/>
            </a:avLst>
          </a:prstGeom>
          <a:solidFill>
            <a:srgbClr val="C9A24A">
              <a:alpha val="20000"/>
            </a:srgbClr>
          </a:solidFill>
          <a:ln cap="flat" cmpd="sng" w="22225">
            <a:solidFill>
              <a:srgbClr val="C9A24A">
                <a:alpha val="7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1">
            <a:hlinkClick r:id="rId4"/>
          </p:cNvPr>
          <p:cNvSpPr/>
          <p:nvPr/>
        </p:nvSpPr>
        <p:spPr>
          <a:xfrm>
            <a:off x="9262872" y="23298"/>
            <a:ext cx="2468880" cy="457200"/>
          </a:xfrm>
          <a:prstGeom prst="roundRect">
            <a:avLst>
              <a:gd fmla="val 50000" name="adj"/>
            </a:avLst>
          </a:prstGeom>
          <a:solidFill>
            <a:srgbClr val="C9A24A"/>
          </a:solidFill>
          <a:ln cap="flat" cmpd="sng" w="19050">
            <a:solidFill>
              <a:srgbClr val="FFFFFF"/>
            </a:solidFill>
            <a:prstDash val="solid"/>
            <a:round/>
            <a:headEnd len="sm" w="sm" type="none"/>
            <a:tailEnd len="sm" w="sm" type="none"/>
          </a:ln>
          <a:effectLst>
            <a:outerShdw blurRad="127000" rotWithShape="0" algn="bl" dir="5400000" dist="25400">
              <a:srgbClr val="7A1F2B">
                <a:alpha val="5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1">
            <a:hlinkClick r:id="rId5"/>
          </p:cNvPr>
          <p:cNvSpPr/>
          <p:nvPr/>
        </p:nvSpPr>
        <p:spPr>
          <a:xfrm>
            <a:off x="9317736" y="69018"/>
            <a:ext cx="365760" cy="365760"/>
          </a:xfrm>
          <a:prstGeom prst="ellipse">
            <a:avLst/>
          </a:prstGeom>
          <a:solidFill>
            <a:srgbClr val="7A1F2B"/>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8" name="Google Shape;48;p1">
            <a:hlinkClick r:id="rId6"/>
          </p:cNvPr>
          <p:cNvPicPr preferRelativeResize="0"/>
          <p:nvPr/>
        </p:nvPicPr>
        <p:blipFill rotWithShape="1">
          <a:blip r:embed="rId7">
            <a:alphaModFix/>
          </a:blip>
          <a:srcRect b="0" l="0" r="0" t="0"/>
          <a:stretch/>
        </p:blipFill>
        <p:spPr>
          <a:xfrm>
            <a:off x="9400032" y="151314"/>
            <a:ext cx="201168" cy="201168"/>
          </a:xfrm>
          <a:prstGeom prst="rect">
            <a:avLst/>
          </a:prstGeom>
          <a:noFill/>
          <a:ln>
            <a:noFill/>
          </a:ln>
        </p:spPr>
      </p:pic>
      <p:sp>
        <p:nvSpPr>
          <p:cNvPr id="49" name="Google Shape;49;p1">
            <a:hlinkClick r:id="rId8"/>
          </p:cNvPr>
          <p:cNvSpPr txBox="1"/>
          <p:nvPr/>
        </p:nvSpPr>
        <p:spPr>
          <a:xfrm>
            <a:off x="9747504" y="41586"/>
            <a:ext cx="193852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F2B"/>
              </a:buClr>
              <a:buSzPts val="1100"/>
              <a:buFont typeface="Calibri"/>
              <a:buNone/>
            </a:pPr>
            <a:r>
              <a:rPr b="1" lang="en-US" sz="1100">
                <a:solidFill>
                  <a:srgbClr val="7A1F2B"/>
                </a:solidFill>
                <a:latin typeface="Calibri"/>
                <a:ea typeface="Calibri"/>
                <a:cs typeface="Calibri"/>
                <a:sym typeface="Calibri"/>
              </a:rPr>
              <a:t>LIHAT DATA INTERAKTIF</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4E1219"/>
              </a:buClr>
              <a:buSzPts val="850"/>
              <a:buFont typeface="Calibri"/>
              <a:buNone/>
            </a:pPr>
            <a:r>
              <a:rPr i="1" lang="en-US" sz="850">
                <a:solidFill>
                  <a:srgbClr val="4E1219"/>
                </a:solidFill>
                <a:latin typeface="Calibri"/>
                <a:ea typeface="Calibri"/>
                <a:cs typeface="Calibri"/>
                <a:sym typeface="Calibri"/>
              </a:rPr>
              <a:t>grafik bergerak  ›</a:t>
            </a:r>
            <a:endParaRPr sz="1100">
              <a:solidFill>
                <a:schemeClr val="dk1"/>
              </a:solidFill>
              <a:latin typeface="Calibri"/>
              <a:ea typeface="Calibri"/>
              <a:cs typeface="Calibri"/>
              <a:sym typeface="Calibri"/>
            </a:endParaRPr>
          </a:p>
        </p:txBody>
      </p:sp>
      <p:sp>
        <p:nvSpPr>
          <p:cNvPr id="50" name="Google Shape;50;p1">
            <a:hlinkClick r:id="rId9"/>
          </p:cNvPr>
          <p:cNvSpPr txBox="1"/>
          <p:nvPr/>
        </p:nvSpPr>
        <p:spPr>
          <a:xfrm>
            <a:off x="9262872" y="581625"/>
            <a:ext cx="2468880" cy="33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1F2B"/>
              </a:buClr>
              <a:buSzPts val="900"/>
              <a:buFont typeface="Calibri"/>
              <a:buNone/>
            </a:pPr>
            <a:r>
              <a:rPr b="1" lang="en-US" sz="900">
                <a:solidFill>
                  <a:srgbClr val="7A1F2B"/>
                </a:solidFill>
                <a:latin typeface="Calibri"/>
                <a:ea typeface="Calibri"/>
                <a:cs typeface="Calibri"/>
                <a:sym typeface="Calibri"/>
              </a:rPr>
              <a:t>Arahkan kursor ke tombol ini</a:t>
            </a:r>
            <a:r>
              <a:rPr lang="en-US" sz="900">
                <a:solidFill>
                  <a:srgbClr val="555555"/>
                </a:solidFill>
                <a:latin typeface="Calibri"/>
                <a:ea typeface="Calibri"/>
                <a:cs typeface="Calibri"/>
                <a:sym typeface="Calibri"/>
              </a:rPr>
              <a:t> untuk membuka grafik perkara BHP Medan.</a:t>
            </a:r>
            <a:endParaRPr sz="900">
              <a:solidFill>
                <a:schemeClr val="dk1"/>
              </a:solidFill>
              <a:latin typeface="Calibri"/>
              <a:ea typeface="Calibri"/>
              <a:cs typeface="Calibri"/>
              <a:sym typeface="Calibri"/>
            </a:endParaRPr>
          </a:p>
        </p:txBody>
      </p:sp>
      <p:sp>
        <p:nvSpPr>
          <p:cNvPr id="51" name="Google Shape;51;p1"/>
          <p:cNvSpPr txBox="1"/>
          <p:nvPr>
            <p:ph idx="4294967295" type="sldNum"/>
          </p:nvPr>
        </p:nvSpPr>
        <p:spPr>
          <a:xfrm>
            <a:off x="11338560" y="6473952"/>
            <a:ext cx="41148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C8C8C"/>
                </a:solidFill>
                <a:latin typeface="Calibri"/>
                <a:ea typeface="Calibri"/>
                <a:cs typeface="Calibri"/>
                <a:sym typeface="Calibri"/>
              </a:rPr>
              <a:t>‹#›</a:t>
            </a:fld>
            <a:endParaRPr b="0" i="0" sz="900" u="none" cap="none" strike="noStrike">
              <a:solidFill>
                <a:srgbClr val="8C8C8C"/>
              </a:solidFill>
              <a:latin typeface="Calibri"/>
              <a:ea typeface="Calibri"/>
              <a:cs typeface="Calibri"/>
              <a:sym typeface="Calibri"/>
            </a:endParaRPr>
          </a:p>
        </p:txBody>
      </p:sp>
      <p:grpSp>
        <p:nvGrpSpPr>
          <p:cNvPr id="52" name="Google Shape;52;p1"/>
          <p:cNvGrpSpPr/>
          <p:nvPr/>
        </p:nvGrpSpPr>
        <p:grpSpPr>
          <a:xfrm>
            <a:off x="609600" y="2590800"/>
            <a:ext cx="10972800" cy="533400"/>
            <a:chOff x="609600" y="2590800"/>
            <a:chExt cx="10972800" cy="533400"/>
          </a:xfrm>
        </p:grpSpPr>
        <p:sp>
          <p:nvSpPr>
            <p:cNvPr id="53" name="Google Shape;53;p1"/>
            <p:cNvSpPr/>
            <p:nvPr/>
          </p:nvSpPr>
          <p:spPr>
            <a:xfrm>
              <a:off x="609600" y="2590800"/>
              <a:ext cx="10972800" cy="533400"/>
            </a:xfrm>
            <a:prstGeom prst="roundRect">
              <a:avLst>
                <a:gd fmla="val 16667" name="adj"/>
              </a:avLst>
            </a:prstGeom>
            <a:solidFill>
              <a:srgbClr val="FFFFFF"/>
            </a:solidFill>
            <a:ln cap="flat" cmpd="sng" w="9525">
              <a:solidFill>
                <a:srgbClr val="E3DC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1"/>
            <p:cNvSpPr/>
            <p:nvPr/>
          </p:nvSpPr>
          <p:spPr>
            <a:xfrm>
              <a:off x="609600" y="2590800"/>
              <a:ext cx="939800" cy="533400"/>
            </a:xfrm>
            <a:prstGeom prst="roundRect">
              <a:avLst>
                <a:gd fmla="val 16667" name="adj"/>
              </a:avLst>
            </a:prstGeom>
            <a:solidFill>
              <a:srgbClr val="7B1E2B"/>
            </a:solid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None/>
              </a:pPr>
              <a:r>
                <a:rPr b="1" lang="en-US" sz="1150">
                  <a:solidFill>
                    <a:srgbClr val="FFFFFF"/>
                  </a:solidFill>
                  <a:latin typeface="Calibri"/>
                  <a:ea typeface="Calibri"/>
                  <a:cs typeface="Calibri"/>
                  <a:sym typeface="Calibri"/>
                </a:rPr>
                <a:t>Alur mekanisme</a:t>
              </a:r>
              <a:endParaRPr/>
            </a:p>
          </p:txBody>
        </p:sp>
        <p:sp>
          <p:nvSpPr>
            <p:cNvPr id="55" name="Google Shape;55;p1"/>
            <p:cNvSpPr/>
            <p:nvPr/>
          </p:nvSpPr>
          <p:spPr>
            <a:xfrm rot="5400000">
              <a:off x="2942771" y="2806700"/>
              <a:ext cx="88900" cy="101600"/>
            </a:xfrm>
            <a:prstGeom prst="triangle">
              <a:avLst>
                <a:gd fmla="val 50000" name="adj"/>
              </a:avLst>
            </a:prstGeom>
            <a:solidFill>
              <a:srgbClr val="C9A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1"/>
            <p:cNvSpPr/>
            <p:nvPr/>
          </p:nvSpPr>
          <p:spPr>
            <a:xfrm>
              <a:off x="1638300" y="2730500"/>
              <a:ext cx="254000" cy="254000"/>
            </a:xfrm>
            <a:prstGeom prst="ellipse">
              <a:avLst/>
            </a:prstGeom>
            <a:solidFill>
              <a:srgbClr val="7B1E2B"/>
            </a:solid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None/>
              </a:pPr>
              <a:r>
                <a:rPr b="1" lang="en-US" sz="1050">
                  <a:solidFill>
                    <a:srgbClr val="FFFFFF"/>
                  </a:solidFill>
                  <a:latin typeface="Calibri"/>
                  <a:ea typeface="Calibri"/>
                  <a:cs typeface="Calibri"/>
                  <a:sym typeface="Calibri"/>
                </a:rPr>
                <a:t>1</a:t>
              </a:r>
              <a:endParaRPr/>
            </a:p>
          </p:txBody>
        </p:sp>
        <p:sp>
          <p:nvSpPr>
            <p:cNvPr id="57" name="Google Shape;57;p1"/>
            <p:cNvSpPr/>
            <p:nvPr/>
          </p:nvSpPr>
          <p:spPr>
            <a:xfrm>
              <a:off x="1943100" y="2616200"/>
              <a:ext cx="986971" cy="4826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b="1" lang="en-US" sz="1150">
                  <a:solidFill>
                    <a:srgbClr val="2B2B2B"/>
                  </a:solidFill>
                  <a:latin typeface="Calibri"/>
                  <a:ea typeface="Calibri"/>
                  <a:cs typeface="Calibri"/>
                  <a:sym typeface="Calibri"/>
                </a:rPr>
                <a:t>Putusan pailit</a:t>
              </a:r>
              <a:endParaRPr/>
            </a:p>
          </p:txBody>
        </p:sp>
        <p:sp>
          <p:nvSpPr>
            <p:cNvPr id="58" name="Google Shape;58;p1"/>
            <p:cNvSpPr/>
            <p:nvPr/>
          </p:nvSpPr>
          <p:spPr>
            <a:xfrm rot="5400000">
              <a:off x="4361543" y="2806700"/>
              <a:ext cx="88900" cy="101600"/>
            </a:xfrm>
            <a:prstGeom prst="triangle">
              <a:avLst>
                <a:gd fmla="val 50000" name="adj"/>
              </a:avLst>
            </a:prstGeom>
            <a:solidFill>
              <a:srgbClr val="C9A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1"/>
            <p:cNvSpPr/>
            <p:nvPr/>
          </p:nvSpPr>
          <p:spPr>
            <a:xfrm>
              <a:off x="3057071" y="2730500"/>
              <a:ext cx="254000" cy="254000"/>
            </a:xfrm>
            <a:prstGeom prst="ellipse">
              <a:avLst/>
            </a:prstGeom>
            <a:solidFill>
              <a:srgbClr val="7B1E2B"/>
            </a:solid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None/>
              </a:pPr>
              <a:r>
                <a:rPr b="1" lang="en-US" sz="1050">
                  <a:solidFill>
                    <a:srgbClr val="FFFFFF"/>
                  </a:solidFill>
                  <a:latin typeface="Calibri"/>
                  <a:ea typeface="Calibri"/>
                  <a:cs typeface="Calibri"/>
                  <a:sym typeface="Calibri"/>
                </a:rPr>
                <a:t>2</a:t>
              </a:r>
              <a:endParaRPr/>
            </a:p>
          </p:txBody>
        </p:sp>
        <p:sp>
          <p:nvSpPr>
            <p:cNvPr id="60" name="Google Shape;60;p1"/>
            <p:cNvSpPr/>
            <p:nvPr/>
          </p:nvSpPr>
          <p:spPr>
            <a:xfrm>
              <a:off x="3361871" y="2616200"/>
              <a:ext cx="986971" cy="4826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b="1" lang="en-US" sz="1150">
                  <a:solidFill>
                    <a:srgbClr val="2B2B2B"/>
                  </a:solidFill>
                  <a:latin typeface="Calibri"/>
                  <a:ea typeface="Calibri"/>
                  <a:cs typeface="Calibri"/>
                  <a:sym typeface="Calibri"/>
                </a:rPr>
                <a:t>Penugasan tim Kurator</a:t>
              </a:r>
              <a:endParaRPr/>
            </a:p>
          </p:txBody>
        </p:sp>
        <p:sp>
          <p:nvSpPr>
            <p:cNvPr id="61" name="Google Shape;61;p1"/>
            <p:cNvSpPr/>
            <p:nvPr/>
          </p:nvSpPr>
          <p:spPr>
            <a:xfrm rot="5400000">
              <a:off x="5780314" y="2806700"/>
              <a:ext cx="88900" cy="101600"/>
            </a:xfrm>
            <a:prstGeom prst="triangle">
              <a:avLst>
                <a:gd fmla="val 50000" name="adj"/>
              </a:avLst>
            </a:prstGeom>
            <a:solidFill>
              <a:srgbClr val="C9A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1"/>
            <p:cNvSpPr/>
            <p:nvPr/>
          </p:nvSpPr>
          <p:spPr>
            <a:xfrm>
              <a:off x="4475843" y="2730500"/>
              <a:ext cx="254000" cy="254000"/>
            </a:xfrm>
            <a:prstGeom prst="ellipse">
              <a:avLst/>
            </a:prstGeom>
            <a:solidFill>
              <a:srgbClr val="7B1E2B"/>
            </a:solid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None/>
              </a:pPr>
              <a:r>
                <a:rPr b="1" lang="en-US" sz="1050">
                  <a:solidFill>
                    <a:srgbClr val="FFFFFF"/>
                  </a:solidFill>
                  <a:latin typeface="Calibri"/>
                  <a:ea typeface="Calibri"/>
                  <a:cs typeface="Calibri"/>
                  <a:sym typeface="Calibri"/>
                </a:rPr>
                <a:t>3</a:t>
              </a:r>
              <a:endParaRPr/>
            </a:p>
          </p:txBody>
        </p:sp>
        <p:sp>
          <p:nvSpPr>
            <p:cNvPr id="63" name="Google Shape;63;p1"/>
            <p:cNvSpPr/>
            <p:nvPr/>
          </p:nvSpPr>
          <p:spPr>
            <a:xfrm>
              <a:off x="4780643" y="2616200"/>
              <a:ext cx="986971" cy="4826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b="1" lang="en-US" sz="1150">
                  <a:solidFill>
                    <a:srgbClr val="2B2B2B"/>
                  </a:solidFill>
                  <a:latin typeface="Calibri"/>
                  <a:ea typeface="Calibri"/>
                  <a:cs typeface="Calibri"/>
                  <a:sym typeface="Calibri"/>
                </a:rPr>
                <a:t>Pengumuman &amp; rapat kreditor</a:t>
              </a:r>
              <a:endParaRPr/>
            </a:p>
          </p:txBody>
        </p:sp>
        <p:sp>
          <p:nvSpPr>
            <p:cNvPr id="64" name="Google Shape;64;p1"/>
            <p:cNvSpPr/>
            <p:nvPr/>
          </p:nvSpPr>
          <p:spPr>
            <a:xfrm rot="5400000">
              <a:off x="7199086" y="2806700"/>
              <a:ext cx="88900" cy="101600"/>
            </a:xfrm>
            <a:prstGeom prst="triangle">
              <a:avLst>
                <a:gd fmla="val 50000" name="adj"/>
              </a:avLst>
            </a:prstGeom>
            <a:solidFill>
              <a:srgbClr val="C9A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1"/>
            <p:cNvSpPr/>
            <p:nvPr/>
          </p:nvSpPr>
          <p:spPr>
            <a:xfrm>
              <a:off x="5894614" y="2730500"/>
              <a:ext cx="254000" cy="254000"/>
            </a:xfrm>
            <a:prstGeom prst="ellipse">
              <a:avLst/>
            </a:prstGeom>
            <a:solidFill>
              <a:srgbClr val="7B1E2B"/>
            </a:solid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None/>
              </a:pPr>
              <a:r>
                <a:rPr b="1" lang="en-US" sz="1050">
                  <a:solidFill>
                    <a:srgbClr val="FFFFFF"/>
                  </a:solidFill>
                  <a:latin typeface="Calibri"/>
                  <a:ea typeface="Calibri"/>
                  <a:cs typeface="Calibri"/>
                  <a:sym typeface="Calibri"/>
                </a:rPr>
                <a:t>4</a:t>
              </a:r>
              <a:endParaRPr/>
            </a:p>
          </p:txBody>
        </p:sp>
        <p:sp>
          <p:nvSpPr>
            <p:cNvPr id="66" name="Google Shape;66;p1"/>
            <p:cNvSpPr/>
            <p:nvPr/>
          </p:nvSpPr>
          <p:spPr>
            <a:xfrm>
              <a:off x="6199414" y="2616200"/>
              <a:ext cx="986971" cy="4826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b="1" lang="en-US" sz="1150">
                  <a:solidFill>
                    <a:srgbClr val="2B2B2B"/>
                  </a:solidFill>
                  <a:latin typeface="Calibri"/>
                  <a:ea typeface="Calibri"/>
                  <a:cs typeface="Calibri"/>
                  <a:sym typeface="Calibri"/>
                </a:rPr>
                <a:t>Pencatatan harta &amp; tagihan</a:t>
              </a:r>
              <a:endParaRPr/>
            </a:p>
          </p:txBody>
        </p:sp>
        <p:sp>
          <p:nvSpPr>
            <p:cNvPr id="67" name="Google Shape;67;p1"/>
            <p:cNvSpPr/>
            <p:nvPr/>
          </p:nvSpPr>
          <p:spPr>
            <a:xfrm rot="5400000">
              <a:off x="8617857" y="2806700"/>
              <a:ext cx="88900" cy="101600"/>
            </a:xfrm>
            <a:prstGeom prst="triangle">
              <a:avLst>
                <a:gd fmla="val 50000" name="adj"/>
              </a:avLst>
            </a:prstGeom>
            <a:solidFill>
              <a:srgbClr val="C9A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1"/>
            <p:cNvSpPr/>
            <p:nvPr/>
          </p:nvSpPr>
          <p:spPr>
            <a:xfrm>
              <a:off x="7313386" y="2730500"/>
              <a:ext cx="254000" cy="254000"/>
            </a:xfrm>
            <a:prstGeom prst="ellipse">
              <a:avLst/>
            </a:prstGeom>
            <a:solidFill>
              <a:srgbClr val="7B1E2B"/>
            </a:solid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None/>
              </a:pPr>
              <a:r>
                <a:rPr b="1" lang="en-US" sz="1050">
                  <a:solidFill>
                    <a:srgbClr val="FFFFFF"/>
                  </a:solidFill>
                  <a:latin typeface="Calibri"/>
                  <a:ea typeface="Calibri"/>
                  <a:cs typeface="Calibri"/>
                  <a:sym typeface="Calibri"/>
                </a:rPr>
                <a:t>5</a:t>
              </a:r>
              <a:endParaRPr/>
            </a:p>
          </p:txBody>
        </p:sp>
        <p:sp>
          <p:nvSpPr>
            <p:cNvPr id="69" name="Google Shape;69;p1"/>
            <p:cNvSpPr/>
            <p:nvPr/>
          </p:nvSpPr>
          <p:spPr>
            <a:xfrm>
              <a:off x="7618186" y="2616200"/>
              <a:ext cx="986971" cy="4826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b="1" lang="en-US" sz="1150">
                  <a:solidFill>
                    <a:srgbClr val="2B2B2B"/>
                  </a:solidFill>
                  <a:latin typeface="Calibri"/>
                  <a:ea typeface="Calibri"/>
                  <a:cs typeface="Calibri"/>
                  <a:sym typeface="Calibri"/>
                </a:rPr>
                <a:t>Penilaian &amp; lelang</a:t>
              </a:r>
              <a:endParaRPr/>
            </a:p>
          </p:txBody>
        </p:sp>
        <p:sp>
          <p:nvSpPr>
            <p:cNvPr id="70" name="Google Shape;70;p1"/>
            <p:cNvSpPr/>
            <p:nvPr/>
          </p:nvSpPr>
          <p:spPr>
            <a:xfrm rot="5400000">
              <a:off x="10036629" y="2806700"/>
              <a:ext cx="88900" cy="101600"/>
            </a:xfrm>
            <a:prstGeom prst="triangle">
              <a:avLst>
                <a:gd fmla="val 50000" name="adj"/>
              </a:avLst>
            </a:prstGeom>
            <a:solidFill>
              <a:srgbClr val="C9A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1"/>
            <p:cNvSpPr/>
            <p:nvPr/>
          </p:nvSpPr>
          <p:spPr>
            <a:xfrm>
              <a:off x="8732157" y="2730500"/>
              <a:ext cx="254000" cy="254000"/>
            </a:xfrm>
            <a:prstGeom prst="ellipse">
              <a:avLst/>
            </a:prstGeom>
            <a:solidFill>
              <a:srgbClr val="7B1E2B"/>
            </a:solid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None/>
              </a:pPr>
              <a:r>
                <a:rPr b="1" lang="en-US" sz="1050">
                  <a:solidFill>
                    <a:srgbClr val="FFFFFF"/>
                  </a:solidFill>
                  <a:latin typeface="Calibri"/>
                  <a:ea typeface="Calibri"/>
                  <a:cs typeface="Calibri"/>
                  <a:sym typeface="Calibri"/>
                </a:rPr>
                <a:t>6</a:t>
              </a:r>
              <a:endParaRPr/>
            </a:p>
          </p:txBody>
        </p:sp>
        <p:sp>
          <p:nvSpPr>
            <p:cNvPr id="72" name="Google Shape;72;p1"/>
            <p:cNvSpPr/>
            <p:nvPr/>
          </p:nvSpPr>
          <p:spPr>
            <a:xfrm>
              <a:off x="9036957" y="2616200"/>
              <a:ext cx="986971" cy="4826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b="1" lang="en-US" sz="1150">
                  <a:solidFill>
                    <a:srgbClr val="2B2B2B"/>
                  </a:solidFill>
                  <a:latin typeface="Calibri"/>
                  <a:ea typeface="Calibri"/>
                  <a:cs typeface="Calibri"/>
                  <a:sym typeface="Calibri"/>
                </a:rPr>
                <a:t>Pembagian hasil</a:t>
              </a:r>
              <a:endParaRPr/>
            </a:p>
          </p:txBody>
        </p:sp>
        <p:sp>
          <p:nvSpPr>
            <p:cNvPr id="73" name="Google Shape;73;p1"/>
            <p:cNvSpPr/>
            <p:nvPr/>
          </p:nvSpPr>
          <p:spPr>
            <a:xfrm>
              <a:off x="10150929" y="2730500"/>
              <a:ext cx="254000" cy="254000"/>
            </a:xfrm>
            <a:prstGeom prst="ellipse">
              <a:avLst/>
            </a:prstGeom>
            <a:solidFill>
              <a:srgbClr val="C9A04A"/>
            </a:solid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None/>
              </a:pPr>
              <a:r>
                <a:rPr b="1" lang="en-US" sz="1050">
                  <a:solidFill>
                    <a:srgbClr val="FFFFFF"/>
                  </a:solidFill>
                  <a:latin typeface="Calibri"/>
                  <a:ea typeface="Calibri"/>
                  <a:cs typeface="Calibri"/>
                  <a:sym typeface="Calibri"/>
                </a:rPr>
                <a:t>7</a:t>
              </a:r>
              <a:endParaRPr/>
            </a:p>
          </p:txBody>
        </p:sp>
        <p:sp>
          <p:nvSpPr>
            <p:cNvPr id="74" name="Google Shape;74;p1"/>
            <p:cNvSpPr/>
            <p:nvPr/>
          </p:nvSpPr>
          <p:spPr>
            <a:xfrm>
              <a:off x="10455729" y="2616200"/>
              <a:ext cx="986971" cy="4826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b="1" lang="en-US" sz="1150">
                  <a:solidFill>
                    <a:srgbClr val="7B1E2B"/>
                  </a:solidFill>
                  <a:latin typeface="Calibri"/>
                  <a:ea typeface="Calibri"/>
                  <a:cs typeface="Calibri"/>
                  <a:sym typeface="Calibri"/>
                </a:rPr>
                <a:t>Imbalan jasa  PNBP</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
                                        </p:tgtEl>
                                        <p:attrNameLst>
                                          <p:attrName>style.visibility</p:attrName>
                                        </p:attrNameLst>
                                      </p:cBhvr>
                                      <p:to>
                                        <p:strVal val="visible"/>
                                      </p:to>
                                    </p:set>
                                    <p:animEffect filter="fade" transition="in">
                                      <p:cBhvr>
                                        <p:cTn dur="700"/>
                                        <p:tgtEl>
                                          <p:spTgt spid="20"/>
                                        </p:tgtEl>
                                      </p:cBhvr>
                                    </p:animEffect>
                                  </p:childTnLst>
                                </p:cTn>
                              </p:par>
                            </p:childTnLst>
                          </p:cTn>
                        </p:par>
                        <p:par>
                          <p:cTn fill="hold">
                            <p:stCondLst>
                              <p:cond delay="700"/>
                            </p:stCondLst>
                            <p:childTnLst>
                              <p:par>
                                <p:cTn fill="hold" nodeType="afterEffect" presetClass="entr" presetID="10" presetSubtype="0">
                                  <p:stCondLst>
                                    <p:cond delay="0"/>
                                  </p:stCondLst>
                                  <p:childTnLst>
                                    <p:set>
                                      <p:cBhvr>
                                        <p:cTn dur="1" fill="hold">
                                          <p:stCondLst>
                                            <p:cond delay="0"/>
                                          </p:stCondLst>
                                        </p:cTn>
                                        <p:tgtEl>
                                          <p:spTgt spid="21"/>
                                        </p:tgtEl>
                                        <p:attrNameLst>
                                          <p:attrName>style.visibility</p:attrName>
                                        </p:attrNameLst>
                                      </p:cBhvr>
                                      <p:to>
                                        <p:strVal val="visible"/>
                                      </p:to>
                                    </p:set>
                                    <p:animEffect filter="fade" transition="in">
                                      <p:cBhvr>
                                        <p:cTn dur="700"/>
                                        <p:tgtEl>
                                          <p:spTgt spid="21"/>
                                        </p:tgtEl>
                                      </p:cBhvr>
                                    </p:animEffect>
                                  </p:childTnLst>
                                </p:cTn>
                              </p:par>
                              <p:par>
                                <p:cTn fill="hold" nodeType="withEffect" presetClass="entr" presetID="10" presetSubtype="0">
                                  <p:stCondLst>
                                    <p:cond delay="0"/>
                                  </p:stCondLst>
                                  <p:childTnLst>
                                    <p:set>
                                      <p:cBhvr>
                                        <p:cTn dur="1" fill="hold">
                                          <p:stCondLst>
                                            <p:cond delay="0"/>
                                          </p:stCondLst>
                                        </p:cTn>
                                        <p:tgtEl>
                                          <p:spTgt spid="22"/>
                                        </p:tgtEl>
                                        <p:attrNameLst>
                                          <p:attrName>style.visibility</p:attrName>
                                        </p:attrNameLst>
                                      </p:cBhvr>
                                      <p:to>
                                        <p:strVal val="visible"/>
                                      </p:to>
                                    </p:set>
                                    <p:animEffect filter="fade" transition="in">
                                      <p:cBhvr>
                                        <p:cTn dur="700"/>
                                        <p:tgtEl>
                                          <p:spTgt spid="22"/>
                                        </p:tgtEl>
                                      </p:cBhvr>
                                    </p:animEffect>
                                  </p:childTnLst>
                                </p:cTn>
                              </p:par>
                              <p:par>
                                <p:cTn fill="hold" nodeType="withEffect" presetClass="entr" presetID="10" presetSubtype="0">
                                  <p:stCondLst>
                                    <p:cond delay="0"/>
                                  </p:stCondLst>
                                  <p:childTnLst>
                                    <p:set>
                                      <p:cBhvr>
                                        <p:cTn dur="1" fill="hold">
                                          <p:stCondLst>
                                            <p:cond delay="0"/>
                                          </p:stCondLst>
                                        </p:cTn>
                                        <p:tgtEl>
                                          <p:spTgt spid="23"/>
                                        </p:tgtEl>
                                        <p:attrNameLst>
                                          <p:attrName>style.visibility</p:attrName>
                                        </p:attrNameLst>
                                      </p:cBhvr>
                                      <p:to>
                                        <p:strVal val="visible"/>
                                      </p:to>
                                    </p:set>
                                    <p:animEffect filter="fade" transition="in">
                                      <p:cBhvr>
                                        <p:cTn dur="700"/>
                                        <p:tgtEl>
                                          <p:spTgt spid="23"/>
                                        </p:tgtEl>
                                      </p:cBhvr>
                                    </p:animEffect>
                                  </p:childTnLst>
                                </p:cTn>
                              </p:par>
                              <p:par>
                                <p:cTn fill="hold" nodeType="withEffect" presetClass="entr" presetID="10" presetSubtype="0">
                                  <p:stCondLst>
                                    <p:cond delay="0"/>
                                  </p:stCondLst>
                                  <p:childTnLst>
                                    <p:set>
                                      <p:cBhvr>
                                        <p:cTn dur="1" fill="hold">
                                          <p:stCondLst>
                                            <p:cond delay="0"/>
                                          </p:stCondLst>
                                        </p:cTn>
                                        <p:tgtEl>
                                          <p:spTgt spid="24"/>
                                        </p:tgtEl>
                                        <p:attrNameLst>
                                          <p:attrName>style.visibility</p:attrName>
                                        </p:attrNameLst>
                                      </p:cBhvr>
                                      <p:to>
                                        <p:strVal val="visible"/>
                                      </p:to>
                                    </p:set>
                                    <p:animEffect filter="fade" transition="in">
                                      <p:cBhvr>
                                        <p:cTn dur="700"/>
                                        <p:tgtEl>
                                          <p:spTgt spid="24"/>
                                        </p:tgtEl>
                                      </p:cBhvr>
                                    </p:animEffect>
                                  </p:childTnLst>
                                </p:cTn>
                              </p:par>
                              <p:par>
                                <p:cTn fill="hold" nodeType="withEffect" presetClass="entr" presetID="10" presetSubtype="0">
                                  <p:stCondLst>
                                    <p:cond delay="0"/>
                                  </p:stCondLst>
                                  <p:childTnLst>
                                    <p:set>
                                      <p:cBhvr>
                                        <p:cTn dur="1" fill="hold">
                                          <p:stCondLst>
                                            <p:cond delay="0"/>
                                          </p:stCondLst>
                                        </p:cTn>
                                        <p:tgtEl>
                                          <p:spTgt spid="25"/>
                                        </p:tgtEl>
                                        <p:attrNameLst>
                                          <p:attrName>style.visibility</p:attrName>
                                        </p:attrNameLst>
                                      </p:cBhvr>
                                      <p:to>
                                        <p:strVal val="visible"/>
                                      </p:to>
                                    </p:set>
                                    <p:animEffect filter="fade" transition="in">
                                      <p:cBhvr>
                                        <p:cTn dur="700"/>
                                        <p:tgtEl>
                                          <p:spTgt spid="25"/>
                                        </p:tgtEl>
                                      </p:cBhvr>
                                    </p:animEffect>
                                  </p:childTnLst>
                                </p:cTn>
                              </p:par>
                              <p:par>
                                <p:cTn fill="hold" nodeType="withEffect" presetClass="entr" presetID="10" presetSubtype="0">
                                  <p:stCondLst>
                                    <p:cond delay="0"/>
                                  </p:stCondLst>
                                  <p:childTnLst>
                                    <p:set>
                                      <p:cBhvr>
                                        <p:cTn dur="1" fill="hold">
                                          <p:stCondLst>
                                            <p:cond delay="0"/>
                                          </p:stCondLst>
                                        </p:cTn>
                                        <p:tgtEl>
                                          <p:spTgt spid="26"/>
                                        </p:tgtEl>
                                        <p:attrNameLst>
                                          <p:attrName>style.visibility</p:attrName>
                                        </p:attrNameLst>
                                      </p:cBhvr>
                                      <p:to>
                                        <p:strVal val="visible"/>
                                      </p:to>
                                    </p:set>
                                    <p:animEffect filter="fade" transition="in">
                                      <p:cBhvr>
                                        <p:cTn dur="700"/>
                                        <p:tgtEl>
                                          <p:spTgt spid="26"/>
                                        </p:tgtEl>
                                      </p:cBhvr>
                                    </p:animEffect>
                                  </p:childTnLst>
                                </p:cTn>
                              </p:par>
                              <p:par>
                                <p:cTn fill="hold" nodeType="withEffect" presetClass="entr" presetID="10" presetSubtype="0">
                                  <p:stCondLst>
                                    <p:cond delay="0"/>
                                  </p:stCondLst>
                                  <p:childTnLst>
                                    <p:set>
                                      <p:cBhvr>
                                        <p:cTn dur="1" fill="hold">
                                          <p:stCondLst>
                                            <p:cond delay="0"/>
                                          </p:stCondLst>
                                        </p:cTn>
                                        <p:tgtEl>
                                          <p:spTgt spid="41"/>
                                        </p:tgtEl>
                                        <p:attrNameLst>
                                          <p:attrName>style.visibility</p:attrName>
                                        </p:attrNameLst>
                                      </p:cBhvr>
                                      <p:to>
                                        <p:strVal val="visible"/>
                                      </p:to>
                                    </p:set>
                                    <p:animEffect filter="fade" transition="in">
                                      <p:cBhvr>
                                        <p:cTn dur="700"/>
                                        <p:tgtEl>
                                          <p:spTgt spid="41"/>
                                        </p:tgtEl>
                                      </p:cBhvr>
                                    </p:animEffect>
                                  </p:childTnLst>
                                </p:cTn>
                              </p:par>
                            </p:childTnLst>
                          </p:cTn>
                        </p:par>
                        <p:par>
                          <p:cTn fill="hold">
                            <p:stCondLst>
                              <p:cond delay="1400"/>
                            </p:stCondLst>
                            <p:childTnLst>
                              <p:par>
                                <p:cTn fill="hold" nodeType="after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700"/>
                                        <p:tgtEl>
                                          <p:spTgt spid="52"/>
                                        </p:tgtEl>
                                      </p:cBhvr>
                                    </p:animEffect>
                                  </p:childTnLst>
                                </p:cTn>
                              </p:par>
                            </p:childTnLst>
                          </p:cTn>
                        </p:par>
                        <p:par>
                          <p:cTn fill="hold">
                            <p:stCondLst>
                              <p:cond delay="2100"/>
                            </p:stCondLst>
                            <p:childTnLst>
                              <p:par>
                                <p:cTn fill="hold" nodeType="afterEffect" presetClass="entr" presetID="10" presetSubtype="0">
                                  <p:stCondLst>
                                    <p:cond delay="0"/>
                                  </p:stCondLst>
                                  <p:childTnLst>
                                    <p:set>
                                      <p:cBhvr>
                                        <p:cTn dur="1" fill="hold">
                                          <p:stCondLst>
                                            <p:cond delay="0"/>
                                          </p:stCondLst>
                                        </p:cTn>
                                        <p:tgtEl>
                                          <p:spTgt spid="27"/>
                                        </p:tgtEl>
                                        <p:attrNameLst>
                                          <p:attrName>style.visibility</p:attrName>
                                        </p:attrNameLst>
                                      </p:cBhvr>
                                      <p:to>
                                        <p:strVal val="visible"/>
                                      </p:to>
                                    </p:set>
                                    <p:animEffect filter="fade" transition="in">
                                      <p:cBhvr>
                                        <p:cTn dur="700"/>
                                        <p:tgtEl>
                                          <p:spTgt spid="27"/>
                                        </p:tgtEl>
                                      </p:cBhvr>
                                    </p:animEffect>
                                  </p:childTnLst>
                                </p:cTn>
                              </p:par>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700"/>
                                        <p:tgtEl>
                                          <p:spTgt spid="28"/>
                                        </p:tgtEl>
                                      </p:cBhvr>
                                    </p:animEffect>
                                  </p:childTnLst>
                                </p:cTn>
                              </p:par>
                              <p:par>
                                <p:cTn fill="hold" nodeType="withEffect" presetClass="entr" presetID="10" presetSubtype="0">
                                  <p:stCondLst>
                                    <p:cond delay="0"/>
                                  </p:stCondLst>
                                  <p:childTnLst>
                                    <p:set>
                                      <p:cBhvr>
                                        <p:cTn dur="1" fill="hold">
                                          <p:stCondLst>
                                            <p:cond delay="0"/>
                                          </p:stCondLst>
                                        </p:cTn>
                                        <p:tgtEl>
                                          <p:spTgt spid="29"/>
                                        </p:tgtEl>
                                        <p:attrNameLst>
                                          <p:attrName>style.visibility</p:attrName>
                                        </p:attrNameLst>
                                      </p:cBhvr>
                                      <p:to>
                                        <p:strVal val="visible"/>
                                      </p:to>
                                    </p:set>
                                    <p:animEffect filter="fade" transition="in">
                                      <p:cBhvr>
                                        <p:cTn dur="700"/>
                                        <p:tgtEl>
                                          <p:spTgt spid="29"/>
                                        </p:tgtEl>
                                      </p:cBhvr>
                                    </p:animEffect>
                                  </p:childTnLst>
                                </p:cTn>
                              </p:par>
                              <p:par>
                                <p:cTn fill="hold" nodeType="withEffect" presetClass="entr" presetID="10" presetSubtype="0">
                                  <p:stCondLst>
                                    <p:cond delay="0"/>
                                  </p:stCondLst>
                                  <p:childTnLst>
                                    <p:set>
                                      <p:cBhvr>
                                        <p:cTn dur="1" fill="hold">
                                          <p:stCondLst>
                                            <p:cond delay="0"/>
                                          </p:stCondLst>
                                        </p:cTn>
                                        <p:tgtEl>
                                          <p:spTgt spid="30"/>
                                        </p:tgtEl>
                                        <p:attrNameLst>
                                          <p:attrName>style.visibility</p:attrName>
                                        </p:attrNameLst>
                                      </p:cBhvr>
                                      <p:to>
                                        <p:strVal val="visible"/>
                                      </p:to>
                                    </p:set>
                                    <p:animEffect filter="fade" transition="in">
                                      <p:cBhvr>
                                        <p:cTn dur="700"/>
                                        <p:tgtEl>
                                          <p:spTgt spid="30"/>
                                        </p:tgtEl>
                                      </p:cBhvr>
                                    </p:animEffect>
                                  </p:childTnLst>
                                </p:cTn>
                              </p:par>
                              <p:par>
                                <p:cTn fill="hold" nodeType="withEffect" presetClass="entr" presetID="10" presetSubtype="0">
                                  <p:stCondLst>
                                    <p:cond delay="0"/>
                                  </p:stCondLst>
                                  <p:childTnLst>
                                    <p:set>
                                      <p:cBhvr>
                                        <p:cTn dur="1" fill="hold">
                                          <p:stCondLst>
                                            <p:cond delay="0"/>
                                          </p:stCondLst>
                                        </p:cTn>
                                        <p:tgtEl>
                                          <p:spTgt spid="31"/>
                                        </p:tgtEl>
                                        <p:attrNameLst>
                                          <p:attrName>style.visibility</p:attrName>
                                        </p:attrNameLst>
                                      </p:cBhvr>
                                      <p:to>
                                        <p:strVal val="visible"/>
                                      </p:to>
                                    </p:set>
                                    <p:animEffect filter="fade" transition="in">
                                      <p:cBhvr>
                                        <p:cTn dur="700"/>
                                        <p:tgtEl>
                                          <p:spTgt spid="31"/>
                                        </p:tgtEl>
                                      </p:cBhvr>
                                    </p:animEffect>
                                  </p:childTnLst>
                                </p:cTn>
                              </p:par>
                              <p:par>
                                <p:cTn fill="hold" nodeType="withEffect" presetClass="entr" presetID="10" presetSubtype="0">
                                  <p:stCondLst>
                                    <p:cond delay="0"/>
                                  </p:stCondLst>
                                  <p:childTnLst>
                                    <p:set>
                                      <p:cBhvr>
                                        <p:cTn dur="1" fill="hold">
                                          <p:stCondLst>
                                            <p:cond delay="0"/>
                                          </p:stCondLst>
                                        </p:cTn>
                                        <p:tgtEl>
                                          <p:spTgt spid="32"/>
                                        </p:tgtEl>
                                        <p:attrNameLst>
                                          <p:attrName>style.visibility</p:attrName>
                                        </p:attrNameLst>
                                      </p:cBhvr>
                                      <p:to>
                                        <p:strVal val="visible"/>
                                      </p:to>
                                    </p:set>
                                    <p:animEffect filter="fade" transition="in">
                                      <p:cBhvr>
                                        <p:cTn dur="700"/>
                                        <p:tgtEl>
                                          <p:spTgt spid="32"/>
                                        </p:tgtEl>
                                      </p:cBhvr>
                                    </p:animEffect>
                                  </p:childTnLst>
                                </p:cTn>
                              </p:par>
                              <p:par>
                                <p:cTn fill="hold" nodeType="withEffect" presetClass="entr" presetID="10" presetSubtype="0">
                                  <p:stCondLst>
                                    <p:cond delay="0"/>
                                  </p:stCondLst>
                                  <p:childTnLst>
                                    <p:set>
                                      <p:cBhvr>
                                        <p:cTn dur="1" fill="hold">
                                          <p:stCondLst>
                                            <p:cond delay="0"/>
                                          </p:stCondLst>
                                        </p:cTn>
                                        <p:tgtEl>
                                          <p:spTgt spid="33"/>
                                        </p:tgtEl>
                                        <p:attrNameLst>
                                          <p:attrName>style.visibility</p:attrName>
                                        </p:attrNameLst>
                                      </p:cBhvr>
                                      <p:to>
                                        <p:strVal val="visible"/>
                                      </p:to>
                                    </p:set>
                                    <p:animEffect filter="fade" transition="in">
                                      <p:cBhvr>
                                        <p:cTn dur="700"/>
                                        <p:tgtEl>
                                          <p:spTgt spid="33"/>
                                        </p:tgtEl>
                                      </p:cBhvr>
                                    </p:animEffect>
                                  </p:childTnLst>
                                </p:cTn>
                              </p:par>
                              <p:par>
                                <p:cTn fill="hold" nodeType="with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700"/>
                                        <p:tgtEl>
                                          <p:spTgt spid="34"/>
                                        </p:tgtEl>
                                      </p:cBhvr>
                                    </p:animEffect>
                                  </p:childTnLst>
                                </p:cTn>
                              </p:par>
                              <p:par>
                                <p:cTn fill="hold" nodeType="withEffect" presetClass="entr" presetID="10" presetSubtype="0">
                                  <p:stCondLst>
                                    <p:cond delay="0"/>
                                  </p:stCondLst>
                                  <p:childTnLst>
                                    <p:set>
                                      <p:cBhvr>
                                        <p:cTn dur="1" fill="hold">
                                          <p:stCondLst>
                                            <p:cond delay="0"/>
                                          </p:stCondLst>
                                        </p:cTn>
                                        <p:tgtEl>
                                          <p:spTgt spid="42"/>
                                        </p:tgtEl>
                                        <p:attrNameLst>
                                          <p:attrName>style.visibility</p:attrName>
                                        </p:attrNameLst>
                                      </p:cBhvr>
                                      <p:to>
                                        <p:strVal val="visible"/>
                                      </p:to>
                                    </p:set>
                                    <p:animEffect filter="fade" transition="in">
                                      <p:cBhvr>
                                        <p:cTn dur="700"/>
                                        <p:tgtEl>
                                          <p:spTgt spid="42"/>
                                        </p:tgtEl>
                                      </p:cBhvr>
                                    </p:animEffect>
                                  </p:childTnLst>
                                </p:cTn>
                              </p:par>
                            </p:childTnLst>
                          </p:cTn>
                        </p:par>
                        <p:par>
                          <p:cTn fill="hold">
                            <p:stCondLst>
                              <p:cond delay="2800"/>
                            </p:stCondLst>
                            <p:childTnLst>
                              <p:par>
                                <p:cTn fill="hold" nodeType="after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700"/>
                                        <p:tgtEl>
                                          <p:spTgt spid="35"/>
                                        </p:tgtEl>
                                      </p:cBhvr>
                                    </p:animEffect>
                                  </p:childTnLst>
                                </p:cTn>
                              </p:par>
                              <p:par>
                                <p:cTn fill="hold" nodeType="with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700"/>
                                        <p:tgtEl>
                                          <p:spTgt spid="36"/>
                                        </p:tgtEl>
                                      </p:cBhvr>
                                    </p:animEffect>
                                  </p:childTnLst>
                                </p:cTn>
                              </p:par>
                              <p:par>
                                <p:cTn fill="hold" nodeType="withEffect" presetClass="entr" presetID="10" presetSubtype="0">
                                  <p:stCondLst>
                                    <p:cond delay="0"/>
                                  </p:stCondLst>
                                  <p:childTnLst>
                                    <p:set>
                                      <p:cBhvr>
                                        <p:cTn dur="1" fill="hold">
                                          <p:stCondLst>
                                            <p:cond delay="0"/>
                                          </p:stCondLst>
                                        </p:cTn>
                                        <p:tgtEl>
                                          <p:spTgt spid="37"/>
                                        </p:tgtEl>
                                        <p:attrNameLst>
                                          <p:attrName>style.visibility</p:attrName>
                                        </p:attrNameLst>
                                      </p:cBhvr>
                                      <p:to>
                                        <p:strVal val="visible"/>
                                      </p:to>
                                    </p:set>
                                    <p:animEffect filter="fade" transition="in">
                                      <p:cBhvr>
                                        <p:cTn dur="700"/>
                                        <p:tgtEl>
                                          <p:spTgt spid="37"/>
                                        </p:tgtEl>
                                      </p:cBhvr>
                                    </p:animEffect>
                                  </p:childTnLst>
                                </p:cTn>
                              </p:par>
                              <p:par>
                                <p:cTn fill="hold" nodeType="withEffect" presetClass="entr" presetID="10" presetSubtype="0">
                                  <p:stCondLst>
                                    <p:cond delay="0"/>
                                  </p:stCondLst>
                                  <p:childTnLst>
                                    <p:set>
                                      <p:cBhvr>
                                        <p:cTn dur="1" fill="hold">
                                          <p:stCondLst>
                                            <p:cond delay="0"/>
                                          </p:stCondLst>
                                        </p:cTn>
                                        <p:tgtEl>
                                          <p:spTgt spid="38"/>
                                        </p:tgtEl>
                                        <p:attrNameLst>
                                          <p:attrName>style.visibility</p:attrName>
                                        </p:attrNameLst>
                                      </p:cBhvr>
                                      <p:to>
                                        <p:strVal val="visible"/>
                                      </p:to>
                                    </p:set>
                                    <p:animEffect filter="fade" transition="in">
                                      <p:cBhvr>
                                        <p:cTn dur="700"/>
                                        <p:tgtEl>
                                          <p:spTgt spid="38"/>
                                        </p:tgtEl>
                                      </p:cBhvr>
                                    </p:animEffect>
                                  </p:childTnLst>
                                </p:cTn>
                              </p:par>
                              <p:par>
                                <p:cTn fill="hold" nodeType="withEffect" presetClass="entr" presetID="10" presetSubtype="0">
                                  <p:stCondLst>
                                    <p:cond delay="0"/>
                                  </p:stCondLst>
                                  <p:childTnLst>
                                    <p:set>
                                      <p:cBhvr>
                                        <p:cTn dur="1" fill="hold">
                                          <p:stCondLst>
                                            <p:cond delay="0"/>
                                          </p:stCondLst>
                                        </p:cTn>
                                        <p:tgtEl>
                                          <p:spTgt spid="39"/>
                                        </p:tgtEl>
                                        <p:attrNameLst>
                                          <p:attrName>style.visibility</p:attrName>
                                        </p:attrNameLst>
                                      </p:cBhvr>
                                      <p:to>
                                        <p:strVal val="visible"/>
                                      </p:to>
                                    </p:set>
                                    <p:animEffect filter="fade" transition="in">
                                      <p:cBhvr>
                                        <p:cTn dur="700"/>
                                        <p:tgtEl>
                                          <p:spTgt spid="39"/>
                                        </p:tgtEl>
                                      </p:cBhvr>
                                    </p:animEffect>
                                  </p:childTnLst>
                                </p:cTn>
                              </p:par>
                              <p:par>
                                <p:cTn fill="hold" nodeType="withEffect" presetClass="entr" presetID="10" presetSubtype="0">
                                  <p:stCondLst>
                                    <p:cond delay="0"/>
                                  </p:stCondLst>
                                  <p:childTnLst>
                                    <p:set>
                                      <p:cBhvr>
                                        <p:cTn dur="1" fill="hold">
                                          <p:stCondLst>
                                            <p:cond delay="0"/>
                                          </p:stCondLst>
                                        </p:cTn>
                                        <p:tgtEl>
                                          <p:spTgt spid="40"/>
                                        </p:tgtEl>
                                        <p:attrNameLst>
                                          <p:attrName>style.visibility</p:attrName>
                                        </p:attrNameLst>
                                      </p:cBhvr>
                                      <p:to>
                                        <p:strVal val="visible"/>
                                      </p:to>
                                    </p:set>
                                    <p:animEffect filter="fade" transition="in">
                                      <p:cBhvr>
                                        <p:cTn dur="700"/>
                                        <p:tgtEl>
                                          <p:spTgt spid="40"/>
                                        </p:tgtEl>
                                      </p:cBhvr>
                                    </p:animEffect>
                                  </p:childTnLst>
                                </p:cTn>
                              </p:par>
                              <p:par>
                                <p:cTn fill="hold" nodeType="withEffect" presetClass="entr" presetID="10" presetSubtype="0">
                                  <p:stCondLst>
                                    <p:cond delay="0"/>
                                  </p:stCondLst>
                                  <p:childTnLst>
                                    <p:set>
                                      <p:cBhvr>
                                        <p:cTn dur="1" fill="hold">
                                          <p:stCondLst>
                                            <p:cond delay="0"/>
                                          </p:stCondLst>
                                        </p:cTn>
                                        <p:tgtEl>
                                          <p:spTgt spid="43"/>
                                        </p:tgtEl>
                                        <p:attrNameLst>
                                          <p:attrName>style.visibility</p:attrName>
                                        </p:attrNameLst>
                                      </p:cBhvr>
                                      <p:to>
                                        <p:strVal val="visible"/>
                                      </p:to>
                                    </p:set>
                                    <p:animEffect filter="fade" transition="in">
                                      <p:cBhvr>
                                        <p:cTn dur="700"/>
                                        <p:tgtEl>
                                          <p:spTgt spid="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2"/>
          <p:cNvSpPr txBox="1"/>
          <p:nvPr>
            <p:ph idx="1" type="body"/>
          </p:nvPr>
        </p:nvSpPr>
        <p:spPr>
          <a:xfrm>
            <a:off x="457200" y="177800"/>
            <a:ext cx="11247120" cy="20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2"/>
              </a:buClr>
              <a:buSzPts val="1100"/>
              <a:buNone/>
            </a:pPr>
            <a:r>
              <a:rPr b="1" lang="en-US" sz="1100">
                <a:solidFill>
                  <a:schemeClr val="accent2"/>
                </a:solidFill>
              </a:rPr>
              <a:t>POKOK BAHASAN 1 KEWENANGAN DAN KOORDINASI  ·  </a:t>
            </a:r>
            <a:r>
              <a:rPr lang="en-US"/>
              <a:t>DATA PERKARA BHP MEDAN</a:t>
            </a:r>
            <a:endParaRPr sz="1100"/>
          </a:p>
        </p:txBody>
      </p:sp>
      <p:sp>
        <p:nvSpPr>
          <p:cNvPr id="81" name="Google Shape;81;p2"/>
          <p:cNvSpPr txBox="1"/>
          <p:nvPr>
            <p:ph type="title"/>
          </p:nvPr>
        </p:nvSpPr>
        <p:spPr>
          <a:xfrm>
            <a:off x="457200" y="355600"/>
            <a:ext cx="11247120" cy="48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800"/>
              <a:buFont typeface="Cambria"/>
              <a:buNone/>
            </a:pPr>
            <a:r>
              <a:rPr b="1" lang="en-US" sz="2800">
                <a:solidFill>
                  <a:schemeClr val="accent1"/>
                </a:solidFill>
                <a:latin typeface="Cambria"/>
                <a:ea typeface="Cambria"/>
                <a:cs typeface="Cambria"/>
                <a:sym typeface="Cambria"/>
              </a:rPr>
              <a:t>Perkara Kepailitan</a:t>
            </a:r>
            <a:r>
              <a:rPr lang="en-US"/>
              <a:t> </a:t>
            </a:r>
            <a:r>
              <a:rPr b="1" lang="en-US" sz="2800">
                <a:solidFill>
                  <a:schemeClr val="accent1"/>
                </a:solidFill>
                <a:latin typeface="Cambria"/>
                <a:ea typeface="Cambria"/>
                <a:cs typeface="Cambria"/>
                <a:sym typeface="Cambria"/>
              </a:rPr>
              <a:t>BHP Medan</a:t>
            </a:r>
            <a:endParaRPr sz="2800"/>
          </a:p>
        </p:txBody>
      </p:sp>
      <p:sp>
        <p:nvSpPr>
          <p:cNvPr id="82" name="Google Shape;82;p2">
            <a:hlinkClick r:id="rId3"/>
          </p:cNvPr>
          <p:cNvSpPr/>
          <p:nvPr/>
        </p:nvSpPr>
        <p:spPr>
          <a:xfrm>
            <a:off x="9189720" y="100584"/>
            <a:ext cx="2615184" cy="566928"/>
          </a:xfrm>
          <a:prstGeom prst="roundRect">
            <a:avLst>
              <a:gd fmla="val 50000" name="adj"/>
            </a:avLst>
          </a:prstGeom>
          <a:solidFill>
            <a:srgbClr val="C9A24A">
              <a:alpha val="20000"/>
            </a:srgbClr>
          </a:solidFill>
          <a:ln cap="flat" cmpd="sng" w="22225">
            <a:solidFill>
              <a:srgbClr val="C9A24A">
                <a:alpha val="7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2">
            <a:hlinkClick r:id="rId4"/>
          </p:cNvPr>
          <p:cNvSpPr/>
          <p:nvPr/>
        </p:nvSpPr>
        <p:spPr>
          <a:xfrm>
            <a:off x="9262872" y="155448"/>
            <a:ext cx="2468880" cy="457200"/>
          </a:xfrm>
          <a:prstGeom prst="roundRect">
            <a:avLst>
              <a:gd fmla="val 50000" name="adj"/>
            </a:avLst>
          </a:prstGeom>
          <a:solidFill>
            <a:srgbClr val="C9A24A"/>
          </a:solidFill>
          <a:ln cap="flat" cmpd="sng" w="19050">
            <a:solidFill>
              <a:srgbClr val="FFFFFF"/>
            </a:solidFill>
            <a:prstDash val="solid"/>
            <a:round/>
            <a:headEnd len="sm" w="sm" type="none"/>
            <a:tailEnd len="sm" w="sm" type="none"/>
          </a:ln>
          <a:effectLst>
            <a:outerShdw blurRad="127000" rotWithShape="0" algn="bl" dir="5400000" dist="25400">
              <a:srgbClr val="7A1F2B">
                <a:alpha val="5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2">
            <a:hlinkClick r:id="rId5"/>
          </p:cNvPr>
          <p:cNvSpPr/>
          <p:nvPr/>
        </p:nvSpPr>
        <p:spPr>
          <a:xfrm>
            <a:off x="9317736" y="201168"/>
            <a:ext cx="365760" cy="365760"/>
          </a:xfrm>
          <a:prstGeom prst="ellipse">
            <a:avLst/>
          </a:prstGeom>
          <a:solidFill>
            <a:srgbClr val="7A1F2B"/>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5" name="Google Shape;85;p2">
            <a:hlinkClick r:id="rId6"/>
          </p:cNvPr>
          <p:cNvPicPr preferRelativeResize="0"/>
          <p:nvPr/>
        </p:nvPicPr>
        <p:blipFill rotWithShape="1">
          <a:blip r:embed="rId7">
            <a:alphaModFix/>
          </a:blip>
          <a:srcRect b="0" l="0" r="0" t="0"/>
          <a:stretch/>
        </p:blipFill>
        <p:spPr>
          <a:xfrm>
            <a:off x="9400032" y="283464"/>
            <a:ext cx="201168" cy="201168"/>
          </a:xfrm>
          <a:prstGeom prst="rect">
            <a:avLst/>
          </a:prstGeom>
          <a:noFill/>
          <a:ln>
            <a:noFill/>
          </a:ln>
        </p:spPr>
      </p:pic>
      <p:sp>
        <p:nvSpPr>
          <p:cNvPr id="86" name="Google Shape;86;p2">
            <a:hlinkClick r:id="rId8"/>
          </p:cNvPr>
          <p:cNvSpPr txBox="1"/>
          <p:nvPr/>
        </p:nvSpPr>
        <p:spPr>
          <a:xfrm>
            <a:off x="9747504" y="173736"/>
            <a:ext cx="193852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F2B"/>
              </a:buClr>
              <a:buSzPts val="1100"/>
              <a:buFont typeface="Calibri"/>
              <a:buNone/>
            </a:pPr>
            <a:r>
              <a:rPr b="1" lang="en-US" sz="1100">
                <a:solidFill>
                  <a:srgbClr val="7A1F2B"/>
                </a:solidFill>
                <a:latin typeface="Calibri"/>
                <a:ea typeface="Calibri"/>
                <a:cs typeface="Calibri"/>
                <a:sym typeface="Calibri"/>
              </a:rPr>
              <a:t>LIHAT DATA INTERAKTIF</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4E1219"/>
              </a:buClr>
              <a:buSzPts val="850"/>
              <a:buFont typeface="Calibri"/>
              <a:buNone/>
            </a:pPr>
            <a:r>
              <a:rPr i="1" lang="en-US" sz="850">
                <a:solidFill>
                  <a:srgbClr val="4E1219"/>
                </a:solidFill>
                <a:latin typeface="Calibri"/>
                <a:ea typeface="Calibri"/>
                <a:cs typeface="Calibri"/>
                <a:sym typeface="Calibri"/>
              </a:rPr>
              <a:t>grafik bergerak  ›</a:t>
            </a:r>
            <a:endParaRPr sz="1100">
              <a:solidFill>
                <a:schemeClr val="dk1"/>
              </a:solidFill>
              <a:latin typeface="Calibri"/>
              <a:ea typeface="Calibri"/>
              <a:cs typeface="Calibri"/>
              <a:sym typeface="Calibri"/>
            </a:endParaRPr>
          </a:p>
        </p:txBody>
      </p:sp>
      <p:sp>
        <p:nvSpPr>
          <p:cNvPr id="87" name="Google Shape;87;p2">
            <a:hlinkClick r:id="rId9"/>
          </p:cNvPr>
          <p:cNvSpPr txBox="1"/>
          <p:nvPr/>
        </p:nvSpPr>
        <p:spPr>
          <a:xfrm>
            <a:off x="9400032" y="660400"/>
            <a:ext cx="2398268" cy="355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1F2B"/>
              </a:buClr>
              <a:buSzPts val="900"/>
              <a:buFont typeface="Calibri"/>
              <a:buNone/>
            </a:pPr>
            <a:r>
              <a:rPr b="1" lang="en-US" sz="900">
                <a:solidFill>
                  <a:srgbClr val="7A1F2B"/>
                </a:solidFill>
                <a:latin typeface="Calibri"/>
                <a:ea typeface="Calibri"/>
                <a:cs typeface="Calibri"/>
                <a:sym typeface="Calibri"/>
              </a:rPr>
              <a:t>Arahkan kursor ke tombol ini</a:t>
            </a:r>
            <a:r>
              <a:rPr lang="en-US" sz="900">
                <a:solidFill>
                  <a:srgbClr val="555555"/>
                </a:solidFill>
                <a:latin typeface="Calibri"/>
                <a:ea typeface="Calibri"/>
                <a:cs typeface="Calibri"/>
                <a:sym typeface="Calibri"/>
              </a:rPr>
              <a:t> untuk membuka grafik perkara BHP Medan.</a:t>
            </a:r>
            <a:endParaRPr sz="1000">
              <a:solidFill>
                <a:schemeClr val="dk1"/>
              </a:solidFill>
              <a:latin typeface="Calibri"/>
              <a:ea typeface="Calibri"/>
              <a:cs typeface="Calibri"/>
              <a:sym typeface="Calibri"/>
            </a:endParaRPr>
          </a:p>
        </p:txBody>
      </p:sp>
      <p:sp>
        <p:nvSpPr>
          <p:cNvPr id="88" name="Google Shape;88;p2"/>
          <p:cNvSpPr txBox="1"/>
          <p:nvPr>
            <p:ph idx="4294967295" type="sldNum"/>
          </p:nvPr>
        </p:nvSpPr>
        <p:spPr>
          <a:xfrm>
            <a:off x="11338560" y="6473952"/>
            <a:ext cx="411480" cy="2560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900">
                <a:solidFill>
                  <a:srgbClr val="8C8C8C"/>
                </a:solidFill>
                <a:latin typeface="Calibri"/>
                <a:ea typeface="Calibri"/>
                <a:cs typeface="Calibri"/>
                <a:sym typeface="Calibri"/>
              </a:rPr>
              <a:t>‹#›</a:t>
            </a:fld>
            <a:endParaRPr sz="900">
              <a:solidFill>
                <a:srgbClr val="8C8C8C"/>
              </a:solidFill>
              <a:latin typeface="Calibri"/>
              <a:ea typeface="Calibri"/>
              <a:cs typeface="Calibri"/>
              <a:sym typeface="Calibri"/>
            </a:endParaRPr>
          </a:p>
        </p:txBody>
      </p:sp>
      <p:graphicFrame>
        <p:nvGraphicFramePr>
          <p:cNvPr id="89" name="Google Shape;89;p2"/>
          <p:cNvGraphicFramePr/>
          <p:nvPr/>
        </p:nvGraphicFramePr>
        <p:xfrm>
          <a:off x="457200" y="2032000"/>
          <a:ext cx="3000000" cy="3000000"/>
        </p:xfrm>
        <a:graphic>
          <a:graphicData uri="http://schemas.openxmlformats.org/drawingml/2006/table">
            <a:tbl>
              <a:tblPr>
                <a:noFill/>
                <a:tableStyleId>{3C236144-A4EE-4B44-B41C-F018C5874E7C}</a:tableStyleId>
              </a:tblPr>
              <a:tblGrid>
                <a:gridCol w="431800"/>
                <a:gridCol w="3683000"/>
                <a:gridCol w="4241800"/>
                <a:gridCol w="2921000"/>
              </a:tblGrid>
              <a:tr h="203200">
                <a:tc>
                  <a:txBody>
                    <a:bodyPr/>
                    <a:lstStyle/>
                    <a:p>
                      <a:pPr indent="0" lvl="0" marL="0" marR="0" rtl="0" algn="ctr">
                        <a:lnSpc>
                          <a:spcPct val="80000"/>
                        </a:lnSpc>
                        <a:spcBef>
                          <a:spcPts val="0"/>
                        </a:spcBef>
                        <a:spcAft>
                          <a:spcPts val="0"/>
                        </a:spcAft>
                        <a:buNone/>
                      </a:pPr>
                      <a:r>
                        <a:rPr b="1" lang="en-US" u="none" cap="none" strike="noStrike">
                          <a:solidFill>
                            <a:schemeClr val="accent1"/>
                          </a:solidFill>
                        </a:rPr>
                        <a:t>No</a:t>
                      </a:r>
                      <a:endParaRPr u="none" cap="none" strike="noStrike"/>
                    </a:p>
                  </a:txBody>
                  <a:tcPr marT="0" marB="38100" marR="68575" marL="685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b="1" lang="en-US" u="none" cap="none" strike="noStrike">
                          <a:solidFill>
                            <a:schemeClr val="accent1"/>
                          </a:solidFill>
                        </a:rPr>
                        <a:t>Nomor perkara dan tanggal putusan pailit</a:t>
                      </a:r>
                      <a:endParaRPr u="none" cap="none" strike="noStrike"/>
                    </a:p>
                  </a:txBody>
                  <a:tcPr marT="0" marB="38100" marR="68575" marL="685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b="1" lang="en-US" u="none" cap="none" strike="noStrike">
                          <a:solidFill>
                            <a:schemeClr val="accent1"/>
                          </a:solidFill>
                        </a:rPr>
                        <a:t>Debitor dan domisili</a:t>
                      </a:r>
                      <a:endParaRPr u="none" cap="none" strike="noStrike"/>
                    </a:p>
                  </a:txBody>
                  <a:tcPr marT="0" marB="38100" marR="68575" marL="685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b="1" lang="en-US" u="none" cap="none" strike="noStrike">
                          <a:solidFill>
                            <a:schemeClr val="accent1"/>
                          </a:solidFill>
                        </a:rPr>
                        <a:t>Pemohon Pailit</a:t>
                      </a:r>
                      <a:endParaRPr u="none" cap="none" strike="noStrike"/>
                    </a:p>
                  </a:txBody>
                  <a:tcPr marT="0" marB="38100" marR="68575" marL="685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chemeClr val="accent1"/>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1.</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2/Pdt.Sus-Pailit/2016/PN Niaga Mdn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17 Februari 2016</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Gwe Tjoen alias Atman Wiratman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Binjai, Sumatera Utara</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Debitor sendiri</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D9D9D9"/>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2.</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01/Pdt.Sus-Pailit/2017/PN Niaga Mdn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25 April 2017</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Muhammad Arifin Hasibuan (CV Hitado)</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Medan, Sumatera Utara</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Muhammad Arifin Nasution</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3.</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2/Pdt.Sus-Pailit/2018/PN Niaga Mdn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28 Juni 2018</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PT Pro Mekanika Indonusa</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Medan, Sumatera Utara</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PT Trimurti Perkasa dan Hotmaulin Simare Mare</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4.</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7/Pdt.Sus-Pailit/2018/PN Niaga Mdn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20 Desember 2018</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Badaruddin HSB bin Multen Hasibuan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Aceh Singkil, Aceh</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Debitor sendiri</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5.</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8/Pdt.Sus-Pailit/2019/PN Niaga Mdn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8 November 2019</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Suparjo Rustam</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Medan, Sumatera Utara</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Debitor sendiri</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6.</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2/Pdt.Sus-Pailit/2020/PN Niaga Mdn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12 Maret 2020</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PT Rimba Cipta Niaga (Direktur Hermanto)</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Medan, Sumatera Utara</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Debitor sendiri</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7.</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33/Pdt.Sus-PKPU/2022/PN Niaga Mdn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10 April 2023</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PT Rata Makmur</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Medan dan Langkat, Sumatera Utara</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Samin K dan kawan-kawan (eks pekerja)</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8.</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6/Pdt.Sus-Pailit/2023/PN Niaga Mdn jo. 1123 K/Pdt.Sus-Pailit/2023</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17 Oktober 2023</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KSO PT Maju Abadi Jaya Utama dan PT Kurnia Putra Maduma</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Medan, Sumatera Utara</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Koperasi Yantek Maju Bersama dan kawan-kawan</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200">
                <a:tc>
                  <a:txBody>
                    <a:bodyPr/>
                    <a:lstStyle/>
                    <a:p>
                      <a:pPr indent="0" lvl="0" marL="0" marR="0" rtl="0" algn="ctr">
                        <a:lnSpc>
                          <a:spcPct val="80000"/>
                        </a:lnSpc>
                        <a:spcBef>
                          <a:spcPts val="0"/>
                        </a:spcBef>
                        <a:spcAft>
                          <a:spcPts val="0"/>
                        </a:spcAft>
                        <a:buNone/>
                      </a:pPr>
                      <a:r>
                        <a:rPr lang="en-US" sz="1600" u="none" cap="none" strike="noStrike">
                          <a:solidFill>
                            <a:srgbClr val="262626"/>
                          </a:solidFill>
                        </a:rPr>
                        <a:t>9.</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12/Pdt.Sus-Pailit/2025/PN Niaga Mdn</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11 Desember 2025</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Frans Winner</a:t>
                      </a:r>
                      <a:endParaRPr sz="1600" u="none" cap="none" strike="noStrike"/>
                    </a:p>
                    <a:p>
                      <a:pPr indent="0" lvl="0" marL="0" marR="0" rtl="0" algn="l">
                        <a:lnSpc>
                          <a:spcPct val="80000"/>
                        </a:lnSpc>
                        <a:spcBef>
                          <a:spcPts val="0"/>
                        </a:spcBef>
                        <a:spcAft>
                          <a:spcPts val="0"/>
                        </a:spcAft>
                        <a:buNone/>
                      </a:pPr>
                      <a:r>
                        <a:rPr lang="en-US" sz="1250" u="none" cap="none" strike="noStrike">
                          <a:solidFill>
                            <a:srgbClr val="6B6B6B"/>
                          </a:solidFill>
                        </a:rPr>
                        <a:t>Medan, Sumatera Utara</a:t>
                      </a:r>
                      <a:endParaRPr sz="125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80000"/>
                        </a:lnSpc>
                        <a:spcBef>
                          <a:spcPts val="0"/>
                        </a:spcBef>
                        <a:spcAft>
                          <a:spcPts val="0"/>
                        </a:spcAft>
                        <a:buNone/>
                      </a:pPr>
                      <a:r>
                        <a:rPr lang="en-US" sz="1600" u="none" cap="none" strike="noStrike">
                          <a:solidFill>
                            <a:srgbClr val="262626"/>
                          </a:solidFill>
                        </a:rPr>
                        <a:t>Salim Hadi Saputra dan Maratur P. Siregar</a:t>
                      </a:r>
                      <a:endParaRPr sz="1600" u="none" cap="none" strike="noStrike"/>
                    </a:p>
                  </a:txBody>
                  <a:tcPr marT="9525" marB="95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12700">
                      <a:solidFill>
                        <a:schemeClr val="accent1"/>
                      </a:solidFill>
                      <a:prstDash val="solid"/>
                      <a:round/>
                      <a:headEnd len="sm" w="sm" type="none"/>
                      <a:tailEnd len="sm" w="sm" type="none"/>
                    </a:lnB>
                  </a:tcPr>
                </a:tc>
              </a:tr>
            </a:tbl>
          </a:graphicData>
        </a:graphic>
      </p:graphicFrame>
      <p:grpSp>
        <p:nvGrpSpPr>
          <p:cNvPr id="90" name="Google Shape;90;p2"/>
          <p:cNvGrpSpPr/>
          <p:nvPr/>
        </p:nvGrpSpPr>
        <p:grpSpPr>
          <a:xfrm>
            <a:off x="457200" y="1066800"/>
            <a:ext cx="11277600" cy="863600"/>
            <a:chOff x="457200" y="1066800"/>
            <a:chExt cx="11277600" cy="863600"/>
          </a:xfrm>
        </p:grpSpPr>
        <p:sp>
          <p:nvSpPr>
            <p:cNvPr id="91" name="Google Shape;91;p2"/>
            <p:cNvSpPr/>
            <p:nvPr/>
          </p:nvSpPr>
          <p:spPr>
            <a:xfrm>
              <a:off x="457200" y="1066800"/>
              <a:ext cx="11277600" cy="863600"/>
            </a:xfrm>
            <a:prstGeom prst="roundRect">
              <a:avLst>
                <a:gd fmla="val 9091" name="adj"/>
              </a:avLst>
            </a:prstGeom>
            <a:solidFill>
              <a:srgbClr val="7A1F2B"/>
            </a:solidFill>
            <a:ln cap="flat" cmpd="sng" w="12700">
              <a:solidFill>
                <a:srgbClr val="7A1F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2"/>
            <p:cNvSpPr txBox="1"/>
            <p:nvPr/>
          </p:nvSpPr>
          <p:spPr>
            <a:xfrm>
              <a:off x="660400" y="1066800"/>
              <a:ext cx="1422400" cy="86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B80"/>
                </a:buClr>
                <a:buSzPts val="1200"/>
                <a:buFont typeface="Calibri"/>
                <a:buNone/>
              </a:pPr>
              <a:r>
                <a:rPr b="1" lang="en-US" sz="1200">
                  <a:solidFill>
                    <a:srgbClr val="E8CB80"/>
                  </a:solidFill>
                  <a:latin typeface="Calibri"/>
                  <a:ea typeface="Calibri"/>
                  <a:cs typeface="Calibri"/>
                  <a:sym typeface="Calibri"/>
                </a:rPr>
                <a:t>PERKARA</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E8CB80"/>
                </a:buClr>
                <a:buSzPts val="1200"/>
                <a:buFont typeface="Calibri"/>
                <a:buNone/>
              </a:pPr>
              <a:r>
                <a:rPr b="1" lang="en-US" sz="1200">
                  <a:solidFill>
                    <a:srgbClr val="E8CB80"/>
                  </a:solidFill>
                  <a:latin typeface="Calibri"/>
                  <a:ea typeface="Calibri"/>
                  <a:cs typeface="Calibri"/>
                  <a:sym typeface="Calibri"/>
                </a:rPr>
                <a:t>BHP MEDAN</a:t>
              </a:r>
              <a:endParaRPr sz="1200">
                <a:solidFill>
                  <a:schemeClr val="dk1"/>
                </a:solidFill>
                <a:latin typeface="Calibri"/>
                <a:ea typeface="Calibri"/>
                <a:cs typeface="Calibri"/>
                <a:sym typeface="Calibri"/>
              </a:endParaRPr>
            </a:p>
          </p:txBody>
        </p:sp>
        <p:sp>
          <p:nvSpPr>
            <p:cNvPr id="93" name="Google Shape;93;p2"/>
            <p:cNvSpPr txBox="1"/>
            <p:nvPr/>
          </p:nvSpPr>
          <p:spPr>
            <a:xfrm>
              <a:off x="2235200" y="1130300"/>
              <a:ext cx="2209800" cy="381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C9A24A"/>
                </a:buClr>
                <a:buSzPts val="2600"/>
                <a:buFont typeface="Cambria"/>
                <a:buNone/>
              </a:pPr>
              <a:r>
                <a:rPr b="1" lang="en-US" sz="2600">
                  <a:solidFill>
                    <a:srgbClr val="C9A24A"/>
                  </a:solidFill>
                  <a:latin typeface="Cambria"/>
                  <a:ea typeface="Cambria"/>
                  <a:cs typeface="Cambria"/>
                  <a:sym typeface="Cambria"/>
                </a:rPr>
                <a:t>9</a:t>
              </a:r>
              <a:endParaRPr sz="2600">
                <a:solidFill>
                  <a:schemeClr val="dk1"/>
                </a:solidFill>
                <a:latin typeface="Calibri"/>
                <a:ea typeface="Calibri"/>
                <a:cs typeface="Calibri"/>
                <a:sym typeface="Calibri"/>
              </a:endParaRPr>
            </a:p>
          </p:txBody>
        </p:sp>
        <p:sp>
          <p:nvSpPr>
            <p:cNvPr id="94" name="Google Shape;94;p2"/>
            <p:cNvSpPr txBox="1"/>
            <p:nvPr/>
          </p:nvSpPr>
          <p:spPr>
            <a:xfrm>
              <a:off x="2235200" y="1511300"/>
              <a:ext cx="2209800" cy="38100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perkara berjalan (termasuk putusan sebelum 2023)</a:t>
              </a:r>
              <a:endParaRPr sz="1200">
                <a:solidFill>
                  <a:schemeClr val="dk1"/>
                </a:solidFill>
                <a:latin typeface="Calibri"/>
                <a:ea typeface="Calibri"/>
                <a:cs typeface="Calibri"/>
                <a:sym typeface="Calibri"/>
              </a:endParaRPr>
            </a:p>
          </p:txBody>
        </p:sp>
        <p:sp>
          <p:nvSpPr>
            <p:cNvPr id="95" name="Google Shape;95;p2"/>
            <p:cNvSpPr txBox="1"/>
            <p:nvPr/>
          </p:nvSpPr>
          <p:spPr>
            <a:xfrm>
              <a:off x="4572000" y="1130300"/>
              <a:ext cx="2209800" cy="381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C9A24A"/>
                </a:buClr>
                <a:buSzPts val="2600"/>
                <a:buFont typeface="Cambria"/>
                <a:buNone/>
              </a:pPr>
              <a:r>
                <a:rPr b="1" lang="en-US" sz="2600">
                  <a:solidFill>
                    <a:srgbClr val="C9A24A"/>
                  </a:solidFill>
                  <a:latin typeface="Cambria"/>
                  <a:ea typeface="Cambria"/>
                  <a:cs typeface="Cambria"/>
                  <a:sym typeface="Cambria"/>
                </a:rPr>
                <a:t>Rp47,35 M</a:t>
              </a:r>
              <a:endParaRPr sz="2600">
                <a:solidFill>
                  <a:schemeClr val="dk1"/>
                </a:solidFill>
                <a:latin typeface="Calibri"/>
                <a:ea typeface="Calibri"/>
                <a:cs typeface="Calibri"/>
                <a:sym typeface="Calibri"/>
              </a:endParaRPr>
            </a:p>
          </p:txBody>
        </p:sp>
        <p:sp>
          <p:nvSpPr>
            <p:cNvPr id="96" name="Google Shape;96;p2"/>
            <p:cNvSpPr txBox="1"/>
            <p:nvPr/>
          </p:nvSpPr>
          <p:spPr>
            <a:xfrm>
              <a:off x="4572000" y="1511300"/>
              <a:ext cx="2209800" cy="38100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total tagihan kreditor</a:t>
              </a:r>
              <a:endParaRPr sz="1200">
                <a:solidFill>
                  <a:schemeClr val="dk1"/>
                </a:solidFill>
                <a:latin typeface="Calibri"/>
                <a:ea typeface="Calibri"/>
                <a:cs typeface="Calibri"/>
                <a:sym typeface="Calibri"/>
              </a:endParaRPr>
            </a:p>
          </p:txBody>
        </p:sp>
        <p:sp>
          <p:nvSpPr>
            <p:cNvPr id="97" name="Google Shape;97;p2"/>
            <p:cNvSpPr txBox="1"/>
            <p:nvPr/>
          </p:nvSpPr>
          <p:spPr>
            <a:xfrm>
              <a:off x="6908800" y="1130300"/>
              <a:ext cx="2209800" cy="381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C9A24A"/>
                </a:buClr>
                <a:buSzPts val="2600"/>
                <a:buFont typeface="Cambria"/>
                <a:buNone/>
              </a:pPr>
              <a:r>
                <a:rPr lang="en-US" sz="2600">
                  <a:solidFill>
                    <a:srgbClr val="C9A24A"/>
                  </a:solidFill>
                  <a:latin typeface="Cambria"/>
                  <a:ea typeface="Cambria"/>
                  <a:cs typeface="Cambria"/>
                  <a:sym typeface="Cambria"/>
                </a:rPr>
                <a:t>3 dari 26</a:t>
              </a:r>
              <a:endParaRPr sz="2600">
                <a:solidFill>
                  <a:schemeClr val="dk1"/>
                </a:solidFill>
                <a:latin typeface="Calibri"/>
                <a:ea typeface="Calibri"/>
                <a:cs typeface="Calibri"/>
                <a:sym typeface="Calibri"/>
              </a:endParaRPr>
            </a:p>
          </p:txBody>
        </p:sp>
        <p:sp>
          <p:nvSpPr>
            <p:cNvPr id="98" name="Google Shape;98;p2"/>
            <p:cNvSpPr txBox="1"/>
            <p:nvPr/>
          </p:nvSpPr>
          <p:spPr>
            <a:xfrm>
              <a:off x="6908800" y="1511300"/>
              <a:ext cx="2209800" cy="38100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perkara 2023–2025 lima BHP ditangani BHP Medan</a:t>
              </a:r>
              <a:endParaRPr sz="1200">
                <a:solidFill>
                  <a:schemeClr val="dk1"/>
                </a:solidFill>
                <a:latin typeface="Calibri"/>
                <a:ea typeface="Calibri"/>
                <a:cs typeface="Calibri"/>
                <a:sym typeface="Calibri"/>
              </a:endParaRPr>
            </a:p>
          </p:txBody>
        </p:sp>
        <p:sp>
          <p:nvSpPr>
            <p:cNvPr id="99" name="Google Shape;99;p2"/>
            <p:cNvSpPr txBox="1"/>
            <p:nvPr/>
          </p:nvSpPr>
          <p:spPr>
            <a:xfrm>
              <a:off x="9245600" y="1130300"/>
              <a:ext cx="2209800" cy="381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C9A24A"/>
                </a:buClr>
                <a:buSzPts val="2600"/>
                <a:buFont typeface="Cambria"/>
                <a:buNone/>
              </a:pPr>
              <a:r>
                <a:rPr lang="en-US" sz="2600">
                  <a:solidFill>
                    <a:srgbClr val="C9A24A"/>
                  </a:solidFill>
                  <a:latin typeface="Cambria"/>
                  <a:ea typeface="Cambria"/>
                  <a:cs typeface="Cambria"/>
                  <a:sym typeface="Cambria"/>
                </a:rPr>
                <a:t>1 dari 16</a:t>
              </a:r>
              <a:endParaRPr sz="2600">
                <a:solidFill>
                  <a:schemeClr val="dk1"/>
                </a:solidFill>
                <a:latin typeface="Calibri"/>
                <a:ea typeface="Calibri"/>
                <a:cs typeface="Calibri"/>
                <a:sym typeface="Calibri"/>
              </a:endParaRPr>
            </a:p>
          </p:txBody>
        </p:sp>
        <p:sp>
          <p:nvSpPr>
            <p:cNvPr id="100" name="Google Shape;100;p2"/>
            <p:cNvSpPr txBox="1"/>
            <p:nvPr/>
          </p:nvSpPr>
          <p:spPr>
            <a:xfrm>
              <a:off x="9245600" y="1511300"/>
              <a:ext cx="2209800" cy="38100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putusan pailit 2025–2026 menunjuk BHP Medan</a:t>
              </a:r>
              <a:endParaRPr sz="12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800"/>
                                        <p:tgtEl>
                                          <p:spTgt spid="90"/>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8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HP Medan Maroon">
  <a:themeElements>
    <a:clrScheme name="BHP Medan Maroon">
      <a:dk1>
        <a:srgbClr val="2B2B2B"/>
      </a:dk1>
      <a:lt1>
        <a:srgbClr val="FFFFFF"/>
      </a:lt1>
      <a:dk2>
        <a:srgbClr val="5A1420"/>
      </a:dk2>
      <a:lt2>
        <a:srgbClr val="F4F4F6"/>
      </a:lt2>
      <a:accent1>
        <a:srgbClr val="7A1F2B"/>
      </a:accent1>
      <a:accent2>
        <a:srgbClr val="C9A24A"/>
      </a:accent2>
      <a:accent3>
        <a:srgbClr val="4E1219"/>
      </a:accent3>
      <a:accent4>
        <a:srgbClr val="8C8C8C"/>
      </a:accent4>
      <a:accent5>
        <a:srgbClr val="E9D9B0"/>
      </a:accent5>
      <a:accent6>
        <a:srgbClr val="3F5E7A"/>
      </a:accent6>
      <a:hlink>
        <a:srgbClr val="7A1F2B"/>
      </a:hlink>
      <a:folHlink>
        <a:srgbClr val="4E121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2026-10-02T23:24:55Z</dcterms:created>
  <dc:creator>BHP Medan</dc:creator>
</cp:coreProperties>
</file>