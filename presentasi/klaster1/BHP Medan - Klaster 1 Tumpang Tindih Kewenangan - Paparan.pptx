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masalah (kurator tidak hanya orang perseorangan), empat sikap BHP Medan, bukti dari sembilan perkara yang sedang berjalan, dan jawaban atas tiga pertanyaan Klaster 1. Naskah lengkap pada berkas Narasi.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empat usulan pasal (A kedudukan BHP, B pembagian peran, C standar dan pembinaan, D koordinasi dan penugasan bersama) dan catatan untuk RUU Kepailitan dan PKPU.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14284B"/>
          </a:solidFill>
          <a:ln w="12700">
            <a:solidFill>
              <a:srgbClr val="14284B"/>
            </a:solidFill>
            <a:prstDash val="solid"/>
          </a:ln>
        </p:spPr>
      </p:sp>
      <p:sp>
        <p:nvSpPr>
          <p:cNvPr id="3" name="Shape 1"/>
          <p:cNvSpPr/>
          <p:nvPr/>
        </p:nvSpPr>
        <p:spPr>
          <a:xfrm>
            <a:off x="0" y="960120"/>
            <a:ext cx="12191695" cy="45720"/>
          </a:xfrm>
          <a:prstGeom prst="rect">
            <a:avLst/>
          </a:prstGeom>
          <a:solidFill>
            <a:srgbClr val="E0A526"/>
          </a:solidFill>
          <a:ln w="12700">
            <a:solidFill>
              <a:srgbClr val="E0A526"/>
            </a:solidFill>
            <a:prstDash val="solid"/>
          </a:ln>
        </p:spPr>
      </p:sp>
      <p:pic>
        <p:nvPicPr>
          <p:cNvPr id="4" name="Image 0" descr="/home/user/SAPAWALI/presentasi/web/logo-pengayoman.png">    </p:cNvPr>
          <p:cNvPicPr>
            <a:picLocks noChangeAspect="1"/>
          </p:cNvPicPr>
          <p:nvPr/>
        </p:nvPicPr>
        <p:blipFill>
          <a:blip r:embed="rId1"/>
          <a:stretch>
            <a:fillRect/>
          </a:stretch>
        </p:blipFill>
        <p:spPr>
          <a:xfrm>
            <a:off x="411480" y="155448"/>
            <a:ext cx="658368" cy="658368"/>
          </a:xfrm>
          <a:prstGeom prst="rect">
            <a:avLst/>
          </a:prstGeom>
        </p:spPr>
      </p:pic>
      <p:pic>
        <p:nvPicPr>
          <p:cNvPr id="5" name="Image 1" descr="/home/user/SAPAWALI/presentasi/web/logo-ahu.png">    </p:cNvPr>
          <p:cNvPicPr>
            <a:picLocks noChangeAspect="1"/>
          </p:cNvPicPr>
          <p:nvPr/>
        </p:nvPicPr>
        <p:blipFill>
          <a:blip r:embed="rId2"/>
          <a:stretch>
            <a:fillRect/>
          </a:stretch>
        </p:blipFill>
        <p:spPr>
          <a:xfrm>
            <a:off x="1161288" y="155448"/>
            <a:ext cx="658368" cy="658368"/>
          </a:xfrm>
          <a:prstGeom prst="rect">
            <a:avLst/>
          </a:prstGeom>
        </p:spPr>
      </p:pic>
      <p:sp>
        <p:nvSpPr>
          <p:cNvPr id="6" name="Text 2"/>
          <p:cNvSpPr txBox="1"/>
          <p:nvPr/>
        </p:nvSpPr>
        <p:spPr>
          <a:xfrm>
            <a:off x="2002536" y="109728"/>
            <a:ext cx="8778240" cy="274320"/>
          </a:xfrm>
          <a:prstGeom prst="rect">
            <a:avLst/>
          </a:prstGeom>
          <a:noFill/>
          <a:ln/>
        </p:spPr>
        <p:txBody>
          <a:bodyPr wrap="square" lIns="0" tIns="0" rIns="0" bIns="0" rtlCol="0" anchor="ctr"/>
          <a:lstStyle/>
          <a:p>
            <a:pPr indent="0" marL="0">
              <a:buNone/>
            </a:pPr>
            <a:r>
              <a:rPr lang="en-US" sz="1050" b="1" spc="150" kern="0" dirty="0">
                <a:solidFill>
                  <a:srgbClr val="E0A526"/>
                </a:solidFill>
                <a:latin typeface="Arial" pitchFamily="34" charset="0"/>
                <a:ea typeface="Arial" pitchFamily="34" charset="-122"/>
                <a:cs typeface="Arial" pitchFamily="34" charset="-120"/>
              </a:rPr>
              <a:t>BALAI HARTA PENINGGALAN MEDAN  ·  RDP KOMISI XIII DPR RI, 6 OKTOBER 2026  ·  RUU TENTANG PROFESI KURATOR</a:t>
            </a:r>
            <a:endParaRPr lang="en-US" sz="1050" dirty="0"/>
          </a:p>
        </p:txBody>
      </p:sp>
      <p:sp>
        <p:nvSpPr>
          <p:cNvPr id="7" name="Text 3"/>
          <p:cNvSpPr txBox="1"/>
          <p:nvPr/>
        </p:nvSpPr>
        <p:spPr>
          <a:xfrm>
            <a:off x="2002536" y="365760"/>
            <a:ext cx="9052560" cy="384048"/>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Tumpang Tindih Kewenangan: Kurator Tidak Hanya Orang Perseorangan</a:t>
            </a:r>
            <a:endParaRPr lang="en-US" sz="2100" dirty="0"/>
          </a:p>
        </p:txBody>
      </p:sp>
      <p:sp>
        <p:nvSpPr>
          <p:cNvPr id="8" name="Text 4"/>
          <p:cNvSpPr txBox="1"/>
          <p:nvPr/>
        </p:nvSpPr>
        <p:spPr>
          <a:xfrm>
            <a:off x="2002536" y="713232"/>
            <a:ext cx="9052560" cy="228600"/>
          </a:xfrm>
          <a:prstGeom prst="rect">
            <a:avLst/>
          </a:prstGeom>
          <a:noFill/>
          <a:ln/>
        </p:spPr>
        <p:txBody>
          <a:bodyPr wrap="square" lIns="0" tIns="0" rIns="0" bIns="0" rtlCol="0" anchor="ctr"/>
          <a:lstStyle/>
          <a:p>
            <a:pPr indent="0" marL="0">
              <a:buNone/>
            </a:pPr>
            <a:r>
              <a:rPr lang="en-US" sz="1150" dirty="0">
                <a:solidFill>
                  <a:srgbClr val="DCE4F2"/>
                </a:solidFill>
                <a:latin typeface="Arial" pitchFamily="34" charset="0"/>
                <a:ea typeface="Arial" pitchFamily="34" charset="-122"/>
                <a:cs typeface="Arial" pitchFamily="34" charset="-120"/>
              </a:rPr>
              <a:t>Masalah, sikap BHP Medan, bukti dari perkara yang sedang berjalan, dan jawaban atas tiga pertanyaan Klaster 1</a:t>
            </a:r>
            <a:endParaRPr lang="en-US" sz="1150" dirty="0"/>
          </a:p>
        </p:txBody>
      </p:sp>
      <p:sp>
        <p:nvSpPr>
          <p:cNvPr id="9" name="Shape 5"/>
          <p:cNvSpPr/>
          <p:nvPr/>
        </p:nvSpPr>
        <p:spPr>
          <a:xfrm>
            <a:off x="9859975" y="201168"/>
            <a:ext cx="1920240" cy="566928"/>
          </a:xfrm>
          <a:prstGeom prst="roundRect">
            <a:avLst>
              <a:gd name="adj" fmla="val 12903"/>
            </a:avLst>
          </a:prstGeom>
          <a:solidFill>
            <a:srgbClr val="E0A526"/>
          </a:solidFill>
          <a:ln w="9525">
            <a:solidFill>
              <a:srgbClr val="E0A526"/>
            </a:solidFill>
            <a:prstDash val="solid"/>
          </a:ln>
        </p:spPr>
      </p:sp>
      <p:sp>
        <p:nvSpPr>
          <p:cNvPr id="10" name="Text 6"/>
          <p:cNvSpPr txBox="1"/>
          <p:nvPr/>
        </p:nvSpPr>
        <p:spPr>
          <a:xfrm>
            <a:off x="9859975" y="201168"/>
            <a:ext cx="1920240" cy="566928"/>
          </a:xfrm>
          <a:prstGeom prst="rect">
            <a:avLst/>
          </a:prstGeom>
          <a:noFill/>
          <a:ln/>
        </p:spPr>
        <p:txBody>
          <a:bodyPr wrap="square" lIns="0" tIns="0" rIns="0" bIns="0" rtlCol="0" anchor="ctr"/>
          <a:lstStyle/>
          <a:p>
            <a:pPr algn="ctr" indent="0" marL="0">
              <a:buNone/>
            </a:pPr>
            <a:r>
              <a:rPr lang="en-US" sz="1000" b="1" spc="200" kern="0" dirty="0">
                <a:solidFill>
                  <a:srgbClr val="14284B"/>
                </a:solidFill>
                <a:latin typeface="Arial" pitchFamily="34" charset="0"/>
                <a:ea typeface="Arial" pitchFamily="34" charset="-122"/>
                <a:cs typeface="Arial" pitchFamily="34" charset="-120"/>
              </a:rPr>
              <a:t>KLASTER 1</a:t>
            </a:r>
            <a:endParaRPr lang="en-US" sz="1000" dirty="0"/>
          </a:p>
          <a:p>
            <a:pPr algn="ctr" indent="0" marL="0">
              <a:buNone/>
            </a:pPr>
            <a:r>
              <a:rPr lang="en-US" sz="1100" b="1" dirty="0">
                <a:solidFill>
                  <a:srgbClr val="14284B"/>
                </a:solidFill>
                <a:latin typeface="Arial" pitchFamily="34" charset="0"/>
                <a:ea typeface="Arial" pitchFamily="34" charset="-122"/>
                <a:cs typeface="Arial" pitchFamily="34" charset="-120"/>
              </a:rPr>
              <a:t>Slide 1 dari 2</a:t>
            </a:r>
            <a:endParaRPr lang="en-US" sz="1000" dirty="0"/>
          </a:p>
        </p:txBody>
      </p:sp>
      <p:sp>
        <p:nvSpPr>
          <p:cNvPr id="11" name="Text 7"/>
          <p:cNvSpPr txBox="1"/>
          <p:nvPr/>
        </p:nvSpPr>
        <p:spPr>
          <a:xfrm>
            <a:off x="411480" y="6556248"/>
            <a:ext cx="11338560" cy="228600"/>
          </a:xfrm>
          <a:prstGeom prst="rect">
            <a:avLst/>
          </a:prstGeom>
          <a:noFill/>
          <a:ln/>
        </p:spPr>
        <p:txBody>
          <a:bodyPr wrap="square" lIns="0" tIns="0" rIns="0" bIns="0" rtlCol="0" anchor="ctr"/>
          <a:lstStyle/>
          <a:p>
            <a:pPr indent="0" marL="0">
              <a:buNone/>
            </a:pPr>
            <a:r>
              <a:rPr lang="en-US" sz="850" dirty="0">
                <a:solidFill>
                  <a:srgbClr val="4A5568"/>
                </a:solidFill>
                <a:latin typeface="Arial" pitchFamily="34" charset="0"/>
                <a:ea typeface="Arial" pitchFamily="34" charset="-122"/>
                <a:cs typeface="Arial" pitchFamily="34" charset="-120"/>
              </a:rPr>
              <a:t>Sumber: Bahan Masukan BHP Medan, Poin 1 Kewenangan dan Pembagian Peran Kurator (Medan, 2 Oktober 2026). Kepala BHP Medan: Syafriadi Lubis, M.H.</a:t>
            </a:r>
            <a:endParaRPr lang="en-US" sz="850" dirty="0"/>
          </a:p>
        </p:txBody>
      </p:sp>
      <p:sp>
        <p:nvSpPr>
          <p:cNvPr id="12" name="Shape 8"/>
          <p:cNvSpPr/>
          <p:nvPr/>
        </p:nvSpPr>
        <p:spPr>
          <a:xfrm>
            <a:off x="411480" y="1188720"/>
            <a:ext cx="2926080" cy="3456432"/>
          </a:xfrm>
          <a:prstGeom prst="roundRect">
            <a:avLst>
              <a:gd name="adj" fmla="val 2500"/>
            </a:avLst>
          </a:prstGeom>
          <a:solidFill>
            <a:srgbClr val="FFFFFF"/>
          </a:solidFill>
          <a:ln w="9525">
            <a:solidFill>
              <a:srgbClr val="C9D3E3"/>
            </a:solidFill>
            <a:prstDash val="solid"/>
          </a:ln>
        </p:spPr>
      </p:sp>
      <p:sp>
        <p:nvSpPr>
          <p:cNvPr id="13" name="Text 9"/>
          <p:cNvSpPr txBox="1"/>
          <p:nvPr/>
        </p:nvSpPr>
        <p:spPr>
          <a:xfrm>
            <a:off x="594360" y="1298448"/>
            <a:ext cx="2560320" cy="237744"/>
          </a:xfrm>
          <a:prstGeom prst="rect">
            <a:avLst/>
          </a:prstGeom>
          <a:noFill/>
          <a:ln/>
        </p:spPr>
        <p:txBody>
          <a:bodyPr wrap="square" lIns="0" tIns="0" rIns="0" bIns="0" rtlCol="0" anchor="ctr"/>
          <a:lstStyle/>
          <a:p>
            <a:pPr indent="0" marL="0">
              <a:buNone/>
            </a:pPr>
            <a:r>
              <a:rPr lang="en-US" sz="950" b="1" spc="150" kern="0" dirty="0">
                <a:solidFill>
                  <a:srgbClr val="8A6100"/>
                </a:solidFill>
                <a:latin typeface="Arial" pitchFamily="34" charset="0"/>
                <a:ea typeface="Arial" pitchFamily="34" charset="-122"/>
                <a:cs typeface="Arial" pitchFamily="34" charset="-120"/>
              </a:rPr>
              <a:t>MASALAH</a:t>
            </a:r>
            <a:endParaRPr lang="en-US" sz="950" dirty="0"/>
          </a:p>
        </p:txBody>
      </p:sp>
      <p:sp>
        <p:nvSpPr>
          <p:cNvPr id="14" name="Text 10"/>
          <p:cNvSpPr txBox="1"/>
          <p:nvPr/>
        </p:nvSpPr>
        <p:spPr>
          <a:xfrm>
            <a:off x="594360" y="1572768"/>
            <a:ext cx="2560320" cy="141732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RUU Profesi Kurator akan mengatur profesi kurator, padahal </a:t>
            </a:r>
            <a:pPr indent="0" marL="0">
              <a:buNone/>
            </a:pPr>
            <a:r>
              <a:rPr lang="en-US" sz="1100" b="1" dirty="0">
                <a:solidFill>
                  <a:srgbClr val="14284B"/>
                </a:solidFill>
                <a:latin typeface="Arial" pitchFamily="34" charset="0"/>
                <a:ea typeface="Arial" pitchFamily="34" charset="-122"/>
                <a:cs typeface="Arial" pitchFamily="34" charset="-120"/>
              </a:rPr>
              <a:t>kurator tidak hanya orang perseorangan. BHP juga menjalankan tugas kurator berdasarkan undang-undang.</a:t>
            </a:r>
            <a:pPr indent="0" marL="0">
              <a:buNone/>
            </a:pPr>
            <a:r>
              <a:rPr lang="en-US" sz="1100" dirty="0">
                <a:solidFill>
                  <a:srgbClr val="1A1A1A"/>
                </a:solidFill>
                <a:latin typeface="Arial" pitchFamily="34" charset="0"/>
                <a:ea typeface="Arial" pitchFamily="34" charset="-122"/>
                <a:cs typeface="Arial" pitchFamily="34" charset="-120"/>
              </a:rPr>
              <a:t> Apabila RUU hanya disusun untuk kurator perorangan, kedudukan BHP menjadi tidak jelas:</a:t>
            </a:r>
            <a:endParaRPr lang="en-US" sz="1100" dirty="0"/>
          </a:p>
        </p:txBody>
      </p:sp>
      <p:sp>
        <p:nvSpPr>
          <p:cNvPr id="15" name="Shape 11"/>
          <p:cNvSpPr/>
          <p:nvPr/>
        </p:nvSpPr>
        <p:spPr>
          <a:xfrm>
            <a:off x="594360" y="3072384"/>
            <a:ext cx="256032" cy="256032"/>
          </a:xfrm>
          <a:prstGeom prst="ellipse">
            <a:avLst/>
          </a:prstGeom>
          <a:solidFill>
            <a:srgbClr val="14284B"/>
          </a:solidFill>
          <a:ln w="12700">
            <a:solidFill>
              <a:srgbClr val="14284B"/>
            </a:solidFill>
            <a:prstDash val="solid"/>
          </a:ln>
        </p:spPr>
      </p:sp>
      <p:sp>
        <p:nvSpPr>
          <p:cNvPr id="16" name="Text 12"/>
          <p:cNvSpPr txBox="1"/>
          <p:nvPr/>
        </p:nvSpPr>
        <p:spPr>
          <a:xfrm>
            <a:off x="594360" y="30723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7" name="Text 13"/>
          <p:cNvSpPr txBox="1"/>
          <p:nvPr/>
        </p:nvSpPr>
        <p:spPr>
          <a:xfrm>
            <a:off x="941832" y="3017520"/>
            <a:ext cx="2240280" cy="384048"/>
          </a:xfrm>
          <a:prstGeom prst="rect">
            <a:avLst/>
          </a:prstGeom>
          <a:noFill/>
          <a:ln/>
        </p:spPr>
        <p:txBody>
          <a:bodyPr wrap="square" lIns="0" tIns="0" rIns="0" bIns="0" rtlCol="0" anchor="ctr"/>
          <a:lstStyle/>
          <a:p>
            <a:pPr indent="0" marL="0">
              <a:buNone/>
            </a:pPr>
            <a:r>
              <a:rPr lang="en-US" sz="1100" b="1" dirty="0">
                <a:solidFill>
                  <a:srgbClr val="14284B"/>
                </a:solidFill>
                <a:latin typeface="Arial" pitchFamily="34" charset="0"/>
                <a:ea typeface="Arial" pitchFamily="34" charset="-122"/>
                <a:cs typeface="Arial" pitchFamily="34" charset="-120"/>
              </a:rPr>
              <a:t>Apakah BHP ikut aturan izin dan sertifikasi profesi?</a:t>
            </a:r>
            <a:endParaRPr lang="en-US" sz="1100" dirty="0"/>
          </a:p>
        </p:txBody>
      </p:sp>
      <p:sp>
        <p:nvSpPr>
          <p:cNvPr id="18" name="Shape 14"/>
          <p:cNvSpPr/>
          <p:nvPr/>
        </p:nvSpPr>
        <p:spPr>
          <a:xfrm>
            <a:off x="594360" y="3529584"/>
            <a:ext cx="256032" cy="256032"/>
          </a:xfrm>
          <a:prstGeom prst="ellipse">
            <a:avLst/>
          </a:prstGeom>
          <a:solidFill>
            <a:srgbClr val="14284B"/>
          </a:solidFill>
          <a:ln w="12700">
            <a:solidFill>
              <a:srgbClr val="14284B"/>
            </a:solidFill>
            <a:prstDash val="solid"/>
          </a:ln>
        </p:spPr>
      </p:sp>
      <p:sp>
        <p:nvSpPr>
          <p:cNvPr id="19" name="Text 15"/>
          <p:cNvSpPr txBox="1"/>
          <p:nvPr/>
        </p:nvSpPr>
        <p:spPr>
          <a:xfrm>
            <a:off x="594360" y="35295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0" name="Text 16"/>
          <p:cNvSpPr txBox="1"/>
          <p:nvPr/>
        </p:nvSpPr>
        <p:spPr>
          <a:xfrm>
            <a:off x="941832" y="3474720"/>
            <a:ext cx="2240280" cy="384048"/>
          </a:xfrm>
          <a:prstGeom prst="rect">
            <a:avLst/>
          </a:prstGeom>
          <a:noFill/>
          <a:ln/>
        </p:spPr>
        <p:txBody>
          <a:bodyPr wrap="square" lIns="0" tIns="0" rIns="0" bIns="0" rtlCol="0" anchor="ctr"/>
          <a:lstStyle/>
          <a:p>
            <a:pPr indent="0" marL="0">
              <a:buNone/>
            </a:pPr>
            <a:r>
              <a:rPr lang="en-US" sz="1100" b="1" dirty="0">
                <a:solidFill>
                  <a:srgbClr val="14284B"/>
                </a:solidFill>
                <a:latin typeface="Arial" pitchFamily="34" charset="0"/>
                <a:ea typeface="Arial" pitchFamily="34" charset="-122"/>
                <a:cs typeface="Arial" pitchFamily="34" charset="-120"/>
              </a:rPr>
              <a:t>Siapa yang membina dan mengawasinya?</a:t>
            </a:r>
            <a:endParaRPr lang="en-US" sz="1100" dirty="0"/>
          </a:p>
        </p:txBody>
      </p:sp>
      <p:sp>
        <p:nvSpPr>
          <p:cNvPr id="21" name="Shape 17"/>
          <p:cNvSpPr/>
          <p:nvPr/>
        </p:nvSpPr>
        <p:spPr>
          <a:xfrm>
            <a:off x="594360" y="3986784"/>
            <a:ext cx="256032" cy="256032"/>
          </a:xfrm>
          <a:prstGeom prst="ellipse">
            <a:avLst/>
          </a:prstGeom>
          <a:solidFill>
            <a:srgbClr val="14284B"/>
          </a:solidFill>
          <a:ln w="12700">
            <a:solidFill>
              <a:srgbClr val="14284B"/>
            </a:solidFill>
            <a:prstDash val="solid"/>
          </a:ln>
        </p:spPr>
      </p:sp>
      <p:sp>
        <p:nvSpPr>
          <p:cNvPr id="22" name="Text 18"/>
          <p:cNvSpPr txBox="1"/>
          <p:nvPr/>
        </p:nvSpPr>
        <p:spPr>
          <a:xfrm>
            <a:off x="594360" y="39867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3" name="Text 19"/>
          <p:cNvSpPr txBox="1"/>
          <p:nvPr/>
        </p:nvSpPr>
        <p:spPr>
          <a:xfrm>
            <a:off x="941832" y="3931920"/>
            <a:ext cx="2240280" cy="384048"/>
          </a:xfrm>
          <a:prstGeom prst="rect">
            <a:avLst/>
          </a:prstGeom>
          <a:noFill/>
          <a:ln/>
        </p:spPr>
        <p:txBody>
          <a:bodyPr wrap="square" lIns="0" tIns="0" rIns="0" bIns="0" rtlCol="0" anchor="ctr"/>
          <a:lstStyle/>
          <a:p>
            <a:pPr indent="0" marL="0">
              <a:buNone/>
            </a:pPr>
            <a:r>
              <a:rPr lang="en-US" sz="1100" b="1" dirty="0">
                <a:solidFill>
                  <a:srgbClr val="14284B"/>
                </a:solidFill>
                <a:latin typeface="Arial" pitchFamily="34" charset="0"/>
                <a:ea typeface="Arial" pitchFamily="34" charset="-122"/>
                <a:cs typeface="Arial" pitchFamily="34" charset="-120"/>
              </a:rPr>
              <a:t>Bagaimana pembagian perannya dengan kurator privat?</a:t>
            </a:r>
            <a:endParaRPr lang="en-US" sz="1100" dirty="0"/>
          </a:p>
        </p:txBody>
      </p:sp>
      <p:sp>
        <p:nvSpPr>
          <p:cNvPr id="24" name="Shape 20"/>
          <p:cNvSpPr/>
          <p:nvPr/>
        </p:nvSpPr>
        <p:spPr>
          <a:xfrm>
            <a:off x="3520440" y="1188720"/>
            <a:ext cx="4343400" cy="3456432"/>
          </a:xfrm>
          <a:prstGeom prst="roundRect">
            <a:avLst>
              <a:gd name="adj" fmla="val 2116"/>
            </a:avLst>
          </a:prstGeom>
          <a:solidFill>
            <a:srgbClr val="14284B"/>
          </a:solidFill>
          <a:ln w="9525">
            <a:solidFill>
              <a:srgbClr val="14284B"/>
            </a:solidFill>
            <a:prstDash val="solid"/>
          </a:ln>
        </p:spPr>
      </p:sp>
      <p:sp>
        <p:nvSpPr>
          <p:cNvPr id="25" name="Text 21"/>
          <p:cNvSpPr txBox="1"/>
          <p:nvPr/>
        </p:nvSpPr>
        <p:spPr>
          <a:xfrm>
            <a:off x="3703320" y="1298448"/>
            <a:ext cx="3931920" cy="237744"/>
          </a:xfrm>
          <a:prstGeom prst="rect">
            <a:avLst/>
          </a:prstGeom>
          <a:noFill/>
          <a:ln/>
        </p:spPr>
        <p:txBody>
          <a:bodyPr wrap="square" lIns="0" tIns="0" rIns="0" bIns="0" rtlCol="0" anchor="ctr"/>
          <a:lstStyle/>
          <a:p>
            <a:pPr indent="0" marL="0">
              <a:buNone/>
            </a:pPr>
            <a:r>
              <a:rPr lang="en-US" sz="950" b="1" spc="150" kern="0" dirty="0">
                <a:solidFill>
                  <a:srgbClr val="E0A526"/>
                </a:solidFill>
                <a:latin typeface="Arial" pitchFamily="34" charset="0"/>
                <a:ea typeface="Arial" pitchFamily="34" charset="-122"/>
                <a:cs typeface="Arial" pitchFamily="34" charset="-120"/>
              </a:rPr>
              <a:t>SIKAP BHP MEDAN</a:t>
            </a:r>
            <a:endParaRPr lang="en-US" sz="950" dirty="0"/>
          </a:p>
        </p:txBody>
      </p:sp>
      <p:sp>
        <p:nvSpPr>
          <p:cNvPr id="26" name="Shape 22"/>
          <p:cNvSpPr/>
          <p:nvPr/>
        </p:nvSpPr>
        <p:spPr>
          <a:xfrm>
            <a:off x="3703320" y="1609344"/>
            <a:ext cx="256032" cy="256032"/>
          </a:xfrm>
          <a:prstGeom prst="ellipse">
            <a:avLst/>
          </a:prstGeom>
          <a:solidFill>
            <a:srgbClr val="E0A526"/>
          </a:solidFill>
          <a:ln w="12700">
            <a:solidFill>
              <a:srgbClr val="E0A526"/>
            </a:solidFill>
            <a:prstDash val="solid"/>
          </a:ln>
        </p:spPr>
      </p:sp>
      <p:sp>
        <p:nvSpPr>
          <p:cNvPr id="27" name="Text 23"/>
          <p:cNvSpPr txBox="1"/>
          <p:nvPr/>
        </p:nvSpPr>
        <p:spPr>
          <a:xfrm>
            <a:off x="3703320" y="1609344"/>
            <a:ext cx="256032" cy="256032"/>
          </a:xfrm>
          <a:prstGeom prst="rect">
            <a:avLst/>
          </a:prstGeom>
          <a:noFill/>
          <a:ln/>
        </p:spPr>
        <p:txBody>
          <a:bodyPr wrap="square" lIns="0" tIns="0" rIns="0" bIns="0" rtlCol="0" anchor="ctr"/>
          <a:lstStyle/>
          <a:p>
            <a:pPr algn="ctr" indent="0" marL="0">
              <a:buNone/>
            </a:pPr>
            <a:r>
              <a:rPr lang="en-US" sz="1000" b="1" dirty="0">
                <a:solidFill>
                  <a:srgbClr val="14284B"/>
                </a:solidFill>
                <a:latin typeface="Arial" pitchFamily="34" charset="0"/>
                <a:ea typeface="Arial" pitchFamily="34" charset="-122"/>
                <a:cs typeface="Arial" pitchFamily="34" charset="-120"/>
              </a:rPr>
              <a:t>1</a:t>
            </a:r>
            <a:endParaRPr lang="en-US" sz="1000" dirty="0"/>
          </a:p>
        </p:txBody>
      </p:sp>
      <p:sp>
        <p:nvSpPr>
          <p:cNvPr id="28" name="Text 24"/>
          <p:cNvSpPr txBox="1"/>
          <p:nvPr/>
        </p:nvSpPr>
        <p:spPr>
          <a:xfrm>
            <a:off x="4050792" y="1572768"/>
            <a:ext cx="3639312" cy="740664"/>
          </a:xfrm>
          <a:prstGeom prst="rect">
            <a:avLst/>
          </a:prstGeom>
          <a:noFill/>
          <a:ln/>
        </p:spPr>
        <p:txBody>
          <a:bodyPr wrap="square" lIns="0" tIns="0" rIns="0" bIns="0" rtlCol="0" anchor="t"/>
          <a:lstStyle/>
          <a:p>
            <a:pPr indent="0" marL="0">
              <a:buNone/>
            </a:pPr>
            <a:r>
              <a:rPr lang="en-US" sz="920" b="1" dirty="0">
                <a:solidFill>
                  <a:srgbClr val="E0A526"/>
                </a:solidFill>
                <a:latin typeface="Arial" pitchFamily="34" charset="0"/>
                <a:ea typeface="Arial" pitchFamily="34" charset="-122"/>
                <a:cs typeface="Arial" pitchFamily="34" charset="-120"/>
              </a:rPr>
              <a:t>BHP dimuat dalam RUU sebagai lembaga negara yang menjalankan tugas kurator. </a:t>
            </a:r>
            <a:pPr indent="0" marL="0">
              <a:buNone/>
            </a:pPr>
            <a:r>
              <a:rPr lang="en-US" sz="920" dirty="0">
                <a:solidFill>
                  <a:srgbClr val="E6ECF7"/>
                </a:solidFill>
                <a:latin typeface="Arial" pitchFamily="34" charset="0"/>
                <a:ea typeface="Arial" pitchFamily="34" charset="-122"/>
                <a:cs typeface="Arial" pitchFamily="34" charset="-120"/>
              </a:rPr>
              <a:t>Kewenangan BHP berasal dari undang-undang, sehingga BHP tidak memerlukan izin atau pendaftaran seperti kurator perorangan. Tugasnya dijalankan oleh pejabat fungsional Kurator Keperdataan.</a:t>
            </a:r>
            <a:endParaRPr lang="en-US" sz="920" dirty="0"/>
          </a:p>
        </p:txBody>
      </p:sp>
      <p:sp>
        <p:nvSpPr>
          <p:cNvPr id="29" name="Shape 25"/>
          <p:cNvSpPr/>
          <p:nvPr/>
        </p:nvSpPr>
        <p:spPr>
          <a:xfrm>
            <a:off x="3703320" y="2368296"/>
            <a:ext cx="256032" cy="256032"/>
          </a:xfrm>
          <a:prstGeom prst="ellipse">
            <a:avLst/>
          </a:prstGeom>
          <a:solidFill>
            <a:srgbClr val="E0A526"/>
          </a:solidFill>
          <a:ln w="12700">
            <a:solidFill>
              <a:srgbClr val="E0A526"/>
            </a:solidFill>
            <a:prstDash val="solid"/>
          </a:ln>
        </p:spPr>
      </p:sp>
      <p:sp>
        <p:nvSpPr>
          <p:cNvPr id="30" name="Text 26"/>
          <p:cNvSpPr txBox="1"/>
          <p:nvPr/>
        </p:nvSpPr>
        <p:spPr>
          <a:xfrm>
            <a:off x="3703320" y="2368296"/>
            <a:ext cx="256032" cy="256032"/>
          </a:xfrm>
          <a:prstGeom prst="rect">
            <a:avLst/>
          </a:prstGeom>
          <a:noFill/>
          <a:ln/>
        </p:spPr>
        <p:txBody>
          <a:bodyPr wrap="square" lIns="0" tIns="0" rIns="0" bIns="0" rtlCol="0" anchor="ctr"/>
          <a:lstStyle/>
          <a:p>
            <a:pPr algn="ctr" indent="0" marL="0">
              <a:buNone/>
            </a:pPr>
            <a:r>
              <a:rPr lang="en-US" sz="1000" b="1" dirty="0">
                <a:solidFill>
                  <a:srgbClr val="14284B"/>
                </a:solidFill>
                <a:latin typeface="Arial" pitchFamily="34" charset="0"/>
                <a:ea typeface="Arial" pitchFamily="34" charset="-122"/>
                <a:cs typeface="Arial" pitchFamily="34" charset="-120"/>
              </a:rPr>
              <a:t>2</a:t>
            </a:r>
            <a:endParaRPr lang="en-US" sz="1000" dirty="0"/>
          </a:p>
        </p:txBody>
      </p:sp>
      <p:sp>
        <p:nvSpPr>
          <p:cNvPr id="31" name="Text 27"/>
          <p:cNvSpPr txBox="1"/>
          <p:nvPr/>
        </p:nvSpPr>
        <p:spPr>
          <a:xfrm>
            <a:off x="4050792" y="2331720"/>
            <a:ext cx="3639312" cy="740664"/>
          </a:xfrm>
          <a:prstGeom prst="rect">
            <a:avLst/>
          </a:prstGeom>
          <a:noFill/>
          <a:ln/>
        </p:spPr>
        <p:txBody>
          <a:bodyPr wrap="square" lIns="0" tIns="0" rIns="0" bIns="0" rtlCol="0" anchor="t"/>
          <a:lstStyle/>
          <a:p>
            <a:pPr indent="0" marL="0">
              <a:buNone/>
            </a:pPr>
            <a:r>
              <a:rPr lang="en-US" sz="920" b="1" dirty="0">
                <a:solidFill>
                  <a:srgbClr val="E0A526"/>
                </a:solidFill>
                <a:latin typeface="Arial" pitchFamily="34" charset="0"/>
                <a:ea typeface="Arial" pitchFamily="34" charset="-122"/>
                <a:cs typeface="Arial" pitchFamily="34" charset="-120"/>
              </a:rPr>
              <a:t>Satu standar profesi untuk semua kurator. </a:t>
            </a:r>
            <a:pPr indent="0" marL="0">
              <a:buNone/>
            </a:pPr>
            <a:r>
              <a:rPr lang="en-US" sz="920" dirty="0">
                <a:solidFill>
                  <a:srgbClr val="E6ECF7"/>
                </a:solidFill>
                <a:latin typeface="Arial" pitchFamily="34" charset="0"/>
                <a:ea typeface="Arial" pitchFamily="34" charset="-122"/>
                <a:cs typeface="Arial" pitchFamily="34" charset="-120"/>
              </a:rPr>
              <a:t>Kode etik dan standar profesi yang sama berlaku bagi BHP dan kurator perorangan. Yang berbeda hanya pembinaannya, karena BHP adalah lembaga pemerintah.</a:t>
            </a:r>
            <a:endParaRPr lang="en-US" sz="920" dirty="0"/>
          </a:p>
        </p:txBody>
      </p:sp>
      <p:sp>
        <p:nvSpPr>
          <p:cNvPr id="32" name="Shape 28"/>
          <p:cNvSpPr/>
          <p:nvPr/>
        </p:nvSpPr>
        <p:spPr>
          <a:xfrm>
            <a:off x="3703320" y="3127248"/>
            <a:ext cx="256032" cy="256032"/>
          </a:xfrm>
          <a:prstGeom prst="ellipse">
            <a:avLst/>
          </a:prstGeom>
          <a:solidFill>
            <a:srgbClr val="E0A526"/>
          </a:solidFill>
          <a:ln w="12700">
            <a:solidFill>
              <a:srgbClr val="E0A526"/>
            </a:solidFill>
            <a:prstDash val="solid"/>
          </a:ln>
        </p:spPr>
      </p:sp>
      <p:sp>
        <p:nvSpPr>
          <p:cNvPr id="33" name="Text 29"/>
          <p:cNvSpPr txBox="1"/>
          <p:nvPr/>
        </p:nvSpPr>
        <p:spPr>
          <a:xfrm>
            <a:off x="3703320" y="3127248"/>
            <a:ext cx="256032" cy="256032"/>
          </a:xfrm>
          <a:prstGeom prst="rect">
            <a:avLst/>
          </a:prstGeom>
          <a:noFill/>
          <a:ln/>
        </p:spPr>
        <p:txBody>
          <a:bodyPr wrap="square" lIns="0" tIns="0" rIns="0" bIns="0" rtlCol="0" anchor="ctr"/>
          <a:lstStyle/>
          <a:p>
            <a:pPr algn="ctr" indent="0" marL="0">
              <a:buNone/>
            </a:pPr>
            <a:r>
              <a:rPr lang="en-US" sz="1000" b="1" dirty="0">
                <a:solidFill>
                  <a:srgbClr val="14284B"/>
                </a:solidFill>
                <a:latin typeface="Arial" pitchFamily="34" charset="0"/>
                <a:ea typeface="Arial" pitchFamily="34" charset="-122"/>
                <a:cs typeface="Arial" pitchFamily="34" charset="-120"/>
              </a:rPr>
              <a:t>3</a:t>
            </a:r>
            <a:endParaRPr lang="en-US" sz="1000" dirty="0"/>
          </a:p>
        </p:txBody>
      </p:sp>
      <p:sp>
        <p:nvSpPr>
          <p:cNvPr id="34" name="Text 30"/>
          <p:cNvSpPr txBox="1"/>
          <p:nvPr/>
        </p:nvSpPr>
        <p:spPr>
          <a:xfrm>
            <a:off x="4050792" y="3090672"/>
            <a:ext cx="3639312" cy="740664"/>
          </a:xfrm>
          <a:prstGeom prst="rect">
            <a:avLst/>
          </a:prstGeom>
          <a:noFill/>
          <a:ln/>
        </p:spPr>
        <p:txBody>
          <a:bodyPr wrap="square" lIns="0" tIns="0" rIns="0" bIns="0" rtlCol="0" anchor="t"/>
          <a:lstStyle/>
          <a:p>
            <a:pPr indent="0" marL="0">
              <a:buNone/>
            </a:pPr>
            <a:r>
              <a:rPr lang="en-US" sz="920" b="1" dirty="0">
                <a:solidFill>
                  <a:srgbClr val="E0A526"/>
                </a:solidFill>
                <a:latin typeface="Arial" pitchFamily="34" charset="0"/>
                <a:ea typeface="Arial" pitchFamily="34" charset="-122"/>
                <a:cs typeface="Arial" pitchFamily="34" charset="-120"/>
              </a:rPr>
              <a:t>Pembagian peran BHP dan kurator perorangan ditegaskan. </a:t>
            </a:r>
            <a:pPr indent="0" marL="0">
              <a:buNone/>
            </a:pPr>
            <a:r>
              <a:rPr lang="en-US" sz="920" dirty="0">
                <a:solidFill>
                  <a:srgbClr val="E6ECF7"/>
                </a:solidFill>
                <a:latin typeface="Arial" pitchFamily="34" charset="0"/>
                <a:ea typeface="Arial" pitchFamily="34" charset="-122"/>
                <a:cs typeface="Arial" pitchFamily="34" charset="-120"/>
              </a:rPr>
              <a:t>BHP menangani perkara yang menyangkut kepentingan publik atau tidak diminati (perkara pekerja, harta kecil). Kurator perorangan menangani perkara bisnis atas pilihan para pihak.</a:t>
            </a:r>
            <a:endParaRPr lang="en-US" sz="920" dirty="0"/>
          </a:p>
        </p:txBody>
      </p:sp>
      <p:sp>
        <p:nvSpPr>
          <p:cNvPr id="35" name="Shape 31"/>
          <p:cNvSpPr/>
          <p:nvPr/>
        </p:nvSpPr>
        <p:spPr>
          <a:xfrm>
            <a:off x="3703320" y="3886200"/>
            <a:ext cx="256032" cy="256032"/>
          </a:xfrm>
          <a:prstGeom prst="ellipse">
            <a:avLst/>
          </a:prstGeom>
          <a:solidFill>
            <a:srgbClr val="E0A526"/>
          </a:solidFill>
          <a:ln w="12700">
            <a:solidFill>
              <a:srgbClr val="E0A526"/>
            </a:solidFill>
            <a:prstDash val="solid"/>
          </a:ln>
        </p:spPr>
      </p:sp>
      <p:sp>
        <p:nvSpPr>
          <p:cNvPr id="36" name="Text 32"/>
          <p:cNvSpPr txBox="1"/>
          <p:nvPr/>
        </p:nvSpPr>
        <p:spPr>
          <a:xfrm>
            <a:off x="3703320" y="3886200"/>
            <a:ext cx="256032" cy="256032"/>
          </a:xfrm>
          <a:prstGeom prst="rect">
            <a:avLst/>
          </a:prstGeom>
          <a:noFill/>
          <a:ln/>
        </p:spPr>
        <p:txBody>
          <a:bodyPr wrap="square" lIns="0" tIns="0" rIns="0" bIns="0" rtlCol="0" anchor="ctr"/>
          <a:lstStyle/>
          <a:p>
            <a:pPr algn="ctr" indent="0" marL="0">
              <a:buNone/>
            </a:pPr>
            <a:r>
              <a:rPr lang="en-US" sz="1000" b="1" dirty="0">
                <a:solidFill>
                  <a:srgbClr val="14284B"/>
                </a:solidFill>
                <a:latin typeface="Arial" pitchFamily="34" charset="0"/>
                <a:ea typeface="Arial" pitchFamily="34" charset="-122"/>
                <a:cs typeface="Arial" pitchFamily="34" charset="-120"/>
              </a:rPr>
              <a:t>4</a:t>
            </a:r>
            <a:endParaRPr lang="en-US" sz="1000" dirty="0"/>
          </a:p>
        </p:txBody>
      </p:sp>
      <p:sp>
        <p:nvSpPr>
          <p:cNvPr id="37" name="Text 33"/>
          <p:cNvSpPr txBox="1"/>
          <p:nvPr/>
        </p:nvSpPr>
        <p:spPr>
          <a:xfrm>
            <a:off x="4050792" y="3849624"/>
            <a:ext cx="3639312" cy="740664"/>
          </a:xfrm>
          <a:prstGeom prst="rect">
            <a:avLst/>
          </a:prstGeom>
          <a:noFill/>
          <a:ln/>
        </p:spPr>
        <p:txBody>
          <a:bodyPr wrap="square" lIns="0" tIns="0" rIns="0" bIns="0" rtlCol="0" anchor="t"/>
          <a:lstStyle/>
          <a:p>
            <a:pPr indent="0" marL="0">
              <a:buNone/>
            </a:pPr>
            <a:r>
              <a:rPr lang="en-US" sz="920" b="1" dirty="0">
                <a:solidFill>
                  <a:srgbClr val="E0A526"/>
                </a:solidFill>
                <a:latin typeface="Arial" pitchFamily="34" charset="0"/>
                <a:ea typeface="Arial" pitchFamily="34" charset="-122"/>
                <a:cs typeface="Arial" pitchFamily="34" charset="-120"/>
              </a:rPr>
              <a:t>Koordinasi antarlembaga diatur dengan jelas. </a:t>
            </a:r>
            <a:pPr indent="0" marL="0">
              <a:buNone/>
            </a:pPr>
            <a:r>
              <a:rPr lang="en-US" sz="920" dirty="0">
                <a:solidFill>
                  <a:srgbClr val="E6ECF7"/>
                </a:solidFill>
                <a:latin typeface="Arial" pitchFamily="34" charset="0"/>
                <a:ea typeface="Arial" pitchFamily="34" charset="-122"/>
                <a:cs typeface="Arial" pitchFamily="34" charset="-120"/>
              </a:rPr>
              <a:t>Kementerian membina, Hakim Pengawas mengawasi perkara, organisasi profesi menegakkan etik kurator perorangan, BHP menjadi simpul data. BHP bukan pengawas kurator privat, karena BHP sendiri adalah kurator.</a:t>
            </a:r>
            <a:endParaRPr lang="en-US" sz="920" dirty="0"/>
          </a:p>
        </p:txBody>
      </p:sp>
      <p:sp>
        <p:nvSpPr>
          <p:cNvPr id="38" name="Shape 34"/>
          <p:cNvSpPr/>
          <p:nvPr/>
        </p:nvSpPr>
        <p:spPr>
          <a:xfrm>
            <a:off x="8046720" y="1188720"/>
            <a:ext cx="3730752" cy="3456432"/>
          </a:xfrm>
          <a:prstGeom prst="roundRect">
            <a:avLst>
              <a:gd name="adj" fmla="val 2116"/>
            </a:avLst>
          </a:prstGeom>
          <a:solidFill>
            <a:srgbClr val="FFFFFF"/>
          </a:solidFill>
          <a:ln w="9525">
            <a:solidFill>
              <a:srgbClr val="C9D3E3"/>
            </a:solidFill>
            <a:prstDash val="solid"/>
          </a:ln>
        </p:spPr>
      </p:sp>
      <p:sp>
        <p:nvSpPr>
          <p:cNvPr id="39" name="Text 35"/>
          <p:cNvSpPr txBox="1"/>
          <p:nvPr/>
        </p:nvSpPr>
        <p:spPr>
          <a:xfrm>
            <a:off x="8229600" y="1298448"/>
            <a:ext cx="3383280" cy="237744"/>
          </a:xfrm>
          <a:prstGeom prst="rect">
            <a:avLst/>
          </a:prstGeom>
          <a:noFill/>
          <a:ln/>
        </p:spPr>
        <p:txBody>
          <a:bodyPr wrap="square" lIns="0" tIns="0" rIns="0" bIns="0" rtlCol="0" anchor="ctr"/>
          <a:lstStyle/>
          <a:p>
            <a:pPr indent="0" marL="0">
              <a:buNone/>
            </a:pPr>
            <a:r>
              <a:rPr lang="en-US" sz="950" b="1" spc="150" kern="0" dirty="0">
                <a:solidFill>
                  <a:srgbClr val="8A6100"/>
                </a:solidFill>
                <a:latin typeface="Arial" pitchFamily="34" charset="0"/>
                <a:ea typeface="Arial" pitchFamily="34" charset="-122"/>
                <a:cs typeface="Arial" pitchFamily="34" charset="-120"/>
              </a:rPr>
              <a:t>BUKTI: PENGALAMAN BHP MEDAN</a:t>
            </a:r>
            <a:endParaRPr lang="en-US" sz="950" dirty="0"/>
          </a:p>
        </p:txBody>
      </p:sp>
      <p:sp>
        <p:nvSpPr>
          <p:cNvPr id="40" name="Text 36"/>
          <p:cNvSpPr txBox="1"/>
          <p:nvPr/>
        </p:nvSpPr>
        <p:spPr>
          <a:xfrm>
            <a:off x="8229600" y="1554480"/>
            <a:ext cx="3401568" cy="451714"/>
          </a:xfrm>
          <a:prstGeom prst="rect">
            <a:avLst/>
          </a:prstGeom>
          <a:noFill/>
          <a:ln/>
        </p:spPr>
        <p:txBody>
          <a:bodyPr wrap="square" lIns="0" tIns="0" rIns="0" bIns="0" rtlCol="0" anchor="t"/>
          <a:lstStyle/>
          <a:p>
            <a:pPr indent="0" marL="0">
              <a:buNone/>
            </a:pPr>
            <a:r>
              <a:rPr lang="en-US" sz="950" b="1" dirty="0">
                <a:solidFill>
                  <a:srgbClr val="14284B"/>
                </a:solidFill>
                <a:latin typeface="Arial" pitchFamily="34" charset="0"/>
                <a:ea typeface="Arial" pitchFamily="34" charset="-122"/>
                <a:cs typeface="Arial" pitchFamily="34" charset="-120"/>
              </a:rPr>
              <a:t>9 perkara  </a:t>
            </a:r>
            <a:pPr indent="0" marL="0">
              <a:buNone/>
            </a:pPr>
            <a:r>
              <a:rPr lang="en-US" sz="800" dirty="0">
                <a:solidFill>
                  <a:srgbClr val="1A1A1A"/>
                </a:solidFill>
                <a:latin typeface="Arial" pitchFamily="34" charset="0"/>
                <a:ea typeface="Arial" pitchFamily="34" charset="-122"/>
                <a:cs typeface="Arial" pitchFamily="34" charset="-120"/>
              </a:rPr>
              <a:t>kepailitan masih berjalan, tagihan sekitar Rp47,35 miliar. Semuanya jatuh ke BHP karena pemohon tidak mengusulkan kurator.</a:t>
            </a:r>
            <a:endParaRPr lang="en-US" sz="950" dirty="0"/>
          </a:p>
        </p:txBody>
      </p:sp>
      <p:sp>
        <p:nvSpPr>
          <p:cNvPr id="41" name="Text 37"/>
          <p:cNvSpPr txBox="1"/>
          <p:nvPr/>
        </p:nvSpPr>
        <p:spPr>
          <a:xfrm>
            <a:off x="8229600" y="2051914"/>
            <a:ext cx="3401568" cy="451714"/>
          </a:xfrm>
          <a:prstGeom prst="rect">
            <a:avLst/>
          </a:prstGeom>
          <a:noFill/>
          <a:ln/>
        </p:spPr>
        <p:txBody>
          <a:bodyPr wrap="square" lIns="0" tIns="0" rIns="0" bIns="0" rtlCol="0" anchor="t"/>
          <a:lstStyle/>
          <a:p>
            <a:pPr indent="0" marL="0">
              <a:buNone/>
            </a:pPr>
            <a:r>
              <a:rPr lang="en-US" sz="950" b="1" dirty="0">
                <a:solidFill>
                  <a:srgbClr val="14284B"/>
                </a:solidFill>
                <a:latin typeface="Arial" pitchFamily="34" charset="0"/>
                <a:ea typeface="Arial" pitchFamily="34" charset="-122"/>
                <a:cs typeface="Arial" pitchFamily="34" charset="-120"/>
              </a:rPr>
              <a:t>12% sampai 40%  </a:t>
            </a:r>
            <a:pPr indent="0" marL="0">
              <a:buNone/>
            </a:pPr>
            <a:r>
              <a:rPr lang="en-US" sz="800" dirty="0">
                <a:solidFill>
                  <a:srgbClr val="1A1A1A"/>
                </a:solidFill>
                <a:latin typeface="Arial" pitchFamily="34" charset="0"/>
                <a:ea typeface="Arial" pitchFamily="34" charset="-122"/>
                <a:cs typeface="Arial" pitchFamily="34" charset="-120"/>
              </a:rPr>
              <a:t>nilai harta dibanding tagihan pada empat perkara yang sudah dinilai. Tidak menarik bagi kurator yang bekerja atas dasar imbalan.</a:t>
            </a:r>
            <a:endParaRPr lang="en-US" sz="950" dirty="0"/>
          </a:p>
        </p:txBody>
      </p:sp>
      <p:sp>
        <p:nvSpPr>
          <p:cNvPr id="42" name="Text 38"/>
          <p:cNvSpPr txBox="1"/>
          <p:nvPr/>
        </p:nvSpPr>
        <p:spPr>
          <a:xfrm>
            <a:off x="8229600" y="2549347"/>
            <a:ext cx="3401568" cy="451714"/>
          </a:xfrm>
          <a:prstGeom prst="rect">
            <a:avLst/>
          </a:prstGeom>
          <a:noFill/>
          <a:ln/>
        </p:spPr>
        <p:txBody>
          <a:bodyPr wrap="square" lIns="0" tIns="0" rIns="0" bIns="0" rtlCol="0" anchor="t"/>
          <a:lstStyle/>
          <a:p>
            <a:pPr indent="0" marL="0">
              <a:buNone/>
            </a:pPr>
            <a:r>
              <a:rPr lang="en-US" sz="950" b="1" dirty="0">
                <a:solidFill>
                  <a:srgbClr val="14284B"/>
                </a:solidFill>
                <a:latin typeface="Arial" pitchFamily="34" charset="0"/>
                <a:ea typeface="Arial" pitchFamily="34" charset="-122"/>
                <a:cs typeface="Arial" pitchFamily="34" charset="-120"/>
              </a:rPr>
              <a:t>6 dari 9  </a:t>
            </a:r>
            <a:pPr indent="0" marL="0">
              <a:buNone/>
            </a:pPr>
            <a:r>
              <a:rPr lang="en-US" sz="800" dirty="0">
                <a:solidFill>
                  <a:srgbClr val="1A1A1A"/>
                </a:solidFill>
                <a:latin typeface="Arial" pitchFamily="34" charset="0"/>
                <a:ea typeface="Arial" pitchFamily="34" charset="-122"/>
                <a:cs typeface="Arial" pitchFamily="34" charset="-120"/>
              </a:rPr>
              <a:t>perkara berjalan lebih dari lima tahun, terlama sejak 2016. Kurator perorangan bisa berhenti atau meninggal dunia; BHP tetap ada sebagai lembaga.</a:t>
            </a:r>
            <a:endParaRPr lang="en-US" sz="950" dirty="0"/>
          </a:p>
        </p:txBody>
      </p:sp>
      <p:sp>
        <p:nvSpPr>
          <p:cNvPr id="43" name="Text 39"/>
          <p:cNvSpPr txBox="1"/>
          <p:nvPr/>
        </p:nvSpPr>
        <p:spPr>
          <a:xfrm>
            <a:off x="8229600" y="3046781"/>
            <a:ext cx="3401568" cy="451714"/>
          </a:xfrm>
          <a:prstGeom prst="rect">
            <a:avLst/>
          </a:prstGeom>
          <a:noFill/>
          <a:ln/>
        </p:spPr>
        <p:txBody>
          <a:bodyPr wrap="square" lIns="0" tIns="0" rIns="0" bIns="0" rtlCol="0" anchor="t"/>
          <a:lstStyle/>
          <a:p>
            <a:pPr indent="0" marL="0">
              <a:buNone/>
            </a:pPr>
            <a:r>
              <a:rPr lang="en-US" sz="950" b="1" dirty="0">
                <a:solidFill>
                  <a:srgbClr val="14284B"/>
                </a:solidFill>
                <a:latin typeface="Arial" pitchFamily="34" charset="0"/>
                <a:ea typeface="Arial" pitchFamily="34" charset="-122"/>
                <a:cs typeface="Arial" pitchFamily="34" charset="-120"/>
              </a:rPr>
              <a:t>Hak pekerja dan uang negara  </a:t>
            </a:r>
            <a:pPr indent="0" marL="0">
              <a:buNone/>
            </a:pPr>
            <a:r>
              <a:rPr lang="en-US" sz="800" dirty="0">
                <a:solidFill>
                  <a:srgbClr val="1A1A1A"/>
                </a:solidFill>
                <a:latin typeface="Arial" pitchFamily="34" charset="0"/>
                <a:ea typeface="Arial" pitchFamily="34" charset="-122"/>
                <a:cs typeface="Arial" pitchFamily="34" charset="-120"/>
              </a:rPr>
              <a:t>PT Rata Makmur: permohonan diajukan pekerja, BHP ditunjuk pengurus lalu kurator. Tagihan pekerja sudah lunas, sisanya tagihan pajak.</a:t>
            </a:r>
            <a:endParaRPr lang="en-US" sz="950" dirty="0"/>
          </a:p>
        </p:txBody>
      </p:sp>
      <p:sp>
        <p:nvSpPr>
          <p:cNvPr id="44" name="Text 40"/>
          <p:cNvSpPr txBox="1"/>
          <p:nvPr/>
        </p:nvSpPr>
        <p:spPr>
          <a:xfrm>
            <a:off x="8229600" y="3544214"/>
            <a:ext cx="3401568" cy="451714"/>
          </a:xfrm>
          <a:prstGeom prst="rect">
            <a:avLst/>
          </a:prstGeom>
          <a:noFill/>
          <a:ln/>
        </p:spPr>
        <p:txBody>
          <a:bodyPr wrap="square" lIns="0" tIns="0" rIns="0" bIns="0" rtlCol="0" anchor="t"/>
          <a:lstStyle/>
          <a:p>
            <a:pPr indent="0" marL="0">
              <a:buNone/>
            </a:pPr>
            <a:r>
              <a:rPr lang="en-US" sz="950" b="1" dirty="0">
                <a:solidFill>
                  <a:srgbClr val="14284B"/>
                </a:solidFill>
                <a:latin typeface="Arial" pitchFamily="34" charset="0"/>
                <a:ea typeface="Arial" pitchFamily="34" charset="-122"/>
                <a:cs typeface="Arial" pitchFamily="34" charset="-120"/>
              </a:rPr>
              <a:t>Debitor menghilang  </a:t>
            </a:r>
            <a:pPr indent="0" marL="0">
              <a:buNone/>
            </a:pPr>
            <a:r>
              <a:rPr lang="en-US" sz="800" dirty="0">
                <a:solidFill>
                  <a:srgbClr val="1A1A1A"/>
                </a:solidFill>
                <a:latin typeface="Arial" pitchFamily="34" charset="0"/>
                <a:ea typeface="Arial" pitchFamily="34" charset="-122"/>
                <a:cs typeface="Arial" pitchFamily="34" charset="-120"/>
              </a:rPr>
              <a:t>CV Hitado: debitor tidak ditemukan sekitar lima tahun sehingga penyelesaian perkara tertahan.</a:t>
            </a:r>
            <a:endParaRPr lang="en-US" sz="950" dirty="0"/>
          </a:p>
        </p:txBody>
      </p:sp>
      <p:sp>
        <p:nvSpPr>
          <p:cNvPr id="45" name="Text 41"/>
          <p:cNvSpPr txBox="1"/>
          <p:nvPr/>
        </p:nvSpPr>
        <p:spPr>
          <a:xfrm>
            <a:off x="8229600" y="4041648"/>
            <a:ext cx="3401568" cy="587045"/>
          </a:xfrm>
          <a:prstGeom prst="rect">
            <a:avLst/>
          </a:prstGeom>
          <a:noFill/>
          <a:ln/>
        </p:spPr>
        <p:txBody>
          <a:bodyPr wrap="square" lIns="0" tIns="0" rIns="0" bIns="0" rtlCol="0" anchor="t"/>
          <a:lstStyle/>
          <a:p>
            <a:pPr indent="0" marL="0">
              <a:buNone/>
            </a:pPr>
            <a:r>
              <a:rPr lang="en-US" sz="950" b="1" dirty="0">
                <a:solidFill>
                  <a:srgbClr val="14284B"/>
                </a:solidFill>
                <a:latin typeface="Arial" pitchFamily="34" charset="0"/>
                <a:ea typeface="Arial" pitchFamily="34" charset="-122"/>
                <a:cs typeface="Arial" pitchFamily="34" charset="-120"/>
              </a:rPr>
              <a:t>Naik 19,18%  </a:t>
            </a:r>
            <a:pPr indent="0" marL="0">
              <a:buNone/>
            </a:pPr>
            <a:r>
              <a:rPr lang="en-US" sz="800" dirty="0">
                <a:solidFill>
                  <a:srgbClr val="1A1A1A"/>
                </a:solidFill>
                <a:latin typeface="Arial" pitchFamily="34" charset="0"/>
                <a:ea typeface="Arial" pitchFamily="34" charset="-122"/>
                <a:cs typeface="Arial" pitchFamily="34" charset="-120"/>
              </a:rPr>
              <a:t>perkara niaga nasional, 782 menjadi 932 (Laporan Tahunan MA 2025). Data perkara BHP dan kurator privat belum ada: pengadilan tidak mencatat siapa kurator yang diangkat.</a:t>
            </a:r>
            <a:endParaRPr lang="en-US" sz="950" dirty="0"/>
          </a:p>
        </p:txBody>
      </p:sp>
      <p:sp>
        <p:nvSpPr>
          <p:cNvPr id="46" name="Shape 42"/>
          <p:cNvSpPr/>
          <p:nvPr/>
        </p:nvSpPr>
        <p:spPr>
          <a:xfrm>
            <a:off x="411480" y="4773168"/>
            <a:ext cx="11365992" cy="1755648"/>
          </a:xfrm>
          <a:prstGeom prst="roundRect">
            <a:avLst>
              <a:gd name="adj" fmla="val 4167"/>
            </a:avLst>
          </a:prstGeom>
          <a:solidFill>
            <a:srgbClr val="EEF2F8"/>
          </a:solidFill>
          <a:ln w="9525">
            <a:solidFill>
              <a:srgbClr val="EEF2F8"/>
            </a:solidFill>
            <a:prstDash val="solid"/>
          </a:ln>
        </p:spPr>
      </p:sp>
      <p:sp>
        <p:nvSpPr>
          <p:cNvPr id="47" name="Text 43"/>
          <p:cNvSpPr txBox="1"/>
          <p:nvPr/>
        </p:nvSpPr>
        <p:spPr>
          <a:xfrm>
            <a:off x="594360" y="4864608"/>
            <a:ext cx="5486400" cy="237744"/>
          </a:xfrm>
          <a:prstGeom prst="rect">
            <a:avLst/>
          </a:prstGeom>
          <a:noFill/>
          <a:ln/>
        </p:spPr>
        <p:txBody>
          <a:bodyPr wrap="square" lIns="0" tIns="0" rIns="0" bIns="0" rtlCol="0" anchor="ctr"/>
          <a:lstStyle/>
          <a:p>
            <a:pPr indent="0" marL="0">
              <a:buNone/>
            </a:pPr>
            <a:r>
              <a:rPr lang="en-US" sz="950" b="1" spc="150" kern="0" dirty="0">
                <a:solidFill>
                  <a:srgbClr val="8A6100"/>
                </a:solidFill>
                <a:latin typeface="Arial" pitchFamily="34" charset="0"/>
                <a:ea typeface="Arial" pitchFamily="34" charset="-122"/>
                <a:cs typeface="Arial" pitchFamily="34" charset="-120"/>
              </a:rPr>
              <a:t>JAWABAN KLASTER 1</a:t>
            </a:r>
            <a:endParaRPr lang="en-US" sz="950" dirty="0"/>
          </a:p>
        </p:txBody>
      </p:sp>
      <p:sp>
        <p:nvSpPr>
          <p:cNvPr id="48" name="Shape 44"/>
          <p:cNvSpPr/>
          <p:nvPr/>
        </p:nvSpPr>
        <p:spPr>
          <a:xfrm>
            <a:off x="594360" y="5138928"/>
            <a:ext cx="237744" cy="237744"/>
          </a:xfrm>
          <a:prstGeom prst="ellipse">
            <a:avLst/>
          </a:prstGeom>
          <a:solidFill>
            <a:srgbClr val="14284B"/>
          </a:solidFill>
          <a:ln w="12700">
            <a:solidFill>
              <a:srgbClr val="14284B"/>
            </a:solidFill>
            <a:prstDash val="solid"/>
          </a:ln>
        </p:spPr>
      </p:sp>
      <p:sp>
        <p:nvSpPr>
          <p:cNvPr id="49" name="Text 45"/>
          <p:cNvSpPr txBox="1"/>
          <p:nvPr/>
        </p:nvSpPr>
        <p:spPr>
          <a:xfrm>
            <a:off x="594360" y="513892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50" name="Text 46"/>
          <p:cNvSpPr txBox="1"/>
          <p:nvPr/>
        </p:nvSpPr>
        <p:spPr>
          <a:xfrm>
            <a:off x="905256" y="5102352"/>
            <a:ext cx="3300984" cy="384048"/>
          </a:xfrm>
          <a:prstGeom prst="rect">
            <a:avLst/>
          </a:prstGeom>
          <a:noFill/>
          <a:ln/>
        </p:spPr>
        <p:txBody>
          <a:bodyPr wrap="square" lIns="0" tIns="0" rIns="0" bIns="0" rtlCol="0" anchor="ctr"/>
          <a:lstStyle/>
          <a:p>
            <a:pPr indent="0" marL="0">
              <a:buNone/>
            </a:pPr>
            <a:r>
              <a:rPr lang="en-US" sz="950" b="1" dirty="0">
                <a:solidFill>
                  <a:srgbClr val="14284B"/>
                </a:solidFill>
                <a:latin typeface="Arial" pitchFamily="34" charset="0"/>
                <a:ea typeface="Arial" pitchFamily="34" charset="-122"/>
                <a:cs typeface="Arial" pitchFamily="34" charset="-120"/>
              </a:rPr>
              <a:t>Bagaimana mekanisme BHP sebagai kurator, dan adakah kendala dengan kurator privat?</a:t>
            </a:r>
            <a:endParaRPr lang="en-US" sz="950" dirty="0"/>
          </a:p>
        </p:txBody>
      </p:sp>
      <p:sp>
        <p:nvSpPr>
          <p:cNvPr id="51" name="Text 47"/>
          <p:cNvSpPr txBox="1"/>
          <p:nvPr/>
        </p:nvSpPr>
        <p:spPr>
          <a:xfrm>
            <a:off x="594360" y="5486400"/>
            <a:ext cx="3611880" cy="1005840"/>
          </a:xfrm>
          <a:prstGeom prst="rect">
            <a:avLst/>
          </a:prstGeom>
          <a:noFill/>
          <a:ln/>
        </p:spPr>
        <p:txBody>
          <a:bodyPr wrap="square" lIns="0" tIns="0" rIns="0" bIns="0" rtlCol="0" anchor="t"/>
          <a:lstStyle/>
          <a:p>
            <a:pPr indent="0" marL="0">
              <a:buNone/>
            </a:pPr>
            <a:r>
              <a:rPr lang="en-US" sz="800" dirty="0">
                <a:solidFill>
                  <a:srgbClr val="1A1A1A"/>
                </a:solidFill>
                <a:latin typeface="Arial" pitchFamily="34" charset="0"/>
                <a:ea typeface="Arial" pitchFamily="34" charset="-122"/>
                <a:cs typeface="Arial" pitchFamily="34" charset="-120"/>
              </a:rPr>
              <a:t>Setelah ditunjuk pengadilan, Kepala BHP menugaskan tim Kurator Keperdataan: mengurus, menilai, dan menjual harta di bawah pengawasan Hakim Pengawas, melapor berkala; imbalan jasa disetor ke kas negara. Pada PT Jasa Prima Mandiri (2015 sampai 2019, harta Rp12,85 miliar dibereskan) kerja sama dengan kurator tambahan berjalan baik. </a:t>
            </a:r>
            <a:pPr indent="0" marL="0">
              <a:buNone/>
            </a:pPr>
            <a:r>
              <a:rPr lang="en-US" sz="800" b="1" dirty="0">
                <a:solidFill>
                  <a:srgbClr val="14284B"/>
                </a:solidFill>
                <a:latin typeface="Arial" pitchFamily="34" charset="0"/>
                <a:ea typeface="Arial" pitchFamily="34" charset="-122"/>
                <a:cs typeface="Arial" pitchFamily="34" charset="-120"/>
              </a:rPr>
              <a:t>Kendalanya imbalan jasa</a:t>
            </a:r>
            <a:pPr indent="0" marL="0">
              <a:buNone/>
            </a:pPr>
            <a:r>
              <a:rPr lang="en-US" sz="800" dirty="0">
                <a:solidFill>
                  <a:srgbClr val="1A1A1A"/>
                </a:solidFill>
                <a:latin typeface="Arial" pitchFamily="34" charset="0"/>
                <a:ea typeface="Arial" pitchFamily="34" charset="-122"/>
                <a:cs typeface="Arial" pitchFamily="34" charset="-120"/>
              </a:rPr>
              <a:t>: BHP 8% dari nilai bersih (Rp379,8 juta), kurator tambahan 5% dari nilai kotor (Rp642,7 juta), tanpa aturan pembagian imbalan dan tugas sesuai porsi.</a:t>
            </a:r>
            <a:endParaRPr lang="en-US" sz="800" dirty="0"/>
          </a:p>
        </p:txBody>
      </p:sp>
      <p:sp>
        <p:nvSpPr>
          <p:cNvPr id="52" name="Shape 48"/>
          <p:cNvSpPr/>
          <p:nvPr/>
        </p:nvSpPr>
        <p:spPr>
          <a:xfrm>
            <a:off x="4361688" y="5138928"/>
            <a:ext cx="237744" cy="237744"/>
          </a:xfrm>
          <a:prstGeom prst="ellipse">
            <a:avLst/>
          </a:prstGeom>
          <a:solidFill>
            <a:srgbClr val="14284B"/>
          </a:solidFill>
          <a:ln w="12700">
            <a:solidFill>
              <a:srgbClr val="14284B"/>
            </a:solidFill>
            <a:prstDash val="solid"/>
          </a:ln>
        </p:spPr>
      </p:sp>
      <p:sp>
        <p:nvSpPr>
          <p:cNvPr id="53" name="Text 49"/>
          <p:cNvSpPr txBox="1"/>
          <p:nvPr/>
        </p:nvSpPr>
        <p:spPr>
          <a:xfrm>
            <a:off x="4361688" y="513892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54" name="Text 50"/>
          <p:cNvSpPr txBox="1"/>
          <p:nvPr/>
        </p:nvSpPr>
        <p:spPr>
          <a:xfrm>
            <a:off x="4672584" y="5102352"/>
            <a:ext cx="3300984" cy="384048"/>
          </a:xfrm>
          <a:prstGeom prst="rect">
            <a:avLst/>
          </a:prstGeom>
          <a:noFill/>
          <a:ln/>
        </p:spPr>
        <p:txBody>
          <a:bodyPr wrap="square" lIns="0" tIns="0" rIns="0" bIns="0" rtlCol="0" anchor="ctr"/>
          <a:lstStyle/>
          <a:p>
            <a:pPr indent="0" marL="0">
              <a:buNone/>
            </a:pPr>
            <a:r>
              <a:rPr lang="en-US" sz="950" b="1" dirty="0">
                <a:solidFill>
                  <a:srgbClr val="14284B"/>
                </a:solidFill>
                <a:latin typeface="Arial" pitchFamily="34" charset="0"/>
                <a:ea typeface="Arial" pitchFamily="34" charset="-122"/>
                <a:cs typeface="Arial" pitchFamily="34" charset="-120"/>
              </a:rPr>
              <a:t>Perlukah pemisahan tegas peran BHP dengan peran kurator privat?</a:t>
            </a:r>
            <a:endParaRPr lang="en-US" sz="950" dirty="0"/>
          </a:p>
        </p:txBody>
      </p:sp>
      <p:sp>
        <p:nvSpPr>
          <p:cNvPr id="55" name="Text 51"/>
          <p:cNvSpPr txBox="1"/>
          <p:nvPr/>
        </p:nvSpPr>
        <p:spPr>
          <a:xfrm>
            <a:off x="4361688" y="5486400"/>
            <a:ext cx="3611880" cy="1005840"/>
          </a:xfrm>
          <a:prstGeom prst="rect">
            <a:avLst/>
          </a:prstGeom>
          <a:noFill/>
          <a:ln/>
        </p:spPr>
        <p:txBody>
          <a:bodyPr wrap="square" lIns="0" tIns="0" rIns="0" bIns="0" rtlCol="0" anchor="t"/>
          <a:lstStyle/>
          <a:p>
            <a:pPr indent="0" marL="0">
              <a:buNone/>
            </a:pPr>
            <a:r>
              <a:rPr lang="en-US" sz="800" b="1" dirty="0">
                <a:solidFill>
                  <a:srgbClr val="14284B"/>
                </a:solidFill>
                <a:latin typeface="Arial" pitchFamily="34" charset="0"/>
                <a:ea typeface="Arial" pitchFamily="34" charset="-122"/>
                <a:cs typeface="Arial" pitchFamily="34" charset="-120"/>
              </a:rPr>
              <a:t>Tidak perlu dipisahkan; yang diperlukan pembagian peran yang jelas.</a:t>
            </a:r>
            <a:pPr indent="0" marL="0">
              <a:buNone/>
            </a:pPr>
            <a:r>
              <a:rPr lang="en-US" sz="800" dirty="0">
                <a:solidFill>
                  <a:srgbClr val="1A1A1A"/>
                </a:solidFill>
                <a:latin typeface="Arial" pitchFamily="34" charset="0"/>
                <a:ea typeface="Arial" pitchFamily="34" charset="-122"/>
                <a:cs typeface="Arial" pitchFamily="34" charset="-120"/>
              </a:rPr>
              <a:t> (a) Tanpa BHP, perkara yang tidak diminati kurator privat tidak punya pelaksana; (b) BHP tidak berebut perkara: yang ditangani adalah perkara yang tidak diambil pihak lain; (c) pengalaman BHP mengurus warisan, perwalian anak, dan harta orang yang menghilang membuatnya paling siap. Catatan: wali pengawas adalah tugas BHP dalam perwalian anak (Pasal 366 KUHPerdata), bukan pengawas kurator.</a:t>
            </a:r>
            <a:endParaRPr lang="en-US" sz="800" dirty="0"/>
          </a:p>
        </p:txBody>
      </p:sp>
      <p:sp>
        <p:nvSpPr>
          <p:cNvPr id="56" name="Shape 52"/>
          <p:cNvSpPr/>
          <p:nvPr/>
        </p:nvSpPr>
        <p:spPr>
          <a:xfrm>
            <a:off x="8129016" y="5138928"/>
            <a:ext cx="237744" cy="237744"/>
          </a:xfrm>
          <a:prstGeom prst="ellipse">
            <a:avLst/>
          </a:prstGeom>
          <a:solidFill>
            <a:srgbClr val="14284B"/>
          </a:solidFill>
          <a:ln w="12700">
            <a:solidFill>
              <a:srgbClr val="14284B"/>
            </a:solidFill>
            <a:prstDash val="solid"/>
          </a:ln>
        </p:spPr>
      </p:sp>
      <p:sp>
        <p:nvSpPr>
          <p:cNvPr id="57" name="Text 53"/>
          <p:cNvSpPr txBox="1"/>
          <p:nvPr/>
        </p:nvSpPr>
        <p:spPr>
          <a:xfrm>
            <a:off x="8129016" y="513892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58" name="Text 54"/>
          <p:cNvSpPr txBox="1"/>
          <p:nvPr/>
        </p:nvSpPr>
        <p:spPr>
          <a:xfrm>
            <a:off x="8439912" y="5102352"/>
            <a:ext cx="3300984" cy="384048"/>
          </a:xfrm>
          <a:prstGeom prst="rect">
            <a:avLst/>
          </a:prstGeom>
          <a:noFill/>
          <a:ln/>
        </p:spPr>
        <p:txBody>
          <a:bodyPr wrap="square" lIns="0" tIns="0" rIns="0" bIns="0" rtlCol="0" anchor="ctr"/>
          <a:lstStyle/>
          <a:p>
            <a:pPr indent="0" marL="0">
              <a:buNone/>
            </a:pPr>
            <a:r>
              <a:rPr lang="en-US" sz="950" b="1" dirty="0">
                <a:solidFill>
                  <a:srgbClr val="14284B"/>
                </a:solidFill>
                <a:latin typeface="Arial" pitchFamily="34" charset="0"/>
                <a:ea typeface="Arial" pitchFamily="34" charset="-122"/>
                <a:cs typeface="Arial" pitchFamily="34" charset="-120"/>
              </a:rPr>
              <a:t>Bagaimana pandangan BHP tentang kewajiban memakai BHP pada kasus tertentu?</a:t>
            </a:r>
            <a:endParaRPr lang="en-US" sz="950" dirty="0"/>
          </a:p>
        </p:txBody>
      </p:sp>
      <p:sp>
        <p:nvSpPr>
          <p:cNvPr id="59" name="Text 55"/>
          <p:cNvSpPr txBox="1"/>
          <p:nvPr/>
        </p:nvSpPr>
        <p:spPr>
          <a:xfrm>
            <a:off x="8129016" y="5486400"/>
            <a:ext cx="3611880" cy="1005840"/>
          </a:xfrm>
          <a:prstGeom prst="rect">
            <a:avLst/>
          </a:prstGeom>
          <a:noFill/>
          <a:ln/>
        </p:spPr>
        <p:txBody>
          <a:bodyPr wrap="square" lIns="0" tIns="0" rIns="0" bIns="0" rtlCol="0" anchor="t"/>
          <a:lstStyle/>
          <a:p>
            <a:pPr indent="0" marL="0">
              <a:buNone/>
            </a:pPr>
            <a:r>
              <a:rPr lang="en-US" sz="800" b="1" dirty="0">
                <a:solidFill>
                  <a:srgbClr val="14284B"/>
                </a:solidFill>
                <a:latin typeface="Arial" pitchFamily="34" charset="0"/>
                <a:ea typeface="Arial" pitchFamily="34" charset="-122"/>
                <a:cs typeface="Arial" pitchFamily="34" charset="-120"/>
              </a:rPr>
              <a:t>Setuju</a:t>
            </a:r>
            <a:pPr indent="0" marL="0">
              <a:buNone/>
            </a:pPr>
            <a:r>
              <a:rPr lang="en-US" sz="800" dirty="0">
                <a:solidFill>
                  <a:srgbClr val="1A1A1A"/>
                </a:solidFill>
                <a:latin typeface="Arial" pitchFamily="34" charset="0"/>
                <a:ea typeface="Arial" pitchFamily="34" charset="-122"/>
                <a:cs typeface="Arial" pitchFamily="34" charset="-120"/>
              </a:rPr>
              <a:t>, terutama untuk debitor yang meninggal tanpa ahli waris atau hartanya tidak terurus, debitor yang tidak diketahui keberadaannya, perkara pekerja, perkara dengan harta kecil, dan perkara yang kehilangan kurator. Di luar itu para pihak tetap bebas memilih kurator. RUU Profesi Kurator cukup memuat dasar penugasannya; kriteria dan tata cara diatur RUU Kepailitan dan PKPU.</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14284B"/>
          </a:solidFill>
          <a:ln w="12700">
            <a:solidFill>
              <a:srgbClr val="14284B"/>
            </a:solidFill>
            <a:prstDash val="solid"/>
          </a:ln>
        </p:spPr>
      </p:sp>
      <p:sp>
        <p:nvSpPr>
          <p:cNvPr id="3" name="Shape 1"/>
          <p:cNvSpPr/>
          <p:nvPr/>
        </p:nvSpPr>
        <p:spPr>
          <a:xfrm>
            <a:off x="0" y="960120"/>
            <a:ext cx="12191695" cy="45720"/>
          </a:xfrm>
          <a:prstGeom prst="rect">
            <a:avLst/>
          </a:prstGeom>
          <a:solidFill>
            <a:srgbClr val="E0A526"/>
          </a:solidFill>
          <a:ln w="12700">
            <a:solidFill>
              <a:srgbClr val="E0A526"/>
            </a:solidFill>
            <a:prstDash val="solid"/>
          </a:ln>
        </p:spPr>
      </p:sp>
      <p:pic>
        <p:nvPicPr>
          <p:cNvPr id="4" name="Image 0" descr="/home/user/SAPAWALI/presentasi/web/logo-pengayoman.png">    </p:cNvPr>
          <p:cNvPicPr>
            <a:picLocks noChangeAspect="1"/>
          </p:cNvPicPr>
          <p:nvPr/>
        </p:nvPicPr>
        <p:blipFill>
          <a:blip r:embed="rId1"/>
          <a:stretch>
            <a:fillRect/>
          </a:stretch>
        </p:blipFill>
        <p:spPr>
          <a:xfrm>
            <a:off x="411480" y="155448"/>
            <a:ext cx="658368" cy="658368"/>
          </a:xfrm>
          <a:prstGeom prst="rect">
            <a:avLst/>
          </a:prstGeom>
        </p:spPr>
      </p:pic>
      <p:pic>
        <p:nvPicPr>
          <p:cNvPr id="5" name="Image 1" descr="/home/user/SAPAWALI/presentasi/web/logo-ahu.png">    </p:cNvPr>
          <p:cNvPicPr>
            <a:picLocks noChangeAspect="1"/>
          </p:cNvPicPr>
          <p:nvPr/>
        </p:nvPicPr>
        <p:blipFill>
          <a:blip r:embed="rId2"/>
          <a:stretch>
            <a:fillRect/>
          </a:stretch>
        </p:blipFill>
        <p:spPr>
          <a:xfrm>
            <a:off x="1161288" y="155448"/>
            <a:ext cx="658368" cy="658368"/>
          </a:xfrm>
          <a:prstGeom prst="rect">
            <a:avLst/>
          </a:prstGeom>
        </p:spPr>
      </p:pic>
      <p:sp>
        <p:nvSpPr>
          <p:cNvPr id="6" name="Text 2"/>
          <p:cNvSpPr txBox="1"/>
          <p:nvPr/>
        </p:nvSpPr>
        <p:spPr>
          <a:xfrm>
            <a:off x="2002536" y="109728"/>
            <a:ext cx="8778240" cy="274320"/>
          </a:xfrm>
          <a:prstGeom prst="rect">
            <a:avLst/>
          </a:prstGeom>
          <a:noFill/>
          <a:ln/>
        </p:spPr>
        <p:txBody>
          <a:bodyPr wrap="square" lIns="0" tIns="0" rIns="0" bIns="0" rtlCol="0" anchor="ctr"/>
          <a:lstStyle/>
          <a:p>
            <a:pPr indent="0" marL="0">
              <a:buNone/>
            </a:pPr>
            <a:r>
              <a:rPr lang="en-US" sz="1050" b="1" spc="150" kern="0" dirty="0">
                <a:solidFill>
                  <a:srgbClr val="E0A526"/>
                </a:solidFill>
                <a:latin typeface="Arial" pitchFamily="34" charset="0"/>
                <a:ea typeface="Arial" pitchFamily="34" charset="-122"/>
                <a:cs typeface="Arial" pitchFamily="34" charset="-120"/>
              </a:rPr>
              <a:t>BALAI HARTA PENINGGALAN MEDAN  ·  RDP KOMISI XIII DPR RI, 6 OKTOBER 2026  ·  RUU TENTANG PROFESI KURATOR</a:t>
            </a:r>
            <a:endParaRPr lang="en-US" sz="1050" dirty="0"/>
          </a:p>
        </p:txBody>
      </p:sp>
      <p:sp>
        <p:nvSpPr>
          <p:cNvPr id="7" name="Text 3"/>
          <p:cNvSpPr txBox="1"/>
          <p:nvPr/>
        </p:nvSpPr>
        <p:spPr>
          <a:xfrm>
            <a:off x="2002536" y="365760"/>
            <a:ext cx="9052560" cy="384048"/>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Usulan Rumusan Pasal untuk RUU Profesi Kurator</a:t>
            </a:r>
            <a:endParaRPr lang="en-US" sz="2100" dirty="0"/>
          </a:p>
        </p:txBody>
      </p:sp>
      <p:sp>
        <p:nvSpPr>
          <p:cNvPr id="8" name="Text 4"/>
          <p:cNvSpPr txBox="1"/>
          <p:nvPr/>
        </p:nvSpPr>
        <p:spPr>
          <a:xfrm>
            <a:off x="2002536" y="713232"/>
            <a:ext cx="9052560" cy="228600"/>
          </a:xfrm>
          <a:prstGeom prst="rect">
            <a:avLst/>
          </a:prstGeom>
          <a:noFill/>
          <a:ln/>
        </p:spPr>
        <p:txBody>
          <a:bodyPr wrap="square" lIns="0" tIns="0" rIns="0" bIns="0" rtlCol="0" anchor="ctr"/>
          <a:lstStyle/>
          <a:p>
            <a:pPr indent="0" marL="0">
              <a:buNone/>
            </a:pPr>
            <a:r>
              <a:rPr lang="en-US" sz="1150" dirty="0">
                <a:solidFill>
                  <a:srgbClr val="DCE4F2"/>
                </a:solidFill>
                <a:latin typeface="Arial" pitchFamily="34" charset="0"/>
                <a:ea typeface="Arial" pitchFamily="34" charset="-122"/>
                <a:cs typeface="Arial" pitchFamily="34" charset="-120"/>
              </a:rPr>
              <a:t>Empat pasal yang dapat langsung dipakai, satu untuk setiap sikap, beserta catatan untuk RUU Kepailitan dan PKPU</a:t>
            </a:r>
            <a:endParaRPr lang="en-US" sz="1150" dirty="0"/>
          </a:p>
        </p:txBody>
      </p:sp>
      <p:sp>
        <p:nvSpPr>
          <p:cNvPr id="9" name="Shape 5"/>
          <p:cNvSpPr/>
          <p:nvPr/>
        </p:nvSpPr>
        <p:spPr>
          <a:xfrm>
            <a:off x="9859975" y="201168"/>
            <a:ext cx="1920240" cy="566928"/>
          </a:xfrm>
          <a:prstGeom prst="roundRect">
            <a:avLst>
              <a:gd name="adj" fmla="val 12903"/>
            </a:avLst>
          </a:prstGeom>
          <a:solidFill>
            <a:srgbClr val="E0A526"/>
          </a:solidFill>
          <a:ln w="9525">
            <a:solidFill>
              <a:srgbClr val="E0A526"/>
            </a:solidFill>
            <a:prstDash val="solid"/>
          </a:ln>
        </p:spPr>
      </p:sp>
      <p:sp>
        <p:nvSpPr>
          <p:cNvPr id="10" name="Text 6"/>
          <p:cNvSpPr txBox="1"/>
          <p:nvPr/>
        </p:nvSpPr>
        <p:spPr>
          <a:xfrm>
            <a:off x="9859975" y="201168"/>
            <a:ext cx="1920240" cy="566928"/>
          </a:xfrm>
          <a:prstGeom prst="rect">
            <a:avLst/>
          </a:prstGeom>
          <a:noFill/>
          <a:ln/>
        </p:spPr>
        <p:txBody>
          <a:bodyPr wrap="square" lIns="0" tIns="0" rIns="0" bIns="0" rtlCol="0" anchor="ctr"/>
          <a:lstStyle/>
          <a:p>
            <a:pPr algn="ctr" indent="0" marL="0">
              <a:buNone/>
            </a:pPr>
            <a:r>
              <a:rPr lang="en-US" sz="1000" b="1" spc="200" kern="0" dirty="0">
                <a:solidFill>
                  <a:srgbClr val="14284B"/>
                </a:solidFill>
                <a:latin typeface="Arial" pitchFamily="34" charset="0"/>
                <a:ea typeface="Arial" pitchFamily="34" charset="-122"/>
                <a:cs typeface="Arial" pitchFamily="34" charset="-120"/>
              </a:rPr>
              <a:t>KLASTER 1</a:t>
            </a:r>
            <a:endParaRPr lang="en-US" sz="1000" dirty="0"/>
          </a:p>
          <a:p>
            <a:pPr algn="ctr" indent="0" marL="0">
              <a:buNone/>
            </a:pPr>
            <a:r>
              <a:rPr lang="en-US" sz="1100" b="1" dirty="0">
                <a:solidFill>
                  <a:srgbClr val="14284B"/>
                </a:solidFill>
                <a:latin typeface="Arial" pitchFamily="34" charset="0"/>
                <a:ea typeface="Arial" pitchFamily="34" charset="-122"/>
                <a:cs typeface="Arial" pitchFamily="34" charset="-120"/>
              </a:rPr>
              <a:t>Slide 2 dari 2</a:t>
            </a:r>
            <a:endParaRPr lang="en-US" sz="1000" dirty="0"/>
          </a:p>
        </p:txBody>
      </p:sp>
      <p:sp>
        <p:nvSpPr>
          <p:cNvPr id="11" name="Text 7"/>
          <p:cNvSpPr txBox="1"/>
          <p:nvPr/>
        </p:nvSpPr>
        <p:spPr>
          <a:xfrm>
            <a:off x="411480" y="6556248"/>
            <a:ext cx="11338560" cy="228600"/>
          </a:xfrm>
          <a:prstGeom prst="rect">
            <a:avLst/>
          </a:prstGeom>
          <a:noFill/>
          <a:ln/>
        </p:spPr>
        <p:txBody>
          <a:bodyPr wrap="square" lIns="0" tIns="0" rIns="0" bIns="0" rtlCol="0" anchor="ctr"/>
          <a:lstStyle/>
          <a:p>
            <a:pPr indent="0" marL="0">
              <a:buNone/>
            </a:pPr>
            <a:r>
              <a:rPr lang="en-US" sz="850" dirty="0">
                <a:solidFill>
                  <a:srgbClr val="4A5568"/>
                </a:solidFill>
                <a:latin typeface="Arial" pitchFamily="34" charset="0"/>
                <a:ea typeface="Arial" pitchFamily="34" charset="-122"/>
                <a:cs typeface="Arial" pitchFamily="34" charset="-120"/>
              </a:rPr>
              <a:t>Sumber: Bahan Masukan BHP Medan, Poin 1 Kewenangan dan Pembagian Peran Kurator (Medan, 2 Oktober 2026). Kepala BHP Medan: Syafriadi Lubis, M.H.</a:t>
            </a:r>
            <a:endParaRPr lang="en-US" sz="850" dirty="0"/>
          </a:p>
        </p:txBody>
      </p:sp>
      <p:sp>
        <p:nvSpPr>
          <p:cNvPr id="12" name="Shape 8"/>
          <p:cNvSpPr/>
          <p:nvPr/>
        </p:nvSpPr>
        <p:spPr>
          <a:xfrm>
            <a:off x="411480" y="1188720"/>
            <a:ext cx="5577840" cy="2130552"/>
          </a:xfrm>
          <a:prstGeom prst="roundRect">
            <a:avLst>
              <a:gd name="adj" fmla="val 3433"/>
            </a:avLst>
          </a:prstGeom>
          <a:solidFill>
            <a:srgbClr val="FFFFFF"/>
          </a:solidFill>
          <a:ln w="9525">
            <a:solidFill>
              <a:srgbClr val="C9D3E3"/>
            </a:solidFill>
            <a:prstDash val="solid"/>
          </a:ln>
        </p:spPr>
      </p:sp>
      <p:sp>
        <p:nvSpPr>
          <p:cNvPr id="13" name="Shape 9"/>
          <p:cNvSpPr/>
          <p:nvPr/>
        </p:nvSpPr>
        <p:spPr>
          <a:xfrm>
            <a:off x="411480" y="1188720"/>
            <a:ext cx="5577840" cy="384048"/>
          </a:xfrm>
          <a:prstGeom prst="rect">
            <a:avLst/>
          </a:prstGeom>
          <a:solidFill>
            <a:srgbClr val="14284B"/>
          </a:solidFill>
          <a:ln w="12700">
            <a:solidFill>
              <a:srgbClr val="14284B"/>
            </a:solidFill>
            <a:prstDash val="solid"/>
          </a:ln>
        </p:spPr>
      </p:sp>
      <p:sp>
        <p:nvSpPr>
          <p:cNvPr id="14" name="Text 10"/>
          <p:cNvSpPr txBox="1"/>
          <p:nvPr/>
        </p:nvSpPr>
        <p:spPr>
          <a:xfrm>
            <a:off x="594360" y="1188720"/>
            <a:ext cx="3200400" cy="384048"/>
          </a:xfrm>
          <a:prstGeom prst="rect">
            <a:avLst/>
          </a:prstGeom>
          <a:noFill/>
          <a:ln/>
        </p:spPr>
        <p:txBody>
          <a:bodyPr wrap="square" lIns="0" tIns="0" rIns="0" bIns="0" rtlCol="0" anchor="ctr"/>
          <a:lstStyle/>
          <a:p>
            <a:pPr indent="0" marL="0">
              <a:buNone/>
            </a:pPr>
            <a:r>
              <a:rPr lang="en-US" sz="1300" b="1" dirty="0">
                <a:solidFill>
                  <a:srgbClr val="E0A526"/>
                </a:solidFill>
                <a:latin typeface="Arial" pitchFamily="34" charset="0"/>
                <a:ea typeface="Arial" pitchFamily="34" charset="-122"/>
                <a:cs typeface="Arial" pitchFamily="34" charset="-120"/>
              </a:rPr>
              <a:t>Pasal A  </a:t>
            </a:r>
            <a:pPr indent="0" marL="0">
              <a:buNone/>
            </a:pPr>
            <a:r>
              <a:rPr lang="en-US" sz="1200" b="1" dirty="0">
                <a:solidFill>
                  <a:srgbClr val="FFFFFF"/>
                </a:solidFill>
                <a:latin typeface="Arial" pitchFamily="34" charset="0"/>
                <a:ea typeface="Arial" pitchFamily="34" charset="-122"/>
                <a:cs typeface="Arial" pitchFamily="34" charset="-120"/>
              </a:rPr>
              <a:t>Kedudukan BHP</a:t>
            </a:r>
            <a:endParaRPr lang="en-US" sz="1300" dirty="0"/>
          </a:p>
        </p:txBody>
      </p:sp>
      <p:sp>
        <p:nvSpPr>
          <p:cNvPr id="15" name="Text 11"/>
          <p:cNvSpPr txBox="1"/>
          <p:nvPr/>
        </p:nvSpPr>
        <p:spPr>
          <a:xfrm>
            <a:off x="3383280" y="1188720"/>
            <a:ext cx="2468880" cy="384048"/>
          </a:xfrm>
          <a:prstGeom prst="rect">
            <a:avLst/>
          </a:prstGeom>
          <a:noFill/>
          <a:ln/>
        </p:spPr>
        <p:txBody>
          <a:bodyPr wrap="square" lIns="0" tIns="0" rIns="0" bIns="0" rtlCol="0" anchor="ctr"/>
          <a:lstStyle/>
          <a:p>
            <a:pPr algn="r" indent="0" marL="0">
              <a:buNone/>
            </a:pPr>
            <a:r>
              <a:rPr lang="en-US" sz="850" dirty="0">
                <a:solidFill>
                  <a:srgbClr val="DCE4F2"/>
                </a:solidFill>
                <a:latin typeface="Arial" pitchFamily="34" charset="0"/>
                <a:ea typeface="Arial" pitchFamily="34" charset="-122"/>
                <a:cs typeface="Arial" pitchFamily="34" charset="-120"/>
              </a:rPr>
              <a:t>Menjawab Sikap 1: kedudukan BHP sebagai lembaga negara</a:t>
            </a:r>
            <a:endParaRPr lang="en-US" sz="850" dirty="0"/>
          </a:p>
        </p:txBody>
      </p:sp>
      <p:sp>
        <p:nvSpPr>
          <p:cNvPr id="16" name="Text 12"/>
          <p:cNvSpPr txBox="1"/>
          <p:nvPr/>
        </p:nvSpPr>
        <p:spPr>
          <a:xfrm>
            <a:off x="594360" y="1645920"/>
            <a:ext cx="5212080" cy="1600200"/>
          </a:xfrm>
          <a:prstGeom prst="rect">
            <a:avLst/>
          </a:prstGeom>
          <a:noFill/>
          <a:ln/>
        </p:spPr>
        <p:txBody>
          <a:bodyPr wrap="square" lIns="0" tIns="0" rIns="0" bIns="0" rtlCol="0" anchor="t"/>
          <a:lstStyle/>
          <a:p>
            <a:pPr indent="0" marL="0">
              <a:spcAft>
                <a:spcPts val="300"/>
              </a:spcAft>
              <a:buNone/>
            </a:pPr>
            <a:r>
              <a:rPr lang="en-US" sz="950" b="1" dirty="0">
                <a:solidFill>
                  <a:srgbClr val="14284B"/>
                </a:solidFill>
                <a:latin typeface="Arial" pitchFamily="34" charset="0"/>
                <a:ea typeface="Arial" pitchFamily="34" charset="-122"/>
                <a:cs typeface="Arial" pitchFamily="34" charset="-120"/>
              </a:rPr>
              <a:t>(1)  </a:t>
            </a:r>
            <a:pPr indent="0" marL="0">
              <a:spcAft>
                <a:spcPts val="300"/>
              </a:spcAft>
              <a:buNone/>
            </a:pPr>
            <a:r>
              <a:rPr lang="en-US" sz="950" dirty="0">
                <a:solidFill>
                  <a:srgbClr val="1A1A1A"/>
                </a:solidFill>
                <a:latin typeface="Arial" pitchFamily="34" charset="0"/>
                <a:ea typeface="Arial" pitchFamily="34" charset="-122"/>
                <a:cs typeface="Arial" pitchFamily="34" charset="-120"/>
              </a:rPr>
              <a:t>Kurator terdiri atas Balai Harta Peninggalan dan Kurator perseorangan.</a:t>
            </a:r>
            <a:endParaRPr lang="en-US" sz="950" dirty="0"/>
          </a:p>
          <a:p>
            <a:pPr indent="0" marL="0">
              <a:spcAft>
                <a:spcPts val="300"/>
              </a:spcAft>
              <a:buNone/>
            </a:pPr>
            <a:r>
              <a:rPr lang="en-US" sz="950" b="1" dirty="0">
                <a:solidFill>
                  <a:srgbClr val="14284B"/>
                </a:solidFill>
                <a:latin typeface="Arial" pitchFamily="34" charset="0"/>
                <a:ea typeface="Arial" pitchFamily="34" charset="-122"/>
                <a:cs typeface="Arial" pitchFamily="34" charset="-120"/>
              </a:rPr>
              <a:t>(2)  </a:t>
            </a:r>
            <a:pPr indent="0" marL="0">
              <a:spcAft>
                <a:spcPts val="300"/>
              </a:spcAft>
              <a:buNone/>
            </a:pPr>
            <a:r>
              <a:rPr lang="en-US" sz="950" dirty="0">
                <a:solidFill>
                  <a:srgbClr val="1A1A1A"/>
                </a:solidFill>
                <a:latin typeface="Arial" pitchFamily="34" charset="0"/>
                <a:ea typeface="Arial" pitchFamily="34" charset="-122"/>
                <a:cs typeface="Arial" pitchFamily="34" charset="-120"/>
              </a:rPr>
              <a:t>Balai Harta Peninggalan merupakan lembaga negara yang menjalankan tugas Kurator dan Pengurus berdasarkan undang-undang, dan tidak memerlukan izin atau pendaftaran.</a:t>
            </a:r>
            <a:endParaRPr lang="en-US" sz="950" dirty="0"/>
          </a:p>
          <a:p>
            <a:pPr indent="0" marL="0">
              <a:spcAft>
                <a:spcPts val="300"/>
              </a:spcAft>
              <a:buNone/>
            </a:pPr>
            <a:r>
              <a:rPr lang="en-US" sz="950" b="1" dirty="0">
                <a:solidFill>
                  <a:srgbClr val="14284B"/>
                </a:solidFill>
                <a:latin typeface="Arial" pitchFamily="34" charset="0"/>
                <a:ea typeface="Arial" pitchFamily="34" charset="-122"/>
                <a:cs typeface="Arial" pitchFamily="34" charset="-120"/>
              </a:rPr>
              <a:t>(3)  </a:t>
            </a:r>
            <a:pPr indent="0" marL="0">
              <a:spcAft>
                <a:spcPts val="300"/>
              </a:spcAft>
              <a:buNone/>
            </a:pPr>
            <a:r>
              <a:rPr lang="en-US" sz="950" dirty="0">
                <a:solidFill>
                  <a:srgbClr val="1A1A1A"/>
                </a:solidFill>
                <a:latin typeface="Arial" pitchFamily="34" charset="0"/>
                <a:ea typeface="Arial" pitchFamily="34" charset="-122"/>
                <a:cs typeface="Arial" pitchFamily="34" charset="-120"/>
              </a:rPr>
              <a:t>Tugas Kurator dan Pengurus pada Balai Harta Peninggalan dilaksanakan oleh pejabat fungsional Kurator Keperdataan.</a:t>
            </a:r>
            <a:endParaRPr lang="en-US" sz="950" dirty="0"/>
          </a:p>
          <a:p>
            <a:pPr indent="0" marL="0">
              <a:spcAft>
                <a:spcPts val="300"/>
              </a:spcAft>
              <a:buNone/>
            </a:pPr>
            <a:r>
              <a:rPr lang="en-US" sz="950" b="1" i="1" dirty="0">
                <a:solidFill>
                  <a:srgbClr val="8A6100"/>
                </a:solidFill>
                <a:latin typeface="Arial" pitchFamily="34" charset="0"/>
                <a:ea typeface="Arial" pitchFamily="34" charset="-122"/>
                <a:cs typeface="Arial" pitchFamily="34" charset="-120"/>
              </a:rPr>
              <a:t>Analisis. </a:t>
            </a:r>
            <a:pPr indent="0" marL="0">
              <a:spcAft>
                <a:spcPts val="300"/>
              </a:spcAft>
              <a:buNone/>
            </a:pPr>
            <a:r>
              <a:rPr lang="en-US" sz="950" i="1" dirty="0">
                <a:solidFill>
                  <a:srgbClr val="2D3748"/>
                </a:solidFill>
                <a:latin typeface="Arial" pitchFamily="34" charset="0"/>
                <a:ea typeface="Arial" pitchFamily="34" charset="-122"/>
                <a:cs typeface="Arial" pitchFamily="34" charset="-120"/>
              </a:rPr>
              <a:t>Pasal ini memastikan BHP masuk dalam sistem profesi kurator tanpa harus mengikuti aturan izin yang dirancang untuk orang perseorangan.</a:t>
            </a:r>
            <a:endParaRPr lang="en-US" sz="950" dirty="0"/>
          </a:p>
        </p:txBody>
      </p:sp>
      <p:sp>
        <p:nvSpPr>
          <p:cNvPr id="17" name="Shape 13"/>
          <p:cNvSpPr/>
          <p:nvPr/>
        </p:nvSpPr>
        <p:spPr>
          <a:xfrm>
            <a:off x="6199632" y="1188720"/>
            <a:ext cx="5577840" cy="2130552"/>
          </a:xfrm>
          <a:prstGeom prst="roundRect">
            <a:avLst>
              <a:gd name="adj" fmla="val 3433"/>
            </a:avLst>
          </a:prstGeom>
          <a:solidFill>
            <a:srgbClr val="FFFFFF"/>
          </a:solidFill>
          <a:ln w="9525">
            <a:solidFill>
              <a:srgbClr val="C9D3E3"/>
            </a:solidFill>
            <a:prstDash val="solid"/>
          </a:ln>
        </p:spPr>
      </p:sp>
      <p:sp>
        <p:nvSpPr>
          <p:cNvPr id="18" name="Shape 14"/>
          <p:cNvSpPr/>
          <p:nvPr/>
        </p:nvSpPr>
        <p:spPr>
          <a:xfrm>
            <a:off x="6199632" y="1188720"/>
            <a:ext cx="5577840" cy="384048"/>
          </a:xfrm>
          <a:prstGeom prst="rect">
            <a:avLst/>
          </a:prstGeom>
          <a:solidFill>
            <a:srgbClr val="14284B"/>
          </a:solidFill>
          <a:ln w="12700">
            <a:solidFill>
              <a:srgbClr val="14284B"/>
            </a:solidFill>
            <a:prstDash val="solid"/>
          </a:ln>
        </p:spPr>
      </p:sp>
      <p:sp>
        <p:nvSpPr>
          <p:cNvPr id="19" name="Text 15"/>
          <p:cNvSpPr txBox="1"/>
          <p:nvPr/>
        </p:nvSpPr>
        <p:spPr>
          <a:xfrm>
            <a:off x="6382512" y="1188720"/>
            <a:ext cx="3200400" cy="384048"/>
          </a:xfrm>
          <a:prstGeom prst="rect">
            <a:avLst/>
          </a:prstGeom>
          <a:noFill/>
          <a:ln/>
        </p:spPr>
        <p:txBody>
          <a:bodyPr wrap="square" lIns="0" tIns="0" rIns="0" bIns="0" rtlCol="0" anchor="ctr"/>
          <a:lstStyle/>
          <a:p>
            <a:pPr indent="0" marL="0">
              <a:buNone/>
            </a:pPr>
            <a:r>
              <a:rPr lang="en-US" sz="1300" b="1" dirty="0">
                <a:solidFill>
                  <a:srgbClr val="E0A526"/>
                </a:solidFill>
                <a:latin typeface="Arial" pitchFamily="34" charset="0"/>
                <a:ea typeface="Arial" pitchFamily="34" charset="-122"/>
                <a:cs typeface="Arial" pitchFamily="34" charset="-120"/>
              </a:rPr>
              <a:t>Pasal B  </a:t>
            </a:r>
            <a:pPr indent="0" marL="0">
              <a:buNone/>
            </a:pPr>
            <a:r>
              <a:rPr lang="en-US" sz="1200" b="1" dirty="0">
                <a:solidFill>
                  <a:srgbClr val="FFFFFF"/>
                </a:solidFill>
                <a:latin typeface="Arial" pitchFamily="34" charset="0"/>
                <a:ea typeface="Arial" pitchFamily="34" charset="-122"/>
                <a:cs typeface="Arial" pitchFamily="34" charset="-120"/>
              </a:rPr>
              <a:t>Pembagian Peran</a:t>
            </a:r>
            <a:endParaRPr lang="en-US" sz="1300" dirty="0"/>
          </a:p>
        </p:txBody>
      </p:sp>
      <p:sp>
        <p:nvSpPr>
          <p:cNvPr id="20" name="Text 16"/>
          <p:cNvSpPr txBox="1"/>
          <p:nvPr/>
        </p:nvSpPr>
        <p:spPr>
          <a:xfrm>
            <a:off x="9171432" y="1188720"/>
            <a:ext cx="2468880" cy="384048"/>
          </a:xfrm>
          <a:prstGeom prst="rect">
            <a:avLst/>
          </a:prstGeom>
          <a:noFill/>
          <a:ln/>
        </p:spPr>
        <p:txBody>
          <a:bodyPr wrap="square" lIns="0" tIns="0" rIns="0" bIns="0" rtlCol="0" anchor="ctr"/>
          <a:lstStyle/>
          <a:p>
            <a:pPr algn="r" indent="0" marL="0">
              <a:buNone/>
            </a:pPr>
            <a:r>
              <a:rPr lang="en-US" sz="850" dirty="0">
                <a:solidFill>
                  <a:srgbClr val="DCE4F2"/>
                </a:solidFill>
                <a:latin typeface="Arial" pitchFamily="34" charset="0"/>
                <a:ea typeface="Arial" pitchFamily="34" charset="-122"/>
                <a:cs typeface="Arial" pitchFamily="34" charset="-120"/>
              </a:rPr>
              <a:t>Menjawab Sikap 3: pembagian peran yang tegas</a:t>
            </a:r>
            <a:endParaRPr lang="en-US" sz="850" dirty="0"/>
          </a:p>
        </p:txBody>
      </p:sp>
      <p:sp>
        <p:nvSpPr>
          <p:cNvPr id="21" name="Text 17"/>
          <p:cNvSpPr txBox="1"/>
          <p:nvPr/>
        </p:nvSpPr>
        <p:spPr>
          <a:xfrm>
            <a:off x="6382512" y="1645920"/>
            <a:ext cx="5212080" cy="1600200"/>
          </a:xfrm>
          <a:prstGeom prst="rect">
            <a:avLst/>
          </a:prstGeom>
          <a:noFill/>
          <a:ln/>
        </p:spPr>
        <p:txBody>
          <a:bodyPr wrap="square" lIns="0" tIns="0" rIns="0" bIns="0" rtlCol="0" anchor="t"/>
          <a:lstStyle/>
          <a:p>
            <a:pPr indent="0" marL="0">
              <a:spcAft>
                <a:spcPts val="300"/>
              </a:spcAft>
              <a:buNone/>
            </a:pPr>
            <a:r>
              <a:rPr lang="en-US" sz="950" b="1" dirty="0">
                <a:solidFill>
                  <a:srgbClr val="14284B"/>
                </a:solidFill>
                <a:latin typeface="Arial" pitchFamily="34" charset="0"/>
                <a:ea typeface="Arial" pitchFamily="34" charset="-122"/>
                <a:cs typeface="Arial" pitchFamily="34" charset="-120"/>
              </a:rPr>
              <a:t>(1)  </a:t>
            </a:r>
            <a:pPr indent="0" marL="0">
              <a:spcAft>
                <a:spcPts val="300"/>
              </a:spcAft>
              <a:buNone/>
            </a:pPr>
            <a:r>
              <a:rPr lang="en-US" sz="950" dirty="0">
                <a:solidFill>
                  <a:srgbClr val="1A1A1A"/>
                </a:solidFill>
                <a:latin typeface="Arial" pitchFamily="34" charset="0"/>
                <a:ea typeface="Arial" pitchFamily="34" charset="-122"/>
                <a:cs typeface="Arial" pitchFamily="34" charset="-120"/>
              </a:rPr>
              <a:t>Balai Harta Peninggalan menjalankan tugas Kurator dan Pengurus pada perkara yang menyangkut kepentingan publik, hak pekerja, harta peninggalan yang tidak terurus, Debitor yang tidak diketahui keberadaannya, dan perkara dengan nilai harta kecil.</a:t>
            </a:r>
            <a:endParaRPr lang="en-US" sz="950" dirty="0"/>
          </a:p>
          <a:p>
            <a:pPr indent="0" marL="0">
              <a:spcAft>
                <a:spcPts val="300"/>
              </a:spcAft>
              <a:buNone/>
            </a:pPr>
            <a:r>
              <a:rPr lang="en-US" sz="950" b="1" dirty="0">
                <a:solidFill>
                  <a:srgbClr val="14284B"/>
                </a:solidFill>
                <a:latin typeface="Arial" pitchFamily="34" charset="0"/>
                <a:ea typeface="Arial" pitchFamily="34" charset="-122"/>
                <a:cs typeface="Arial" pitchFamily="34" charset="-120"/>
              </a:rPr>
              <a:t>(2)  </a:t>
            </a:r>
            <a:pPr indent="0" marL="0">
              <a:spcAft>
                <a:spcPts val="300"/>
              </a:spcAft>
              <a:buNone/>
            </a:pPr>
            <a:r>
              <a:rPr lang="en-US" sz="950" dirty="0">
                <a:solidFill>
                  <a:srgbClr val="1A1A1A"/>
                </a:solidFill>
                <a:latin typeface="Arial" pitchFamily="34" charset="0"/>
                <a:ea typeface="Arial" pitchFamily="34" charset="-122"/>
                <a:cs typeface="Arial" pitchFamily="34" charset="-120"/>
              </a:rPr>
              <a:t>Di luar perkara sebagaimana dimaksud pada ayat (1), Kurator dan Pengurus diangkat berdasarkan usulan para pihak.</a:t>
            </a:r>
            <a:endParaRPr lang="en-US" sz="950" dirty="0"/>
          </a:p>
          <a:p>
            <a:pPr indent="0" marL="0">
              <a:spcAft>
                <a:spcPts val="300"/>
              </a:spcAft>
              <a:buNone/>
            </a:pPr>
            <a:r>
              <a:rPr lang="en-US" sz="950" b="1" dirty="0">
                <a:solidFill>
                  <a:srgbClr val="14284B"/>
                </a:solidFill>
                <a:latin typeface="Arial" pitchFamily="34" charset="0"/>
                <a:ea typeface="Arial" pitchFamily="34" charset="-122"/>
                <a:cs typeface="Arial" pitchFamily="34" charset="-120"/>
              </a:rPr>
              <a:t>(3)  </a:t>
            </a:r>
            <a:pPr indent="0" marL="0">
              <a:spcAft>
                <a:spcPts val="300"/>
              </a:spcAft>
              <a:buNone/>
            </a:pPr>
            <a:r>
              <a:rPr lang="en-US" sz="950" dirty="0">
                <a:solidFill>
                  <a:srgbClr val="1A1A1A"/>
                </a:solidFill>
                <a:latin typeface="Arial" pitchFamily="34" charset="0"/>
                <a:ea typeface="Arial" pitchFamily="34" charset="-122"/>
                <a:cs typeface="Arial" pitchFamily="34" charset="-120"/>
              </a:rPr>
              <a:t>Kriteria dan tata cara penunjukan sebagaimana dimaksud pada ayat (1) diatur dalam undang-undang mengenai kepailitan dan penundaan kewajiban pembayaran utang.</a:t>
            </a:r>
            <a:endParaRPr lang="en-US" sz="950" dirty="0"/>
          </a:p>
          <a:p>
            <a:pPr indent="0" marL="0">
              <a:spcAft>
                <a:spcPts val="300"/>
              </a:spcAft>
              <a:buNone/>
            </a:pPr>
            <a:r>
              <a:rPr lang="en-US" sz="950" b="1" i="1" dirty="0">
                <a:solidFill>
                  <a:srgbClr val="8A6100"/>
                </a:solidFill>
                <a:latin typeface="Arial" pitchFamily="34" charset="0"/>
                <a:ea typeface="Arial" pitchFamily="34" charset="-122"/>
                <a:cs typeface="Arial" pitchFamily="34" charset="-120"/>
              </a:rPr>
              <a:t>Analisis. </a:t>
            </a:r>
            <a:pPr indent="0" marL="0">
              <a:spcAft>
                <a:spcPts val="300"/>
              </a:spcAft>
              <a:buNone/>
            </a:pPr>
            <a:r>
              <a:rPr lang="en-US" sz="950" i="1" dirty="0">
                <a:solidFill>
                  <a:srgbClr val="2D3748"/>
                </a:solidFill>
                <a:latin typeface="Arial" pitchFamily="34" charset="0"/>
                <a:ea typeface="Arial" pitchFamily="34" charset="-122"/>
                <a:cs typeface="Arial" pitchFamily="34" charset="-120"/>
              </a:rPr>
              <a:t>Pasal ini memberi kepastian pembagian peran tanpa mengulang materi hukum acara kepailitan, sehingga RUU Profesi Kurator tetap selaras dengan RUU Kepailitan dan PKPU.</a:t>
            </a:r>
            <a:endParaRPr lang="en-US" sz="950" dirty="0"/>
          </a:p>
        </p:txBody>
      </p:sp>
      <p:sp>
        <p:nvSpPr>
          <p:cNvPr id="22" name="Shape 18"/>
          <p:cNvSpPr/>
          <p:nvPr/>
        </p:nvSpPr>
        <p:spPr>
          <a:xfrm>
            <a:off x="411480" y="3529584"/>
            <a:ext cx="5577840" cy="2130552"/>
          </a:xfrm>
          <a:prstGeom prst="roundRect">
            <a:avLst>
              <a:gd name="adj" fmla="val 3433"/>
            </a:avLst>
          </a:prstGeom>
          <a:solidFill>
            <a:srgbClr val="FFFFFF"/>
          </a:solidFill>
          <a:ln w="9525">
            <a:solidFill>
              <a:srgbClr val="C9D3E3"/>
            </a:solidFill>
            <a:prstDash val="solid"/>
          </a:ln>
        </p:spPr>
      </p:sp>
      <p:sp>
        <p:nvSpPr>
          <p:cNvPr id="23" name="Shape 19"/>
          <p:cNvSpPr/>
          <p:nvPr/>
        </p:nvSpPr>
        <p:spPr>
          <a:xfrm>
            <a:off x="411480" y="3529584"/>
            <a:ext cx="5577840" cy="384048"/>
          </a:xfrm>
          <a:prstGeom prst="rect">
            <a:avLst/>
          </a:prstGeom>
          <a:solidFill>
            <a:srgbClr val="14284B"/>
          </a:solidFill>
          <a:ln w="12700">
            <a:solidFill>
              <a:srgbClr val="14284B"/>
            </a:solidFill>
            <a:prstDash val="solid"/>
          </a:ln>
        </p:spPr>
      </p:sp>
      <p:sp>
        <p:nvSpPr>
          <p:cNvPr id="24" name="Text 20"/>
          <p:cNvSpPr txBox="1"/>
          <p:nvPr/>
        </p:nvSpPr>
        <p:spPr>
          <a:xfrm>
            <a:off x="594360" y="3529584"/>
            <a:ext cx="3200400" cy="384048"/>
          </a:xfrm>
          <a:prstGeom prst="rect">
            <a:avLst/>
          </a:prstGeom>
          <a:noFill/>
          <a:ln/>
        </p:spPr>
        <p:txBody>
          <a:bodyPr wrap="square" lIns="0" tIns="0" rIns="0" bIns="0" rtlCol="0" anchor="ctr"/>
          <a:lstStyle/>
          <a:p>
            <a:pPr indent="0" marL="0">
              <a:buNone/>
            </a:pPr>
            <a:r>
              <a:rPr lang="en-US" sz="1300" b="1" dirty="0">
                <a:solidFill>
                  <a:srgbClr val="E0A526"/>
                </a:solidFill>
                <a:latin typeface="Arial" pitchFamily="34" charset="0"/>
                <a:ea typeface="Arial" pitchFamily="34" charset="-122"/>
                <a:cs typeface="Arial" pitchFamily="34" charset="-120"/>
              </a:rPr>
              <a:t>Pasal C  </a:t>
            </a:r>
            <a:pPr indent="0" marL="0">
              <a:buNone/>
            </a:pPr>
            <a:r>
              <a:rPr lang="en-US" sz="1200" b="1" dirty="0">
                <a:solidFill>
                  <a:srgbClr val="FFFFFF"/>
                </a:solidFill>
                <a:latin typeface="Arial" pitchFamily="34" charset="0"/>
                <a:ea typeface="Arial" pitchFamily="34" charset="-122"/>
                <a:cs typeface="Arial" pitchFamily="34" charset="-120"/>
              </a:rPr>
              <a:t>Standar dan Pembinaan BHP</a:t>
            </a:r>
            <a:endParaRPr lang="en-US" sz="1300" dirty="0"/>
          </a:p>
        </p:txBody>
      </p:sp>
      <p:sp>
        <p:nvSpPr>
          <p:cNvPr id="25" name="Text 21"/>
          <p:cNvSpPr txBox="1"/>
          <p:nvPr/>
        </p:nvSpPr>
        <p:spPr>
          <a:xfrm>
            <a:off x="3383280" y="3529584"/>
            <a:ext cx="2468880" cy="384048"/>
          </a:xfrm>
          <a:prstGeom prst="rect">
            <a:avLst/>
          </a:prstGeom>
          <a:noFill/>
          <a:ln/>
        </p:spPr>
        <p:txBody>
          <a:bodyPr wrap="square" lIns="0" tIns="0" rIns="0" bIns="0" rtlCol="0" anchor="ctr"/>
          <a:lstStyle/>
          <a:p>
            <a:pPr algn="r" indent="0" marL="0">
              <a:buNone/>
            </a:pPr>
            <a:r>
              <a:rPr lang="en-US" sz="850" dirty="0">
                <a:solidFill>
                  <a:srgbClr val="DCE4F2"/>
                </a:solidFill>
                <a:latin typeface="Arial" pitchFamily="34" charset="0"/>
                <a:ea typeface="Arial" pitchFamily="34" charset="-122"/>
                <a:cs typeface="Arial" pitchFamily="34" charset="-120"/>
              </a:rPr>
              <a:t>Menjawab Sikap 2: satu standar profesi untuk semua kurator</a:t>
            </a:r>
            <a:endParaRPr lang="en-US" sz="850" dirty="0"/>
          </a:p>
        </p:txBody>
      </p:sp>
      <p:sp>
        <p:nvSpPr>
          <p:cNvPr id="26" name="Text 22"/>
          <p:cNvSpPr txBox="1"/>
          <p:nvPr/>
        </p:nvSpPr>
        <p:spPr>
          <a:xfrm>
            <a:off x="594360" y="3986784"/>
            <a:ext cx="5212080" cy="1600200"/>
          </a:xfrm>
          <a:prstGeom prst="rect">
            <a:avLst/>
          </a:prstGeom>
          <a:noFill/>
          <a:ln/>
        </p:spPr>
        <p:txBody>
          <a:bodyPr wrap="square" lIns="0" tIns="0" rIns="0" bIns="0" rtlCol="0" anchor="t"/>
          <a:lstStyle/>
          <a:p>
            <a:pPr indent="0" marL="0">
              <a:spcAft>
                <a:spcPts val="300"/>
              </a:spcAft>
              <a:buNone/>
            </a:pPr>
            <a:r>
              <a:rPr lang="en-US" sz="950" b="1" dirty="0">
                <a:solidFill>
                  <a:srgbClr val="14284B"/>
                </a:solidFill>
                <a:latin typeface="Arial" pitchFamily="34" charset="0"/>
                <a:ea typeface="Arial" pitchFamily="34" charset="-122"/>
                <a:cs typeface="Arial" pitchFamily="34" charset="-120"/>
              </a:rPr>
              <a:t>(1)  </a:t>
            </a:r>
            <a:pPr indent="0" marL="0">
              <a:spcAft>
                <a:spcPts val="300"/>
              </a:spcAft>
              <a:buNone/>
            </a:pPr>
            <a:r>
              <a:rPr lang="en-US" sz="950" dirty="0">
                <a:solidFill>
                  <a:srgbClr val="1A1A1A"/>
                </a:solidFill>
                <a:latin typeface="Arial" pitchFamily="34" charset="0"/>
                <a:ea typeface="Arial" pitchFamily="34" charset="-122"/>
                <a:cs typeface="Arial" pitchFamily="34" charset="-120"/>
              </a:rPr>
              <a:t>Balai Harta Peninggalan tunduk pada standar profesi dan kode etik Kurator yang sama dengan Kurator perseorangan.</a:t>
            </a:r>
            <a:endParaRPr lang="en-US" sz="950" dirty="0"/>
          </a:p>
          <a:p>
            <a:pPr indent="0" marL="0">
              <a:spcAft>
                <a:spcPts val="300"/>
              </a:spcAft>
              <a:buNone/>
            </a:pPr>
            <a:r>
              <a:rPr lang="en-US" sz="950" b="1" dirty="0">
                <a:solidFill>
                  <a:srgbClr val="14284B"/>
                </a:solidFill>
                <a:latin typeface="Arial" pitchFamily="34" charset="0"/>
                <a:ea typeface="Arial" pitchFamily="34" charset="-122"/>
                <a:cs typeface="Arial" pitchFamily="34" charset="-120"/>
              </a:rPr>
              <a:t>(2)  </a:t>
            </a:r>
            <a:pPr indent="0" marL="0">
              <a:spcAft>
                <a:spcPts val="300"/>
              </a:spcAft>
              <a:buNone/>
            </a:pPr>
            <a:r>
              <a:rPr lang="en-US" sz="950" dirty="0">
                <a:solidFill>
                  <a:srgbClr val="1A1A1A"/>
                </a:solidFill>
                <a:latin typeface="Arial" pitchFamily="34" charset="0"/>
                <a:ea typeface="Arial" pitchFamily="34" charset="-122"/>
                <a:cs typeface="Arial" pitchFamily="34" charset="-120"/>
              </a:rPr>
              <a:t>Pembinaan dan pengawasan terhadap Balai Harta Peninggalan dilakukan oleh Menteri dengan melibatkan unsur lembaga pengawas profesi.</a:t>
            </a:r>
            <a:endParaRPr lang="en-US" sz="950" dirty="0"/>
          </a:p>
          <a:p>
            <a:pPr indent="0" marL="0">
              <a:spcAft>
                <a:spcPts val="300"/>
              </a:spcAft>
              <a:buNone/>
            </a:pPr>
            <a:r>
              <a:rPr lang="en-US" sz="950" b="1" i="1" dirty="0">
                <a:solidFill>
                  <a:srgbClr val="8A6100"/>
                </a:solidFill>
                <a:latin typeface="Arial" pitchFamily="34" charset="0"/>
                <a:ea typeface="Arial" pitchFamily="34" charset="-122"/>
                <a:cs typeface="Arial" pitchFamily="34" charset="-120"/>
              </a:rPr>
              <a:t>Analisis. </a:t>
            </a:r>
            <a:pPr indent="0" marL="0">
              <a:spcAft>
                <a:spcPts val="300"/>
              </a:spcAft>
              <a:buNone/>
            </a:pPr>
            <a:r>
              <a:rPr lang="en-US" sz="950" i="1" dirty="0">
                <a:solidFill>
                  <a:srgbClr val="2D3748"/>
                </a:solidFill>
                <a:latin typeface="Arial" pitchFamily="34" charset="0"/>
                <a:ea typeface="Arial" pitchFamily="34" charset="-122"/>
                <a:cs typeface="Arial" pitchFamily="34" charset="-120"/>
              </a:rPr>
              <a:t>Status lembaga negara tidak boleh menjadi keistimewaan. Standarnya satu, hanya jalur pembinaannya yang menyesuaikan.</a:t>
            </a:r>
            <a:endParaRPr lang="en-US" sz="950" dirty="0"/>
          </a:p>
        </p:txBody>
      </p:sp>
      <p:sp>
        <p:nvSpPr>
          <p:cNvPr id="27" name="Shape 23"/>
          <p:cNvSpPr/>
          <p:nvPr/>
        </p:nvSpPr>
        <p:spPr>
          <a:xfrm>
            <a:off x="6199632" y="3529584"/>
            <a:ext cx="5577840" cy="2130552"/>
          </a:xfrm>
          <a:prstGeom prst="roundRect">
            <a:avLst>
              <a:gd name="adj" fmla="val 3433"/>
            </a:avLst>
          </a:prstGeom>
          <a:solidFill>
            <a:srgbClr val="FFFFFF"/>
          </a:solidFill>
          <a:ln w="9525">
            <a:solidFill>
              <a:srgbClr val="C9D3E3"/>
            </a:solidFill>
            <a:prstDash val="solid"/>
          </a:ln>
        </p:spPr>
      </p:sp>
      <p:sp>
        <p:nvSpPr>
          <p:cNvPr id="28" name="Shape 24"/>
          <p:cNvSpPr/>
          <p:nvPr/>
        </p:nvSpPr>
        <p:spPr>
          <a:xfrm>
            <a:off x="6199632" y="3529584"/>
            <a:ext cx="5577840" cy="384048"/>
          </a:xfrm>
          <a:prstGeom prst="rect">
            <a:avLst/>
          </a:prstGeom>
          <a:solidFill>
            <a:srgbClr val="14284B"/>
          </a:solidFill>
          <a:ln w="12700">
            <a:solidFill>
              <a:srgbClr val="14284B"/>
            </a:solidFill>
            <a:prstDash val="solid"/>
          </a:ln>
        </p:spPr>
      </p:sp>
      <p:sp>
        <p:nvSpPr>
          <p:cNvPr id="29" name="Text 25"/>
          <p:cNvSpPr txBox="1"/>
          <p:nvPr/>
        </p:nvSpPr>
        <p:spPr>
          <a:xfrm>
            <a:off x="6382512" y="3529584"/>
            <a:ext cx="3200400" cy="384048"/>
          </a:xfrm>
          <a:prstGeom prst="rect">
            <a:avLst/>
          </a:prstGeom>
          <a:noFill/>
          <a:ln/>
        </p:spPr>
        <p:txBody>
          <a:bodyPr wrap="square" lIns="0" tIns="0" rIns="0" bIns="0" rtlCol="0" anchor="ctr"/>
          <a:lstStyle/>
          <a:p>
            <a:pPr indent="0" marL="0">
              <a:buNone/>
            </a:pPr>
            <a:r>
              <a:rPr lang="en-US" sz="1300" b="1" dirty="0">
                <a:solidFill>
                  <a:srgbClr val="E0A526"/>
                </a:solidFill>
                <a:latin typeface="Arial" pitchFamily="34" charset="0"/>
                <a:ea typeface="Arial" pitchFamily="34" charset="-122"/>
                <a:cs typeface="Arial" pitchFamily="34" charset="-120"/>
              </a:rPr>
              <a:t>Pasal D  </a:t>
            </a:r>
            <a:pPr indent="0" marL="0">
              <a:buNone/>
            </a:pPr>
            <a:r>
              <a:rPr lang="en-US" sz="1200" b="1" dirty="0">
                <a:solidFill>
                  <a:srgbClr val="FFFFFF"/>
                </a:solidFill>
                <a:latin typeface="Arial" pitchFamily="34" charset="0"/>
                <a:ea typeface="Arial" pitchFamily="34" charset="-122"/>
                <a:cs typeface="Arial" pitchFamily="34" charset="-120"/>
              </a:rPr>
              <a:t>Koordinasi dan Penugasan Bersama</a:t>
            </a:r>
            <a:endParaRPr lang="en-US" sz="1300" dirty="0"/>
          </a:p>
        </p:txBody>
      </p:sp>
      <p:sp>
        <p:nvSpPr>
          <p:cNvPr id="30" name="Text 26"/>
          <p:cNvSpPr txBox="1"/>
          <p:nvPr/>
        </p:nvSpPr>
        <p:spPr>
          <a:xfrm>
            <a:off x="9171432" y="3529584"/>
            <a:ext cx="2468880" cy="384048"/>
          </a:xfrm>
          <a:prstGeom prst="rect">
            <a:avLst/>
          </a:prstGeom>
          <a:noFill/>
          <a:ln/>
        </p:spPr>
        <p:txBody>
          <a:bodyPr wrap="square" lIns="0" tIns="0" rIns="0" bIns="0" rtlCol="0" anchor="ctr"/>
          <a:lstStyle/>
          <a:p>
            <a:pPr algn="r" indent="0" marL="0">
              <a:buNone/>
            </a:pPr>
            <a:r>
              <a:rPr lang="en-US" sz="850" dirty="0">
                <a:solidFill>
                  <a:srgbClr val="DCE4F2"/>
                </a:solidFill>
                <a:latin typeface="Arial" pitchFamily="34" charset="0"/>
                <a:ea typeface="Arial" pitchFamily="34" charset="-122"/>
                <a:cs typeface="Arial" pitchFamily="34" charset="-120"/>
              </a:rPr>
              <a:t>Menjawab Sikap 4: koordinasi, imbalan bersama, dan data</a:t>
            </a:r>
            <a:endParaRPr lang="en-US" sz="850" dirty="0"/>
          </a:p>
        </p:txBody>
      </p:sp>
      <p:sp>
        <p:nvSpPr>
          <p:cNvPr id="31" name="Text 27"/>
          <p:cNvSpPr txBox="1"/>
          <p:nvPr/>
        </p:nvSpPr>
        <p:spPr>
          <a:xfrm>
            <a:off x="6382512" y="3986784"/>
            <a:ext cx="5212080" cy="1600200"/>
          </a:xfrm>
          <a:prstGeom prst="rect">
            <a:avLst/>
          </a:prstGeom>
          <a:noFill/>
          <a:ln/>
        </p:spPr>
        <p:txBody>
          <a:bodyPr wrap="square" lIns="0" tIns="0" rIns="0" bIns="0" rtlCol="0" anchor="t"/>
          <a:lstStyle/>
          <a:p>
            <a:pPr indent="0" marL="0">
              <a:spcAft>
                <a:spcPts val="300"/>
              </a:spcAft>
              <a:buNone/>
            </a:pPr>
            <a:r>
              <a:rPr lang="en-US" sz="900" b="1" dirty="0">
                <a:solidFill>
                  <a:srgbClr val="14284B"/>
                </a:solidFill>
                <a:latin typeface="Arial" pitchFamily="34" charset="0"/>
                <a:ea typeface="Arial" pitchFamily="34" charset="-122"/>
                <a:cs typeface="Arial" pitchFamily="34" charset="-120"/>
              </a:rPr>
              <a:t>(1)  </a:t>
            </a:r>
            <a:pPr indent="0" marL="0">
              <a:spcAft>
                <a:spcPts val="300"/>
              </a:spcAft>
              <a:buNone/>
            </a:pPr>
            <a:r>
              <a:rPr lang="en-US" sz="900" dirty="0">
                <a:solidFill>
                  <a:srgbClr val="1A1A1A"/>
                </a:solidFill>
                <a:latin typeface="Arial" pitchFamily="34" charset="0"/>
                <a:ea typeface="Arial" pitchFamily="34" charset="-122"/>
                <a:cs typeface="Arial" pitchFamily="34" charset="-120"/>
              </a:rPr>
              <a:t>Dalam hal Balai Harta Peninggalan dan Kurator perseorangan ditunjuk dalam perkara yang sama, masing-masing bertanggung jawab atas tugas yang ditetapkan baginya, dan imbalan jasa dibagi sesuai porsi tugas.</a:t>
            </a:r>
            <a:endParaRPr lang="en-US" sz="900" dirty="0"/>
          </a:p>
          <a:p>
            <a:pPr indent="0" marL="0">
              <a:spcAft>
                <a:spcPts val="300"/>
              </a:spcAft>
              <a:buNone/>
            </a:pPr>
            <a:r>
              <a:rPr lang="en-US" sz="900" b="1" dirty="0">
                <a:solidFill>
                  <a:srgbClr val="14284B"/>
                </a:solidFill>
                <a:latin typeface="Arial" pitchFamily="34" charset="0"/>
                <a:ea typeface="Arial" pitchFamily="34" charset="-122"/>
                <a:cs typeface="Arial" pitchFamily="34" charset="-120"/>
              </a:rPr>
              <a:t>(2)  </a:t>
            </a:r>
            <a:pPr indent="0" marL="0">
              <a:spcAft>
                <a:spcPts val="300"/>
              </a:spcAft>
              <a:buNone/>
            </a:pPr>
            <a:r>
              <a:rPr lang="en-US" sz="900" dirty="0">
                <a:solidFill>
                  <a:srgbClr val="1A1A1A"/>
                </a:solidFill>
                <a:latin typeface="Arial" pitchFamily="34" charset="0"/>
                <a:ea typeface="Arial" pitchFamily="34" charset="-122"/>
                <a:cs typeface="Arial" pitchFamily="34" charset="-120"/>
              </a:rPr>
              <a:t>Bagian imbalan jasa Balai Harta Peninggalan merupakan Penerimaan Negara Bukan Pajak.</a:t>
            </a:r>
            <a:endParaRPr lang="en-US" sz="900" dirty="0"/>
          </a:p>
          <a:p>
            <a:pPr indent="0" marL="0">
              <a:spcAft>
                <a:spcPts val="300"/>
              </a:spcAft>
              <a:buNone/>
            </a:pPr>
            <a:r>
              <a:rPr lang="en-US" sz="900" b="1" dirty="0">
                <a:solidFill>
                  <a:srgbClr val="14284B"/>
                </a:solidFill>
                <a:latin typeface="Arial" pitchFamily="34" charset="0"/>
                <a:ea typeface="Arial" pitchFamily="34" charset="-122"/>
                <a:cs typeface="Arial" pitchFamily="34" charset="-120"/>
              </a:rPr>
              <a:t>(3)  </a:t>
            </a:r>
            <a:pPr indent="0" marL="0">
              <a:spcAft>
                <a:spcPts val="300"/>
              </a:spcAft>
              <a:buNone/>
            </a:pPr>
            <a:r>
              <a:rPr lang="en-US" sz="900" dirty="0">
                <a:solidFill>
                  <a:srgbClr val="1A1A1A"/>
                </a:solidFill>
                <a:latin typeface="Arial" pitchFamily="34" charset="0"/>
                <a:ea typeface="Arial" pitchFamily="34" charset="-122"/>
                <a:cs typeface="Arial" pitchFamily="34" charset="-120"/>
              </a:rPr>
              <a:t>Setiap Kurator wajib mengungkapkan hubungan yang dapat menimbulkan benturan kepentingan.</a:t>
            </a:r>
            <a:endParaRPr lang="en-US" sz="900" dirty="0"/>
          </a:p>
          <a:p>
            <a:pPr indent="0" marL="0">
              <a:spcAft>
                <a:spcPts val="300"/>
              </a:spcAft>
              <a:buNone/>
            </a:pPr>
            <a:r>
              <a:rPr lang="en-US" sz="900" b="1" dirty="0">
                <a:solidFill>
                  <a:srgbClr val="14284B"/>
                </a:solidFill>
                <a:latin typeface="Arial" pitchFamily="34" charset="0"/>
                <a:ea typeface="Arial" pitchFamily="34" charset="-122"/>
                <a:cs typeface="Arial" pitchFamily="34" charset="-120"/>
              </a:rPr>
              <a:t>(4)  </a:t>
            </a:r>
            <a:pPr indent="0" marL="0">
              <a:spcAft>
                <a:spcPts val="300"/>
              </a:spcAft>
              <a:buNone/>
            </a:pPr>
            <a:r>
              <a:rPr lang="en-US" sz="900" dirty="0">
                <a:solidFill>
                  <a:srgbClr val="1A1A1A"/>
                </a:solidFill>
                <a:latin typeface="Arial" pitchFamily="34" charset="0"/>
                <a:ea typeface="Arial" pitchFamily="34" charset="-122"/>
                <a:cs typeface="Arial" pitchFamily="34" charset="-120"/>
              </a:rPr>
              <a:t>Menteri menyelenggarakan data Kurator dan perkara yang terintegrasi, dan Balai Harta Peninggalan menjadi simpul data di wilayah kerjanya.</a:t>
            </a:r>
            <a:endParaRPr lang="en-US" sz="900" dirty="0"/>
          </a:p>
          <a:p>
            <a:pPr indent="0" marL="0">
              <a:spcAft>
                <a:spcPts val="300"/>
              </a:spcAft>
              <a:buNone/>
            </a:pPr>
            <a:r>
              <a:rPr lang="en-US" sz="900" b="1" i="1" dirty="0">
                <a:solidFill>
                  <a:srgbClr val="8A6100"/>
                </a:solidFill>
                <a:latin typeface="Arial" pitchFamily="34" charset="0"/>
                <a:ea typeface="Arial" pitchFamily="34" charset="-122"/>
                <a:cs typeface="Arial" pitchFamily="34" charset="-120"/>
              </a:rPr>
              <a:t>Analisis. </a:t>
            </a:r>
            <a:pPr indent="0" marL="0">
              <a:spcAft>
                <a:spcPts val="300"/>
              </a:spcAft>
              <a:buNone/>
            </a:pPr>
            <a:r>
              <a:rPr lang="en-US" sz="900" i="1" dirty="0">
                <a:solidFill>
                  <a:srgbClr val="2D3748"/>
                </a:solidFill>
                <a:latin typeface="Arial" pitchFamily="34" charset="0"/>
                <a:ea typeface="Arial" pitchFamily="34" charset="-122"/>
                <a:cs typeface="Arial" pitchFamily="34" charset="-120"/>
              </a:rPr>
              <a:t>Pada perkara PT Jasa Prima Mandiri, imbalan BHP dan kurator tambahan dihitung dengan aturan yang berbeda tanpa melihat porsi tugas. Pasal ini mencegah hal tersebut, menjaga independensi, dan menyediakan data yang saat ini belum ada, termasuk perbandingan perkara BHP dan kurator perorangan.</a:t>
            </a:r>
            <a:endParaRPr lang="en-US" sz="900" dirty="0"/>
          </a:p>
        </p:txBody>
      </p:sp>
      <p:sp>
        <p:nvSpPr>
          <p:cNvPr id="32" name="Shape 28"/>
          <p:cNvSpPr/>
          <p:nvPr/>
        </p:nvSpPr>
        <p:spPr>
          <a:xfrm>
            <a:off x="411480" y="5843016"/>
            <a:ext cx="11365992" cy="777240"/>
          </a:xfrm>
          <a:prstGeom prst="roundRect">
            <a:avLst>
              <a:gd name="adj" fmla="val 9412"/>
            </a:avLst>
          </a:prstGeom>
          <a:solidFill>
            <a:srgbClr val="14284B"/>
          </a:solidFill>
          <a:ln w="9525">
            <a:solidFill>
              <a:srgbClr val="14284B"/>
            </a:solidFill>
            <a:prstDash val="solid"/>
          </a:ln>
        </p:spPr>
      </p:sp>
      <p:sp>
        <p:nvSpPr>
          <p:cNvPr id="33" name="Text 29"/>
          <p:cNvSpPr txBox="1"/>
          <p:nvPr/>
        </p:nvSpPr>
        <p:spPr>
          <a:xfrm>
            <a:off x="594360" y="5916168"/>
            <a:ext cx="4572000" cy="237744"/>
          </a:xfrm>
          <a:prstGeom prst="rect">
            <a:avLst/>
          </a:prstGeom>
          <a:noFill/>
          <a:ln/>
        </p:spPr>
        <p:txBody>
          <a:bodyPr wrap="square" lIns="0" tIns="0" rIns="0" bIns="0" rtlCol="0" anchor="ctr"/>
          <a:lstStyle/>
          <a:p>
            <a:pPr indent="0" marL="0">
              <a:buNone/>
            </a:pPr>
            <a:r>
              <a:rPr lang="en-US" sz="950" b="1" spc="150" kern="0" dirty="0">
                <a:solidFill>
                  <a:srgbClr val="E0A526"/>
                </a:solidFill>
                <a:latin typeface="Arial" pitchFamily="34" charset="0"/>
                <a:ea typeface="Arial" pitchFamily="34" charset="-122"/>
                <a:cs typeface="Arial" pitchFamily="34" charset="-120"/>
              </a:rPr>
              <a:t>CATATAN UNTUK RUU KEPAILITAN DAN PKPU</a:t>
            </a:r>
            <a:endParaRPr lang="en-US" sz="950" dirty="0"/>
          </a:p>
        </p:txBody>
      </p:sp>
      <p:sp>
        <p:nvSpPr>
          <p:cNvPr id="34" name="Shape 30"/>
          <p:cNvSpPr/>
          <p:nvPr/>
        </p:nvSpPr>
        <p:spPr>
          <a:xfrm>
            <a:off x="594360" y="6208776"/>
            <a:ext cx="237744" cy="237744"/>
          </a:xfrm>
          <a:prstGeom prst="ellipse">
            <a:avLst/>
          </a:prstGeom>
          <a:solidFill>
            <a:srgbClr val="E0A526"/>
          </a:solidFill>
          <a:ln w="12700">
            <a:solidFill>
              <a:srgbClr val="E0A526"/>
            </a:solidFill>
            <a:prstDash val="solid"/>
          </a:ln>
        </p:spPr>
      </p:sp>
      <p:sp>
        <p:nvSpPr>
          <p:cNvPr id="35" name="Text 31"/>
          <p:cNvSpPr txBox="1"/>
          <p:nvPr/>
        </p:nvSpPr>
        <p:spPr>
          <a:xfrm>
            <a:off x="594360" y="6208776"/>
            <a:ext cx="237744" cy="237744"/>
          </a:xfrm>
          <a:prstGeom prst="rect">
            <a:avLst/>
          </a:prstGeom>
          <a:noFill/>
          <a:ln/>
        </p:spPr>
        <p:txBody>
          <a:bodyPr wrap="square" lIns="0" tIns="0" rIns="0" bIns="0" rtlCol="0" anchor="ctr"/>
          <a:lstStyle/>
          <a:p>
            <a:pPr algn="ctr" indent="0" marL="0">
              <a:buNone/>
            </a:pPr>
            <a:r>
              <a:rPr lang="en-US" sz="1000" b="1" dirty="0">
                <a:solidFill>
                  <a:srgbClr val="14284B"/>
                </a:solidFill>
                <a:latin typeface="Arial" pitchFamily="34" charset="0"/>
                <a:ea typeface="Arial" pitchFamily="34" charset="-122"/>
                <a:cs typeface="Arial" pitchFamily="34" charset="-120"/>
              </a:rPr>
              <a:t>1</a:t>
            </a:r>
            <a:endParaRPr lang="en-US" sz="1000" dirty="0"/>
          </a:p>
        </p:txBody>
      </p:sp>
      <p:sp>
        <p:nvSpPr>
          <p:cNvPr id="36" name="Text 32"/>
          <p:cNvSpPr txBox="1"/>
          <p:nvPr/>
        </p:nvSpPr>
        <p:spPr>
          <a:xfrm>
            <a:off x="886968" y="6153912"/>
            <a:ext cx="2011680" cy="384048"/>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Kewenangan BHP menjadi pengurus PKPU</a:t>
            </a:r>
            <a:endParaRPr lang="en-US" sz="900" dirty="0"/>
          </a:p>
        </p:txBody>
      </p:sp>
      <p:sp>
        <p:nvSpPr>
          <p:cNvPr id="37" name="Shape 33"/>
          <p:cNvSpPr/>
          <p:nvPr/>
        </p:nvSpPr>
        <p:spPr>
          <a:xfrm>
            <a:off x="2926080" y="6208776"/>
            <a:ext cx="237744" cy="237744"/>
          </a:xfrm>
          <a:prstGeom prst="ellipse">
            <a:avLst/>
          </a:prstGeom>
          <a:solidFill>
            <a:srgbClr val="E0A526"/>
          </a:solidFill>
          <a:ln w="12700">
            <a:solidFill>
              <a:srgbClr val="E0A526"/>
            </a:solidFill>
            <a:prstDash val="solid"/>
          </a:ln>
        </p:spPr>
      </p:sp>
      <p:sp>
        <p:nvSpPr>
          <p:cNvPr id="38" name="Text 34"/>
          <p:cNvSpPr txBox="1"/>
          <p:nvPr/>
        </p:nvSpPr>
        <p:spPr>
          <a:xfrm>
            <a:off x="2926080" y="6208776"/>
            <a:ext cx="237744" cy="237744"/>
          </a:xfrm>
          <a:prstGeom prst="rect">
            <a:avLst/>
          </a:prstGeom>
          <a:noFill/>
          <a:ln/>
        </p:spPr>
        <p:txBody>
          <a:bodyPr wrap="square" lIns="0" tIns="0" rIns="0" bIns="0" rtlCol="0" anchor="ctr"/>
          <a:lstStyle/>
          <a:p>
            <a:pPr algn="ctr" indent="0" marL="0">
              <a:buNone/>
            </a:pPr>
            <a:r>
              <a:rPr lang="en-US" sz="1000" b="1" dirty="0">
                <a:solidFill>
                  <a:srgbClr val="14284B"/>
                </a:solidFill>
                <a:latin typeface="Arial" pitchFamily="34" charset="0"/>
                <a:ea typeface="Arial" pitchFamily="34" charset="-122"/>
                <a:cs typeface="Arial" pitchFamily="34" charset="-120"/>
              </a:rPr>
              <a:t>2</a:t>
            </a:r>
            <a:endParaRPr lang="en-US" sz="1000" dirty="0"/>
          </a:p>
        </p:txBody>
      </p:sp>
      <p:sp>
        <p:nvSpPr>
          <p:cNvPr id="39" name="Text 35"/>
          <p:cNvSpPr txBox="1"/>
          <p:nvPr/>
        </p:nvSpPr>
        <p:spPr>
          <a:xfrm>
            <a:off x="3218688" y="6153912"/>
            <a:ext cx="2011680" cy="384048"/>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Kriteria dan tata cara penunjukan BHP pada perkara tertentu</a:t>
            </a:r>
            <a:endParaRPr lang="en-US" sz="900" dirty="0"/>
          </a:p>
        </p:txBody>
      </p:sp>
      <p:sp>
        <p:nvSpPr>
          <p:cNvPr id="40" name="Shape 36"/>
          <p:cNvSpPr/>
          <p:nvPr/>
        </p:nvSpPr>
        <p:spPr>
          <a:xfrm>
            <a:off x="5257800" y="6208776"/>
            <a:ext cx="237744" cy="237744"/>
          </a:xfrm>
          <a:prstGeom prst="ellipse">
            <a:avLst/>
          </a:prstGeom>
          <a:solidFill>
            <a:srgbClr val="E0A526"/>
          </a:solidFill>
          <a:ln w="12700">
            <a:solidFill>
              <a:srgbClr val="E0A526"/>
            </a:solidFill>
            <a:prstDash val="solid"/>
          </a:ln>
        </p:spPr>
      </p:sp>
      <p:sp>
        <p:nvSpPr>
          <p:cNvPr id="41" name="Text 37"/>
          <p:cNvSpPr txBox="1"/>
          <p:nvPr/>
        </p:nvSpPr>
        <p:spPr>
          <a:xfrm>
            <a:off x="5257800" y="6208776"/>
            <a:ext cx="237744" cy="237744"/>
          </a:xfrm>
          <a:prstGeom prst="rect">
            <a:avLst/>
          </a:prstGeom>
          <a:noFill/>
          <a:ln/>
        </p:spPr>
        <p:txBody>
          <a:bodyPr wrap="square" lIns="0" tIns="0" rIns="0" bIns="0" rtlCol="0" anchor="ctr"/>
          <a:lstStyle/>
          <a:p>
            <a:pPr algn="ctr" indent="0" marL="0">
              <a:buNone/>
            </a:pPr>
            <a:r>
              <a:rPr lang="en-US" sz="1000" b="1" dirty="0">
                <a:solidFill>
                  <a:srgbClr val="14284B"/>
                </a:solidFill>
                <a:latin typeface="Arial" pitchFamily="34" charset="0"/>
                <a:ea typeface="Arial" pitchFamily="34" charset="-122"/>
                <a:cs typeface="Arial" pitchFamily="34" charset="-120"/>
              </a:rPr>
              <a:t>3</a:t>
            </a:r>
            <a:endParaRPr lang="en-US" sz="1000" dirty="0"/>
          </a:p>
        </p:txBody>
      </p:sp>
      <p:sp>
        <p:nvSpPr>
          <p:cNvPr id="42" name="Text 38"/>
          <p:cNvSpPr txBox="1"/>
          <p:nvPr/>
        </p:nvSpPr>
        <p:spPr>
          <a:xfrm>
            <a:off x="5550408" y="6153912"/>
            <a:ext cx="2011680" cy="384048"/>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Kepailitan harta peninggalan tanpa ahli waris</a:t>
            </a:r>
            <a:endParaRPr lang="en-US" sz="900" dirty="0"/>
          </a:p>
        </p:txBody>
      </p:sp>
      <p:sp>
        <p:nvSpPr>
          <p:cNvPr id="43" name="Shape 39"/>
          <p:cNvSpPr/>
          <p:nvPr/>
        </p:nvSpPr>
        <p:spPr>
          <a:xfrm>
            <a:off x="7589520" y="6208776"/>
            <a:ext cx="237744" cy="237744"/>
          </a:xfrm>
          <a:prstGeom prst="ellipse">
            <a:avLst/>
          </a:prstGeom>
          <a:solidFill>
            <a:srgbClr val="E0A526"/>
          </a:solidFill>
          <a:ln w="12700">
            <a:solidFill>
              <a:srgbClr val="E0A526"/>
            </a:solidFill>
            <a:prstDash val="solid"/>
          </a:ln>
        </p:spPr>
      </p:sp>
      <p:sp>
        <p:nvSpPr>
          <p:cNvPr id="44" name="Text 40"/>
          <p:cNvSpPr txBox="1"/>
          <p:nvPr/>
        </p:nvSpPr>
        <p:spPr>
          <a:xfrm>
            <a:off x="7589520" y="6208776"/>
            <a:ext cx="237744" cy="237744"/>
          </a:xfrm>
          <a:prstGeom prst="rect">
            <a:avLst/>
          </a:prstGeom>
          <a:noFill/>
          <a:ln/>
        </p:spPr>
        <p:txBody>
          <a:bodyPr wrap="square" lIns="0" tIns="0" rIns="0" bIns="0" rtlCol="0" anchor="ctr"/>
          <a:lstStyle/>
          <a:p>
            <a:pPr algn="ctr" indent="0" marL="0">
              <a:buNone/>
            </a:pPr>
            <a:r>
              <a:rPr lang="en-US" sz="1000" b="1" dirty="0">
                <a:solidFill>
                  <a:srgbClr val="14284B"/>
                </a:solidFill>
                <a:latin typeface="Arial" pitchFamily="34" charset="0"/>
                <a:ea typeface="Arial" pitchFamily="34" charset="-122"/>
                <a:cs typeface="Arial" pitchFamily="34" charset="-120"/>
              </a:rPr>
              <a:t>4</a:t>
            </a:r>
            <a:endParaRPr lang="en-US" sz="1000" dirty="0"/>
          </a:p>
        </p:txBody>
      </p:sp>
      <p:sp>
        <p:nvSpPr>
          <p:cNvPr id="45" name="Text 41"/>
          <p:cNvSpPr txBox="1"/>
          <p:nvPr/>
        </p:nvSpPr>
        <p:spPr>
          <a:xfrm>
            <a:off x="7882128" y="6153912"/>
            <a:ext cx="2011680" cy="384048"/>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Kelanjutan perkara apabila debitor menghilang</a:t>
            </a:r>
            <a:endParaRPr lang="en-US" sz="900" dirty="0"/>
          </a:p>
        </p:txBody>
      </p:sp>
      <p:sp>
        <p:nvSpPr>
          <p:cNvPr id="46" name="Text 42"/>
          <p:cNvSpPr txBox="1"/>
          <p:nvPr/>
        </p:nvSpPr>
        <p:spPr>
          <a:xfrm>
            <a:off x="9921240" y="5916168"/>
            <a:ext cx="1737360" cy="640080"/>
          </a:xfrm>
          <a:prstGeom prst="rect">
            <a:avLst/>
          </a:prstGeom>
          <a:noFill/>
          <a:ln/>
        </p:spPr>
        <p:txBody>
          <a:bodyPr wrap="square" lIns="0" tIns="0" rIns="0" bIns="0" rtlCol="0" anchor="ctr"/>
          <a:lstStyle/>
          <a:p>
            <a:pPr algn="r" indent="0" marL="0">
              <a:buNone/>
            </a:pPr>
            <a:r>
              <a:rPr lang="en-US" sz="1000" b="1" dirty="0">
                <a:solidFill>
                  <a:srgbClr val="E0A526"/>
                </a:solidFill>
                <a:latin typeface="Arial" pitchFamily="34" charset="0"/>
                <a:ea typeface="Arial" pitchFamily="34" charset="-122"/>
                <a:cs typeface="Arial" pitchFamily="34" charset="-120"/>
              </a:rPr>
              <a:t>Kedua RUU perlu disusun selaras sejak awal.</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Bahan Masukan BHP Medan: Klaster 1, Tumpang Tindih Kewenangan</dc:title>
  <dc:subject>PptxGenJS Presentation</dc:subject>
  <dc:creator>Balai Harta Peninggalan Medan</dc:creator>
  <cp:lastModifiedBy>Balai Harta Peninggalan Medan</cp:lastModifiedBy>
  <cp:revision>1</cp:revision>
  <dcterms:created xsi:type="dcterms:W3CDTF">2026-10-03T08:40:06Z</dcterms:created>
  <dcterms:modified xsi:type="dcterms:W3CDTF">2026-10-03T08:40:06Z</dcterms:modified>
</cp:coreProperties>
</file>