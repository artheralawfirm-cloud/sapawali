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secara berurutan, masing-masing dengan bukti dari perkara BHP Medan. Pita bawah memuat pengalaman BHP Medan. Naskah lengkap pada berkas Narasi; tombol kanan atas membuka data interaktif (simpan berkas HTML di folder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tiga tujuan RUU: penegasan peran BHP, peningkatan kualitas profesi, serta pengawasan dan pertanggungjawaban, ditutup pembagian peran koordinasi antarlembaga. Contoh rumusan pasal lengkap ada pada Lampiran II dokumen Telaah.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BHP Medan - Data Interaktif.html"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BHP Medan - Data Interaktif.html"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1024128"/>
          </a:xfrm>
          <a:prstGeom prst="rect">
            <a:avLst/>
          </a:prstGeom>
          <a:solidFill>
            <a:srgbClr val="7A1F2B"/>
          </a:solidFill>
          <a:ln w="9525">
            <a:solidFill>
              <a:srgbClr val="7A1F2B"/>
            </a:solidFill>
            <a:prstDash val="solid"/>
          </a:ln>
        </p:spPr>
      </p:sp>
      <p:sp>
        <p:nvSpPr>
          <p:cNvPr id="3" name="Shape 1"/>
          <p:cNvSpPr/>
          <p:nvPr/>
        </p:nvSpPr>
        <p:spPr>
          <a:xfrm>
            <a:off x="0" y="1024128"/>
            <a:ext cx="12191695" cy="36576"/>
          </a:xfrm>
          <a:prstGeom prst="rect">
            <a:avLst/>
          </a:prstGeom>
          <a:solidFill>
            <a:srgbClr val="C9A24A"/>
          </a:solidFill>
          <a:ln w="9525">
            <a:solidFill>
              <a:srgbClr val="C9A24A"/>
            </a:solidFill>
            <a:prstDash val="solid"/>
          </a:ln>
        </p:spPr>
      </p:sp>
      <p:pic>
        <p:nvPicPr>
          <p:cNvPr id="4" name="Image 0" descr="/home/user/SAPAWALI/presentasi/web/logo-pengayoman.png">    </p:cNvPr>
          <p:cNvPicPr>
            <a:picLocks noChangeAspect="1"/>
          </p:cNvPicPr>
          <p:nvPr/>
        </p:nvPicPr>
        <p:blipFill>
          <a:blip r:embed="rId1"/>
          <a:stretch>
            <a:fillRect/>
          </a:stretch>
        </p:blipFill>
        <p:spPr>
          <a:xfrm>
            <a:off x="411480" y="182880"/>
            <a:ext cx="658368" cy="658368"/>
          </a:xfrm>
          <a:prstGeom prst="rect">
            <a:avLst/>
          </a:prstGeom>
        </p:spPr>
      </p:pic>
      <p:pic>
        <p:nvPicPr>
          <p:cNvPr id="5" name="Image 1" descr="/home/user/SAPAWALI/presentasi/web/logo-ahu.png">    </p:cNvPr>
          <p:cNvPicPr>
            <a:picLocks noChangeAspect="1"/>
          </p:cNvPicPr>
          <p:nvPr/>
        </p:nvPicPr>
        <p:blipFill>
          <a:blip r:embed="rId2"/>
          <a:stretch>
            <a:fillRect/>
          </a:stretch>
        </p:blipFill>
        <p:spPr>
          <a:xfrm>
            <a:off x="1143000" y="182880"/>
            <a:ext cx="658368" cy="658368"/>
          </a:xfrm>
          <a:prstGeom prst="rect">
            <a:avLst/>
          </a:prstGeom>
        </p:spPr>
      </p:pic>
      <p:sp>
        <p:nvSpPr>
          <p:cNvPr id="6" name="Text 2"/>
          <p:cNvSpPr txBox="1"/>
          <p:nvPr/>
        </p:nvSpPr>
        <p:spPr>
          <a:xfrm>
            <a:off x="1965960" y="91440"/>
            <a:ext cx="7863840" cy="219456"/>
          </a:xfrm>
          <a:prstGeom prst="rect">
            <a:avLst/>
          </a:prstGeom>
          <a:noFill/>
          <a:ln/>
        </p:spPr>
        <p:txBody>
          <a:bodyPr wrap="square" lIns="0" tIns="0" rIns="0" bIns="0" rtlCol="0" anchor="ctr"/>
          <a:lstStyle/>
          <a:p>
            <a:pPr indent="0" marL="0">
              <a:buNone/>
            </a:pPr>
            <a:r>
              <a:rPr lang="en-US" sz="950" b="1" spc="120" kern="0" dirty="0">
                <a:solidFill>
                  <a:srgbClr val="E8CB80"/>
                </a:solidFill>
                <a:latin typeface="Calibri" pitchFamily="34" charset="0"/>
                <a:ea typeface="Calibri" pitchFamily="34" charset="-122"/>
                <a:cs typeface="Calibri" pitchFamily="34" charset="-120"/>
              </a:rPr>
              <a:t>BALAI HARTA PENINGGALAN MEDAN  ·  RDP KOMISI XIII DPR RI, 6 OKTOBER 2026  ·  RUU TENTANG PROFESI KURATOR</a:t>
            </a:r>
            <a:endParaRPr lang="en-US" sz="950" dirty="0"/>
          </a:p>
        </p:txBody>
      </p:sp>
      <p:sp>
        <p:nvSpPr>
          <p:cNvPr id="7" name="Text 3"/>
          <p:cNvSpPr txBox="1"/>
          <p:nvPr/>
        </p:nvSpPr>
        <p:spPr>
          <a:xfrm>
            <a:off x="1965960" y="301752"/>
            <a:ext cx="7863840" cy="34747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Jawaban BHP Medan atas Tiga Pertanyaan Klaster 1</a:t>
            </a:r>
            <a:endParaRPr lang="en-US" sz="2000" dirty="0"/>
          </a:p>
        </p:txBody>
      </p:sp>
      <p:sp>
        <p:nvSpPr>
          <p:cNvPr id="8" name="Text 4"/>
          <p:cNvSpPr txBox="1"/>
          <p:nvPr/>
        </p:nvSpPr>
        <p:spPr>
          <a:xfrm>
            <a:off x="1965960" y="640080"/>
            <a:ext cx="7863840" cy="365760"/>
          </a:xfrm>
          <a:prstGeom prst="rect">
            <a:avLst/>
          </a:prstGeom>
          <a:noFill/>
          <a:ln/>
        </p:spPr>
        <p:txBody>
          <a:bodyPr wrap="square" lIns="0" tIns="0" rIns="0" bIns="0" rtlCol="0" anchor="t"/>
          <a:lstStyle/>
          <a:p>
            <a:pPr indent="0" marL="0">
              <a:buNone/>
            </a:pPr>
            <a:r>
              <a:rPr lang="en-US" sz="950" dirty="0">
                <a:solidFill>
                  <a:srgbClr val="E9D6D9"/>
                </a:solidFill>
                <a:latin typeface="Calibri" pitchFamily="34" charset="0"/>
                <a:ea typeface="Calibri" pitchFamily="34" charset="-122"/>
                <a:cs typeface="Calibri" pitchFamily="34" charset="-120"/>
              </a:rPr>
              <a:t>Tumpang tindih BHP dan kurator perseorangan bukan perebutan perkara. Aturannya belum mengatur tiga keadaan: tugas bersama, dua tugas BHP dalam satu perkara, dan perkara tertentu.</a:t>
            </a:r>
            <a:endParaRPr lang="en-US" sz="950" dirty="0"/>
          </a:p>
        </p:txBody>
      </p:sp>
      <p:sp>
        <p:nvSpPr>
          <p:cNvPr id="9" name="Shape 5"/>
          <p:cNvSpPr/>
          <p:nvPr/>
        </p:nvSpPr>
        <p:spPr>
          <a:xfrm>
            <a:off x="9464040" y="219456"/>
            <a:ext cx="2331720" cy="585216"/>
          </a:xfrm>
          <a:prstGeom prst="roundRect">
            <a:avLst>
              <a:gd name="adj" fmla="val 10938"/>
            </a:avLst>
          </a:prstGeom>
          <a:solidFill>
            <a:srgbClr val="C9A24A"/>
          </a:solidFill>
          <a:ln w="9525">
            <a:solidFill>
              <a:srgbClr val="C9A24A"/>
            </a:solidFill>
            <a:prstDash val="solid"/>
          </a:ln>
        </p:spPr>
      </p:sp>
      <p:sp>
        <p:nvSpPr>
          <p:cNvPr id="10" name="Text 6"/>
          <p:cNvSpPr/>
          <p:nvPr/>
        </p:nvSpPr>
        <p:spPr>
          <a:xfrm>
            <a:off x="9464040" y="219456"/>
            <a:ext cx="2331720" cy="585216"/>
          </a:xfrm>
          <a:prstGeom prst="rect">
            <a:avLst/>
          </a:prstGeom>
          <a:noFill/>
          <a:ln/>
        </p:spPr>
        <p:txBody>
          <a:bodyPr wrap="square" lIns="0" tIns="0" rIns="0" bIns="0" rtlCol="0" anchor="ctr"/>
          <a:lstStyle/>
          <a:p>
            <a:pPr algn="ctr" indent="0" marL="0">
              <a:buNone/>
            </a:pPr>
            <a:r>
              <a:rPr lang="en-US" sz="1000" b="1" u="sng" spc="120" kern="0" dirty="0">
                <a:solidFill>
                  <a:srgbClr val="4F1520"/>
                </a:solidFill>
                <a:latin typeface="Calibri" pitchFamily="34" charset="0"/>
                <a:ea typeface="Calibri" pitchFamily="34" charset="-122"/>
                <a:cs typeface="Calibri" pitchFamily="34" charset="-120"/>
                <a:hlinkClick r:id="rId3" invalidUrl="" action="" tgtFrame="" tooltip="Buka data interaktif" history="1" highlightClick="0" endSnd="0">
                  <a:extLst>
                    <a:ext uri="{A12FA001-AC4F-418D-AE19-62706E023703}">
                      <ahyp:hlinkClr xmlns:ahyp="http://schemas.microsoft.com/office/drawing/2018/hyperlinkcolor" val="tx"/>
                    </a:ext>
                  </a:extLst>
                </a:hlinkClick>
              </a:rPr>
              <a:t>LIHAT DATA INTERAKTIF</a:t>
            </a:r>
            <a:endParaRPr lang="en-US" sz="1000" dirty="0"/>
          </a:p>
          <a:p>
            <a:pPr algn="ctr" indent="0" marL="0">
              <a:buNone/>
            </a:pPr>
            <a:r>
              <a:rPr lang="en-US" sz="900" u="sng" dirty="0">
                <a:solidFill>
                  <a:srgbClr val="4F1520"/>
                </a:solidFill>
                <a:latin typeface="Calibri" pitchFamily="34" charset="0"/>
                <a:ea typeface="Calibri" pitchFamily="34" charset="-122"/>
                <a:cs typeface="Calibri" pitchFamily="34" charset="-120"/>
                <a:hlinkClick r:id="rId3" invalidUrl="" action="" tgtFrame="" tooltip="Buka data interaktif" history="1" highlightClick="0" endSnd="0">
                  <a:extLst>
                    <a:ext uri="{A12FA001-AC4F-418D-AE19-62706E023703}">
                      <ahyp:hlinkClr xmlns:ahyp="http://schemas.microsoft.com/office/drawing/2018/hyperlinkcolor" val="tx"/>
                    </a:ext>
                  </a:extLst>
                </a:hlinkClick>
              </a:rPr>
              <a:t>grafik perkara BHP Medan  ›</a:t>
            </a:r>
            <a:endParaRPr lang="en-US" sz="1000" dirty="0"/>
          </a:p>
        </p:txBody>
      </p:sp>
      <p:sp>
        <p:nvSpPr>
          <p:cNvPr id="11" name="Text 7"/>
          <p:cNvSpPr txBox="1"/>
          <p:nvPr/>
        </p:nvSpPr>
        <p:spPr>
          <a:xfrm>
            <a:off x="9464040" y="822960"/>
            <a:ext cx="2331720" cy="182880"/>
          </a:xfrm>
          <a:prstGeom prst="rect">
            <a:avLst/>
          </a:prstGeom>
          <a:noFill/>
          <a:ln/>
        </p:spPr>
        <p:txBody>
          <a:bodyPr wrap="square" lIns="0" tIns="0" rIns="0" bIns="0" rtlCol="0" anchor="ctr"/>
          <a:lstStyle/>
          <a:p>
            <a:pPr algn="ctr" indent="0" marL="0">
              <a:buNone/>
            </a:pPr>
            <a:r>
              <a:rPr lang="en-US" sz="800" dirty="0">
                <a:solidFill>
                  <a:srgbClr val="E8CB80"/>
                </a:solidFill>
                <a:latin typeface="Calibri" pitchFamily="34" charset="0"/>
                <a:ea typeface="Calibri" pitchFamily="34" charset="-122"/>
                <a:cs typeface="Calibri" pitchFamily="34" charset="-120"/>
              </a:rPr>
              <a:t>Klaster 1 · slide 1 dari 2</a:t>
            </a:r>
            <a:endParaRPr lang="en-US" sz="800" dirty="0"/>
          </a:p>
        </p:txBody>
      </p:sp>
      <p:sp>
        <p:nvSpPr>
          <p:cNvPr id="12" name="Text 8"/>
          <p:cNvSpPr txBox="1"/>
          <p:nvPr/>
        </p:nvSpPr>
        <p:spPr>
          <a:xfrm>
            <a:off x="411480" y="6556248"/>
            <a:ext cx="10972800" cy="219456"/>
          </a:xfrm>
          <a:prstGeom prst="rect">
            <a:avLst/>
          </a:prstGeom>
          <a:noFill/>
          <a:ln/>
        </p:spPr>
        <p:txBody>
          <a:bodyPr wrap="square" lIns="0" tIns="0" rIns="0" bIns="0" rtlCol="0" anchor="ctr"/>
          <a:lstStyle/>
          <a:p>
            <a:pPr indent="0" marL="0">
              <a:buNone/>
            </a:pPr>
            <a:r>
              <a:rPr lang="en-US" sz="800" dirty="0">
                <a:solidFill>
                  <a:srgbClr val="6B6B6B"/>
                </a:solidFill>
                <a:latin typeface="Calibri" pitchFamily="34" charset="0"/>
                <a:ea typeface="Calibri" pitchFamily="34" charset="-122"/>
                <a:cs typeface="Calibri" pitchFamily="34" charset="-120"/>
              </a:rPr>
              <a:t>Sumber: Masukan dan Telaah BHP Medan, Klaster 1 (Medan, 3 Oktober 2026), Lampiran I (data perkara dan SIPP PN Medan per 2 Oktober 2026) dan Lampiran II (contoh rumusan pasal). Kepala BHP Medan: Syafriadi Lubis, M.H.</a:t>
            </a:r>
            <a:endParaRPr lang="en-US" sz="800" dirty="0"/>
          </a:p>
        </p:txBody>
      </p:sp>
      <p:sp>
        <p:nvSpPr>
          <p:cNvPr id="13" name="Text 9"/>
          <p:cNvSpPr txBox="1"/>
          <p:nvPr/>
        </p:nvSpPr>
        <p:spPr>
          <a:xfrm>
            <a:off x="11430000" y="6537960"/>
            <a:ext cx="365760" cy="237744"/>
          </a:xfrm>
          <a:prstGeom prst="rect">
            <a:avLst/>
          </a:prstGeom>
          <a:noFill/>
          <a:ln/>
        </p:spPr>
        <p:txBody>
          <a:bodyPr wrap="square" lIns="0" tIns="0" rIns="0" bIns="0" rtlCol="0" anchor="ctr"/>
          <a:lstStyle/>
          <a:p>
            <a:pPr algn="r" indent="0" marL="0">
              <a:buNone/>
            </a:pPr>
            <a:r>
              <a:rPr lang="en-US" sz="900" dirty="0">
                <a:solidFill>
                  <a:srgbClr val="8C8C8C"/>
                </a:solidFill>
                <a:latin typeface="Calibri" pitchFamily="34" charset="0"/>
                <a:ea typeface="Calibri" pitchFamily="34" charset="-122"/>
                <a:cs typeface="Calibri" pitchFamily="34" charset="-120"/>
              </a:rPr>
              <a:t>1</a:t>
            </a:r>
            <a:endParaRPr lang="en-US" sz="900" dirty="0"/>
          </a:p>
        </p:txBody>
      </p:sp>
      <p:sp>
        <p:nvSpPr>
          <p:cNvPr id="14" name="Shape 10"/>
          <p:cNvSpPr/>
          <p:nvPr/>
        </p:nvSpPr>
        <p:spPr>
          <a:xfrm>
            <a:off x="411480" y="1261872"/>
            <a:ext cx="3703320" cy="3749040"/>
          </a:xfrm>
          <a:prstGeom prst="roundRect">
            <a:avLst>
              <a:gd name="adj" fmla="val 1728"/>
            </a:avLst>
          </a:prstGeom>
          <a:solidFill>
            <a:srgbClr val="F4F4F6"/>
          </a:solidFill>
          <a:ln w="9525">
            <a:solidFill>
              <a:srgbClr val="F4F4F6"/>
            </a:solidFill>
            <a:prstDash val="solid"/>
          </a:ln>
        </p:spPr>
      </p:sp>
      <p:sp>
        <p:nvSpPr>
          <p:cNvPr id="15" name="Shape 11"/>
          <p:cNvSpPr/>
          <p:nvPr/>
        </p:nvSpPr>
        <p:spPr>
          <a:xfrm>
            <a:off x="576072" y="1408176"/>
            <a:ext cx="457200" cy="457200"/>
          </a:xfrm>
          <a:prstGeom prst="ellipse">
            <a:avLst/>
          </a:prstGeom>
          <a:solidFill>
            <a:srgbClr val="7A1F2B"/>
          </a:solidFill>
          <a:ln w="12700">
            <a:solidFill>
              <a:srgbClr val="7A1F2B"/>
            </a:solidFill>
            <a:prstDash val="solid"/>
          </a:ln>
        </p:spPr>
      </p:sp>
      <p:sp>
        <p:nvSpPr>
          <p:cNvPr id="16" name="Text 12"/>
          <p:cNvSpPr txBox="1"/>
          <p:nvPr/>
        </p:nvSpPr>
        <p:spPr>
          <a:xfrm>
            <a:off x="576072" y="1408176"/>
            <a:ext cx="457200" cy="457200"/>
          </a:xfrm>
          <a:prstGeom prst="rect">
            <a:avLst/>
          </a:prstGeom>
          <a:noFill/>
          <a:ln/>
        </p:spPr>
        <p:txBody>
          <a:bodyPr wrap="square" lIns="0" tIns="0" rIns="0" bIns="0" rtlCol="0" anchor="ctr"/>
          <a:lstStyle/>
          <a:p>
            <a:pPr algn="ctr" indent="0" marL="0">
              <a:buNone/>
            </a:pPr>
            <a:r>
              <a:rPr lang="en-US" sz="1600" b="1" dirty="0">
                <a:solidFill>
                  <a:srgbClr val="C9A24A"/>
                </a:solidFill>
                <a:latin typeface="Calibri" pitchFamily="34" charset="0"/>
                <a:ea typeface="Calibri" pitchFamily="34" charset="-122"/>
                <a:cs typeface="Calibri" pitchFamily="34" charset="-120"/>
              </a:rPr>
              <a:t>1</a:t>
            </a:r>
            <a:endParaRPr lang="en-US" sz="1600" dirty="0"/>
          </a:p>
        </p:txBody>
      </p:sp>
      <p:sp>
        <p:nvSpPr>
          <p:cNvPr id="17" name="Text 13"/>
          <p:cNvSpPr txBox="1"/>
          <p:nvPr/>
        </p:nvSpPr>
        <p:spPr>
          <a:xfrm>
            <a:off x="1124712" y="1389888"/>
            <a:ext cx="2834640" cy="219456"/>
          </a:xfrm>
          <a:prstGeom prst="rect">
            <a:avLst/>
          </a:prstGeom>
          <a:noFill/>
          <a:ln/>
        </p:spPr>
        <p:txBody>
          <a:bodyPr wrap="square" lIns="0" tIns="0" rIns="0" bIns="0" rtlCol="0" anchor="ctr"/>
          <a:lstStyle/>
          <a:p>
            <a:pPr indent="0" marL="0">
              <a:buNone/>
            </a:pPr>
            <a:r>
              <a:rPr lang="en-US" sz="950" b="1" spc="120" kern="0" dirty="0">
                <a:solidFill>
                  <a:srgbClr val="8A6A22"/>
                </a:solidFill>
                <a:latin typeface="Calibri" pitchFamily="34" charset="0"/>
                <a:ea typeface="Calibri" pitchFamily="34" charset="-122"/>
                <a:cs typeface="Calibri" pitchFamily="34" charset="-120"/>
              </a:rPr>
              <a:t>PERTANYAAN 1 · MEKANISME DAN KENDALA</a:t>
            </a:r>
            <a:endParaRPr lang="en-US" sz="950" dirty="0"/>
          </a:p>
        </p:txBody>
      </p:sp>
      <p:sp>
        <p:nvSpPr>
          <p:cNvPr id="18" name="Text 14"/>
          <p:cNvSpPr txBox="1"/>
          <p:nvPr/>
        </p:nvSpPr>
        <p:spPr>
          <a:xfrm>
            <a:off x="1124712" y="1609344"/>
            <a:ext cx="2834640" cy="512064"/>
          </a:xfrm>
          <a:prstGeom prst="rect">
            <a:avLst/>
          </a:prstGeom>
          <a:noFill/>
          <a:ln/>
        </p:spPr>
        <p:txBody>
          <a:bodyPr wrap="square" lIns="0" tIns="0" rIns="0" bIns="0" rtlCol="0" anchor="t"/>
          <a:lstStyle/>
          <a:p>
            <a:pPr indent="0" marL="0">
              <a:buNone/>
            </a:pPr>
            <a:r>
              <a:rPr lang="en-US" sz="900" i="1" dirty="0">
                <a:solidFill>
                  <a:srgbClr val="555555"/>
                </a:solidFill>
                <a:latin typeface="Calibri" pitchFamily="34" charset="0"/>
                <a:ea typeface="Calibri" pitchFamily="34" charset="-122"/>
                <a:cs typeface="Calibri" pitchFamily="34" charset="-120"/>
              </a:rPr>
              <a:t>Bagaimana mekanisme BHP sebagai kurator, dan adakah kendala saat berhadapan dengan kurator privat dari asosiasi?</a:t>
            </a:r>
            <a:endParaRPr lang="en-US" sz="900" dirty="0"/>
          </a:p>
        </p:txBody>
      </p:sp>
      <p:sp>
        <p:nvSpPr>
          <p:cNvPr id="19" name="Text 15"/>
          <p:cNvSpPr txBox="1"/>
          <p:nvPr/>
        </p:nvSpPr>
        <p:spPr>
          <a:xfrm>
            <a:off x="576072" y="2176272"/>
            <a:ext cx="3374136" cy="1810512"/>
          </a:xfrm>
          <a:prstGeom prst="rect">
            <a:avLst/>
          </a:prstGeom>
          <a:noFill/>
          <a:ln/>
        </p:spPr>
        <p:txBody>
          <a:bodyPr wrap="square" lIns="0" tIns="0" rIns="0" bIns="0" rtlCol="0" anchor="t"/>
          <a:lstStyle/>
          <a:p>
            <a:pPr indent="0" marL="0">
              <a:spcAft>
                <a:spcPts val="400"/>
              </a:spcAft>
              <a:buNone/>
            </a:pPr>
            <a:r>
              <a:rPr lang="en-US" sz="1000" b="1" dirty="0">
                <a:solidFill>
                  <a:srgbClr val="7A1F2B"/>
                </a:solidFill>
                <a:latin typeface="Calibri" pitchFamily="34" charset="0"/>
                <a:ea typeface="Calibri" pitchFamily="34" charset="-122"/>
                <a:cs typeface="Calibri" pitchFamily="34" charset="-120"/>
              </a:rPr>
              <a:t>Berjalan sesuai SOP Kepailitan.</a:t>
            </a:r>
            <a:pPr indent="0" marL="0">
              <a:spcAft>
                <a:spcPts val="400"/>
              </a:spcAft>
              <a:buNone/>
            </a:pPr>
            <a:r>
              <a:rPr lang="en-US" sz="1000" dirty="0">
                <a:solidFill>
                  <a:srgbClr val="2B2B2B"/>
                </a:solidFill>
                <a:latin typeface="Calibri" pitchFamily="34" charset="0"/>
                <a:ea typeface="Calibri" pitchFamily="34" charset="-122"/>
                <a:cs typeface="Calibri" pitchFamily="34" charset="-120"/>
              </a:rPr>
              <a:t> Putusan pengadilan › tim Kurator Keperdataan › pengurusan dan pemberesan di bawah Hakim Pengawas › imbalan jasa ke kas negara (PNBP).
</a:t>
            </a:r>
            <a:pPr indent="0" marL="0">
              <a:spcAft>
                <a:spcPts val="400"/>
              </a:spcAft>
              <a:buNone/>
            </a:pPr>
            <a:r>
              <a:rPr lang="en-US" sz="1000" b="1" dirty="0">
                <a:solidFill>
                  <a:srgbClr val="7A1F2B"/>
                </a:solidFill>
                <a:latin typeface="Calibri" pitchFamily="34" charset="0"/>
                <a:ea typeface="Calibri" pitchFamily="34" charset="-122"/>
                <a:cs typeface="Calibri" pitchFamily="34" charset="-120"/>
              </a:rPr>
              <a:t>Kendalanya saat bertugas bersama kurator perseorangan:</a:t>
            </a:r>
            <a:pPr indent="0" marL="0">
              <a:spcAft>
                <a:spcPts val="400"/>
              </a:spcAft>
              <a:buNone/>
            </a:pPr>
            <a:r>
              <a:rPr lang="en-US" sz="1000" dirty="0">
                <a:solidFill>
                  <a:srgbClr val="2B2B2B"/>
                </a:solidFill>
                <a:latin typeface="Calibri" pitchFamily="34" charset="0"/>
                <a:ea typeface="Calibri" pitchFamily="34" charset="-122"/>
                <a:cs typeface="Calibri" pitchFamily="34" charset="-120"/>
              </a:rPr>
              <a:t> belum ada pembagian imbalan dan tanggung jawab, serah terima saat PKPU berakhir pailit, dan satu standar profesi.</a:t>
            </a:r>
            <a:endParaRPr lang="en-US" sz="1000" dirty="0"/>
          </a:p>
        </p:txBody>
      </p:sp>
      <p:sp>
        <p:nvSpPr>
          <p:cNvPr id="20" name="Shape 16"/>
          <p:cNvSpPr/>
          <p:nvPr/>
        </p:nvSpPr>
        <p:spPr>
          <a:xfrm>
            <a:off x="539496" y="4114800"/>
            <a:ext cx="3447288" cy="786384"/>
          </a:xfrm>
          <a:prstGeom prst="roundRect">
            <a:avLst>
              <a:gd name="adj" fmla="val 8140"/>
            </a:avLst>
          </a:prstGeom>
          <a:solidFill>
            <a:srgbClr val="FFFFFF"/>
          </a:solidFill>
          <a:ln w="12700">
            <a:solidFill>
              <a:srgbClr val="E2DDD5"/>
            </a:solidFill>
            <a:prstDash val="solid"/>
          </a:ln>
        </p:spPr>
      </p:sp>
      <p:sp>
        <p:nvSpPr>
          <p:cNvPr id="21" name="Text 17"/>
          <p:cNvSpPr txBox="1"/>
          <p:nvPr/>
        </p:nvSpPr>
        <p:spPr>
          <a:xfrm>
            <a:off x="649224" y="4169664"/>
            <a:ext cx="3227832" cy="694944"/>
          </a:xfrm>
          <a:prstGeom prst="rect">
            <a:avLst/>
          </a:prstGeom>
          <a:noFill/>
          <a:ln/>
        </p:spPr>
        <p:txBody>
          <a:bodyPr wrap="square" lIns="0" tIns="0" rIns="0" bIns="0" rtlCol="0" anchor="t"/>
          <a:lstStyle/>
          <a:p>
            <a:pPr indent="0" marL="0">
              <a:spcAft>
                <a:spcPts val="200"/>
              </a:spcAft>
              <a:buNone/>
            </a:pPr>
            <a:r>
              <a:rPr lang="en-US" sz="800" b="1" spc="120" kern="0" dirty="0">
                <a:solidFill>
                  <a:srgbClr val="8A6A22"/>
                </a:solidFill>
                <a:latin typeface="Calibri" pitchFamily="34" charset="0"/>
                <a:ea typeface="Calibri" pitchFamily="34" charset="-122"/>
                <a:cs typeface="Calibri" pitchFamily="34" charset="-120"/>
              </a:rPr>
              <a:t>BUKTI LAPANGAN</a:t>
            </a:r>
            <a:endParaRPr lang="en-US" sz="80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PT Jasa Prima Mandiri (2015 sampai dengan 2019): bersama kurator perseorangan, harta Rp12,85 miliar dibereskan, tetapi pembagian imbalan tidak punya dasar aturan.</a:t>
            </a:r>
            <a:endParaRPr lang="en-US" sz="800" dirty="0"/>
          </a:p>
        </p:txBody>
      </p:sp>
      <p:sp>
        <p:nvSpPr>
          <p:cNvPr id="22" name="Shape 18"/>
          <p:cNvSpPr/>
          <p:nvPr/>
        </p:nvSpPr>
        <p:spPr>
          <a:xfrm>
            <a:off x="4288536" y="1261872"/>
            <a:ext cx="3703320" cy="3749040"/>
          </a:xfrm>
          <a:prstGeom prst="roundRect">
            <a:avLst>
              <a:gd name="adj" fmla="val 1728"/>
            </a:avLst>
          </a:prstGeom>
          <a:solidFill>
            <a:srgbClr val="F4F4F6"/>
          </a:solidFill>
          <a:ln w="9525">
            <a:solidFill>
              <a:srgbClr val="F4F4F6"/>
            </a:solidFill>
            <a:prstDash val="solid"/>
          </a:ln>
        </p:spPr>
      </p:sp>
      <p:sp>
        <p:nvSpPr>
          <p:cNvPr id="23" name="Shape 19"/>
          <p:cNvSpPr/>
          <p:nvPr/>
        </p:nvSpPr>
        <p:spPr>
          <a:xfrm>
            <a:off x="4453128" y="1408176"/>
            <a:ext cx="457200" cy="457200"/>
          </a:xfrm>
          <a:prstGeom prst="ellipse">
            <a:avLst/>
          </a:prstGeom>
          <a:solidFill>
            <a:srgbClr val="7A1F2B"/>
          </a:solidFill>
          <a:ln w="12700">
            <a:solidFill>
              <a:srgbClr val="7A1F2B"/>
            </a:solidFill>
            <a:prstDash val="solid"/>
          </a:ln>
        </p:spPr>
      </p:sp>
      <p:sp>
        <p:nvSpPr>
          <p:cNvPr id="24" name="Text 20"/>
          <p:cNvSpPr txBox="1"/>
          <p:nvPr/>
        </p:nvSpPr>
        <p:spPr>
          <a:xfrm>
            <a:off x="4453128" y="1408176"/>
            <a:ext cx="457200" cy="457200"/>
          </a:xfrm>
          <a:prstGeom prst="rect">
            <a:avLst/>
          </a:prstGeom>
          <a:noFill/>
          <a:ln/>
        </p:spPr>
        <p:txBody>
          <a:bodyPr wrap="square" lIns="0" tIns="0" rIns="0" bIns="0" rtlCol="0" anchor="ctr"/>
          <a:lstStyle/>
          <a:p>
            <a:pPr algn="ctr" indent="0" marL="0">
              <a:buNone/>
            </a:pPr>
            <a:r>
              <a:rPr lang="en-US" sz="1600" b="1" dirty="0">
                <a:solidFill>
                  <a:srgbClr val="C9A24A"/>
                </a:solidFill>
                <a:latin typeface="Calibri" pitchFamily="34" charset="0"/>
                <a:ea typeface="Calibri" pitchFamily="34" charset="-122"/>
                <a:cs typeface="Calibri" pitchFamily="34" charset="-120"/>
              </a:rPr>
              <a:t>2</a:t>
            </a:r>
            <a:endParaRPr lang="en-US" sz="1600" dirty="0"/>
          </a:p>
        </p:txBody>
      </p:sp>
      <p:sp>
        <p:nvSpPr>
          <p:cNvPr id="25" name="Text 21"/>
          <p:cNvSpPr txBox="1"/>
          <p:nvPr/>
        </p:nvSpPr>
        <p:spPr>
          <a:xfrm>
            <a:off x="5001768" y="1389888"/>
            <a:ext cx="2834640" cy="219456"/>
          </a:xfrm>
          <a:prstGeom prst="rect">
            <a:avLst/>
          </a:prstGeom>
          <a:noFill/>
          <a:ln/>
        </p:spPr>
        <p:txBody>
          <a:bodyPr wrap="square" lIns="0" tIns="0" rIns="0" bIns="0" rtlCol="0" anchor="ctr"/>
          <a:lstStyle/>
          <a:p>
            <a:pPr indent="0" marL="0">
              <a:buNone/>
            </a:pPr>
            <a:r>
              <a:rPr lang="en-US" sz="950" b="1" spc="120" kern="0" dirty="0">
                <a:solidFill>
                  <a:srgbClr val="8A6A22"/>
                </a:solidFill>
                <a:latin typeface="Calibri" pitchFamily="34" charset="0"/>
                <a:ea typeface="Calibri" pitchFamily="34" charset="-122"/>
                <a:cs typeface="Calibri" pitchFamily="34" charset="-120"/>
              </a:rPr>
              <a:t>PERTANYAAN 2 · PEMISAHAN PERAN BHP</a:t>
            </a:r>
            <a:endParaRPr lang="en-US" sz="950" dirty="0"/>
          </a:p>
        </p:txBody>
      </p:sp>
      <p:sp>
        <p:nvSpPr>
          <p:cNvPr id="26" name="Text 22"/>
          <p:cNvSpPr txBox="1"/>
          <p:nvPr/>
        </p:nvSpPr>
        <p:spPr>
          <a:xfrm>
            <a:off x="5001768" y="1609344"/>
            <a:ext cx="2834640" cy="512064"/>
          </a:xfrm>
          <a:prstGeom prst="rect">
            <a:avLst/>
          </a:prstGeom>
          <a:noFill/>
          <a:ln/>
        </p:spPr>
        <p:txBody>
          <a:bodyPr wrap="square" lIns="0" tIns="0" rIns="0" bIns="0" rtlCol="0" anchor="t"/>
          <a:lstStyle/>
          <a:p>
            <a:pPr indent="0" marL="0">
              <a:buNone/>
            </a:pPr>
            <a:r>
              <a:rPr lang="en-US" sz="900" i="1" dirty="0">
                <a:solidFill>
                  <a:srgbClr val="555555"/>
                </a:solidFill>
                <a:latin typeface="Calibri" pitchFamily="34" charset="0"/>
                <a:ea typeface="Calibri" pitchFamily="34" charset="-122"/>
                <a:cs typeface="Calibri" pitchFamily="34" charset="-120"/>
              </a:rPr>
              <a:t>Perlukah pemisahan tegas peran BHP sebagai balai harta atau wali pengawas dengan peran kurator privat?</a:t>
            </a:r>
            <a:endParaRPr lang="en-US" sz="900" dirty="0"/>
          </a:p>
        </p:txBody>
      </p:sp>
      <p:sp>
        <p:nvSpPr>
          <p:cNvPr id="27" name="Text 23"/>
          <p:cNvSpPr txBox="1"/>
          <p:nvPr/>
        </p:nvSpPr>
        <p:spPr>
          <a:xfrm>
            <a:off x="4453128" y="2176272"/>
            <a:ext cx="3374136" cy="713232"/>
          </a:xfrm>
          <a:prstGeom prst="rect">
            <a:avLst/>
          </a:prstGeom>
          <a:noFill/>
          <a:ln/>
        </p:spPr>
        <p:txBody>
          <a:bodyPr wrap="square" lIns="0" tIns="0" rIns="0" bIns="0" rtlCol="0" anchor="t"/>
          <a:lstStyle/>
          <a:p>
            <a:pPr indent="0" marL="0">
              <a:spcAft>
                <a:spcPts val="300"/>
              </a:spcAft>
              <a:buNone/>
            </a:pPr>
            <a:r>
              <a:rPr lang="en-US" sz="1000" b="1" dirty="0">
                <a:solidFill>
                  <a:srgbClr val="7A1F2B"/>
                </a:solidFill>
                <a:latin typeface="Calibri" pitchFamily="34" charset="0"/>
                <a:ea typeface="Calibri" pitchFamily="34" charset="-122"/>
                <a:cs typeface="Calibri" pitchFamily="34" charset="-120"/>
              </a:rPr>
              <a:t>Perlu.</a:t>
            </a:r>
            <a:pPr indent="0" marL="0">
              <a:spcAft>
                <a:spcPts val="300"/>
              </a:spcAft>
              <a:buNone/>
            </a:pPr>
            <a:r>
              <a:rPr lang="en-US" sz="1000" dirty="0">
                <a:solidFill>
                  <a:srgbClr val="2B2B2B"/>
                </a:solidFill>
                <a:latin typeface="Calibri" pitchFamily="34" charset="0"/>
                <a:ea typeface="Calibri" pitchFamily="34" charset="-122"/>
                <a:cs typeface="Calibri" pitchFamily="34" charset="-120"/>
              </a:rPr>
              <a:t> Tugas keperdataan dan tugas kurator adalah dua hal berbeda. Yang dipisah dasar hukum, pelaksana, dan pertanggungjawabannya, bukan lembaganya.</a:t>
            </a:r>
            <a:endParaRPr lang="en-US" sz="1000" dirty="0"/>
          </a:p>
        </p:txBody>
      </p:sp>
      <p:sp>
        <p:nvSpPr>
          <p:cNvPr id="28" name="Shape 24"/>
          <p:cNvSpPr/>
          <p:nvPr/>
        </p:nvSpPr>
        <p:spPr>
          <a:xfrm>
            <a:off x="4453128" y="2944368"/>
            <a:ext cx="1623060" cy="987552"/>
          </a:xfrm>
          <a:prstGeom prst="roundRect">
            <a:avLst>
              <a:gd name="adj" fmla="val 6481"/>
            </a:avLst>
          </a:prstGeom>
          <a:solidFill>
            <a:srgbClr val="EFEFF2"/>
          </a:solidFill>
          <a:ln w="9525">
            <a:solidFill>
              <a:srgbClr val="EFEFF2"/>
            </a:solidFill>
            <a:prstDash val="solid"/>
          </a:ln>
        </p:spPr>
      </p:sp>
      <p:sp>
        <p:nvSpPr>
          <p:cNvPr id="29" name="Text 25"/>
          <p:cNvSpPr txBox="1"/>
          <p:nvPr/>
        </p:nvSpPr>
        <p:spPr>
          <a:xfrm>
            <a:off x="4544568" y="3008376"/>
            <a:ext cx="1440180" cy="877824"/>
          </a:xfrm>
          <a:prstGeom prst="rect">
            <a:avLst/>
          </a:prstGeom>
          <a:noFill/>
          <a:ln/>
        </p:spPr>
        <p:txBody>
          <a:bodyPr wrap="square" lIns="0" tIns="0" rIns="0" bIns="0" rtlCol="0" anchor="t"/>
          <a:lstStyle/>
          <a:p>
            <a:pPr indent="0" marL="0">
              <a:spcAft>
                <a:spcPts val="200"/>
              </a:spcAft>
              <a:buNone/>
            </a:pPr>
            <a:r>
              <a:rPr lang="en-US" sz="850" b="1" dirty="0">
                <a:solidFill>
                  <a:srgbClr val="7A1F2B"/>
                </a:solidFill>
                <a:latin typeface="Calibri" pitchFamily="34" charset="0"/>
                <a:ea typeface="Calibri" pitchFamily="34" charset="-122"/>
                <a:cs typeface="Calibri" pitchFamily="34" charset="-120"/>
              </a:rPr>
              <a:t>Tugas keperdataan · KUHPerdata</a:t>
            </a:r>
            <a:endParaRPr lang="en-US" sz="85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Wali pengawas, pengampu pengawas, orang tidak hadir, harta tak terurus. Dibina Kementerian.</a:t>
            </a:r>
            <a:endParaRPr lang="en-US" sz="850" dirty="0"/>
          </a:p>
        </p:txBody>
      </p:sp>
      <p:sp>
        <p:nvSpPr>
          <p:cNvPr id="30" name="Shape 26"/>
          <p:cNvSpPr/>
          <p:nvPr/>
        </p:nvSpPr>
        <p:spPr>
          <a:xfrm>
            <a:off x="6204204" y="2944368"/>
            <a:ext cx="1623060" cy="987552"/>
          </a:xfrm>
          <a:prstGeom prst="roundRect">
            <a:avLst>
              <a:gd name="adj" fmla="val 6481"/>
            </a:avLst>
          </a:prstGeom>
          <a:solidFill>
            <a:srgbClr val="F3E6E8"/>
          </a:solidFill>
          <a:ln w="9525">
            <a:solidFill>
              <a:srgbClr val="F3E6E8"/>
            </a:solidFill>
            <a:prstDash val="solid"/>
          </a:ln>
        </p:spPr>
      </p:sp>
      <p:sp>
        <p:nvSpPr>
          <p:cNvPr id="31" name="Text 27"/>
          <p:cNvSpPr txBox="1"/>
          <p:nvPr/>
        </p:nvSpPr>
        <p:spPr>
          <a:xfrm>
            <a:off x="6295644" y="3008376"/>
            <a:ext cx="1440180" cy="877824"/>
          </a:xfrm>
          <a:prstGeom prst="rect">
            <a:avLst/>
          </a:prstGeom>
          <a:noFill/>
          <a:ln/>
        </p:spPr>
        <p:txBody>
          <a:bodyPr wrap="square" lIns="0" tIns="0" rIns="0" bIns="0" rtlCol="0" anchor="t"/>
          <a:lstStyle/>
          <a:p>
            <a:pPr indent="0" marL="0">
              <a:spcAft>
                <a:spcPts val="200"/>
              </a:spcAft>
              <a:buNone/>
            </a:pPr>
            <a:r>
              <a:rPr lang="en-US" sz="850" b="1" dirty="0">
                <a:solidFill>
                  <a:srgbClr val="7A1F2B"/>
                </a:solidFill>
                <a:latin typeface="Calibri" pitchFamily="34" charset="0"/>
                <a:ea typeface="Calibri" pitchFamily="34" charset="-122"/>
                <a:cs typeface="Calibri" pitchFamily="34" charset="-120"/>
              </a:rPr>
              <a:t>Tugas kurator · UU 37/2004</a:t>
            </a:r>
            <a:endParaRPr lang="en-US" sz="85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Harta pailit, ditunjuk pengadilan, diawasi Hakim Pengawas (Pasal 65).</a:t>
            </a:r>
            <a:endParaRPr lang="en-US" sz="850" dirty="0"/>
          </a:p>
        </p:txBody>
      </p:sp>
      <p:sp>
        <p:nvSpPr>
          <p:cNvPr id="32" name="Text 28"/>
          <p:cNvSpPr txBox="1"/>
          <p:nvPr/>
        </p:nvSpPr>
        <p:spPr>
          <a:xfrm>
            <a:off x="6003036" y="3218688"/>
            <a:ext cx="274320" cy="365760"/>
          </a:xfrm>
          <a:prstGeom prst="rect">
            <a:avLst/>
          </a:prstGeom>
          <a:noFill/>
          <a:ln/>
        </p:spPr>
        <p:txBody>
          <a:bodyPr wrap="square" lIns="0" tIns="0" rIns="0" bIns="0" rtlCol="0" anchor="ctr"/>
          <a:lstStyle/>
          <a:p>
            <a:pPr algn="ctr" indent="0" marL="0">
              <a:buNone/>
            </a:pPr>
            <a:r>
              <a:rPr lang="en-US" sz="1800" b="1" dirty="0">
                <a:solidFill>
                  <a:srgbClr val="C9A24A"/>
                </a:solidFill>
                <a:latin typeface="Calibri" pitchFamily="34" charset="0"/>
                <a:ea typeface="Calibri" pitchFamily="34" charset="-122"/>
                <a:cs typeface="Calibri" pitchFamily="34" charset="-120"/>
              </a:rPr>
              <a:t>≠</a:t>
            </a:r>
            <a:endParaRPr lang="en-US" sz="1800" dirty="0"/>
          </a:p>
        </p:txBody>
      </p:sp>
      <p:sp>
        <p:nvSpPr>
          <p:cNvPr id="33" name="Shape 29"/>
          <p:cNvSpPr/>
          <p:nvPr/>
        </p:nvSpPr>
        <p:spPr>
          <a:xfrm>
            <a:off x="4416552" y="4114800"/>
            <a:ext cx="3447288" cy="786384"/>
          </a:xfrm>
          <a:prstGeom prst="roundRect">
            <a:avLst>
              <a:gd name="adj" fmla="val 8140"/>
            </a:avLst>
          </a:prstGeom>
          <a:solidFill>
            <a:srgbClr val="FFFFFF"/>
          </a:solidFill>
          <a:ln w="12700">
            <a:solidFill>
              <a:srgbClr val="E2DDD5"/>
            </a:solidFill>
            <a:prstDash val="solid"/>
          </a:ln>
        </p:spPr>
      </p:sp>
      <p:sp>
        <p:nvSpPr>
          <p:cNvPr id="34" name="Text 30"/>
          <p:cNvSpPr txBox="1"/>
          <p:nvPr/>
        </p:nvSpPr>
        <p:spPr>
          <a:xfrm>
            <a:off x="4526280" y="4169664"/>
            <a:ext cx="3227832" cy="694944"/>
          </a:xfrm>
          <a:prstGeom prst="rect">
            <a:avLst/>
          </a:prstGeom>
          <a:noFill/>
          <a:ln/>
        </p:spPr>
        <p:txBody>
          <a:bodyPr wrap="square" lIns="0" tIns="0" rIns="0" bIns="0" rtlCol="0" anchor="t"/>
          <a:lstStyle/>
          <a:p>
            <a:pPr indent="0" marL="0">
              <a:spcAft>
                <a:spcPts val="200"/>
              </a:spcAft>
              <a:buNone/>
            </a:pPr>
            <a:r>
              <a:rPr lang="en-US" sz="800" b="1" spc="120" kern="0" dirty="0">
                <a:solidFill>
                  <a:srgbClr val="8A6A22"/>
                </a:solidFill>
                <a:latin typeface="Calibri" pitchFamily="34" charset="0"/>
                <a:ea typeface="Calibri" pitchFamily="34" charset="-122"/>
                <a:cs typeface="Calibri" pitchFamily="34" charset="-120"/>
              </a:rPr>
              <a:t>BUKTI LAPANGAN</a:t>
            </a:r>
            <a:endParaRPr lang="en-US" sz="80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Gwe Tjoen: debitor meninggal, ahli waris tidak diketahui. BHP mengurus harta pailit sekaligus sisa harta tak bertuan. Berjalan 10,6 tahun.</a:t>
            </a:r>
            <a:endParaRPr lang="en-US" sz="800" dirty="0"/>
          </a:p>
        </p:txBody>
      </p:sp>
      <p:sp>
        <p:nvSpPr>
          <p:cNvPr id="35" name="Shape 31"/>
          <p:cNvSpPr/>
          <p:nvPr/>
        </p:nvSpPr>
        <p:spPr>
          <a:xfrm>
            <a:off x="8165592" y="1261872"/>
            <a:ext cx="3703320" cy="3749040"/>
          </a:xfrm>
          <a:prstGeom prst="roundRect">
            <a:avLst>
              <a:gd name="adj" fmla="val 1728"/>
            </a:avLst>
          </a:prstGeom>
          <a:solidFill>
            <a:srgbClr val="F4F4F6"/>
          </a:solidFill>
          <a:ln w="9525">
            <a:solidFill>
              <a:srgbClr val="F4F4F6"/>
            </a:solidFill>
            <a:prstDash val="solid"/>
          </a:ln>
        </p:spPr>
      </p:sp>
      <p:sp>
        <p:nvSpPr>
          <p:cNvPr id="36" name="Shape 32"/>
          <p:cNvSpPr/>
          <p:nvPr/>
        </p:nvSpPr>
        <p:spPr>
          <a:xfrm>
            <a:off x="8330184" y="1408176"/>
            <a:ext cx="457200" cy="457200"/>
          </a:xfrm>
          <a:prstGeom prst="ellipse">
            <a:avLst/>
          </a:prstGeom>
          <a:solidFill>
            <a:srgbClr val="7A1F2B"/>
          </a:solidFill>
          <a:ln w="12700">
            <a:solidFill>
              <a:srgbClr val="7A1F2B"/>
            </a:solidFill>
            <a:prstDash val="solid"/>
          </a:ln>
        </p:spPr>
      </p:sp>
      <p:sp>
        <p:nvSpPr>
          <p:cNvPr id="37" name="Text 33"/>
          <p:cNvSpPr txBox="1"/>
          <p:nvPr/>
        </p:nvSpPr>
        <p:spPr>
          <a:xfrm>
            <a:off x="8330184" y="1408176"/>
            <a:ext cx="457200" cy="457200"/>
          </a:xfrm>
          <a:prstGeom prst="rect">
            <a:avLst/>
          </a:prstGeom>
          <a:noFill/>
          <a:ln/>
        </p:spPr>
        <p:txBody>
          <a:bodyPr wrap="square" lIns="0" tIns="0" rIns="0" bIns="0" rtlCol="0" anchor="ctr"/>
          <a:lstStyle/>
          <a:p>
            <a:pPr algn="ctr" indent="0" marL="0">
              <a:buNone/>
            </a:pPr>
            <a:r>
              <a:rPr lang="en-US" sz="1600" b="1" dirty="0">
                <a:solidFill>
                  <a:srgbClr val="C9A24A"/>
                </a:solidFill>
                <a:latin typeface="Calibri" pitchFamily="34" charset="0"/>
                <a:ea typeface="Calibri" pitchFamily="34" charset="-122"/>
                <a:cs typeface="Calibri" pitchFamily="34" charset="-120"/>
              </a:rPr>
              <a:t>3</a:t>
            </a:r>
            <a:endParaRPr lang="en-US" sz="1600" dirty="0"/>
          </a:p>
        </p:txBody>
      </p:sp>
      <p:sp>
        <p:nvSpPr>
          <p:cNvPr id="38" name="Text 34"/>
          <p:cNvSpPr txBox="1"/>
          <p:nvPr/>
        </p:nvSpPr>
        <p:spPr>
          <a:xfrm>
            <a:off x="8878824" y="1389888"/>
            <a:ext cx="2834640" cy="219456"/>
          </a:xfrm>
          <a:prstGeom prst="rect">
            <a:avLst/>
          </a:prstGeom>
          <a:noFill/>
          <a:ln/>
        </p:spPr>
        <p:txBody>
          <a:bodyPr wrap="square" lIns="0" tIns="0" rIns="0" bIns="0" rtlCol="0" anchor="ctr"/>
          <a:lstStyle/>
          <a:p>
            <a:pPr indent="0" marL="0">
              <a:buNone/>
            </a:pPr>
            <a:r>
              <a:rPr lang="en-US" sz="950" b="1" spc="120" kern="0" dirty="0">
                <a:solidFill>
                  <a:srgbClr val="8A6A22"/>
                </a:solidFill>
                <a:latin typeface="Calibri" pitchFamily="34" charset="0"/>
                <a:ea typeface="Calibri" pitchFamily="34" charset="-122"/>
                <a:cs typeface="Calibri" pitchFamily="34" charset="-120"/>
              </a:rPr>
              <a:t>PERTANYAAN 3 · KEWAJIBAN MEMAKAI BHP</a:t>
            </a:r>
            <a:endParaRPr lang="en-US" sz="950" dirty="0"/>
          </a:p>
        </p:txBody>
      </p:sp>
      <p:sp>
        <p:nvSpPr>
          <p:cNvPr id="39" name="Text 35"/>
          <p:cNvSpPr txBox="1"/>
          <p:nvPr/>
        </p:nvSpPr>
        <p:spPr>
          <a:xfrm>
            <a:off x="8878824" y="1609344"/>
            <a:ext cx="2834640" cy="512064"/>
          </a:xfrm>
          <a:prstGeom prst="rect">
            <a:avLst/>
          </a:prstGeom>
          <a:noFill/>
          <a:ln/>
        </p:spPr>
        <p:txBody>
          <a:bodyPr wrap="square" lIns="0" tIns="0" rIns="0" bIns="0" rtlCol="0" anchor="t"/>
          <a:lstStyle/>
          <a:p>
            <a:pPr indent="0" marL="0">
              <a:buNone/>
            </a:pPr>
            <a:r>
              <a:rPr lang="en-US" sz="900" i="1" dirty="0">
                <a:solidFill>
                  <a:srgbClr val="555555"/>
                </a:solidFill>
                <a:latin typeface="Calibri" pitchFamily="34" charset="0"/>
                <a:ea typeface="Calibri" pitchFamily="34" charset="-122"/>
                <a:cs typeface="Calibri" pitchFamily="34" charset="-120"/>
              </a:rPr>
              <a:t>Bagaimana pandangan BHP tentang kewajiban memakai kurator BHP pada kasus tertentu (debitor tanpa ahli waris, harta tidak terurus)?</a:t>
            </a:r>
            <a:endParaRPr lang="en-US" sz="900" dirty="0"/>
          </a:p>
        </p:txBody>
      </p:sp>
      <p:sp>
        <p:nvSpPr>
          <p:cNvPr id="40" name="Text 36"/>
          <p:cNvSpPr txBox="1"/>
          <p:nvPr/>
        </p:nvSpPr>
        <p:spPr>
          <a:xfrm>
            <a:off x="8330184" y="2176272"/>
            <a:ext cx="3374136" cy="1810512"/>
          </a:xfrm>
          <a:prstGeom prst="rect">
            <a:avLst/>
          </a:prstGeom>
          <a:noFill/>
          <a:ln/>
        </p:spPr>
        <p:txBody>
          <a:bodyPr wrap="square" lIns="0" tIns="0" rIns="0" bIns="0" rtlCol="0" anchor="t"/>
          <a:lstStyle/>
          <a:p>
            <a:pPr indent="0" marL="0">
              <a:spcAft>
                <a:spcPts val="400"/>
              </a:spcAft>
              <a:buNone/>
            </a:pPr>
            <a:r>
              <a:rPr lang="en-US" sz="1000" b="1" dirty="0">
                <a:solidFill>
                  <a:srgbClr val="7A1F2B"/>
                </a:solidFill>
                <a:latin typeface="Calibri" pitchFamily="34" charset="0"/>
                <a:ea typeface="Calibri" pitchFamily="34" charset="-122"/>
                <a:cs typeface="Calibri" pitchFamily="34" charset="-120"/>
              </a:rPr>
              <a:t>Setuju, dengan kriteria tertutup.</a:t>
            </a:r>
            <a:pPr indent="0" marL="0">
              <a:spcAft>
                <a:spcPts val="400"/>
              </a:spcAft>
              <a:buNone/>
            </a:pPr>
            <a:r>
              <a:rPr lang="en-US" sz="1000" dirty="0">
                <a:solidFill>
                  <a:srgbClr val="2B2B2B"/>
                </a:solidFill>
                <a:latin typeface="Calibri" pitchFamily="34" charset="0"/>
                <a:ea typeface="Calibri" pitchFamily="34" charset="-122"/>
                <a:cs typeface="Calibri" pitchFamily="34" charset="-120"/>
              </a:rPr>
              <a:t> Kedua contoh itu memang tugas BHP menurut KUHPerdata. Ditambah: debitor tidak diketahui keberadaannya; ahli waris masih anak atau dalam pengampuan; permohonan buruh; perkara kehilangan kurator. Kurator perseorangan dapat menjadi kurator tambahan. </a:t>
            </a:r>
            <a:pPr indent="0" marL="0">
              <a:spcAft>
                <a:spcPts val="400"/>
              </a:spcAft>
              <a:buNone/>
            </a:pPr>
            <a:r>
              <a:rPr lang="en-US" sz="1000" b="1" dirty="0">
                <a:solidFill>
                  <a:srgbClr val="7A1F2B"/>
                </a:solidFill>
                <a:latin typeface="Calibri" pitchFamily="34" charset="0"/>
                <a:ea typeface="Calibri" pitchFamily="34" charset="-122"/>
                <a:cs typeface="Calibri" pitchFamily="34" charset="-120"/>
              </a:rPr>
              <a:t>Di luar itu pemohon bebas memilih.</a:t>
            </a:r>
            <a:endParaRPr lang="en-US" sz="1000" dirty="0"/>
          </a:p>
        </p:txBody>
      </p:sp>
      <p:sp>
        <p:nvSpPr>
          <p:cNvPr id="41" name="Shape 37"/>
          <p:cNvSpPr/>
          <p:nvPr/>
        </p:nvSpPr>
        <p:spPr>
          <a:xfrm>
            <a:off x="8293608" y="4114800"/>
            <a:ext cx="3447288" cy="786384"/>
          </a:xfrm>
          <a:prstGeom prst="roundRect">
            <a:avLst>
              <a:gd name="adj" fmla="val 8140"/>
            </a:avLst>
          </a:prstGeom>
          <a:solidFill>
            <a:srgbClr val="FFFFFF"/>
          </a:solidFill>
          <a:ln w="12700">
            <a:solidFill>
              <a:srgbClr val="E2DDD5"/>
            </a:solidFill>
            <a:prstDash val="solid"/>
          </a:ln>
        </p:spPr>
      </p:sp>
      <p:sp>
        <p:nvSpPr>
          <p:cNvPr id="42" name="Text 38"/>
          <p:cNvSpPr txBox="1"/>
          <p:nvPr/>
        </p:nvSpPr>
        <p:spPr>
          <a:xfrm>
            <a:off x="8403336" y="4169664"/>
            <a:ext cx="3227832" cy="694944"/>
          </a:xfrm>
          <a:prstGeom prst="rect">
            <a:avLst/>
          </a:prstGeom>
          <a:noFill/>
          <a:ln/>
        </p:spPr>
        <p:txBody>
          <a:bodyPr wrap="square" lIns="0" tIns="0" rIns="0" bIns="0" rtlCol="0" anchor="t"/>
          <a:lstStyle/>
          <a:p>
            <a:pPr indent="0" marL="0">
              <a:spcAft>
                <a:spcPts val="200"/>
              </a:spcAft>
              <a:buNone/>
            </a:pPr>
            <a:r>
              <a:rPr lang="en-US" sz="800" b="1" spc="120" kern="0" dirty="0">
                <a:solidFill>
                  <a:srgbClr val="8A6A22"/>
                </a:solidFill>
                <a:latin typeface="Calibri" pitchFamily="34" charset="0"/>
                <a:ea typeface="Calibri" pitchFamily="34" charset="-122"/>
                <a:cs typeface="Calibri" pitchFamily="34" charset="-120"/>
              </a:rPr>
              <a:t>BUKTI LAPANGAN</a:t>
            </a:r>
            <a:endParaRPr lang="en-US" sz="80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SIPP 2025 sampai 2026: dari 16 putusan pailit, BHP diangkat 2 kali, keduanya karena diminta pemohon. Penugasan BHP masih bergantung pada pilihan pemohon.</a:t>
            </a:r>
            <a:endParaRPr lang="en-US" sz="800" dirty="0"/>
          </a:p>
        </p:txBody>
      </p:sp>
      <p:sp>
        <p:nvSpPr>
          <p:cNvPr id="43" name="Shape 39"/>
          <p:cNvSpPr/>
          <p:nvPr/>
        </p:nvSpPr>
        <p:spPr>
          <a:xfrm>
            <a:off x="411480" y="5157216"/>
            <a:ext cx="11365992" cy="969264"/>
          </a:xfrm>
          <a:prstGeom prst="rect">
            <a:avLst/>
          </a:prstGeom>
          <a:solidFill>
            <a:srgbClr val="7A1F2B"/>
          </a:solidFill>
          <a:ln w="9525">
            <a:solidFill>
              <a:srgbClr val="7A1F2B"/>
            </a:solidFill>
            <a:prstDash val="solid"/>
          </a:ln>
        </p:spPr>
      </p:sp>
      <p:sp>
        <p:nvSpPr>
          <p:cNvPr id="44" name="Text 40"/>
          <p:cNvSpPr txBox="1"/>
          <p:nvPr/>
        </p:nvSpPr>
        <p:spPr>
          <a:xfrm>
            <a:off x="594360" y="5157216"/>
            <a:ext cx="1463040" cy="969264"/>
          </a:xfrm>
          <a:prstGeom prst="rect">
            <a:avLst/>
          </a:prstGeom>
          <a:noFill/>
          <a:ln/>
        </p:spPr>
        <p:txBody>
          <a:bodyPr wrap="square" lIns="0" tIns="0" rIns="0" bIns="0" rtlCol="0" anchor="ctr"/>
          <a:lstStyle/>
          <a:p>
            <a:pPr indent="0" marL="0">
              <a:buNone/>
            </a:pPr>
            <a:r>
              <a:rPr lang="en-US" sz="1100" b="1" spc="150" kern="0" dirty="0">
                <a:solidFill>
                  <a:srgbClr val="E8CB80"/>
                </a:solidFill>
                <a:latin typeface="Calibri" pitchFamily="34" charset="0"/>
                <a:ea typeface="Calibri" pitchFamily="34" charset="-122"/>
                <a:cs typeface="Calibri" pitchFamily="34" charset="-120"/>
              </a:rPr>
              <a:t>PENGALAMAN</a:t>
            </a:r>
            <a:endParaRPr lang="en-US" sz="1100" dirty="0"/>
          </a:p>
          <a:p>
            <a:pPr indent="0" marL="0">
              <a:buNone/>
            </a:pPr>
            <a:r>
              <a:rPr lang="en-US" sz="1100" b="1" spc="150" kern="0" dirty="0">
                <a:solidFill>
                  <a:srgbClr val="E8CB80"/>
                </a:solidFill>
                <a:latin typeface="Calibri" pitchFamily="34" charset="0"/>
                <a:ea typeface="Calibri" pitchFamily="34" charset="-122"/>
                <a:cs typeface="Calibri" pitchFamily="34" charset="-120"/>
              </a:rPr>
              <a:t>BHP MEDAN</a:t>
            </a:r>
            <a:endParaRPr lang="en-US" sz="1100" dirty="0"/>
          </a:p>
        </p:txBody>
      </p:sp>
      <p:sp>
        <p:nvSpPr>
          <p:cNvPr id="45" name="Text 41"/>
          <p:cNvSpPr txBox="1"/>
          <p:nvPr/>
        </p:nvSpPr>
        <p:spPr>
          <a:xfrm>
            <a:off x="2194560" y="5248656"/>
            <a:ext cx="1783080" cy="438912"/>
          </a:xfrm>
          <a:prstGeom prst="rect">
            <a:avLst/>
          </a:prstGeom>
          <a:noFill/>
          <a:ln/>
        </p:spPr>
        <p:txBody>
          <a:bodyPr wrap="square" lIns="0" tIns="0" rIns="0" bIns="0" rtlCol="0" anchor="ctr"/>
          <a:lstStyle/>
          <a:p>
            <a:pPr indent="0" marL="0">
              <a:buNone/>
            </a:pPr>
            <a:r>
              <a:rPr lang="en-US" sz="2400" b="1" dirty="0">
                <a:solidFill>
                  <a:srgbClr val="C9A24A"/>
                </a:solidFill>
                <a:latin typeface="Calibri" pitchFamily="34" charset="0"/>
                <a:ea typeface="Calibri" pitchFamily="34" charset="-122"/>
                <a:cs typeface="Calibri" pitchFamily="34" charset="-120"/>
              </a:rPr>
              <a:t>9</a:t>
            </a:r>
            <a:endParaRPr lang="en-US" sz="2400" dirty="0"/>
          </a:p>
        </p:txBody>
      </p:sp>
      <p:sp>
        <p:nvSpPr>
          <p:cNvPr id="46" name="Text 42"/>
          <p:cNvSpPr txBox="1"/>
          <p:nvPr/>
        </p:nvSpPr>
        <p:spPr>
          <a:xfrm>
            <a:off x="2194560" y="5687568"/>
            <a:ext cx="1783080" cy="384048"/>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perkara kepailitan sedang ditangani</a:t>
            </a:r>
            <a:endParaRPr lang="en-US" sz="900" dirty="0"/>
          </a:p>
        </p:txBody>
      </p:sp>
      <p:sp>
        <p:nvSpPr>
          <p:cNvPr id="47" name="Text 43"/>
          <p:cNvSpPr txBox="1"/>
          <p:nvPr/>
        </p:nvSpPr>
        <p:spPr>
          <a:xfrm>
            <a:off x="4096512" y="5248656"/>
            <a:ext cx="1783080" cy="438912"/>
          </a:xfrm>
          <a:prstGeom prst="rect">
            <a:avLst/>
          </a:prstGeom>
          <a:noFill/>
          <a:ln/>
        </p:spPr>
        <p:txBody>
          <a:bodyPr wrap="square" lIns="0" tIns="0" rIns="0" bIns="0" rtlCol="0" anchor="ctr"/>
          <a:lstStyle/>
          <a:p>
            <a:pPr indent="0" marL="0">
              <a:buNone/>
            </a:pPr>
            <a:r>
              <a:rPr lang="en-US" sz="2400" b="1" dirty="0">
                <a:solidFill>
                  <a:srgbClr val="C9A24A"/>
                </a:solidFill>
                <a:latin typeface="Calibri" pitchFamily="34" charset="0"/>
                <a:ea typeface="Calibri" pitchFamily="34" charset="-122"/>
                <a:cs typeface="Calibri" pitchFamily="34" charset="-120"/>
              </a:rPr>
              <a:t>Rp47,35 M</a:t>
            </a:r>
            <a:endParaRPr lang="en-US" sz="2400" dirty="0"/>
          </a:p>
        </p:txBody>
      </p:sp>
      <p:sp>
        <p:nvSpPr>
          <p:cNvPr id="48" name="Text 44"/>
          <p:cNvSpPr txBox="1"/>
          <p:nvPr/>
        </p:nvSpPr>
        <p:spPr>
          <a:xfrm>
            <a:off x="4096512" y="5687568"/>
            <a:ext cx="1783080" cy="384048"/>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total tagihan kreditor</a:t>
            </a:r>
            <a:endParaRPr lang="en-US" sz="900" dirty="0"/>
          </a:p>
        </p:txBody>
      </p:sp>
      <p:sp>
        <p:nvSpPr>
          <p:cNvPr id="49" name="Text 45"/>
          <p:cNvSpPr txBox="1"/>
          <p:nvPr/>
        </p:nvSpPr>
        <p:spPr>
          <a:xfrm>
            <a:off x="5998464" y="5248656"/>
            <a:ext cx="1783080" cy="438912"/>
          </a:xfrm>
          <a:prstGeom prst="rect">
            <a:avLst/>
          </a:prstGeom>
          <a:noFill/>
          <a:ln/>
        </p:spPr>
        <p:txBody>
          <a:bodyPr wrap="square" lIns="0" tIns="0" rIns="0" bIns="0" rtlCol="0" anchor="ctr"/>
          <a:lstStyle/>
          <a:p>
            <a:pPr indent="0" marL="0">
              <a:buNone/>
            </a:pPr>
            <a:r>
              <a:rPr lang="en-US" sz="2400" b="1" dirty="0">
                <a:solidFill>
                  <a:srgbClr val="C9A24A"/>
                </a:solidFill>
                <a:latin typeface="Calibri" pitchFamily="34" charset="0"/>
                <a:ea typeface="Calibri" pitchFamily="34" charset="-122"/>
                <a:cs typeface="Calibri" pitchFamily="34" charset="-120"/>
              </a:rPr>
              <a:t>6 dari 9</a:t>
            </a:r>
            <a:endParaRPr lang="en-US" sz="2400" dirty="0"/>
          </a:p>
        </p:txBody>
      </p:sp>
      <p:sp>
        <p:nvSpPr>
          <p:cNvPr id="50" name="Text 46"/>
          <p:cNvSpPr txBox="1"/>
          <p:nvPr/>
        </p:nvSpPr>
        <p:spPr>
          <a:xfrm>
            <a:off x="5998464" y="5687568"/>
            <a:ext cx="1783080" cy="384048"/>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perkara berjalan lebih dari 5 tahun</a:t>
            </a:r>
            <a:endParaRPr lang="en-US" sz="900" dirty="0"/>
          </a:p>
        </p:txBody>
      </p:sp>
      <p:sp>
        <p:nvSpPr>
          <p:cNvPr id="51" name="Text 47"/>
          <p:cNvSpPr txBox="1"/>
          <p:nvPr/>
        </p:nvSpPr>
        <p:spPr>
          <a:xfrm>
            <a:off x="7900416" y="5248656"/>
            <a:ext cx="1783080" cy="438912"/>
          </a:xfrm>
          <a:prstGeom prst="rect">
            <a:avLst/>
          </a:prstGeom>
          <a:noFill/>
          <a:ln/>
        </p:spPr>
        <p:txBody>
          <a:bodyPr wrap="square" lIns="0" tIns="0" rIns="0" bIns="0" rtlCol="0" anchor="ctr"/>
          <a:lstStyle/>
          <a:p>
            <a:pPr indent="0" marL="0">
              <a:buNone/>
            </a:pPr>
            <a:r>
              <a:rPr lang="en-US" sz="2400" b="1" dirty="0">
                <a:solidFill>
                  <a:srgbClr val="C9A24A"/>
                </a:solidFill>
                <a:latin typeface="Calibri" pitchFamily="34" charset="0"/>
                <a:ea typeface="Calibri" pitchFamily="34" charset="-122"/>
                <a:cs typeface="Calibri" pitchFamily="34" charset="-120"/>
              </a:rPr>
              <a:t>2 dari 9</a:t>
            </a:r>
            <a:endParaRPr lang="en-US" sz="2400" dirty="0"/>
          </a:p>
        </p:txBody>
      </p:sp>
      <p:sp>
        <p:nvSpPr>
          <p:cNvPr id="52" name="Text 48"/>
          <p:cNvSpPr txBox="1"/>
          <p:nvPr/>
        </p:nvSpPr>
        <p:spPr>
          <a:xfrm>
            <a:off x="7900416" y="5687568"/>
            <a:ext cx="1783080" cy="384048"/>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putusan pailit 2025 mengangkat BHP</a:t>
            </a:r>
            <a:endParaRPr lang="en-US" sz="900" dirty="0"/>
          </a:p>
        </p:txBody>
      </p:sp>
      <p:sp>
        <p:nvSpPr>
          <p:cNvPr id="53" name="Text 49"/>
          <p:cNvSpPr txBox="1"/>
          <p:nvPr/>
        </p:nvSpPr>
        <p:spPr>
          <a:xfrm>
            <a:off x="9802368" y="5248656"/>
            <a:ext cx="1783080" cy="438912"/>
          </a:xfrm>
          <a:prstGeom prst="rect">
            <a:avLst/>
          </a:prstGeom>
          <a:noFill/>
          <a:ln/>
        </p:spPr>
        <p:txBody>
          <a:bodyPr wrap="square" lIns="0" tIns="0" rIns="0" bIns="0" rtlCol="0" anchor="ctr"/>
          <a:lstStyle/>
          <a:p>
            <a:pPr indent="0" marL="0">
              <a:buNone/>
            </a:pPr>
            <a:r>
              <a:rPr lang="en-US" sz="2400" b="1" dirty="0">
                <a:solidFill>
                  <a:srgbClr val="C9A24A"/>
                </a:solidFill>
                <a:latin typeface="Calibri" pitchFamily="34" charset="0"/>
                <a:ea typeface="Calibri" pitchFamily="34" charset="-122"/>
                <a:cs typeface="Calibri" pitchFamily="34" charset="-120"/>
              </a:rPr>
              <a:t>0 dari 7</a:t>
            </a:r>
            <a:endParaRPr lang="en-US" sz="2400" dirty="0"/>
          </a:p>
        </p:txBody>
      </p:sp>
      <p:sp>
        <p:nvSpPr>
          <p:cNvPr id="54" name="Text 50"/>
          <p:cNvSpPr txBox="1"/>
          <p:nvPr/>
        </p:nvSpPr>
        <p:spPr>
          <a:xfrm>
            <a:off x="9802368" y="5687568"/>
            <a:ext cx="1783080" cy="384048"/>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putusan pailit 2026 mengangkat BHP</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1024128"/>
          </a:xfrm>
          <a:prstGeom prst="rect">
            <a:avLst/>
          </a:prstGeom>
          <a:solidFill>
            <a:srgbClr val="7A1F2B"/>
          </a:solidFill>
          <a:ln w="9525">
            <a:solidFill>
              <a:srgbClr val="7A1F2B"/>
            </a:solidFill>
            <a:prstDash val="solid"/>
          </a:ln>
        </p:spPr>
      </p:sp>
      <p:sp>
        <p:nvSpPr>
          <p:cNvPr id="3" name="Shape 1"/>
          <p:cNvSpPr/>
          <p:nvPr/>
        </p:nvSpPr>
        <p:spPr>
          <a:xfrm>
            <a:off x="0" y="1024128"/>
            <a:ext cx="12191695" cy="36576"/>
          </a:xfrm>
          <a:prstGeom prst="rect">
            <a:avLst/>
          </a:prstGeom>
          <a:solidFill>
            <a:srgbClr val="C9A24A"/>
          </a:solidFill>
          <a:ln w="9525">
            <a:solidFill>
              <a:srgbClr val="C9A24A"/>
            </a:solidFill>
            <a:prstDash val="solid"/>
          </a:ln>
        </p:spPr>
      </p:sp>
      <p:pic>
        <p:nvPicPr>
          <p:cNvPr id="4" name="Image 0" descr="/home/user/SAPAWALI/presentasi/web/logo-pengayoman.png">    </p:cNvPr>
          <p:cNvPicPr>
            <a:picLocks noChangeAspect="1"/>
          </p:cNvPicPr>
          <p:nvPr/>
        </p:nvPicPr>
        <p:blipFill>
          <a:blip r:embed="rId1"/>
          <a:stretch>
            <a:fillRect/>
          </a:stretch>
        </p:blipFill>
        <p:spPr>
          <a:xfrm>
            <a:off x="411480" y="182880"/>
            <a:ext cx="658368" cy="658368"/>
          </a:xfrm>
          <a:prstGeom prst="rect">
            <a:avLst/>
          </a:prstGeom>
        </p:spPr>
      </p:pic>
      <p:pic>
        <p:nvPicPr>
          <p:cNvPr id="5" name="Image 1" descr="/home/user/SAPAWALI/presentasi/web/logo-ahu.png">    </p:cNvPr>
          <p:cNvPicPr>
            <a:picLocks noChangeAspect="1"/>
          </p:cNvPicPr>
          <p:nvPr/>
        </p:nvPicPr>
        <p:blipFill>
          <a:blip r:embed="rId2"/>
          <a:stretch>
            <a:fillRect/>
          </a:stretch>
        </p:blipFill>
        <p:spPr>
          <a:xfrm>
            <a:off x="1143000" y="182880"/>
            <a:ext cx="658368" cy="658368"/>
          </a:xfrm>
          <a:prstGeom prst="rect">
            <a:avLst/>
          </a:prstGeom>
        </p:spPr>
      </p:pic>
      <p:sp>
        <p:nvSpPr>
          <p:cNvPr id="6" name="Text 2"/>
          <p:cNvSpPr txBox="1"/>
          <p:nvPr/>
        </p:nvSpPr>
        <p:spPr>
          <a:xfrm>
            <a:off x="1965960" y="91440"/>
            <a:ext cx="7863840" cy="219456"/>
          </a:xfrm>
          <a:prstGeom prst="rect">
            <a:avLst/>
          </a:prstGeom>
          <a:noFill/>
          <a:ln/>
        </p:spPr>
        <p:txBody>
          <a:bodyPr wrap="square" lIns="0" tIns="0" rIns="0" bIns="0" rtlCol="0" anchor="ctr"/>
          <a:lstStyle/>
          <a:p>
            <a:pPr indent="0" marL="0">
              <a:buNone/>
            </a:pPr>
            <a:r>
              <a:rPr lang="en-US" sz="950" b="1" spc="120" kern="0" dirty="0">
                <a:solidFill>
                  <a:srgbClr val="E8CB80"/>
                </a:solidFill>
                <a:latin typeface="Calibri" pitchFamily="34" charset="0"/>
                <a:ea typeface="Calibri" pitchFamily="34" charset="-122"/>
                <a:cs typeface="Calibri" pitchFamily="34" charset="-120"/>
              </a:rPr>
              <a:t>BALAI HARTA PENINGGALAN MEDAN  ·  RDP KOMISI XIII DPR RI, 6 OKTOBER 2026  ·  RUU TENTANG PROFESI KURATOR</a:t>
            </a:r>
            <a:endParaRPr lang="en-US" sz="950" dirty="0"/>
          </a:p>
        </p:txBody>
      </p:sp>
      <p:sp>
        <p:nvSpPr>
          <p:cNvPr id="7" name="Text 3"/>
          <p:cNvSpPr txBox="1"/>
          <p:nvPr/>
        </p:nvSpPr>
        <p:spPr>
          <a:xfrm>
            <a:off x="1965960" y="301752"/>
            <a:ext cx="7863840" cy="34747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Materi yang Perlu Dimuat dalam RUU Profesi Kurator</a:t>
            </a:r>
            <a:endParaRPr lang="en-US" sz="2000" dirty="0"/>
          </a:p>
        </p:txBody>
      </p:sp>
      <p:sp>
        <p:nvSpPr>
          <p:cNvPr id="8" name="Text 4"/>
          <p:cNvSpPr txBox="1"/>
          <p:nvPr/>
        </p:nvSpPr>
        <p:spPr>
          <a:xfrm>
            <a:off x="1965960" y="640080"/>
            <a:ext cx="7863840" cy="365760"/>
          </a:xfrm>
          <a:prstGeom prst="rect">
            <a:avLst/>
          </a:prstGeom>
          <a:noFill/>
          <a:ln/>
        </p:spPr>
        <p:txBody>
          <a:bodyPr wrap="square" lIns="0" tIns="0" rIns="0" bIns="0" rtlCol="0" anchor="t"/>
          <a:lstStyle/>
          <a:p>
            <a:pPr indent="0" marL="0">
              <a:buNone/>
            </a:pPr>
            <a:r>
              <a:rPr lang="en-US" sz="950" dirty="0">
                <a:solidFill>
                  <a:srgbClr val="E9D6D9"/>
                </a:solidFill>
                <a:latin typeface="Calibri" pitchFamily="34" charset="0"/>
                <a:ea typeface="Calibri" pitchFamily="34" charset="-122"/>
                <a:cs typeface="Calibri" pitchFamily="34" charset="-120"/>
              </a:rPr>
              <a:t>Jawaban slide 1 diterjemahkan ke tiga tujuan RUU: penegasan peran BHP, peningkatan kualitas profesi, serta pengawasan dan pertanggungjawaban.</a:t>
            </a:r>
            <a:endParaRPr lang="en-US" sz="950" dirty="0"/>
          </a:p>
        </p:txBody>
      </p:sp>
      <p:sp>
        <p:nvSpPr>
          <p:cNvPr id="9" name="Shape 5"/>
          <p:cNvSpPr/>
          <p:nvPr/>
        </p:nvSpPr>
        <p:spPr>
          <a:xfrm>
            <a:off x="9464040" y="219456"/>
            <a:ext cx="2331720" cy="585216"/>
          </a:xfrm>
          <a:prstGeom prst="roundRect">
            <a:avLst>
              <a:gd name="adj" fmla="val 10938"/>
            </a:avLst>
          </a:prstGeom>
          <a:solidFill>
            <a:srgbClr val="C9A24A"/>
          </a:solidFill>
          <a:ln w="9525">
            <a:solidFill>
              <a:srgbClr val="C9A24A"/>
            </a:solidFill>
            <a:prstDash val="solid"/>
          </a:ln>
        </p:spPr>
      </p:sp>
      <p:sp>
        <p:nvSpPr>
          <p:cNvPr id="10" name="Text 6"/>
          <p:cNvSpPr/>
          <p:nvPr/>
        </p:nvSpPr>
        <p:spPr>
          <a:xfrm>
            <a:off x="9464040" y="219456"/>
            <a:ext cx="2331720" cy="585216"/>
          </a:xfrm>
          <a:prstGeom prst="rect">
            <a:avLst/>
          </a:prstGeom>
          <a:noFill/>
          <a:ln/>
        </p:spPr>
        <p:txBody>
          <a:bodyPr wrap="square" lIns="0" tIns="0" rIns="0" bIns="0" rtlCol="0" anchor="ctr"/>
          <a:lstStyle/>
          <a:p>
            <a:pPr algn="ctr" indent="0" marL="0">
              <a:buNone/>
            </a:pPr>
            <a:r>
              <a:rPr lang="en-US" sz="1000" b="1" u="sng" spc="120" kern="0" dirty="0">
                <a:solidFill>
                  <a:srgbClr val="4F1520"/>
                </a:solidFill>
                <a:latin typeface="Calibri" pitchFamily="34" charset="0"/>
                <a:ea typeface="Calibri" pitchFamily="34" charset="-122"/>
                <a:cs typeface="Calibri" pitchFamily="34" charset="-120"/>
                <a:hlinkClick r:id="rId3" invalidUrl="" action="" tgtFrame="" tooltip="Buka data interaktif" history="1" highlightClick="0" endSnd="0">
                  <a:extLst>
                    <a:ext uri="{A12FA001-AC4F-418D-AE19-62706E023703}">
                      <ahyp:hlinkClr xmlns:ahyp="http://schemas.microsoft.com/office/drawing/2018/hyperlinkcolor" val="tx"/>
                    </a:ext>
                  </a:extLst>
                </a:hlinkClick>
              </a:rPr>
              <a:t>LIHAT DATA INTERAKTIF</a:t>
            </a:r>
            <a:endParaRPr lang="en-US" sz="1000" dirty="0"/>
          </a:p>
          <a:p>
            <a:pPr algn="ctr" indent="0" marL="0">
              <a:buNone/>
            </a:pPr>
            <a:r>
              <a:rPr lang="en-US" sz="900" u="sng" dirty="0">
                <a:solidFill>
                  <a:srgbClr val="4F1520"/>
                </a:solidFill>
                <a:latin typeface="Calibri" pitchFamily="34" charset="0"/>
                <a:ea typeface="Calibri" pitchFamily="34" charset="-122"/>
                <a:cs typeface="Calibri" pitchFamily="34" charset="-120"/>
                <a:hlinkClick r:id="rId3" invalidUrl="" action="" tgtFrame="" tooltip="Buka data interaktif" history="1" highlightClick="0" endSnd="0">
                  <a:extLst>
                    <a:ext uri="{A12FA001-AC4F-418D-AE19-62706E023703}">
                      <ahyp:hlinkClr xmlns:ahyp="http://schemas.microsoft.com/office/drawing/2018/hyperlinkcolor" val="tx"/>
                    </a:ext>
                  </a:extLst>
                </a:hlinkClick>
              </a:rPr>
              <a:t>grafik perkara BHP Medan  ›</a:t>
            </a:r>
            <a:endParaRPr lang="en-US" sz="1000" dirty="0"/>
          </a:p>
        </p:txBody>
      </p:sp>
      <p:sp>
        <p:nvSpPr>
          <p:cNvPr id="11" name="Text 7"/>
          <p:cNvSpPr txBox="1"/>
          <p:nvPr/>
        </p:nvSpPr>
        <p:spPr>
          <a:xfrm>
            <a:off x="9464040" y="822960"/>
            <a:ext cx="2331720" cy="182880"/>
          </a:xfrm>
          <a:prstGeom prst="rect">
            <a:avLst/>
          </a:prstGeom>
          <a:noFill/>
          <a:ln/>
        </p:spPr>
        <p:txBody>
          <a:bodyPr wrap="square" lIns="0" tIns="0" rIns="0" bIns="0" rtlCol="0" anchor="ctr"/>
          <a:lstStyle/>
          <a:p>
            <a:pPr algn="ctr" indent="0" marL="0">
              <a:buNone/>
            </a:pPr>
            <a:r>
              <a:rPr lang="en-US" sz="800" dirty="0">
                <a:solidFill>
                  <a:srgbClr val="E8CB80"/>
                </a:solidFill>
                <a:latin typeface="Calibri" pitchFamily="34" charset="0"/>
                <a:ea typeface="Calibri" pitchFamily="34" charset="-122"/>
                <a:cs typeface="Calibri" pitchFamily="34" charset="-120"/>
              </a:rPr>
              <a:t>Klaster 1 · slide 2 dari 2</a:t>
            </a:r>
            <a:endParaRPr lang="en-US" sz="800" dirty="0"/>
          </a:p>
        </p:txBody>
      </p:sp>
      <p:sp>
        <p:nvSpPr>
          <p:cNvPr id="12" name="Text 8"/>
          <p:cNvSpPr txBox="1"/>
          <p:nvPr/>
        </p:nvSpPr>
        <p:spPr>
          <a:xfrm>
            <a:off x="411480" y="6556248"/>
            <a:ext cx="10972800" cy="219456"/>
          </a:xfrm>
          <a:prstGeom prst="rect">
            <a:avLst/>
          </a:prstGeom>
          <a:noFill/>
          <a:ln/>
        </p:spPr>
        <p:txBody>
          <a:bodyPr wrap="square" lIns="0" tIns="0" rIns="0" bIns="0" rtlCol="0" anchor="ctr"/>
          <a:lstStyle/>
          <a:p>
            <a:pPr indent="0" marL="0">
              <a:buNone/>
            </a:pPr>
            <a:r>
              <a:rPr lang="en-US" sz="800" dirty="0">
                <a:solidFill>
                  <a:srgbClr val="6B6B6B"/>
                </a:solidFill>
                <a:latin typeface="Calibri" pitchFamily="34" charset="0"/>
                <a:ea typeface="Calibri" pitchFamily="34" charset="-122"/>
                <a:cs typeface="Calibri" pitchFamily="34" charset="-120"/>
              </a:rPr>
              <a:t>Sumber: Masukan dan Telaah BHP Medan, Klaster 1 (Medan, 3 Oktober 2026), Lampiran I (data perkara dan SIPP PN Medan per 2 Oktober 2026) dan Lampiran II (contoh rumusan pasal). Kepala BHP Medan: Syafriadi Lubis, M.H.</a:t>
            </a:r>
            <a:endParaRPr lang="en-US" sz="800" dirty="0"/>
          </a:p>
        </p:txBody>
      </p:sp>
      <p:sp>
        <p:nvSpPr>
          <p:cNvPr id="13" name="Text 9"/>
          <p:cNvSpPr txBox="1"/>
          <p:nvPr/>
        </p:nvSpPr>
        <p:spPr>
          <a:xfrm>
            <a:off x="11430000" y="6537960"/>
            <a:ext cx="365760" cy="237744"/>
          </a:xfrm>
          <a:prstGeom prst="rect">
            <a:avLst/>
          </a:prstGeom>
          <a:noFill/>
          <a:ln/>
        </p:spPr>
        <p:txBody>
          <a:bodyPr wrap="square" lIns="0" tIns="0" rIns="0" bIns="0" rtlCol="0" anchor="ctr"/>
          <a:lstStyle/>
          <a:p>
            <a:pPr algn="r" indent="0" marL="0">
              <a:buNone/>
            </a:pPr>
            <a:r>
              <a:rPr lang="en-US" sz="900" dirty="0">
                <a:solidFill>
                  <a:srgbClr val="8C8C8C"/>
                </a:solidFill>
                <a:latin typeface="Calibri" pitchFamily="34" charset="0"/>
                <a:ea typeface="Calibri" pitchFamily="34" charset="-122"/>
                <a:cs typeface="Calibri" pitchFamily="34" charset="-120"/>
              </a:rPr>
              <a:t>2</a:t>
            </a:r>
            <a:endParaRPr lang="en-US" sz="900" dirty="0"/>
          </a:p>
        </p:txBody>
      </p:sp>
      <p:sp>
        <p:nvSpPr>
          <p:cNvPr id="14" name="Shape 10"/>
          <p:cNvSpPr/>
          <p:nvPr/>
        </p:nvSpPr>
        <p:spPr>
          <a:xfrm>
            <a:off x="411480" y="1261872"/>
            <a:ext cx="3703320" cy="4041648"/>
          </a:xfrm>
          <a:prstGeom prst="roundRect">
            <a:avLst>
              <a:gd name="adj" fmla="val 1728"/>
            </a:avLst>
          </a:prstGeom>
          <a:solidFill>
            <a:srgbClr val="F4F4F6"/>
          </a:solidFill>
          <a:ln w="9525">
            <a:solidFill>
              <a:srgbClr val="F4F4F6"/>
            </a:solidFill>
            <a:prstDash val="solid"/>
          </a:ln>
        </p:spPr>
      </p:sp>
      <p:sp>
        <p:nvSpPr>
          <p:cNvPr id="15" name="Shape 11"/>
          <p:cNvSpPr/>
          <p:nvPr/>
        </p:nvSpPr>
        <p:spPr>
          <a:xfrm>
            <a:off x="557784" y="1389888"/>
            <a:ext cx="3410712" cy="640080"/>
          </a:xfrm>
          <a:prstGeom prst="roundRect">
            <a:avLst>
              <a:gd name="adj" fmla="val 10000"/>
            </a:avLst>
          </a:prstGeom>
          <a:solidFill>
            <a:srgbClr val="7A1F2B"/>
          </a:solidFill>
          <a:ln w="9525">
            <a:solidFill>
              <a:srgbClr val="7A1F2B"/>
            </a:solidFill>
            <a:prstDash val="solid"/>
          </a:ln>
        </p:spPr>
      </p:sp>
      <p:sp>
        <p:nvSpPr>
          <p:cNvPr id="16" name="Text 12"/>
          <p:cNvSpPr txBox="1"/>
          <p:nvPr/>
        </p:nvSpPr>
        <p:spPr>
          <a:xfrm>
            <a:off x="704088" y="1389888"/>
            <a:ext cx="3118104" cy="6400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Penegasan peran BHP</a:t>
            </a:r>
            <a:endParaRPr lang="en-US" sz="1300" dirty="0"/>
          </a:p>
          <a:p>
            <a:pPr indent="0" marL="0">
              <a:buNone/>
            </a:pPr>
            <a:r>
              <a:rPr lang="en-US" sz="850" dirty="0">
                <a:solidFill>
                  <a:srgbClr val="E8CB80"/>
                </a:solidFill>
                <a:latin typeface="Calibri" pitchFamily="34" charset="0"/>
                <a:ea typeface="Calibri" pitchFamily="34" charset="-122"/>
                <a:cs typeface="Calibri" pitchFamily="34" charset="-120"/>
              </a:rPr>
              <a:t>Menjawab Pertanyaan 2 dan 3</a:t>
            </a:r>
            <a:endParaRPr lang="en-US" sz="1300" dirty="0"/>
          </a:p>
        </p:txBody>
      </p:sp>
      <p:sp>
        <p:nvSpPr>
          <p:cNvPr id="17" name="Text 13"/>
          <p:cNvSpPr txBox="1"/>
          <p:nvPr/>
        </p:nvSpPr>
        <p:spPr>
          <a:xfrm>
            <a:off x="576072" y="2139696"/>
            <a:ext cx="3374136" cy="2103120"/>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BHP adalah kurator negara dan pengurus negara; kewenangannya dari undang-undang, tanpa izin atau pendaftaran.</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Pengadilan wajib mengangkat BHP bila debitor meninggal tanpa ahli waris atau hartanya tak terurus, tidak diketahui keberadaannya, ahli waris masih anak atau dalam pengampuan, permohonan diajukan pekerja, atau perkara kehilangan kurator.</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Di luar itu pemohon bebas memilih; kriteria rinci di RUU Kepailitan dan PKPU.</a:t>
            </a:r>
            <a:endParaRPr lang="en-US" sz="950" dirty="0"/>
          </a:p>
        </p:txBody>
      </p:sp>
      <p:sp>
        <p:nvSpPr>
          <p:cNvPr id="18" name="Shape 14"/>
          <p:cNvSpPr/>
          <p:nvPr/>
        </p:nvSpPr>
        <p:spPr>
          <a:xfrm>
            <a:off x="539496" y="4334256"/>
            <a:ext cx="3447288" cy="859536"/>
          </a:xfrm>
          <a:prstGeom prst="roundRect">
            <a:avLst>
              <a:gd name="adj" fmla="val 7447"/>
            </a:avLst>
          </a:prstGeom>
          <a:solidFill>
            <a:srgbClr val="FFFFFF"/>
          </a:solidFill>
          <a:ln w="12700">
            <a:solidFill>
              <a:srgbClr val="E2DDD5"/>
            </a:solidFill>
            <a:prstDash val="solid"/>
          </a:ln>
        </p:spPr>
      </p:sp>
      <p:sp>
        <p:nvSpPr>
          <p:cNvPr id="19" name="Text 15"/>
          <p:cNvSpPr txBox="1"/>
          <p:nvPr/>
        </p:nvSpPr>
        <p:spPr>
          <a:xfrm>
            <a:off x="649224" y="4389120"/>
            <a:ext cx="3227832" cy="768096"/>
          </a:xfrm>
          <a:prstGeom prst="rect">
            <a:avLst/>
          </a:prstGeom>
          <a:noFill/>
          <a:ln/>
        </p:spPr>
        <p:txBody>
          <a:bodyPr wrap="square" lIns="0" tIns="0" rIns="0" bIns="0" rtlCol="0" anchor="t"/>
          <a:lstStyle/>
          <a:p>
            <a:pPr indent="0" marL="0">
              <a:spcAft>
                <a:spcPts val="200"/>
              </a:spcAft>
              <a:buNone/>
            </a:pPr>
            <a:r>
              <a:rPr lang="en-US" sz="800" b="1" spc="120" kern="0" dirty="0">
                <a:solidFill>
                  <a:srgbClr val="8A6A22"/>
                </a:solidFill>
                <a:latin typeface="Calibri" pitchFamily="34" charset="0"/>
                <a:ea typeface="Calibri" pitchFamily="34" charset="-122"/>
                <a:cs typeface="Calibri" pitchFamily="34" charset="-120"/>
              </a:rPr>
              <a:t>PIJAKAN SAAT INI</a:t>
            </a:r>
            <a:endParaRPr lang="en-US" sz="80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Pasal 15 ayat (2) UU 37/2004 membuka pintu BHP hanya bila tidak ada usulan kurator; Pasal 1127 KUHPerdata sudah mewajibkan BHP mengurus harta tak terurus.</a:t>
            </a:r>
            <a:endParaRPr lang="en-US" sz="800" dirty="0"/>
          </a:p>
        </p:txBody>
      </p:sp>
      <p:sp>
        <p:nvSpPr>
          <p:cNvPr id="20" name="Shape 16"/>
          <p:cNvSpPr/>
          <p:nvPr/>
        </p:nvSpPr>
        <p:spPr>
          <a:xfrm>
            <a:off x="4288536" y="1261872"/>
            <a:ext cx="3703320" cy="4041648"/>
          </a:xfrm>
          <a:prstGeom prst="roundRect">
            <a:avLst>
              <a:gd name="adj" fmla="val 1728"/>
            </a:avLst>
          </a:prstGeom>
          <a:solidFill>
            <a:srgbClr val="F4F4F6"/>
          </a:solidFill>
          <a:ln w="9525">
            <a:solidFill>
              <a:srgbClr val="F4F4F6"/>
            </a:solidFill>
            <a:prstDash val="solid"/>
          </a:ln>
        </p:spPr>
      </p:sp>
      <p:sp>
        <p:nvSpPr>
          <p:cNvPr id="21" name="Shape 17"/>
          <p:cNvSpPr/>
          <p:nvPr/>
        </p:nvSpPr>
        <p:spPr>
          <a:xfrm>
            <a:off x="4434840" y="1389888"/>
            <a:ext cx="3410712" cy="640080"/>
          </a:xfrm>
          <a:prstGeom prst="roundRect">
            <a:avLst>
              <a:gd name="adj" fmla="val 10000"/>
            </a:avLst>
          </a:prstGeom>
          <a:solidFill>
            <a:srgbClr val="7A1F2B"/>
          </a:solidFill>
          <a:ln w="9525">
            <a:solidFill>
              <a:srgbClr val="7A1F2B"/>
            </a:solidFill>
            <a:prstDash val="solid"/>
          </a:ln>
        </p:spPr>
      </p:sp>
      <p:sp>
        <p:nvSpPr>
          <p:cNvPr id="22" name="Text 18"/>
          <p:cNvSpPr txBox="1"/>
          <p:nvPr/>
        </p:nvSpPr>
        <p:spPr>
          <a:xfrm>
            <a:off x="4581144" y="1389888"/>
            <a:ext cx="3118104" cy="6400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Peningkatan kualitas profesi</a:t>
            </a:r>
            <a:endParaRPr lang="en-US" sz="1300" dirty="0"/>
          </a:p>
          <a:p>
            <a:pPr indent="0" marL="0">
              <a:buNone/>
            </a:pPr>
            <a:r>
              <a:rPr lang="en-US" sz="850" dirty="0">
                <a:solidFill>
                  <a:srgbClr val="E8CB80"/>
                </a:solidFill>
                <a:latin typeface="Calibri" pitchFamily="34" charset="0"/>
                <a:ea typeface="Calibri" pitchFamily="34" charset="-122"/>
                <a:cs typeface="Calibri" pitchFamily="34" charset="-120"/>
              </a:rPr>
              <a:t>Menjawab Pertanyaan 1 dan 2</a:t>
            </a:r>
            <a:endParaRPr lang="en-US" sz="1300" dirty="0"/>
          </a:p>
        </p:txBody>
      </p:sp>
      <p:sp>
        <p:nvSpPr>
          <p:cNvPr id="23" name="Text 19"/>
          <p:cNvSpPr txBox="1"/>
          <p:nvPr/>
        </p:nvSpPr>
        <p:spPr>
          <a:xfrm>
            <a:off x="4453128" y="2139696"/>
            <a:ext cx="3374136" cy="2103120"/>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Satu standar profesi bagi BHP dan kurator perseorangan; kode etik mengikuti jalur masing-masing (ASN untuk BHP, organisasi profesi untuk kurator perseorangan).</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Tugas kurator BHP dijalankan pejabat fungsional Kurator Keperdataan dengan kompetensi yang sama.</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Data kurator aktif dan beban perkaranya dikelola Kementerian, dapat diperiksa pengadilan.</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Pembinaan BHP tetap oleh Kementerian.</a:t>
            </a:r>
            <a:endParaRPr lang="en-US" sz="950" dirty="0"/>
          </a:p>
        </p:txBody>
      </p:sp>
      <p:sp>
        <p:nvSpPr>
          <p:cNvPr id="24" name="Shape 20"/>
          <p:cNvSpPr/>
          <p:nvPr/>
        </p:nvSpPr>
        <p:spPr>
          <a:xfrm>
            <a:off x="4416552" y="4334256"/>
            <a:ext cx="3447288" cy="859536"/>
          </a:xfrm>
          <a:prstGeom prst="roundRect">
            <a:avLst>
              <a:gd name="adj" fmla="val 7447"/>
            </a:avLst>
          </a:prstGeom>
          <a:solidFill>
            <a:srgbClr val="FFFFFF"/>
          </a:solidFill>
          <a:ln w="12700">
            <a:solidFill>
              <a:srgbClr val="E2DDD5"/>
            </a:solidFill>
            <a:prstDash val="solid"/>
          </a:ln>
        </p:spPr>
      </p:sp>
      <p:sp>
        <p:nvSpPr>
          <p:cNvPr id="25" name="Text 21"/>
          <p:cNvSpPr txBox="1"/>
          <p:nvPr/>
        </p:nvSpPr>
        <p:spPr>
          <a:xfrm>
            <a:off x="4526280" y="4389120"/>
            <a:ext cx="3227832" cy="768096"/>
          </a:xfrm>
          <a:prstGeom prst="rect">
            <a:avLst/>
          </a:prstGeom>
          <a:noFill/>
          <a:ln/>
        </p:spPr>
        <p:txBody>
          <a:bodyPr wrap="square" lIns="0" tIns="0" rIns="0" bIns="0" rtlCol="0" anchor="t"/>
          <a:lstStyle/>
          <a:p>
            <a:pPr indent="0" marL="0">
              <a:spcAft>
                <a:spcPts val="200"/>
              </a:spcAft>
              <a:buNone/>
            </a:pPr>
            <a:r>
              <a:rPr lang="en-US" sz="800" b="1" spc="120" kern="0" dirty="0">
                <a:solidFill>
                  <a:srgbClr val="8A6A22"/>
                </a:solidFill>
                <a:latin typeface="Calibri" pitchFamily="34" charset="0"/>
                <a:ea typeface="Calibri" pitchFamily="34" charset="-122"/>
                <a:cs typeface="Calibri" pitchFamily="34" charset="-120"/>
              </a:rPr>
              <a:t>PIJAKAN SAAT INI</a:t>
            </a:r>
            <a:endParaRPr lang="en-US" sz="80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TOR Komisi XIII mencatat standar profesi yang terfragmentasi; kini BHP dan kurator perseorangan diukur dengan aturan yang berbeda.</a:t>
            </a:r>
            <a:endParaRPr lang="en-US" sz="800" dirty="0"/>
          </a:p>
        </p:txBody>
      </p:sp>
      <p:sp>
        <p:nvSpPr>
          <p:cNvPr id="26" name="Shape 22"/>
          <p:cNvSpPr/>
          <p:nvPr/>
        </p:nvSpPr>
        <p:spPr>
          <a:xfrm>
            <a:off x="8165592" y="1261872"/>
            <a:ext cx="3703320" cy="4041648"/>
          </a:xfrm>
          <a:prstGeom prst="roundRect">
            <a:avLst>
              <a:gd name="adj" fmla="val 1728"/>
            </a:avLst>
          </a:prstGeom>
          <a:solidFill>
            <a:srgbClr val="F4F4F6"/>
          </a:solidFill>
          <a:ln w="9525">
            <a:solidFill>
              <a:srgbClr val="F4F4F6"/>
            </a:solidFill>
            <a:prstDash val="solid"/>
          </a:ln>
        </p:spPr>
      </p:sp>
      <p:sp>
        <p:nvSpPr>
          <p:cNvPr id="27" name="Shape 23"/>
          <p:cNvSpPr/>
          <p:nvPr/>
        </p:nvSpPr>
        <p:spPr>
          <a:xfrm>
            <a:off x="8311896" y="1389888"/>
            <a:ext cx="3410712" cy="640080"/>
          </a:xfrm>
          <a:prstGeom prst="roundRect">
            <a:avLst>
              <a:gd name="adj" fmla="val 10000"/>
            </a:avLst>
          </a:prstGeom>
          <a:solidFill>
            <a:srgbClr val="7A1F2B"/>
          </a:solidFill>
          <a:ln w="9525">
            <a:solidFill>
              <a:srgbClr val="7A1F2B"/>
            </a:solidFill>
            <a:prstDash val="solid"/>
          </a:ln>
        </p:spPr>
      </p:sp>
      <p:sp>
        <p:nvSpPr>
          <p:cNvPr id="28" name="Text 24"/>
          <p:cNvSpPr txBox="1"/>
          <p:nvPr/>
        </p:nvSpPr>
        <p:spPr>
          <a:xfrm>
            <a:off x="8458200" y="1389888"/>
            <a:ext cx="3118104" cy="6400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Pengawasan dan pertanggungjawaban</a:t>
            </a:r>
            <a:endParaRPr lang="en-US" sz="1300" dirty="0"/>
          </a:p>
          <a:p>
            <a:pPr indent="0" marL="0">
              <a:buNone/>
            </a:pPr>
            <a:r>
              <a:rPr lang="en-US" sz="850" dirty="0">
                <a:solidFill>
                  <a:srgbClr val="E8CB80"/>
                </a:solidFill>
                <a:latin typeface="Calibri" pitchFamily="34" charset="0"/>
                <a:ea typeface="Calibri" pitchFamily="34" charset="-122"/>
                <a:cs typeface="Calibri" pitchFamily="34" charset="-120"/>
              </a:rPr>
              <a:t>Menjawab Pertanyaan 1 dan 2</a:t>
            </a:r>
            <a:endParaRPr lang="en-US" sz="1300" dirty="0"/>
          </a:p>
        </p:txBody>
      </p:sp>
      <p:sp>
        <p:nvSpPr>
          <p:cNvPr id="29" name="Text 25"/>
          <p:cNvSpPr txBox="1"/>
          <p:nvPr/>
        </p:nvSpPr>
        <p:spPr>
          <a:xfrm>
            <a:off x="8330184" y="2139696"/>
            <a:ext cx="3374136" cy="2103120"/>
          </a:xfrm>
          <a:prstGeom prst="rect">
            <a:avLst/>
          </a:prstGeom>
          <a:noFill/>
          <a:ln/>
        </p:spPr>
        <p:txBody>
          <a:bodyPr wrap="square" lIns="0" tIns="0" rIns="0" bIns="0" rtlCol="0" anchor="t"/>
          <a:lstStyle/>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Hakim Pengawas mengawasi pengurusan dan pemberesan oleh setiap kurator, BHP maupun perseorangan.</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Tugas bersama: pembagian tugas, tanggung jawab, dan imbalan ditetapkan sejak rapat kreditor pertama; bagian BHP menjadi PNBP.</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Serah terima wajib saat kurator berganti dan saat PKPU berakhir pailit.</a:t>
            </a:r>
            <a:endParaRPr lang="en-US" sz="950" dirty="0"/>
          </a:p>
          <a:p>
            <a:pPr marL="127000" indent="-127000">
              <a:spcAft>
                <a:spcPts val="400"/>
              </a:spcAft>
              <a:buSzPct val="100000"/>
              <a:buChar char="•"/>
            </a:pPr>
            <a:r>
              <a:rPr lang="en-US" sz="950" dirty="0">
                <a:solidFill>
                  <a:srgbClr val="2B2B2B"/>
                </a:solidFill>
                <a:latin typeface="Calibri" pitchFamily="34" charset="0"/>
                <a:ea typeface="Calibri" pitchFamily="34" charset="-122"/>
                <a:cs typeface="Calibri" pitchFamily="34" charset="-120"/>
              </a:rPr>
              <a:t>Tugas keperdataan dan tugas kurator BHP dijalankan pejabat berbeda dan dipertanggungjawabkan terpisah.</a:t>
            </a:r>
            <a:endParaRPr lang="en-US" sz="950" dirty="0"/>
          </a:p>
        </p:txBody>
      </p:sp>
      <p:sp>
        <p:nvSpPr>
          <p:cNvPr id="30" name="Shape 26"/>
          <p:cNvSpPr/>
          <p:nvPr/>
        </p:nvSpPr>
        <p:spPr>
          <a:xfrm>
            <a:off x="8293608" y="4334256"/>
            <a:ext cx="3447288" cy="859536"/>
          </a:xfrm>
          <a:prstGeom prst="roundRect">
            <a:avLst>
              <a:gd name="adj" fmla="val 7447"/>
            </a:avLst>
          </a:prstGeom>
          <a:solidFill>
            <a:srgbClr val="FFFFFF"/>
          </a:solidFill>
          <a:ln w="12700">
            <a:solidFill>
              <a:srgbClr val="E2DDD5"/>
            </a:solidFill>
            <a:prstDash val="solid"/>
          </a:ln>
        </p:spPr>
      </p:sp>
      <p:sp>
        <p:nvSpPr>
          <p:cNvPr id="31" name="Text 27"/>
          <p:cNvSpPr txBox="1"/>
          <p:nvPr/>
        </p:nvSpPr>
        <p:spPr>
          <a:xfrm>
            <a:off x="8403336" y="4389120"/>
            <a:ext cx="3227832" cy="768096"/>
          </a:xfrm>
          <a:prstGeom prst="rect">
            <a:avLst/>
          </a:prstGeom>
          <a:noFill/>
          <a:ln/>
        </p:spPr>
        <p:txBody>
          <a:bodyPr wrap="square" lIns="0" tIns="0" rIns="0" bIns="0" rtlCol="0" anchor="t"/>
          <a:lstStyle/>
          <a:p>
            <a:pPr indent="0" marL="0">
              <a:spcAft>
                <a:spcPts val="200"/>
              </a:spcAft>
              <a:buNone/>
            </a:pPr>
            <a:r>
              <a:rPr lang="en-US" sz="800" b="1" spc="120" kern="0" dirty="0">
                <a:solidFill>
                  <a:srgbClr val="8A6A22"/>
                </a:solidFill>
                <a:latin typeface="Calibri" pitchFamily="34" charset="0"/>
                <a:ea typeface="Calibri" pitchFamily="34" charset="-122"/>
                <a:cs typeface="Calibri" pitchFamily="34" charset="-120"/>
              </a:rPr>
              <a:t>PIJAKAN SAAT INI</a:t>
            </a:r>
            <a:endParaRPr lang="en-US" sz="800" dirty="0"/>
          </a:p>
          <a:p>
            <a:pPr indent="0" marL="0">
              <a:spcAft>
                <a:spcPts val="200"/>
              </a:spcAft>
              <a:buNone/>
            </a:pPr>
            <a:r>
              <a:rPr lang="en-US" sz="850" dirty="0">
                <a:solidFill>
                  <a:srgbClr val="2B2B2B"/>
                </a:solidFill>
                <a:latin typeface="Calibri" pitchFamily="34" charset="0"/>
                <a:ea typeface="Calibri" pitchFamily="34" charset="-122"/>
                <a:cs typeface="Calibri" pitchFamily="34" charset="-120"/>
              </a:rPr>
              <a:t>Pasal 65 dan 73 UU 37/2004: Hakim Pengawas mengawasi, tetapi tanggung jawab antarkurator dalam tugas bersama belum dibagi.</a:t>
            </a:r>
            <a:endParaRPr lang="en-US" sz="800" dirty="0"/>
          </a:p>
        </p:txBody>
      </p:sp>
      <p:sp>
        <p:nvSpPr>
          <p:cNvPr id="32" name="Shape 28"/>
          <p:cNvSpPr/>
          <p:nvPr/>
        </p:nvSpPr>
        <p:spPr>
          <a:xfrm>
            <a:off x="411480" y="5431536"/>
            <a:ext cx="11365992" cy="841248"/>
          </a:xfrm>
          <a:prstGeom prst="rect">
            <a:avLst/>
          </a:prstGeom>
          <a:solidFill>
            <a:srgbClr val="7A1F2B"/>
          </a:solidFill>
          <a:ln w="9525">
            <a:solidFill>
              <a:srgbClr val="7A1F2B"/>
            </a:solidFill>
            <a:prstDash val="solid"/>
          </a:ln>
        </p:spPr>
      </p:sp>
      <p:sp>
        <p:nvSpPr>
          <p:cNvPr id="33" name="Text 29"/>
          <p:cNvSpPr txBox="1"/>
          <p:nvPr/>
        </p:nvSpPr>
        <p:spPr>
          <a:xfrm>
            <a:off x="594360" y="5431536"/>
            <a:ext cx="1463040" cy="841248"/>
          </a:xfrm>
          <a:prstGeom prst="rect">
            <a:avLst/>
          </a:prstGeom>
          <a:noFill/>
          <a:ln/>
        </p:spPr>
        <p:txBody>
          <a:bodyPr wrap="square" lIns="0" tIns="0" rIns="0" bIns="0" rtlCol="0" anchor="ctr"/>
          <a:lstStyle/>
          <a:p>
            <a:pPr indent="0" marL="0">
              <a:buNone/>
            </a:pPr>
            <a:r>
              <a:rPr lang="en-US" sz="1000" b="1" spc="150" kern="0" dirty="0">
                <a:solidFill>
                  <a:srgbClr val="E8CB80"/>
                </a:solidFill>
                <a:latin typeface="Calibri" pitchFamily="34" charset="0"/>
                <a:ea typeface="Calibri" pitchFamily="34" charset="-122"/>
                <a:cs typeface="Calibri" pitchFamily="34" charset="-120"/>
              </a:rPr>
              <a:t>KOORDINASI</a:t>
            </a:r>
            <a:endParaRPr lang="en-US" sz="1000" dirty="0"/>
          </a:p>
          <a:p>
            <a:pPr indent="0" marL="0">
              <a:buNone/>
            </a:pPr>
            <a:r>
              <a:rPr lang="en-US" sz="1000" b="1" spc="150" kern="0" dirty="0">
                <a:solidFill>
                  <a:srgbClr val="E8CB80"/>
                </a:solidFill>
                <a:latin typeface="Calibri" pitchFamily="34" charset="0"/>
                <a:ea typeface="Calibri" pitchFamily="34" charset="-122"/>
                <a:cs typeface="Calibri" pitchFamily="34" charset="-120"/>
              </a:rPr>
              <a:t>ANTARLEMBAGA</a:t>
            </a:r>
            <a:endParaRPr lang="en-US" sz="1000" dirty="0"/>
          </a:p>
        </p:txBody>
      </p:sp>
      <p:pic>
        <p:nvPicPr>
          <p:cNvPr id="34" name="Image 2" descr="preencoded.png">    </p:cNvPr>
          <p:cNvPicPr>
            <a:picLocks noChangeAspect="1"/>
          </p:cNvPicPr>
          <p:nvPr/>
        </p:nvPicPr>
        <p:blipFill>
          <a:blip r:embed="rId4"/>
          <a:stretch>
            <a:fillRect/>
          </a:stretch>
        </p:blipFill>
        <p:spPr>
          <a:xfrm>
            <a:off x="2148840" y="5678424"/>
            <a:ext cx="329184" cy="329184"/>
          </a:xfrm>
          <a:prstGeom prst="rect">
            <a:avLst/>
          </a:prstGeom>
        </p:spPr>
      </p:pic>
      <p:sp>
        <p:nvSpPr>
          <p:cNvPr id="35" name="Text 30"/>
          <p:cNvSpPr txBox="1"/>
          <p:nvPr/>
        </p:nvSpPr>
        <p:spPr>
          <a:xfrm>
            <a:off x="2551176" y="5522976"/>
            <a:ext cx="1463040" cy="6766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Kementerian</a:t>
            </a:r>
            <a:endParaRPr lang="en-US" sz="950" dirty="0"/>
          </a:p>
          <a:p>
            <a:pPr indent="0" marL="0">
              <a:buNone/>
            </a:pPr>
            <a:r>
              <a:rPr lang="en-US" sz="800" dirty="0">
                <a:solidFill>
                  <a:srgbClr val="E9D6D9"/>
                </a:solidFill>
                <a:latin typeface="Calibri" pitchFamily="34" charset="0"/>
                <a:ea typeface="Calibri" pitchFamily="34" charset="-122"/>
                <a:cs typeface="Calibri" pitchFamily="34" charset="-120"/>
              </a:rPr>
              <a:t>membina BHP dan mengelola data kurator aktif</a:t>
            </a:r>
            <a:endParaRPr lang="en-US" sz="950" dirty="0"/>
          </a:p>
        </p:txBody>
      </p:sp>
      <p:pic>
        <p:nvPicPr>
          <p:cNvPr id="36" name="Image 3" descr="preencoded.png">    </p:cNvPr>
          <p:cNvPicPr>
            <a:picLocks noChangeAspect="1"/>
          </p:cNvPicPr>
          <p:nvPr/>
        </p:nvPicPr>
        <p:blipFill>
          <a:blip r:embed="rId5"/>
          <a:stretch>
            <a:fillRect/>
          </a:stretch>
        </p:blipFill>
        <p:spPr>
          <a:xfrm>
            <a:off x="4069080" y="5678424"/>
            <a:ext cx="329184" cy="329184"/>
          </a:xfrm>
          <a:prstGeom prst="rect">
            <a:avLst/>
          </a:prstGeom>
        </p:spPr>
      </p:pic>
      <p:sp>
        <p:nvSpPr>
          <p:cNvPr id="37" name="Text 31"/>
          <p:cNvSpPr txBox="1"/>
          <p:nvPr/>
        </p:nvSpPr>
        <p:spPr>
          <a:xfrm>
            <a:off x="4471416" y="5522976"/>
            <a:ext cx="1463040" cy="6766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Hakim Pengawas</a:t>
            </a:r>
            <a:endParaRPr lang="en-US" sz="950" dirty="0"/>
          </a:p>
          <a:p>
            <a:pPr indent="0" marL="0">
              <a:buNone/>
            </a:pPr>
            <a:r>
              <a:rPr lang="en-US" sz="800" dirty="0">
                <a:solidFill>
                  <a:srgbClr val="E9D6D9"/>
                </a:solidFill>
                <a:latin typeface="Calibri" pitchFamily="34" charset="0"/>
                <a:ea typeface="Calibri" pitchFamily="34" charset="-122"/>
                <a:cs typeface="Calibri" pitchFamily="34" charset="-120"/>
              </a:rPr>
              <a:t>mengawasi tiap perkara</a:t>
            </a:r>
            <a:endParaRPr lang="en-US" sz="950" dirty="0"/>
          </a:p>
        </p:txBody>
      </p:sp>
      <p:pic>
        <p:nvPicPr>
          <p:cNvPr id="38" name="Image 4" descr="preencoded.png">    </p:cNvPr>
          <p:cNvPicPr>
            <a:picLocks noChangeAspect="1"/>
          </p:cNvPicPr>
          <p:nvPr/>
        </p:nvPicPr>
        <p:blipFill>
          <a:blip r:embed="rId6"/>
          <a:stretch>
            <a:fillRect/>
          </a:stretch>
        </p:blipFill>
        <p:spPr>
          <a:xfrm>
            <a:off x="5989320" y="5678424"/>
            <a:ext cx="329184" cy="329184"/>
          </a:xfrm>
          <a:prstGeom prst="rect">
            <a:avLst/>
          </a:prstGeom>
        </p:spPr>
      </p:pic>
      <p:sp>
        <p:nvSpPr>
          <p:cNvPr id="39" name="Text 32"/>
          <p:cNvSpPr txBox="1"/>
          <p:nvPr/>
        </p:nvSpPr>
        <p:spPr>
          <a:xfrm>
            <a:off x="6391656" y="5522976"/>
            <a:ext cx="1463040" cy="6766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Organisasi profesi</a:t>
            </a:r>
            <a:endParaRPr lang="en-US" sz="950" dirty="0"/>
          </a:p>
          <a:p>
            <a:pPr indent="0" marL="0">
              <a:buNone/>
            </a:pPr>
            <a:r>
              <a:rPr lang="en-US" sz="800" dirty="0">
                <a:solidFill>
                  <a:srgbClr val="E9D6D9"/>
                </a:solidFill>
                <a:latin typeface="Calibri" pitchFamily="34" charset="0"/>
                <a:ea typeface="Calibri" pitchFamily="34" charset="-122"/>
                <a:cs typeface="Calibri" pitchFamily="34" charset="-120"/>
              </a:rPr>
              <a:t>menegakkan etik kurator perseorangan</a:t>
            </a:r>
            <a:endParaRPr lang="en-US" sz="950" dirty="0"/>
          </a:p>
        </p:txBody>
      </p:sp>
      <p:pic>
        <p:nvPicPr>
          <p:cNvPr id="40" name="Image 5" descr="preencoded.png">    </p:cNvPr>
          <p:cNvPicPr>
            <a:picLocks noChangeAspect="1"/>
          </p:cNvPicPr>
          <p:nvPr/>
        </p:nvPicPr>
        <p:blipFill>
          <a:blip r:embed="rId7"/>
          <a:stretch>
            <a:fillRect/>
          </a:stretch>
        </p:blipFill>
        <p:spPr>
          <a:xfrm>
            <a:off x="7909560" y="5678424"/>
            <a:ext cx="329184" cy="329184"/>
          </a:xfrm>
          <a:prstGeom prst="rect">
            <a:avLst/>
          </a:prstGeom>
        </p:spPr>
      </p:pic>
      <p:sp>
        <p:nvSpPr>
          <p:cNvPr id="41" name="Text 33"/>
          <p:cNvSpPr txBox="1"/>
          <p:nvPr/>
        </p:nvSpPr>
        <p:spPr>
          <a:xfrm>
            <a:off x="8311896" y="5522976"/>
            <a:ext cx="1463040" cy="6766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Pengadilan</a:t>
            </a:r>
            <a:endParaRPr lang="en-US" sz="950" dirty="0"/>
          </a:p>
          <a:p>
            <a:pPr indent="0" marL="0">
              <a:buNone/>
            </a:pPr>
            <a:r>
              <a:rPr lang="en-US" sz="800" dirty="0">
                <a:solidFill>
                  <a:srgbClr val="E9D6D9"/>
                </a:solidFill>
                <a:latin typeface="Calibri" pitchFamily="34" charset="0"/>
                <a:ea typeface="Calibri" pitchFamily="34" charset="-122"/>
                <a:cs typeface="Calibri" pitchFamily="34" charset="-120"/>
              </a:rPr>
              <a:t>mengangkat kurator dan segera menyampaikan salinan putusan</a:t>
            </a:r>
            <a:endParaRPr lang="en-US" sz="950" dirty="0"/>
          </a:p>
        </p:txBody>
      </p:sp>
      <p:pic>
        <p:nvPicPr>
          <p:cNvPr id="42" name="Image 6" descr="preencoded.png">    </p:cNvPr>
          <p:cNvPicPr>
            <a:picLocks noChangeAspect="1"/>
          </p:cNvPicPr>
          <p:nvPr/>
        </p:nvPicPr>
        <p:blipFill>
          <a:blip r:embed="rId8"/>
          <a:stretch>
            <a:fillRect/>
          </a:stretch>
        </p:blipFill>
        <p:spPr>
          <a:xfrm>
            <a:off x="9829800" y="5678424"/>
            <a:ext cx="329184" cy="329184"/>
          </a:xfrm>
          <a:prstGeom prst="rect">
            <a:avLst/>
          </a:prstGeom>
        </p:spPr>
      </p:pic>
      <p:sp>
        <p:nvSpPr>
          <p:cNvPr id="43" name="Text 34"/>
          <p:cNvSpPr txBox="1"/>
          <p:nvPr/>
        </p:nvSpPr>
        <p:spPr>
          <a:xfrm>
            <a:off x="10232136" y="5522976"/>
            <a:ext cx="1463040" cy="67665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BHP dan kantor pertanahan</a:t>
            </a:r>
            <a:endParaRPr lang="en-US" sz="950" dirty="0"/>
          </a:p>
          <a:p>
            <a:pPr indent="0" marL="0">
              <a:buNone/>
            </a:pPr>
            <a:r>
              <a:rPr lang="en-US" sz="800" dirty="0">
                <a:solidFill>
                  <a:srgbClr val="E9D6D9"/>
                </a:solidFill>
                <a:latin typeface="Calibri" pitchFamily="34" charset="0"/>
                <a:ea typeface="Calibri" pitchFamily="34" charset="-122"/>
                <a:cs typeface="Calibri" pitchFamily="34" charset="-120"/>
              </a:rPr>
              <a:t>mengamankan aset, mencegah sertifikat ganda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Klaster 1, Tumpang Tindih Kewenangan</dc:title>
  <dc:subject>PptxGenJS Presentation</dc:subject>
  <dc:creator>Balai Harta Peninggalan Medan</dc:creator>
  <cp:lastModifiedBy>Balai Harta Peninggalan Medan</cp:lastModifiedBy>
  <cp:revision>1</cp:revision>
  <dcterms:created xsi:type="dcterms:W3CDTF">2026-10-03T09:57:41Z</dcterms:created>
  <dcterms:modified xsi:type="dcterms:W3CDTF">2026-10-03T09:57:41Z</dcterms:modified>
</cp:coreProperties>
</file>