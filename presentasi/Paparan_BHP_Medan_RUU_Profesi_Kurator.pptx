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Salam pembuka.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bagian paparan.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 Pokok Sikap.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Kurator ada dua: perseorangan dan BHP. Bila RUU hanya untuk perseorangan, tiga hal tentang BHP menjadi tidak jelas.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sikap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mengisi perkara publik dan yang tidak diminati. Perkara bisnis tetap pilihan para pihak.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lembaga, empat peran. Tekankan: BHP bukan pengawas kurator privat.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II: Pengalaman BHP Medan.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Sembilan perkara, seluruhnya datang karena pemohon tidak mengusulkan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perkara yang sudah dinilai. Sumber: Buku Register Kepailitan BHP Medan, pemutakhiran Juni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Lama perkara sejak putusan sampai Oktober 2026 (PT Rata Makmur sejak PKPU). Sumber: Buku Register Kepailitan BHP Medan, diolah.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contoh nyata: PT Rata Makmur dan CV Hitado.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Perkara niaga naik, tetapi tidak ada data siapa kurator yang diangkat. Ini dijawab Pasal D ayat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III: Jawaban Klaster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kerja BHP dari penunjukan sampai laporan.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Contoh nyata kerja sama BHP dan kurator perorangan.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Aturannya berbeda. Ini dijawab Pasal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Tidak perlu memisahkan BHP dari tugas kurator. Yang diperlukan adalah pembagian peran yang jelas, karena tiga alasan.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Setuju untuk lima jenis perkara. Di luar itu para pihak tetap bebas memilih.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IV: Usulan Pasal untuk RUU Profesi Kurator.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BHP masuk sistem profesi kurator tanpa harus mengikuti aturan izin untuk orang perseorangan.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Kepastian pembagian peran tanpa mengulang hukum acara kepailitan.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lembaga negara bukan keistimewaan. Standarnya satu.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Menjawab kendala PT Jasa Prima Mandiri dan kekosongan data perkara.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V: Catatan untuk RUU Kepailitan dan PKPU.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Harapan BHP Medan dan ucapan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1097280"/>
          </a:xfrm>
          <a:prstGeom prst="rect">
            <a:avLst/>
          </a:prstGeom>
          <a:noFill/>
          <a:ln/>
        </p:spPr>
        <p:txBody>
          <a:bodyPr wrap="square" lIns="0" tIns="0" rIns="0" bIns="0" rtlCol="0" anchor="t"/>
          <a:lstStyle/>
          <a:p>
            <a:pPr indent="0" marL="0">
              <a:buNone/>
            </a:pPr>
            <a:r>
              <a:rPr lang="en-US" sz="1800" b="1" dirty="0">
                <a:solidFill>
                  <a:srgbClr val="E0A526"/>
                </a:solidFill>
                <a:latin typeface="Arial" pitchFamily="34" charset="0"/>
                <a:ea typeface="Arial" pitchFamily="34" charset="-122"/>
                <a:cs typeface="Arial" pitchFamily="34" charset="-120"/>
              </a:rPr>
              <a:t>KEMENTERIAN HUKUM REPUBLIK INDONESIA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KANTOR WILAYAH SUMATERA UTARA</a:t>
            </a:r>
            <a:endParaRPr lang="en-US" sz="1800" dirty="0"/>
          </a:p>
          <a:p>
            <a:pPr indent="0" marL="0">
              <a:buNone/>
            </a:pPr>
            <a:r>
              <a:rPr lang="en-US" sz="1800" b="1" dirty="0">
                <a:solidFill>
                  <a:srgbClr val="E0A526"/>
                </a:solidFill>
                <a:latin typeface="Arial" pitchFamily="34" charset="0"/>
                <a:ea typeface="Arial" pitchFamily="34" charset="-122"/>
                <a:cs typeface="Arial" pitchFamily="34" charset="-120"/>
              </a:rPr>
              <a:t>BALAI HARTA PENINGGALAN MEDAN</a:t>
            </a:r>
            <a:endParaRPr lang="en-US" sz="1800" dirty="0"/>
          </a:p>
        </p:txBody>
      </p:sp>
      <p:sp>
        <p:nvSpPr>
          <p:cNvPr id="3" name="Text 1"/>
          <p:cNvSpPr txBox="1"/>
          <p:nvPr/>
        </p:nvSpPr>
        <p:spPr>
          <a:xfrm>
            <a:off x="731520" y="1691640"/>
            <a:ext cx="10698480" cy="1463040"/>
          </a:xfrm>
          <a:prstGeom prst="rect">
            <a:avLst/>
          </a:prstGeom>
          <a:noFill/>
          <a:ln/>
        </p:spPr>
        <p:txBody>
          <a:bodyPr wrap="square" lIns="0" tIns="0" rIns="0" bIns="0" rtlCol="0" anchor="t"/>
          <a:lstStyle/>
          <a:p>
            <a:pPr indent="0" marL="0">
              <a:buNone/>
            </a:pPr>
            <a:r>
              <a:rPr lang="en-US" sz="4400" b="1" dirty="0">
                <a:solidFill>
                  <a:srgbClr val="FFFFFF"/>
                </a:solidFill>
                <a:latin typeface="Arial" pitchFamily="34" charset="0"/>
                <a:ea typeface="Arial" pitchFamily="34" charset="-122"/>
                <a:cs typeface="Arial" pitchFamily="34" charset="-120"/>
              </a:rPr>
              <a:t>BAHAN MASUKAN</a:t>
            </a:r>
            <a:endParaRPr lang="en-US" sz="4400" dirty="0"/>
          </a:p>
          <a:p>
            <a:pPr indent="0" marL="0">
              <a:buNone/>
            </a:pPr>
            <a:r>
              <a:rPr lang="en-US" sz="4400" b="1" dirty="0">
                <a:solidFill>
                  <a:srgbClr val="FFFFFF"/>
                </a:solidFill>
                <a:latin typeface="Arial" pitchFamily="34" charset="0"/>
                <a:ea typeface="Arial" pitchFamily="34" charset="-122"/>
                <a:cs typeface="Arial" pitchFamily="34" charset="-120"/>
              </a:rPr>
              <a:t>BALAI HARTA PENINGGALAN MEDAN</a:t>
            </a:r>
            <a:endParaRPr lang="en-US" sz="4400" dirty="0"/>
          </a:p>
        </p:txBody>
      </p:sp>
      <p:sp>
        <p:nvSpPr>
          <p:cNvPr id="4" name="Text 2"/>
          <p:cNvSpPr txBox="1"/>
          <p:nvPr/>
        </p:nvSpPr>
        <p:spPr>
          <a:xfrm>
            <a:off x="731520" y="3200400"/>
            <a:ext cx="10698480" cy="548640"/>
          </a:xfrm>
          <a:prstGeom prst="rect">
            <a:avLst/>
          </a:prstGeom>
          <a:noFill/>
          <a:ln/>
        </p:spPr>
        <p:txBody>
          <a:bodyPr wrap="square" lIns="0" tIns="0" rIns="0" bIns="0" rtlCol="0" anchor="t"/>
          <a:lstStyle/>
          <a:p>
            <a:pPr indent="0" marL="0">
              <a:buNone/>
            </a:pPr>
            <a:r>
              <a:rPr lang="en-US" sz="2800" b="1" dirty="0">
                <a:solidFill>
                  <a:srgbClr val="E0A526"/>
                </a:solidFill>
                <a:latin typeface="Arial" pitchFamily="34" charset="0"/>
                <a:ea typeface="Arial" pitchFamily="34" charset="-122"/>
                <a:cs typeface="Arial" pitchFamily="34" charset="-120"/>
              </a:rPr>
              <a:t>Poin 1: Kewenangan dan Pembagian Peran Kurator</a:t>
            </a:r>
            <a:endParaRPr lang="en-US" sz="2800" dirty="0"/>
          </a:p>
        </p:txBody>
      </p:sp>
      <p:sp>
        <p:nvSpPr>
          <p:cNvPr id="5" name="Text 3"/>
          <p:cNvSpPr txBox="1"/>
          <p:nvPr/>
        </p:nvSpPr>
        <p:spPr>
          <a:xfrm>
            <a:off x="731520" y="3840480"/>
            <a:ext cx="10424160" cy="100584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Rapat Dengar Pendapat Komisi XIII DPR RI tentang Rancangan Undang-Undang tentang Profesi Kurator</a:t>
            </a:r>
            <a:endParaRPr lang="en-US" sz="2200" dirty="0"/>
          </a:p>
        </p:txBody>
      </p:sp>
      <p:sp>
        <p:nvSpPr>
          <p:cNvPr id="6" name="Text 4"/>
          <p:cNvSpPr txBox="1"/>
          <p:nvPr/>
        </p:nvSpPr>
        <p:spPr>
          <a:xfrm>
            <a:off x="731520" y="5349240"/>
            <a:ext cx="10698480" cy="8686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 M.H.</a:t>
            </a:r>
            <a:endParaRPr lang="en-US" sz="2200" dirty="0"/>
          </a:p>
          <a:p>
            <a:pPr indent="0" marL="0">
              <a:buNone/>
            </a:pPr>
            <a:r>
              <a:rPr lang="en-US" sz="2200" dirty="0">
                <a:solidFill>
                  <a:srgbClr val="FFFFFF"/>
                </a:solidFill>
                <a:latin typeface="Arial" pitchFamily="34" charset="0"/>
                <a:ea typeface="Arial" pitchFamily="34" charset="-122"/>
                <a:cs typeface="Arial" pitchFamily="34" charset="-120"/>
              </a:rPr>
              <a:t>Kepala Balai Harta Peninggalan Medan · Medan, 2 Oktober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1109441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POIN 1 · KEWENANGAN DAN PEMBAGIAN PERAN KURATOR</a:t>
            </a:r>
            <a:endParaRPr lang="en-US" sz="1500" dirty="0"/>
          </a:p>
        </p:txBody>
      </p:sp>
      <p:sp>
        <p:nvSpPr>
          <p:cNvPr id="3" name="Text 1"/>
          <p:cNvSpPr txBox="1"/>
          <p:nvPr/>
        </p:nvSpPr>
        <p:spPr>
          <a:xfrm>
            <a:off x="548640" y="731520"/>
            <a:ext cx="1109441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Alur Paparan</a:t>
            </a:r>
            <a:endParaRPr lang="en-US" sz="3200" dirty="0"/>
          </a:p>
        </p:txBody>
      </p:sp>
      <p:sp>
        <p:nvSpPr>
          <p:cNvPr id="4" name="Text 2"/>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Dari masalah, sikap, dan pengalaman nyata BHP Medan, sampai usulan pasal yang siap dipakai.</a:t>
            </a:r>
            <a:endParaRPr lang="en-US" sz="2000" dirty="0"/>
          </a:p>
        </p:txBody>
      </p:sp>
      <p:sp>
        <p:nvSpPr>
          <p:cNvPr id="5" name="Shape 3"/>
          <p:cNvSpPr/>
          <p:nvPr/>
        </p:nvSpPr>
        <p:spPr>
          <a:xfrm>
            <a:off x="548640" y="2286000"/>
            <a:ext cx="2057400" cy="3840480"/>
          </a:xfrm>
          <a:prstGeom prst="roundRect">
            <a:avLst>
              <a:gd name="adj" fmla="val 5333"/>
            </a:avLst>
          </a:prstGeom>
          <a:solidFill>
            <a:srgbClr val="EEF2F8"/>
          </a:solidFill>
          <a:ln w="12700">
            <a:solidFill>
              <a:srgbClr val="EEF2F8"/>
            </a:solidFill>
            <a:prstDash val="solid"/>
          </a:ln>
        </p:spPr>
      </p:sp>
      <p:sp>
        <p:nvSpPr>
          <p:cNvPr id="6" name="Shape 4"/>
          <p:cNvSpPr/>
          <p:nvPr/>
        </p:nvSpPr>
        <p:spPr>
          <a:xfrm>
            <a:off x="777240" y="2514600"/>
            <a:ext cx="640080" cy="640080"/>
          </a:xfrm>
          <a:prstGeom prst="ellipse">
            <a:avLst/>
          </a:prstGeom>
          <a:solidFill>
            <a:srgbClr val="14284B"/>
          </a:solidFill>
          <a:ln w="12700">
            <a:solidFill>
              <a:srgbClr val="14284B"/>
            </a:solidFill>
            <a:prstDash val="solid"/>
          </a:ln>
        </p:spPr>
      </p:sp>
      <p:sp>
        <p:nvSpPr>
          <p:cNvPr id="7" name="Text 5"/>
          <p:cNvSpPr txBox="1"/>
          <p:nvPr/>
        </p:nvSpPr>
        <p:spPr>
          <a:xfrm>
            <a:off x="777240" y="2514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a:t>
            </a:r>
            <a:endParaRPr lang="en-US" sz="2000" dirty="0"/>
          </a:p>
        </p:txBody>
      </p:sp>
      <p:sp>
        <p:nvSpPr>
          <p:cNvPr id="8" name="Text 6"/>
          <p:cNvSpPr txBox="1"/>
          <p:nvPr/>
        </p:nvSpPr>
        <p:spPr>
          <a:xfrm>
            <a:off x="777240" y="3337560"/>
            <a:ext cx="1691640" cy="1463040"/>
          </a:xfrm>
          <a:prstGeom prst="rect">
            <a:avLst/>
          </a:prstGeom>
          <a:noFill/>
          <a:ln/>
        </p:spPr>
        <p:txBody>
          <a:bodyPr wrap="square" lIns="0" tIns="0" rIns="0" bIns="0" rtlCol="0" anchor="t"/>
          <a:lstStyle/>
          <a:p>
            <a:pPr indent="0" marL="0">
              <a:buNone/>
            </a:pPr>
            <a:r>
              <a:rPr lang="en-US" sz="2000" b="1" dirty="0">
                <a:solidFill>
                  <a:srgbClr val="14284B"/>
                </a:solidFill>
                <a:latin typeface="Arial" pitchFamily="34" charset="0"/>
                <a:ea typeface="Arial" pitchFamily="34" charset="-122"/>
                <a:cs typeface="Arial" pitchFamily="34" charset="-120"/>
              </a:rPr>
              <a:t>Pokok Sikap</a:t>
            </a:r>
            <a:endParaRPr lang="en-US" sz="2000" dirty="0"/>
          </a:p>
        </p:txBody>
      </p:sp>
      <p:sp>
        <p:nvSpPr>
          <p:cNvPr id="9" name="Text 7"/>
          <p:cNvSpPr txBox="1"/>
          <p:nvPr/>
        </p:nvSpPr>
        <p:spPr>
          <a:xfrm>
            <a:off x="777240" y="5029200"/>
            <a:ext cx="1691640" cy="822960"/>
          </a:xfrm>
          <a:prstGeom prst="rect">
            <a:avLst/>
          </a:prstGeom>
          <a:noFill/>
          <a:ln/>
        </p:spPr>
        <p:txBody>
          <a:bodyPr wrap="square" lIns="0" tIns="0" rIns="0" bIns="0" rtlCol="0" anchor="b"/>
          <a:lstStyle/>
          <a:p>
            <a:pPr indent="0" marL="0">
              <a:buNone/>
            </a:pPr>
            <a:r>
              <a:rPr lang="en-US" sz="1600" b="1" dirty="0">
                <a:solidFill>
                  <a:srgbClr val="8A6100"/>
                </a:solidFill>
                <a:latin typeface="Arial" pitchFamily="34" charset="0"/>
                <a:ea typeface="Arial" pitchFamily="34" charset="-122"/>
                <a:cs typeface="Arial" pitchFamily="34" charset="-120"/>
              </a:rPr>
              <a:t>4 sikap</a:t>
            </a:r>
            <a:endParaRPr lang="en-US" sz="1600" dirty="0"/>
          </a:p>
        </p:txBody>
      </p:sp>
      <p:sp>
        <p:nvSpPr>
          <p:cNvPr id="10" name="Shape 8"/>
          <p:cNvSpPr/>
          <p:nvPr/>
        </p:nvSpPr>
        <p:spPr>
          <a:xfrm>
            <a:off x="2788920" y="2286000"/>
            <a:ext cx="2057400" cy="3840480"/>
          </a:xfrm>
          <a:prstGeom prst="roundRect">
            <a:avLst>
              <a:gd name="adj" fmla="val 5333"/>
            </a:avLst>
          </a:prstGeom>
          <a:solidFill>
            <a:srgbClr val="EEF2F8"/>
          </a:solidFill>
          <a:ln w="12700">
            <a:solidFill>
              <a:srgbClr val="EEF2F8"/>
            </a:solidFill>
            <a:prstDash val="solid"/>
          </a:ln>
        </p:spPr>
      </p:sp>
      <p:sp>
        <p:nvSpPr>
          <p:cNvPr id="11" name="Shape 9"/>
          <p:cNvSpPr/>
          <p:nvPr/>
        </p:nvSpPr>
        <p:spPr>
          <a:xfrm>
            <a:off x="3017520" y="2514600"/>
            <a:ext cx="640080" cy="640080"/>
          </a:xfrm>
          <a:prstGeom prst="ellipse">
            <a:avLst/>
          </a:prstGeom>
          <a:solidFill>
            <a:srgbClr val="14284B"/>
          </a:solidFill>
          <a:ln w="12700">
            <a:solidFill>
              <a:srgbClr val="14284B"/>
            </a:solidFill>
            <a:prstDash val="solid"/>
          </a:ln>
        </p:spPr>
      </p:sp>
      <p:sp>
        <p:nvSpPr>
          <p:cNvPr id="12" name="Text 10"/>
          <p:cNvSpPr txBox="1"/>
          <p:nvPr/>
        </p:nvSpPr>
        <p:spPr>
          <a:xfrm>
            <a:off x="3017520" y="2514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II</a:t>
            </a:r>
            <a:endParaRPr lang="en-US" sz="2000" dirty="0"/>
          </a:p>
        </p:txBody>
      </p:sp>
      <p:sp>
        <p:nvSpPr>
          <p:cNvPr id="13" name="Text 11"/>
          <p:cNvSpPr txBox="1"/>
          <p:nvPr/>
        </p:nvSpPr>
        <p:spPr>
          <a:xfrm>
            <a:off x="3017520" y="3337560"/>
            <a:ext cx="1691640" cy="1463040"/>
          </a:xfrm>
          <a:prstGeom prst="rect">
            <a:avLst/>
          </a:prstGeom>
          <a:noFill/>
          <a:ln/>
        </p:spPr>
        <p:txBody>
          <a:bodyPr wrap="square" lIns="0" tIns="0" rIns="0" bIns="0" rtlCol="0" anchor="t"/>
          <a:lstStyle/>
          <a:p>
            <a:pPr indent="0" marL="0">
              <a:buNone/>
            </a:pPr>
            <a:r>
              <a:rPr lang="en-US" sz="2000" b="1" dirty="0">
                <a:solidFill>
                  <a:srgbClr val="14284B"/>
                </a:solidFill>
                <a:latin typeface="Arial" pitchFamily="34" charset="0"/>
                <a:ea typeface="Arial" pitchFamily="34" charset="-122"/>
                <a:cs typeface="Arial" pitchFamily="34" charset="-120"/>
              </a:rPr>
              <a:t>Pengalaman BHP Medan</a:t>
            </a:r>
            <a:endParaRPr lang="en-US" sz="2000" dirty="0"/>
          </a:p>
        </p:txBody>
      </p:sp>
      <p:sp>
        <p:nvSpPr>
          <p:cNvPr id="14" name="Text 12"/>
          <p:cNvSpPr txBox="1"/>
          <p:nvPr/>
        </p:nvSpPr>
        <p:spPr>
          <a:xfrm>
            <a:off x="3017520" y="5029200"/>
            <a:ext cx="1691640" cy="822960"/>
          </a:xfrm>
          <a:prstGeom prst="rect">
            <a:avLst/>
          </a:prstGeom>
          <a:noFill/>
          <a:ln/>
        </p:spPr>
        <p:txBody>
          <a:bodyPr wrap="square" lIns="0" tIns="0" rIns="0" bIns="0" rtlCol="0" anchor="b"/>
          <a:lstStyle/>
          <a:p>
            <a:pPr indent="0" marL="0">
              <a:buNone/>
            </a:pPr>
            <a:r>
              <a:rPr lang="en-US" sz="1600" b="1" dirty="0">
                <a:solidFill>
                  <a:srgbClr val="8A6100"/>
                </a:solidFill>
                <a:latin typeface="Arial" pitchFamily="34" charset="0"/>
                <a:ea typeface="Arial" pitchFamily="34" charset="-122"/>
                <a:cs typeface="Arial" pitchFamily="34" charset="-120"/>
              </a:rPr>
              <a:t>9 perkara</a:t>
            </a:r>
            <a:endParaRPr lang="en-US" sz="1600" dirty="0"/>
          </a:p>
        </p:txBody>
      </p:sp>
      <p:sp>
        <p:nvSpPr>
          <p:cNvPr id="15" name="Shape 13"/>
          <p:cNvSpPr/>
          <p:nvPr/>
        </p:nvSpPr>
        <p:spPr>
          <a:xfrm>
            <a:off x="5029200" y="2286000"/>
            <a:ext cx="2057400" cy="3840480"/>
          </a:xfrm>
          <a:prstGeom prst="roundRect">
            <a:avLst>
              <a:gd name="adj" fmla="val 5333"/>
            </a:avLst>
          </a:prstGeom>
          <a:solidFill>
            <a:srgbClr val="EEF2F8"/>
          </a:solidFill>
          <a:ln w="12700">
            <a:solidFill>
              <a:srgbClr val="EEF2F8"/>
            </a:solidFill>
            <a:prstDash val="solid"/>
          </a:ln>
        </p:spPr>
      </p:sp>
      <p:sp>
        <p:nvSpPr>
          <p:cNvPr id="16" name="Shape 14"/>
          <p:cNvSpPr/>
          <p:nvPr/>
        </p:nvSpPr>
        <p:spPr>
          <a:xfrm>
            <a:off x="5257800" y="2514600"/>
            <a:ext cx="640080" cy="640080"/>
          </a:xfrm>
          <a:prstGeom prst="ellipse">
            <a:avLst/>
          </a:prstGeom>
          <a:solidFill>
            <a:srgbClr val="14284B"/>
          </a:solidFill>
          <a:ln w="12700">
            <a:solidFill>
              <a:srgbClr val="14284B"/>
            </a:solidFill>
            <a:prstDash val="solid"/>
          </a:ln>
        </p:spPr>
      </p:sp>
      <p:sp>
        <p:nvSpPr>
          <p:cNvPr id="17" name="Text 15"/>
          <p:cNvSpPr txBox="1"/>
          <p:nvPr/>
        </p:nvSpPr>
        <p:spPr>
          <a:xfrm>
            <a:off x="5257800" y="2514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III</a:t>
            </a:r>
            <a:endParaRPr lang="en-US" sz="2000" dirty="0"/>
          </a:p>
        </p:txBody>
      </p:sp>
      <p:sp>
        <p:nvSpPr>
          <p:cNvPr id="18" name="Text 16"/>
          <p:cNvSpPr txBox="1"/>
          <p:nvPr/>
        </p:nvSpPr>
        <p:spPr>
          <a:xfrm>
            <a:off x="5257800" y="3337560"/>
            <a:ext cx="1691640" cy="1463040"/>
          </a:xfrm>
          <a:prstGeom prst="rect">
            <a:avLst/>
          </a:prstGeom>
          <a:noFill/>
          <a:ln/>
        </p:spPr>
        <p:txBody>
          <a:bodyPr wrap="square" lIns="0" tIns="0" rIns="0" bIns="0" rtlCol="0" anchor="t"/>
          <a:lstStyle/>
          <a:p>
            <a:pPr indent="0" marL="0">
              <a:buNone/>
            </a:pPr>
            <a:r>
              <a:rPr lang="en-US" sz="2000" b="1" dirty="0">
                <a:solidFill>
                  <a:srgbClr val="14284B"/>
                </a:solidFill>
                <a:latin typeface="Arial" pitchFamily="34" charset="0"/>
                <a:ea typeface="Arial" pitchFamily="34" charset="-122"/>
                <a:cs typeface="Arial" pitchFamily="34" charset="-120"/>
              </a:rPr>
              <a:t>Jawaban Klaster 1</a:t>
            </a:r>
            <a:endParaRPr lang="en-US" sz="2000" dirty="0"/>
          </a:p>
        </p:txBody>
      </p:sp>
      <p:sp>
        <p:nvSpPr>
          <p:cNvPr id="19" name="Text 17"/>
          <p:cNvSpPr txBox="1"/>
          <p:nvPr/>
        </p:nvSpPr>
        <p:spPr>
          <a:xfrm>
            <a:off x="5257800" y="5029200"/>
            <a:ext cx="1691640" cy="822960"/>
          </a:xfrm>
          <a:prstGeom prst="rect">
            <a:avLst/>
          </a:prstGeom>
          <a:noFill/>
          <a:ln/>
        </p:spPr>
        <p:txBody>
          <a:bodyPr wrap="square" lIns="0" tIns="0" rIns="0" bIns="0" rtlCol="0" anchor="b"/>
          <a:lstStyle/>
          <a:p>
            <a:pPr indent="0" marL="0">
              <a:buNone/>
            </a:pPr>
            <a:r>
              <a:rPr lang="en-US" sz="1600" b="1" dirty="0">
                <a:solidFill>
                  <a:srgbClr val="8A6100"/>
                </a:solidFill>
                <a:latin typeface="Arial" pitchFamily="34" charset="0"/>
                <a:ea typeface="Arial" pitchFamily="34" charset="-122"/>
                <a:cs typeface="Arial" pitchFamily="34" charset="-120"/>
              </a:rPr>
              <a:t>3 pertanyaan</a:t>
            </a:r>
            <a:endParaRPr lang="en-US" sz="1600" dirty="0"/>
          </a:p>
        </p:txBody>
      </p:sp>
      <p:sp>
        <p:nvSpPr>
          <p:cNvPr id="20" name="Shape 18"/>
          <p:cNvSpPr/>
          <p:nvPr/>
        </p:nvSpPr>
        <p:spPr>
          <a:xfrm>
            <a:off x="7269480" y="2286000"/>
            <a:ext cx="2057400" cy="3840480"/>
          </a:xfrm>
          <a:prstGeom prst="roundRect">
            <a:avLst>
              <a:gd name="adj" fmla="val 5333"/>
            </a:avLst>
          </a:prstGeom>
          <a:solidFill>
            <a:srgbClr val="EEF2F8"/>
          </a:solidFill>
          <a:ln w="12700">
            <a:solidFill>
              <a:srgbClr val="EEF2F8"/>
            </a:solidFill>
            <a:prstDash val="solid"/>
          </a:ln>
        </p:spPr>
      </p:sp>
      <p:sp>
        <p:nvSpPr>
          <p:cNvPr id="21" name="Shape 19"/>
          <p:cNvSpPr/>
          <p:nvPr/>
        </p:nvSpPr>
        <p:spPr>
          <a:xfrm>
            <a:off x="7498080" y="2514600"/>
            <a:ext cx="640080" cy="640080"/>
          </a:xfrm>
          <a:prstGeom prst="ellipse">
            <a:avLst/>
          </a:prstGeom>
          <a:solidFill>
            <a:srgbClr val="14284B"/>
          </a:solidFill>
          <a:ln w="12700">
            <a:solidFill>
              <a:srgbClr val="14284B"/>
            </a:solidFill>
            <a:prstDash val="solid"/>
          </a:ln>
        </p:spPr>
      </p:sp>
      <p:sp>
        <p:nvSpPr>
          <p:cNvPr id="22" name="Text 20"/>
          <p:cNvSpPr txBox="1"/>
          <p:nvPr/>
        </p:nvSpPr>
        <p:spPr>
          <a:xfrm>
            <a:off x="7498080" y="2514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IV</a:t>
            </a:r>
            <a:endParaRPr lang="en-US" sz="2000" dirty="0"/>
          </a:p>
        </p:txBody>
      </p:sp>
      <p:sp>
        <p:nvSpPr>
          <p:cNvPr id="23" name="Text 21"/>
          <p:cNvSpPr txBox="1"/>
          <p:nvPr/>
        </p:nvSpPr>
        <p:spPr>
          <a:xfrm>
            <a:off x="7498080" y="3337560"/>
            <a:ext cx="1691640" cy="1463040"/>
          </a:xfrm>
          <a:prstGeom prst="rect">
            <a:avLst/>
          </a:prstGeom>
          <a:noFill/>
          <a:ln/>
        </p:spPr>
        <p:txBody>
          <a:bodyPr wrap="square" lIns="0" tIns="0" rIns="0" bIns="0" rtlCol="0" anchor="t"/>
          <a:lstStyle/>
          <a:p>
            <a:pPr indent="0" marL="0">
              <a:buNone/>
            </a:pPr>
            <a:r>
              <a:rPr lang="en-US" sz="2000" b="1" dirty="0">
                <a:solidFill>
                  <a:srgbClr val="14284B"/>
                </a:solidFill>
                <a:latin typeface="Arial" pitchFamily="34" charset="0"/>
                <a:ea typeface="Arial" pitchFamily="34" charset="-122"/>
                <a:cs typeface="Arial" pitchFamily="34" charset="-120"/>
              </a:rPr>
              <a:t>Usulan Pasal</a:t>
            </a:r>
            <a:endParaRPr lang="en-US" sz="2000" dirty="0"/>
          </a:p>
        </p:txBody>
      </p:sp>
      <p:sp>
        <p:nvSpPr>
          <p:cNvPr id="24" name="Text 22"/>
          <p:cNvSpPr txBox="1"/>
          <p:nvPr/>
        </p:nvSpPr>
        <p:spPr>
          <a:xfrm>
            <a:off x="7498080" y="5029200"/>
            <a:ext cx="1691640" cy="822960"/>
          </a:xfrm>
          <a:prstGeom prst="rect">
            <a:avLst/>
          </a:prstGeom>
          <a:noFill/>
          <a:ln/>
        </p:spPr>
        <p:txBody>
          <a:bodyPr wrap="square" lIns="0" tIns="0" rIns="0" bIns="0" rtlCol="0" anchor="b"/>
          <a:lstStyle/>
          <a:p>
            <a:pPr indent="0" marL="0">
              <a:buNone/>
            </a:pPr>
            <a:r>
              <a:rPr lang="en-US" sz="1600" b="1" dirty="0">
                <a:solidFill>
                  <a:srgbClr val="8A6100"/>
                </a:solidFill>
                <a:latin typeface="Arial" pitchFamily="34" charset="0"/>
                <a:ea typeface="Arial" pitchFamily="34" charset="-122"/>
                <a:cs typeface="Arial" pitchFamily="34" charset="-120"/>
              </a:rPr>
              <a:t>Pasal A sampai D</a:t>
            </a:r>
            <a:endParaRPr lang="en-US" sz="1600" dirty="0"/>
          </a:p>
        </p:txBody>
      </p:sp>
      <p:sp>
        <p:nvSpPr>
          <p:cNvPr id="25" name="Shape 23"/>
          <p:cNvSpPr/>
          <p:nvPr/>
        </p:nvSpPr>
        <p:spPr>
          <a:xfrm>
            <a:off x="9509760" y="2286000"/>
            <a:ext cx="2057400" cy="3840480"/>
          </a:xfrm>
          <a:prstGeom prst="roundRect">
            <a:avLst>
              <a:gd name="adj" fmla="val 5333"/>
            </a:avLst>
          </a:prstGeom>
          <a:solidFill>
            <a:srgbClr val="EEF2F8"/>
          </a:solidFill>
          <a:ln w="12700">
            <a:solidFill>
              <a:srgbClr val="EEF2F8"/>
            </a:solidFill>
            <a:prstDash val="solid"/>
          </a:ln>
        </p:spPr>
      </p:sp>
      <p:sp>
        <p:nvSpPr>
          <p:cNvPr id="26" name="Shape 24"/>
          <p:cNvSpPr/>
          <p:nvPr/>
        </p:nvSpPr>
        <p:spPr>
          <a:xfrm>
            <a:off x="9738360" y="2514600"/>
            <a:ext cx="640080" cy="640080"/>
          </a:xfrm>
          <a:prstGeom prst="ellipse">
            <a:avLst/>
          </a:prstGeom>
          <a:solidFill>
            <a:srgbClr val="14284B"/>
          </a:solidFill>
          <a:ln w="12700">
            <a:solidFill>
              <a:srgbClr val="14284B"/>
            </a:solidFill>
            <a:prstDash val="solid"/>
          </a:ln>
        </p:spPr>
      </p:sp>
      <p:sp>
        <p:nvSpPr>
          <p:cNvPr id="27" name="Text 25"/>
          <p:cNvSpPr txBox="1"/>
          <p:nvPr/>
        </p:nvSpPr>
        <p:spPr>
          <a:xfrm>
            <a:off x="9738360" y="25146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a:t>
            </a:r>
            <a:endParaRPr lang="en-US" sz="2000" dirty="0"/>
          </a:p>
        </p:txBody>
      </p:sp>
      <p:sp>
        <p:nvSpPr>
          <p:cNvPr id="28" name="Text 26"/>
          <p:cNvSpPr txBox="1"/>
          <p:nvPr/>
        </p:nvSpPr>
        <p:spPr>
          <a:xfrm>
            <a:off x="9738360" y="3337560"/>
            <a:ext cx="1691640" cy="1463040"/>
          </a:xfrm>
          <a:prstGeom prst="rect">
            <a:avLst/>
          </a:prstGeom>
          <a:noFill/>
          <a:ln/>
        </p:spPr>
        <p:txBody>
          <a:bodyPr wrap="square" lIns="0" tIns="0" rIns="0" bIns="0" rtlCol="0" anchor="t"/>
          <a:lstStyle/>
          <a:p>
            <a:pPr indent="0" marL="0">
              <a:buNone/>
            </a:pPr>
            <a:r>
              <a:rPr lang="en-US" sz="2000" b="1" dirty="0">
                <a:solidFill>
                  <a:srgbClr val="14284B"/>
                </a:solidFill>
                <a:latin typeface="Arial" pitchFamily="34" charset="0"/>
                <a:ea typeface="Arial" pitchFamily="34" charset="-122"/>
                <a:cs typeface="Arial" pitchFamily="34" charset="-120"/>
              </a:rPr>
              <a:t>Catatan untuk RUU Kepailitan dan PKPU</a:t>
            </a:r>
            <a:endParaRPr lang="en-US" sz="2000" dirty="0"/>
          </a:p>
        </p:txBody>
      </p:sp>
      <p:sp>
        <p:nvSpPr>
          <p:cNvPr id="29" name="Text 27"/>
          <p:cNvSpPr txBox="1"/>
          <p:nvPr/>
        </p:nvSpPr>
        <p:spPr>
          <a:xfrm>
            <a:off x="9738360" y="5029200"/>
            <a:ext cx="1691640" cy="822960"/>
          </a:xfrm>
          <a:prstGeom prst="rect">
            <a:avLst/>
          </a:prstGeom>
          <a:noFill/>
          <a:ln/>
        </p:spPr>
        <p:txBody>
          <a:bodyPr wrap="square" lIns="0" tIns="0" rIns="0" bIns="0" rtlCol="0" anchor="b"/>
          <a:lstStyle/>
          <a:p>
            <a:pPr indent="0" marL="0">
              <a:buNone/>
            </a:pPr>
            <a:r>
              <a:rPr lang="en-US" sz="1600" b="1" dirty="0">
                <a:solidFill>
                  <a:srgbClr val="8A6100"/>
                </a:solidFill>
                <a:latin typeface="Arial" pitchFamily="34" charset="0"/>
                <a:ea typeface="Arial" pitchFamily="34" charset="-122"/>
                <a:cs typeface="Arial" pitchFamily="34" charset="-120"/>
              </a:rPr>
              <a:t>4 hal</a:t>
            </a:r>
            <a:endParaRPr lang="en-US" sz="1600" dirty="0"/>
          </a:p>
        </p:txBody>
      </p:sp>
      <p:sp>
        <p:nvSpPr>
          <p:cNvPr id="30" name="Text 28"/>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31" name="Text 29"/>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E0A526"/>
          </a:solidFill>
          <a:ln w="12700">
            <a:solidFill>
              <a:srgbClr val="E0A526"/>
            </a:solidFill>
            <a:prstDash val="solid"/>
          </a:ln>
        </p:spPr>
      </p:sp>
      <p:sp>
        <p:nvSpPr>
          <p:cNvPr id="3" name="Shape 1"/>
          <p:cNvSpPr/>
          <p:nvPr/>
        </p:nvSpPr>
        <p:spPr>
          <a:xfrm>
            <a:off x="2907792" y="548640"/>
            <a:ext cx="2011680" cy="73152"/>
          </a:xfrm>
          <a:prstGeom prst="roundRect">
            <a:avLst>
              <a:gd name="adj" fmla="val 50000"/>
            </a:avLst>
          </a:prstGeom>
          <a:solidFill>
            <a:srgbClr val="34456A"/>
          </a:solidFill>
          <a:ln w="12700">
            <a:solidFill>
              <a:srgbClr val="34456A"/>
            </a:solidFill>
            <a:prstDash val="solid"/>
          </a:ln>
        </p:spPr>
      </p:sp>
      <p:sp>
        <p:nvSpPr>
          <p:cNvPr id="4" name="Shape 2"/>
          <p:cNvSpPr/>
          <p:nvPr/>
        </p:nvSpPr>
        <p:spPr>
          <a:xfrm>
            <a:off x="5084064" y="548640"/>
            <a:ext cx="2011680" cy="73152"/>
          </a:xfrm>
          <a:prstGeom prst="roundRect">
            <a:avLst>
              <a:gd name="adj" fmla="val 50000"/>
            </a:avLst>
          </a:prstGeom>
          <a:solidFill>
            <a:srgbClr val="34456A"/>
          </a:solidFill>
          <a:ln w="12700">
            <a:solidFill>
              <a:srgbClr val="34456A"/>
            </a:solidFill>
            <a:prstDash val="solid"/>
          </a:ln>
        </p:spPr>
      </p:sp>
      <p:sp>
        <p:nvSpPr>
          <p:cNvPr id="5" name="Shape 3"/>
          <p:cNvSpPr/>
          <p:nvPr/>
        </p:nvSpPr>
        <p:spPr>
          <a:xfrm>
            <a:off x="7260336" y="548640"/>
            <a:ext cx="2011680" cy="73152"/>
          </a:xfrm>
          <a:prstGeom prst="roundRect">
            <a:avLst>
              <a:gd name="adj" fmla="val 50000"/>
            </a:avLst>
          </a:prstGeom>
          <a:solidFill>
            <a:srgbClr val="34456A"/>
          </a:solidFill>
          <a:ln w="12700">
            <a:solidFill>
              <a:srgbClr val="34456A"/>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Pokok Sikap</a:t>
            </a:r>
            <a:endParaRPr lang="en-US" sz="4800" dirty="0"/>
          </a:p>
        </p:txBody>
      </p:sp>
      <p:sp>
        <p:nvSpPr>
          <p:cNvPr id="9" name="Text 7"/>
          <p:cNvSpPr txBox="1"/>
          <p:nvPr/>
        </p:nvSpPr>
        <p:spPr>
          <a:xfrm>
            <a:off x="731520" y="2697480"/>
            <a:ext cx="10241280" cy="1188720"/>
          </a:xfrm>
          <a:prstGeom prst="rect">
            <a:avLst/>
          </a:prstGeom>
          <a:noFill/>
          <a:ln/>
        </p:spPr>
        <p:txBody>
          <a:bodyPr wrap="square" lIns="0" tIns="0" rIns="0" bIns="0" rtlCol="0" anchor="t"/>
          <a:lstStyle/>
          <a:p>
            <a:pPr indent="0" marL="0">
              <a:buNone/>
            </a:pPr>
            <a:r>
              <a:rPr lang="en-US" sz="2200" dirty="0">
                <a:solidFill>
                  <a:srgbClr val="DCE4F2"/>
                </a:solidFill>
                <a:latin typeface="Arial" pitchFamily="34" charset="0"/>
                <a:ea typeface="Arial" pitchFamily="34" charset="-122"/>
                <a:cs typeface="Arial" pitchFamily="34" charset="-120"/>
              </a:rPr>
              <a:t>RUU Profesi Kurator akan mengatur profesi kurator, padahal kurator tidak hanya orang perseorangan. BHP juga menjalankan tugas kurator berdasarkan undang-undang.</a:t>
            </a:r>
            <a:endParaRPr lang="en-US" sz="2200" dirty="0"/>
          </a:p>
        </p:txBody>
      </p:sp>
      <p:sp>
        <p:nvSpPr>
          <p:cNvPr id="10" name="Shape 8"/>
          <p:cNvSpPr/>
          <p:nvPr/>
        </p:nvSpPr>
        <p:spPr>
          <a:xfrm>
            <a:off x="731520" y="4160520"/>
            <a:ext cx="420624" cy="420624"/>
          </a:xfrm>
          <a:prstGeom prst="ellipse">
            <a:avLst/>
          </a:prstGeom>
          <a:solidFill>
            <a:srgbClr val="E0A526"/>
          </a:solidFill>
          <a:ln w="12700">
            <a:solidFill>
              <a:srgbClr val="E0A526"/>
            </a:solidFill>
            <a:prstDash val="solid"/>
          </a:ln>
        </p:spPr>
      </p:sp>
      <p:sp>
        <p:nvSpPr>
          <p:cNvPr id="11" name="Text 9"/>
          <p:cNvSpPr txBox="1"/>
          <p:nvPr/>
        </p:nvSpPr>
        <p:spPr>
          <a:xfrm>
            <a:off x="731520" y="4160520"/>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1</a:t>
            </a:r>
            <a:endParaRPr lang="en-US" sz="1500" dirty="0"/>
          </a:p>
        </p:txBody>
      </p:sp>
      <p:sp>
        <p:nvSpPr>
          <p:cNvPr id="12" name="Text 10"/>
          <p:cNvSpPr txBox="1"/>
          <p:nvPr/>
        </p:nvSpPr>
        <p:spPr>
          <a:xfrm>
            <a:off x="1325880" y="4160520"/>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Masalah</a:t>
            </a:r>
            <a:endParaRPr lang="en-US" sz="1900" dirty="0"/>
          </a:p>
        </p:txBody>
      </p:sp>
      <p:sp>
        <p:nvSpPr>
          <p:cNvPr id="13" name="Shape 11"/>
          <p:cNvSpPr/>
          <p:nvPr/>
        </p:nvSpPr>
        <p:spPr>
          <a:xfrm>
            <a:off x="731520" y="4690872"/>
            <a:ext cx="420624" cy="420624"/>
          </a:xfrm>
          <a:prstGeom prst="ellipse">
            <a:avLst/>
          </a:prstGeom>
          <a:solidFill>
            <a:srgbClr val="E0A526"/>
          </a:solidFill>
          <a:ln w="12700">
            <a:solidFill>
              <a:srgbClr val="E0A526"/>
            </a:solidFill>
            <a:prstDash val="solid"/>
          </a:ln>
        </p:spPr>
      </p:sp>
      <p:sp>
        <p:nvSpPr>
          <p:cNvPr id="14" name="Text 12"/>
          <p:cNvSpPr txBox="1"/>
          <p:nvPr/>
        </p:nvSpPr>
        <p:spPr>
          <a:xfrm>
            <a:off x="731520" y="4690872"/>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1325880" y="4690872"/>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Sikap BHP Medan</a:t>
            </a:r>
            <a:endParaRPr lang="en-US" sz="1900" dirty="0"/>
          </a:p>
        </p:txBody>
      </p:sp>
      <p:sp>
        <p:nvSpPr>
          <p:cNvPr id="16" name="Shape 14"/>
          <p:cNvSpPr/>
          <p:nvPr/>
        </p:nvSpPr>
        <p:spPr>
          <a:xfrm>
            <a:off x="731520" y="5221224"/>
            <a:ext cx="420624" cy="420624"/>
          </a:xfrm>
          <a:prstGeom prst="ellipse">
            <a:avLst/>
          </a:prstGeom>
          <a:solidFill>
            <a:srgbClr val="E0A526"/>
          </a:solidFill>
          <a:ln w="12700">
            <a:solidFill>
              <a:srgbClr val="E0A526"/>
            </a:solidFill>
            <a:prstDash val="solid"/>
          </a:ln>
        </p:spPr>
      </p:sp>
      <p:sp>
        <p:nvSpPr>
          <p:cNvPr id="17" name="Text 15"/>
          <p:cNvSpPr txBox="1"/>
          <p:nvPr/>
        </p:nvSpPr>
        <p:spPr>
          <a:xfrm>
            <a:off x="731520" y="5221224"/>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1325880" y="5221224"/>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Pembagian peran</a:t>
            </a:r>
            <a:endParaRPr lang="en-US" sz="1900" dirty="0"/>
          </a:p>
        </p:txBody>
      </p:sp>
      <p:sp>
        <p:nvSpPr>
          <p:cNvPr id="19" name="Shape 17"/>
          <p:cNvSpPr/>
          <p:nvPr/>
        </p:nvSpPr>
        <p:spPr>
          <a:xfrm>
            <a:off x="731520" y="5751576"/>
            <a:ext cx="420624" cy="420624"/>
          </a:xfrm>
          <a:prstGeom prst="ellipse">
            <a:avLst/>
          </a:prstGeom>
          <a:solidFill>
            <a:srgbClr val="E0A526"/>
          </a:solidFill>
          <a:ln w="12700">
            <a:solidFill>
              <a:srgbClr val="E0A526"/>
            </a:solidFill>
            <a:prstDash val="solid"/>
          </a:ln>
        </p:spPr>
      </p:sp>
      <p:sp>
        <p:nvSpPr>
          <p:cNvPr id="20" name="Text 18"/>
          <p:cNvSpPr txBox="1"/>
          <p:nvPr/>
        </p:nvSpPr>
        <p:spPr>
          <a:xfrm>
            <a:off x="731520" y="5751576"/>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4</a:t>
            </a:r>
            <a:endParaRPr lang="en-US" sz="1500" dirty="0"/>
          </a:p>
        </p:txBody>
      </p:sp>
      <p:sp>
        <p:nvSpPr>
          <p:cNvPr id="21" name="Text 19"/>
          <p:cNvSpPr txBox="1"/>
          <p:nvPr/>
        </p:nvSpPr>
        <p:spPr>
          <a:xfrm>
            <a:off x="1325880" y="5751576"/>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Koordinasi antarlembaga</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MASALAH</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Kurator Tidak Hanya Orang Perseorangan</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Apabila RUU hanya disusun untuk kurator perorangan, kedudukan BHP menjadi tidak jelas:</a:t>
            </a:r>
            <a:endParaRPr lang="en-US" sz="2000" dirty="0"/>
          </a:p>
        </p:txBody>
      </p:sp>
      <p:sp>
        <p:nvSpPr>
          <p:cNvPr id="7" name="Shape 5"/>
          <p:cNvSpPr/>
          <p:nvPr/>
        </p:nvSpPr>
        <p:spPr>
          <a:xfrm>
            <a:off x="548640" y="2331720"/>
            <a:ext cx="3514344" cy="2834640"/>
          </a:xfrm>
          <a:prstGeom prst="roundRect">
            <a:avLst>
              <a:gd name="adj" fmla="val 3871"/>
            </a:avLst>
          </a:prstGeom>
          <a:solidFill>
            <a:srgbClr val="EEF2F8"/>
          </a:solidFill>
          <a:ln w="12700">
            <a:solidFill>
              <a:srgbClr val="EEF2F8"/>
            </a:solidFill>
            <a:prstDash val="solid"/>
          </a:ln>
        </p:spPr>
      </p:sp>
      <p:pic>
        <p:nvPicPr>
          <p:cNvPr id="8" name="Image 0" descr="preencoded.png">    </p:cNvPr>
          <p:cNvPicPr>
            <a:picLocks noChangeAspect="1"/>
          </p:cNvPicPr>
          <p:nvPr/>
        </p:nvPicPr>
        <p:blipFill>
          <a:blip r:embed="rId1"/>
          <a:stretch>
            <a:fillRect/>
          </a:stretch>
        </p:blipFill>
        <p:spPr>
          <a:xfrm>
            <a:off x="822960" y="2587752"/>
            <a:ext cx="502920" cy="502920"/>
          </a:xfrm>
          <a:prstGeom prst="rect">
            <a:avLst/>
          </a:prstGeom>
        </p:spPr>
      </p:pic>
      <p:sp>
        <p:nvSpPr>
          <p:cNvPr id="9" name="Text 6"/>
          <p:cNvSpPr txBox="1"/>
          <p:nvPr/>
        </p:nvSpPr>
        <p:spPr>
          <a:xfrm>
            <a:off x="822960" y="3300984"/>
            <a:ext cx="2965704" cy="16824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TIDAK JELAS 1</a:t>
            </a:r>
            <a:endParaRPr lang="en-US" sz="1300" dirty="0"/>
          </a:p>
          <a:p>
            <a:pPr indent="0" marL="0">
              <a:spcAft>
                <a:spcPts val="400"/>
              </a:spcAft>
              <a:buNone/>
            </a:pPr>
            <a:r>
              <a:rPr lang="en-US" sz="2400" b="1" dirty="0">
                <a:solidFill>
                  <a:srgbClr val="14284B"/>
                </a:solidFill>
                <a:latin typeface="Arial" pitchFamily="34" charset="0"/>
                <a:ea typeface="Arial" pitchFamily="34" charset="-122"/>
                <a:cs typeface="Arial" pitchFamily="34" charset="-120"/>
              </a:rPr>
              <a:t>Apakah BHP ikut aturan izin dan sertifikasi profesi?</a:t>
            </a:r>
            <a:endParaRPr lang="en-US" sz="1300" dirty="0"/>
          </a:p>
        </p:txBody>
      </p:sp>
      <p:sp>
        <p:nvSpPr>
          <p:cNvPr id="10" name="Shape 7"/>
          <p:cNvSpPr/>
          <p:nvPr/>
        </p:nvSpPr>
        <p:spPr>
          <a:xfrm>
            <a:off x="4337304" y="2331720"/>
            <a:ext cx="3514344" cy="2834640"/>
          </a:xfrm>
          <a:prstGeom prst="roundRect">
            <a:avLst>
              <a:gd name="adj" fmla="val 3871"/>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4611624" y="2587752"/>
            <a:ext cx="502920" cy="502920"/>
          </a:xfrm>
          <a:prstGeom prst="rect">
            <a:avLst/>
          </a:prstGeom>
        </p:spPr>
      </p:pic>
      <p:sp>
        <p:nvSpPr>
          <p:cNvPr id="12" name="Text 8"/>
          <p:cNvSpPr txBox="1"/>
          <p:nvPr/>
        </p:nvSpPr>
        <p:spPr>
          <a:xfrm>
            <a:off x="4611624" y="3300984"/>
            <a:ext cx="2965704" cy="16824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TIDAK JELAS 2</a:t>
            </a:r>
            <a:endParaRPr lang="en-US" sz="1300" dirty="0"/>
          </a:p>
          <a:p>
            <a:pPr indent="0" marL="0">
              <a:spcAft>
                <a:spcPts val="400"/>
              </a:spcAft>
              <a:buNone/>
            </a:pPr>
            <a:r>
              <a:rPr lang="en-US" sz="2400" b="1" dirty="0">
                <a:solidFill>
                  <a:srgbClr val="14284B"/>
                </a:solidFill>
                <a:latin typeface="Arial" pitchFamily="34" charset="0"/>
                <a:ea typeface="Arial" pitchFamily="34" charset="-122"/>
                <a:cs typeface="Arial" pitchFamily="34" charset="-120"/>
              </a:rPr>
              <a:t>Siapa yang membina dan mengawasinya?</a:t>
            </a:r>
            <a:endParaRPr lang="en-US" sz="1300" dirty="0"/>
          </a:p>
        </p:txBody>
      </p:sp>
      <p:sp>
        <p:nvSpPr>
          <p:cNvPr id="13" name="Shape 9"/>
          <p:cNvSpPr/>
          <p:nvPr/>
        </p:nvSpPr>
        <p:spPr>
          <a:xfrm>
            <a:off x="8125968" y="2331720"/>
            <a:ext cx="3514344" cy="2834640"/>
          </a:xfrm>
          <a:prstGeom prst="roundRect">
            <a:avLst>
              <a:gd name="adj" fmla="val 3871"/>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8400288" y="2587752"/>
            <a:ext cx="502920" cy="502920"/>
          </a:xfrm>
          <a:prstGeom prst="rect">
            <a:avLst/>
          </a:prstGeom>
        </p:spPr>
      </p:pic>
      <p:sp>
        <p:nvSpPr>
          <p:cNvPr id="15" name="Text 10"/>
          <p:cNvSpPr txBox="1"/>
          <p:nvPr/>
        </p:nvSpPr>
        <p:spPr>
          <a:xfrm>
            <a:off x="8400288" y="3300984"/>
            <a:ext cx="2965704" cy="16824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TIDAK JELAS 3</a:t>
            </a:r>
            <a:endParaRPr lang="en-US" sz="1300" dirty="0"/>
          </a:p>
          <a:p>
            <a:pPr indent="0" marL="0">
              <a:spcAft>
                <a:spcPts val="400"/>
              </a:spcAft>
              <a:buNone/>
            </a:pPr>
            <a:r>
              <a:rPr lang="en-US" sz="2400" b="1" dirty="0">
                <a:solidFill>
                  <a:srgbClr val="14284B"/>
                </a:solidFill>
                <a:latin typeface="Arial" pitchFamily="34" charset="0"/>
                <a:ea typeface="Arial" pitchFamily="34" charset="-122"/>
                <a:cs typeface="Arial" pitchFamily="34" charset="-120"/>
              </a:rPr>
              <a:t>Bagaimana pembagian perannya dengan kurator privat?</a:t>
            </a:r>
            <a:endParaRPr lang="en-US" sz="1300" dirty="0"/>
          </a:p>
        </p:txBody>
      </p:sp>
      <p:sp>
        <p:nvSpPr>
          <p:cNvPr id="16" name="Text 11"/>
          <p:cNvSpPr txBox="1"/>
          <p:nvPr/>
        </p:nvSpPr>
        <p:spPr>
          <a:xfrm>
            <a:off x="548640" y="5440680"/>
            <a:ext cx="11091672" cy="7772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juga menjalankan tugas kurator berdasarkan undang-undang.</a:t>
            </a:r>
            <a:endParaRPr lang="en-US" sz="2200" dirty="0"/>
          </a:p>
        </p:txBody>
      </p:sp>
      <p:sp>
        <p:nvSpPr>
          <p:cNvPr id="17"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8"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4</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BHP MEDAN</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Empat Sikap BHP Medan</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Keempatnya dijabarkan lebih lanjut dalam usulan Pasal A sampai Pasal D.</a:t>
            </a:r>
            <a:endParaRPr lang="en-US" sz="2000" dirty="0"/>
          </a:p>
        </p:txBody>
      </p:sp>
      <p:sp>
        <p:nvSpPr>
          <p:cNvPr id="7" name="Shape 5"/>
          <p:cNvSpPr/>
          <p:nvPr/>
        </p:nvSpPr>
        <p:spPr>
          <a:xfrm>
            <a:off x="548640" y="2194560"/>
            <a:ext cx="5408676" cy="1920240"/>
          </a:xfrm>
          <a:prstGeom prst="roundRect">
            <a:avLst>
              <a:gd name="adj" fmla="val 5714"/>
            </a:avLst>
          </a:prstGeom>
          <a:solidFill>
            <a:srgbClr val="EEF2F8"/>
          </a:solidFill>
          <a:ln w="12700">
            <a:solidFill>
              <a:srgbClr val="EEF2F8"/>
            </a:solidFill>
            <a:prstDash val="solid"/>
          </a:ln>
        </p:spPr>
      </p:sp>
      <p:sp>
        <p:nvSpPr>
          <p:cNvPr id="8" name="Text 6"/>
          <p:cNvSpPr txBox="1"/>
          <p:nvPr/>
        </p:nvSpPr>
        <p:spPr>
          <a:xfrm>
            <a:off x="822960" y="2450592"/>
            <a:ext cx="4860036" cy="14813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1</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BHP dimuat dalam RUU sebagai lembaga negara</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Tugasnya dijalankan oleh pejabat fungsional Kurator Keperdataan.</a:t>
            </a:r>
            <a:endParaRPr lang="en-US" sz="1300" dirty="0"/>
          </a:p>
        </p:txBody>
      </p:sp>
      <p:sp>
        <p:nvSpPr>
          <p:cNvPr id="9" name="Shape 7"/>
          <p:cNvSpPr/>
          <p:nvPr/>
        </p:nvSpPr>
        <p:spPr>
          <a:xfrm>
            <a:off x="6231636" y="2194560"/>
            <a:ext cx="5408676" cy="1920240"/>
          </a:xfrm>
          <a:prstGeom prst="roundRect">
            <a:avLst>
              <a:gd name="adj" fmla="val 5714"/>
            </a:avLst>
          </a:prstGeom>
          <a:solidFill>
            <a:srgbClr val="EEF2F8"/>
          </a:solidFill>
          <a:ln w="12700">
            <a:solidFill>
              <a:srgbClr val="EEF2F8"/>
            </a:solidFill>
            <a:prstDash val="solid"/>
          </a:ln>
        </p:spPr>
      </p:sp>
      <p:sp>
        <p:nvSpPr>
          <p:cNvPr id="10" name="Text 8"/>
          <p:cNvSpPr txBox="1"/>
          <p:nvPr/>
        </p:nvSpPr>
        <p:spPr>
          <a:xfrm>
            <a:off x="6505956" y="2450592"/>
            <a:ext cx="4860036" cy="14813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2</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Satu standar profesi untuk semua kurator</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Yang berbeda hanya pembinaannya, karena BHP adalah lembaga pemerintah.</a:t>
            </a:r>
            <a:endParaRPr lang="en-US" sz="1300" dirty="0"/>
          </a:p>
        </p:txBody>
      </p:sp>
      <p:sp>
        <p:nvSpPr>
          <p:cNvPr id="11" name="Shape 9"/>
          <p:cNvSpPr/>
          <p:nvPr/>
        </p:nvSpPr>
        <p:spPr>
          <a:xfrm>
            <a:off x="548640" y="4297680"/>
            <a:ext cx="5408676" cy="1920240"/>
          </a:xfrm>
          <a:prstGeom prst="roundRect">
            <a:avLst>
              <a:gd name="adj" fmla="val 5714"/>
            </a:avLst>
          </a:prstGeom>
          <a:solidFill>
            <a:srgbClr val="EEF2F8"/>
          </a:solidFill>
          <a:ln w="12700">
            <a:solidFill>
              <a:srgbClr val="EEF2F8"/>
            </a:solidFill>
            <a:prstDash val="solid"/>
          </a:ln>
        </p:spPr>
      </p:sp>
      <p:sp>
        <p:nvSpPr>
          <p:cNvPr id="12" name="Text 10"/>
          <p:cNvSpPr txBox="1"/>
          <p:nvPr/>
        </p:nvSpPr>
        <p:spPr>
          <a:xfrm>
            <a:off x="822960" y="4553712"/>
            <a:ext cx="4860036" cy="14813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3</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Pembagian peran BHP dan kurator perorangan ditegaskan</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RUU Profesi Kurator memuat prinsipnya.</a:t>
            </a:r>
            <a:endParaRPr lang="en-US" sz="1300" dirty="0"/>
          </a:p>
        </p:txBody>
      </p:sp>
      <p:sp>
        <p:nvSpPr>
          <p:cNvPr id="13" name="Shape 11"/>
          <p:cNvSpPr/>
          <p:nvPr/>
        </p:nvSpPr>
        <p:spPr>
          <a:xfrm>
            <a:off x="6231636" y="4297680"/>
            <a:ext cx="5408676" cy="1920240"/>
          </a:xfrm>
          <a:prstGeom prst="roundRect">
            <a:avLst>
              <a:gd name="adj" fmla="val 5714"/>
            </a:avLst>
          </a:prstGeom>
          <a:solidFill>
            <a:srgbClr val="EEF2F8"/>
          </a:solidFill>
          <a:ln w="12700">
            <a:solidFill>
              <a:srgbClr val="EEF2F8"/>
            </a:solidFill>
            <a:prstDash val="solid"/>
          </a:ln>
        </p:spPr>
      </p:sp>
      <p:sp>
        <p:nvSpPr>
          <p:cNvPr id="14" name="Text 12"/>
          <p:cNvSpPr txBox="1"/>
          <p:nvPr/>
        </p:nvSpPr>
        <p:spPr>
          <a:xfrm>
            <a:off x="6505956" y="4553712"/>
            <a:ext cx="4860036" cy="14813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SIKAP 4</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Koordinasi antarlembaga diatur dengan jelas</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BHP sendiri adalah kurator, bukan pengawas kurator privat.</a:t>
            </a:r>
            <a:endParaRPr lang="en-US" sz="1300" dirty="0"/>
          </a:p>
        </p:txBody>
      </p:sp>
      <p:sp>
        <p:nvSpPr>
          <p:cNvPr id="15" name="Text 13"/>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6" name="Text 14"/>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3</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Pembagian Peran yang Tegas</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BHP dan kurator perorangan tidak berebut perkara. Masing-masing punya wilayahnya sendiri.</a:t>
            </a:r>
            <a:endParaRPr lang="en-US" sz="2000" dirty="0"/>
          </a:p>
        </p:txBody>
      </p:sp>
      <p:sp>
        <p:nvSpPr>
          <p:cNvPr id="7" name="Shape 5"/>
          <p:cNvSpPr/>
          <p:nvPr/>
        </p:nvSpPr>
        <p:spPr>
          <a:xfrm>
            <a:off x="548640" y="2286000"/>
            <a:ext cx="5408676" cy="3017520"/>
          </a:xfrm>
          <a:prstGeom prst="roundRect">
            <a:avLst>
              <a:gd name="adj" fmla="val 3636"/>
            </a:avLst>
          </a:prstGeom>
          <a:solidFill>
            <a:srgbClr val="14284B"/>
          </a:solidFill>
          <a:ln w="12700">
            <a:solidFill>
              <a:srgbClr val="14284B"/>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4860036" cy="186537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BHP MENANGANI</a:t>
            </a:r>
            <a:endParaRPr lang="en-US" sz="1300" dirty="0"/>
          </a:p>
          <a:p>
            <a:pPr indent="0" marL="0">
              <a:spcAft>
                <a:spcPts val="400"/>
              </a:spcAft>
              <a:buNone/>
            </a:pPr>
            <a:r>
              <a:rPr lang="en-US" sz="2400" b="1" dirty="0">
                <a:solidFill>
                  <a:srgbClr val="FFFFFF"/>
                </a:solidFill>
                <a:latin typeface="Arial" pitchFamily="34" charset="0"/>
                <a:ea typeface="Arial" pitchFamily="34" charset="-122"/>
                <a:cs typeface="Arial" pitchFamily="34" charset="-120"/>
              </a:rPr>
              <a:t>Perkara yang menyangkut kepentingan publik atau tidak diminati</a:t>
            </a:r>
            <a:endParaRPr lang="en-US" sz="1300" dirty="0"/>
          </a:p>
          <a:p>
            <a:pPr indent="0" marL="0">
              <a:spcAft>
                <a:spcPts val="400"/>
              </a:spcAft>
              <a:buNone/>
            </a:pPr>
            <a:r>
              <a:rPr lang="en-US" sz="1900" dirty="0">
                <a:solidFill>
                  <a:srgbClr val="DCE4F2"/>
                </a:solidFill>
                <a:latin typeface="Arial" pitchFamily="34" charset="0"/>
                <a:ea typeface="Arial" pitchFamily="34" charset="-122"/>
                <a:cs typeface="Arial" pitchFamily="34" charset="-120"/>
              </a:rPr>
              <a:t>seperti perkara pekerja dan perkara dengan harta kecil</a:t>
            </a:r>
            <a:endParaRPr lang="en-US" sz="1300" dirty="0"/>
          </a:p>
        </p:txBody>
      </p:sp>
      <p:sp>
        <p:nvSpPr>
          <p:cNvPr id="10" name="Shape 7"/>
          <p:cNvSpPr/>
          <p:nvPr/>
        </p:nvSpPr>
        <p:spPr>
          <a:xfrm>
            <a:off x="6231636" y="2286000"/>
            <a:ext cx="5408676" cy="3017520"/>
          </a:xfrm>
          <a:prstGeom prst="roundRect">
            <a:avLst>
              <a:gd name="adj" fmla="val 3636"/>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6505956" y="2542032"/>
            <a:ext cx="502920" cy="502920"/>
          </a:xfrm>
          <a:prstGeom prst="rect">
            <a:avLst/>
          </a:prstGeom>
        </p:spPr>
      </p:pic>
      <p:sp>
        <p:nvSpPr>
          <p:cNvPr id="12" name="Text 8"/>
          <p:cNvSpPr txBox="1"/>
          <p:nvPr/>
        </p:nvSpPr>
        <p:spPr>
          <a:xfrm>
            <a:off x="6505956" y="3255264"/>
            <a:ext cx="4860036" cy="186537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KURATOR PERORANGAN MENANGANI</a:t>
            </a:r>
            <a:endParaRPr lang="en-US" sz="1300" dirty="0"/>
          </a:p>
          <a:p>
            <a:pPr indent="0" marL="0">
              <a:spcAft>
                <a:spcPts val="400"/>
              </a:spcAft>
              <a:buNone/>
            </a:pPr>
            <a:r>
              <a:rPr lang="en-US" sz="2400" b="1" dirty="0">
                <a:solidFill>
                  <a:srgbClr val="14284B"/>
                </a:solidFill>
                <a:latin typeface="Arial" pitchFamily="34" charset="0"/>
                <a:ea typeface="Arial" pitchFamily="34" charset="-122"/>
                <a:cs typeface="Arial" pitchFamily="34" charset="-120"/>
              </a:rPr>
              <a:t>Perkara bisnis atas pilihan para pihak</a:t>
            </a:r>
            <a:endParaRPr lang="en-US" sz="1300" dirty="0"/>
          </a:p>
        </p:txBody>
      </p:sp>
      <p:sp>
        <p:nvSpPr>
          <p:cNvPr id="13" name="Text 9"/>
          <p:cNvSpPr txBox="1"/>
          <p:nvPr/>
        </p:nvSpPr>
        <p:spPr>
          <a:xfrm>
            <a:off x="548640" y="5440680"/>
            <a:ext cx="11091672" cy="7772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RUU Profesi Kurator memuat prinsipnya, sedangkan rinciannya diatur dalam RUU Kepailitan dan PKPU.</a:t>
            </a:r>
            <a:endParaRPr lang="en-US" sz="2200" dirty="0"/>
          </a:p>
        </p:txBody>
      </p:sp>
      <p:sp>
        <p:nvSpPr>
          <p:cNvPr id="14" name="Text 10"/>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5" name="Text 11"/>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6</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 · POKOK SIKAP · SIKAP 4</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Koordinasi Antarlembaga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Setiap lembaga punya peran yang jelas, sehingga tidak ada tumpang tindih.</a:t>
            </a:r>
            <a:endParaRPr lang="en-US" sz="2000" dirty="0"/>
          </a:p>
        </p:txBody>
      </p:sp>
      <p:sp>
        <p:nvSpPr>
          <p:cNvPr id="7" name="Shape 5"/>
          <p:cNvSpPr/>
          <p:nvPr/>
        </p:nvSpPr>
        <p:spPr>
          <a:xfrm>
            <a:off x="548640" y="2286000"/>
            <a:ext cx="2601468" cy="2834640"/>
          </a:xfrm>
          <a:prstGeom prst="roundRect">
            <a:avLst>
              <a:gd name="adj" fmla="val 4218"/>
            </a:avLst>
          </a:prstGeom>
          <a:solidFill>
            <a:srgbClr val="EEF2F8"/>
          </a:solidFill>
          <a:ln w="12700">
            <a:solidFill>
              <a:srgbClr val="EEF2F8"/>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2052828" cy="16824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KEMENTERIAN</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Membina</a:t>
            </a:r>
            <a:endParaRPr lang="en-US" sz="1300" dirty="0"/>
          </a:p>
        </p:txBody>
      </p:sp>
      <p:sp>
        <p:nvSpPr>
          <p:cNvPr id="10" name="Shape 7"/>
          <p:cNvSpPr/>
          <p:nvPr/>
        </p:nvSpPr>
        <p:spPr>
          <a:xfrm>
            <a:off x="3378708" y="2286000"/>
            <a:ext cx="2601468" cy="2834640"/>
          </a:xfrm>
          <a:prstGeom prst="roundRect">
            <a:avLst>
              <a:gd name="adj" fmla="val 4218"/>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3653028" y="2542032"/>
            <a:ext cx="502920" cy="502920"/>
          </a:xfrm>
          <a:prstGeom prst="rect">
            <a:avLst/>
          </a:prstGeom>
        </p:spPr>
      </p:pic>
      <p:sp>
        <p:nvSpPr>
          <p:cNvPr id="12" name="Text 8"/>
          <p:cNvSpPr txBox="1"/>
          <p:nvPr/>
        </p:nvSpPr>
        <p:spPr>
          <a:xfrm>
            <a:off x="3653028" y="3255264"/>
            <a:ext cx="2052828" cy="16824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HAKIM PENGAWAS</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Mengawasi perkara</a:t>
            </a:r>
            <a:endParaRPr lang="en-US" sz="1300" dirty="0"/>
          </a:p>
        </p:txBody>
      </p:sp>
      <p:sp>
        <p:nvSpPr>
          <p:cNvPr id="13" name="Shape 9"/>
          <p:cNvSpPr/>
          <p:nvPr/>
        </p:nvSpPr>
        <p:spPr>
          <a:xfrm>
            <a:off x="6208776" y="2286000"/>
            <a:ext cx="2601468" cy="2834640"/>
          </a:xfrm>
          <a:prstGeom prst="roundRect">
            <a:avLst>
              <a:gd name="adj" fmla="val 4218"/>
            </a:avLst>
          </a:prstGeom>
          <a:solidFill>
            <a:srgbClr val="EEF2F8"/>
          </a:solidFill>
          <a:ln w="12700">
            <a:solidFill>
              <a:srgbClr val="EEF2F8"/>
            </a:solidFill>
            <a:prstDash val="solid"/>
          </a:ln>
        </p:spPr>
      </p:sp>
      <p:pic>
        <p:nvPicPr>
          <p:cNvPr id="14" name="Image 2" descr="preencoded.png">    </p:cNvPr>
          <p:cNvPicPr>
            <a:picLocks noChangeAspect="1"/>
          </p:cNvPicPr>
          <p:nvPr/>
        </p:nvPicPr>
        <p:blipFill>
          <a:blip r:embed="rId3"/>
          <a:stretch>
            <a:fillRect/>
          </a:stretch>
        </p:blipFill>
        <p:spPr>
          <a:xfrm>
            <a:off x="6483096" y="2542032"/>
            <a:ext cx="502920" cy="502920"/>
          </a:xfrm>
          <a:prstGeom prst="rect">
            <a:avLst/>
          </a:prstGeom>
        </p:spPr>
      </p:pic>
      <p:sp>
        <p:nvSpPr>
          <p:cNvPr id="15" name="Text 10"/>
          <p:cNvSpPr txBox="1"/>
          <p:nvPr/>
        </p:nvSpPr>
        <p:spPr>
          <a:xfrm>
            <a:off x="6483096" y="3255264"/>
            <a:ext cx="2052828" cy="168249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ORGANISASI PROFESI</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Menegakkan etik kurator perorangan</a:t>
            </a:r>
            <a:endParaRPr lang="en-US" sz="1300" dirty="0"/>
          </a:p>
        </p:txBody>
      </p:sp>
      <p:sp>
        <p:nvSpPr>
          <p:cNvPr id="16" name="Shape 11"/>
          <p:cNvSpPr/>
          <p:nvPr/>
        </p:nvSpPr>
        <p:spPr>
          <a:xfrm>
            <a:off x="9038844" y="2286000"/>
            <a:ext cx="2601468" cy="2834640"/>
          </a:xfrm>
          <a:prstGeom prst="roundRect">
            <a:avLst>
              <a:gd name="adj" fmla="val 4218"/>
            </a:avLst>
          </a:prstGeom>
          <a:solidFill>
            <a:srgbClr val="14284B"/>
          </a:solidFill>
          <a:ln w="12700">
            <a:solidFill>
              <a:srgbClr val="14284B"/>
            </a:solidFill>
            <a:prstDash val="solid"/>
          </a:ln>
        </p:spPr>
      </p:sp>
      <p:pic>
        <p:nvPicPr>
          <p:cNvPr id="17" name="Image 3" descr="preencoded.png">    </p:cNvPr>
          <p:cNvPicPr>
            <a:picLocks noChangeAspect="1"/>
          </p:cNvPicPr>
          <p:nvPr/>
        </p:nvPicPr>
        <p:blipFill>
          <a:blip r:embed="rId4"/>
          <a:stretch>
            <a:fillRect/>
          </a:stretch>
        </p:blipFill>
        <p:spPr>
          <a:xfrm>
            <a:off x="9313164" y="2542032"/>
            <a:ext cx="502920" cy="502920"/>
          </a:xfrm>
          <a:prstGeom prst="rect">
            <a:avLst/>
          </a:prstGeom>
        </p:spPr>
      </p:pic>
      <p:sp>
        <p:nvSpPr>
          <p:cNvPr id="18" name="Text 12"/>
          <p:cNvSpPr txBox="1"/>
          <p:nvPr/>
        </p:nvSpPr>
        <p:spPr>
          <a:xfrm>
            <a:off x="9313164" y="3255264"/>
            <a:ext cx="2052828" cy="168249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BHP</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Simpul data di wilayahnya</a:t>
            </a:r>
            <a:endParaRPr lang="en-US" sz="1300" dirty="0"/>
          </a:p>
        </p:txBody>
      </p:sp>
      <p:sp>
        <p:nvSpPr>
          <p:cNvPr id="19" name="Text 13"/>
          <p:cNvSpPr txBox="1"/>
          <p:nvPr/>
        </p:nvSpPr>
        <p:spPr>
          <a:xfrm>
            <a:off x="548640" y="5440680"/>
            <a:ext cx="11091672" cy="7772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tidak ditempatkan sebagai pengawas kurator privat, karena BHP sendiri adalah kurator.</a:t>
            </a:r>
            <a:endParaRPr lang="en-US" sz="2200" dirty="0"/>
          </a:p>
        </p:txBody>
      </p:sp>
      <p:sp>
        <p:nvSpPr>
          <p:cNvPr id="20" name="Text 1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1" name="Text 1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7</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E0A526"/>
          </a:solidFill>
          <a:ln w="12700">
            <a:solidFill>
              <a:srgbClr val="E0A526"/>
            </a:solidFill>
            <a:prstDash val="solid"/>
          </a:ln>
        </p:spPr>
      </p:sp>
      <p:sp>
        <p:nvSpPr>
          <p:cNvPr id="4" name="Shape 2"/>
          <p:cNvSpPr/>
          <p:nvPr/>
        </p:nvSpPr>
        <p:spPr>
          <a:xfrm>
            <a:off x="5084064" y="548640"/>
            <a:ext cx="2011680" cy="73152"/>
          </a:xfrm>
          <a:prstGeom prst="roundRect">
            <a:avLst>
              <a:gd name="adj" fmla="val 50000"/>
            </a:avLst>
          </a:prstGeom>
          <a:solidFill>
            <a:srgbClr val="34456A"/>
          </a:solidFill>
          <a:ln w="12700">
            <a:solidFill>
              <a:srgbClr val="34456A"/>
            </a:solidFill>
            <a:prstDash val="solid"/>
          </a:ln>
        </p:spPr>
      </p:sp>
      <p:sp>
        <p:nvSpPr>
          <p:cNvPr id="5" name="Shape 3"/>
          <p:cNvSpPr/>
          <p:nvPr/>
        </p:nvSpPr>
        <p:spPr>
          <a:xfrm>
            <a:off x="7260336" y="548640"/>
            <a:ext cx="2011680" cy="73152"/>
          </a:xfrm>
          <a:prstGeom prst="roundRect">
            <a:avLst>
              <a:gd name="adj" fmla="val 50000"/>
            </a:avLst>
          </a:prstGeom>
          <a:solidFill>
            <a:srgbClr val="34456A"/>
          </a:solidFill>
          <a:ln w="12700">
            <a:solidFill>
              <a:srgbClr val="34456A"/>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II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Pengalaman BHP Medan</a:t>
            </a:r>
            <a:endParaRPr lang="en-US" sz="4800" dirty="0"/>
          </a:p>
        </p:txBody>
      </p:sp>
      <p:sp>
        <p:nvSpPr>
          <p:cNvPr id="9" name="Text 7"/>
          <p:cNvSpPr txBox="1"/>
          <p:nvPr/>
        </p:nvSpPr>
        <p:spPr>
          <a:xfrm>
            <a:off x="731520" y="2697480"/>
            <a:ext cx="10241280" cy="1188720"/>
          </a:xfrm>
          <a:prstGeom prst="rect">
            <a:avLst/>
          </a:prstGeom>
          <a:noFill/>
          <a:ln/>
        </p:spPr>
        <p:txBody>
          <a:bodyPr wrap="square" lIns="0" tIns="0" rIns="0" bIns="0" rtlCol="0" anchor="t"/>
          <a:lstStyle/>
          <a:p>
            <a:pPr indent="0" marL="0">
              <a:buNone/>
            </a:pPr>
            <a:r>
              <a:rPr lang="en-US" sz="2200" dirty="0">
                <a:solidFill>
                  <a:srgbClr val="DCE4F2"/>
                </a:solidFill>
                <a:latin typeface="Arial" pitchFamily="34" charset="0"/>
                <a:ea typeface="Arial" pitchFamily="34" charset="-122"/>
                <a:cs typeface="Arial" pitchFamily="34" charset="-120"/>
              </a:rPr>
              <a:t>BHP Medan saat ini menangani 9 perkara kepailitan yang masih berjalan dengan total tagihan sekitar Rp47,35 miliar.</a:t>
            </a:r>
            <a:endParaRPr lang="en-US" sz="2200" dirty="0"/>
          </a:p>
        </p:txBody>
      </p:sp>
      <p:sp>
        <p:nvSpPr>
          <p:cNvPr id="10" name="Shape 8"/>
          <p:cNvSpPr/>
          <p:nvPr/>
        </p:nvSpPr>
        <p:spPr>
          <a:xfrm>
            <a:off x="731520" y="4160520"/>
            <a:ext cx="420624" cy="420624"/>
          </a:xfrm>
          <a:prstGeom prst="ellipse">
            <a:avLst/>
          </a:prstGeom>
          <a:solidFill>
            <a:srgbClr val="E0A526"/>
          </a:solidFill>
          <a:ln w="12700">
            <a:solidFill>
              <a:srgbClr val="E0A526"/>
            </a:solidFill>
            <a:prstDash val="solid"/>
          </a:ln>
        </p:spPr>
      </p:sp>
      <p:sp>
        <p:nvSpPr>
          <p:cNvPr id="11" name="Text 9"/>
          <p:cNvSpPr txBox="1"/>
          <p:nvPr/>
        </p:nvSpPr>
        <p:spPr>
          <a:xfrm>
            <a:off x="731520" y="4160520"/>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1</a:t>
            </a:r>
            <a:endParaRPr lang="en-US" sz="1500" dirty="0"/>
          </a:p>
        </p:txBody>
      </p:sp>
      <p:sp>
        <p:nvSpPr>
          <p:cNvPr id="12" name="Text 10"/>
          <p:cNvSpPr txBox="1"/>
          <p:nvPr/>
        </p:nvSpPr>
        <p:spPr>
          <a:xfrm>
            <a:off x="1325880" y="4160520"/>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Hartanya kecil</a:t>
            </a:r>
            <a:endParaRPr lang="en-US" sz="1900" dirty="0"/>
          </a:p>
        </p:txBody>
      </p:sp>
      <p:sp>
        <p:nvSpPr>
          <p:cNvPr id="13" name="Shape 11"/>
          <p:cNvSpPr/>
          <p:nvPr/>
        </p:nvSpPr>
        <p:spPr>
          <a:xfrm>
            <a:off x="731520" y="4690872"/>
            <a:ext cx="420624" cy="420624"/>
          </a:xfrm>
          <a:prstGeom prst="ellipse">
            <a:avLst/>
          </a:prstGeom>
          <a:solidFill>
            <a:srgbClr val="E0A526"/>
          </a:solidFill>
          <a:ln w="12700">
            <a:solidFill>
              <a:srgbClr val="E0A526"/>
            </a:solidFill>
            <a:prstDash val="solid"/>
          </a:ln>
        </p:spPr>
      </p:sp>
      <p:sp>
        <p:nvSpPr>
          <p:cNvPr id="14" name="Text 12"/>
          <p:cNvSpPr txBox="1"/>
          <p:nvPr/>
        </p:nvSpPr>
        <p:spPr>
          <a:xfrm>
            <a:off x="731520" y="4690872"/>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1325880" y="4690872"/>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Perkaranya panjang</a:t>
            </a:r>
            <a:endParaRPr lang="en-US" sz="1900" dirty="0"/>
          </a:p>
        </p:txBody>
      </p:sp>
      <p:sp>
        <p:nvSpPr>
          <p:cNvPr id="16" name="Shape 14"/>
          <p:cNvSpPr/>
          <p:nvPr/>
        </p:nvSpPr>
        <p:spPr>
          <a:xfrm>
            <a:off x="731520" y="5221224"/>
            <a:ext cx="420624" cy="420624"/>
          </a:xfrm>
          <a:prstGeom prst="ellipse">
            <a:avLst/>
          </a:prstGeom>
          <a:solidFill>
            <a:srgbClr val="E0A526"/>
          </a:solidFill>
          <a:ln w="12700">
            <a:solidFill>
              <a:srgbClr val="E0A526"/>
            </a:solidFill>
            <a:prstDash val="solid"/>
          </a:ln>
        </p:spPr>
      </p:sp>
      <p:sp>
        <p:nvSpPr>
          <p:cNvPr id="17" name="Text 15"/>
          <p:cNvSpPr txBox="1"/>
          <p:nvPr/>
        </p:nvSpPr>
        <p:spPr>
          <a:xfrm>
            <a:off x="731520" y="5221224"/>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1325880" y="5221224"/>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Menyangkut hak pekerja dan uang negara</a:t>
            </a:r>
            <a:endParaRPr lang="en-US" sz="1900" dirty="0"/>
          </a:p>
        </p:txBody>
      </p:sp>
      <p:sp>
        <p:nvSpPr>
          <p:cNvPr id="19" name="Shape 17"/>
          <p:cNvSpPr/>
          <p:nvPr/>
        </p:nvSpPr>
        <p:spPr>
          <a:xfrm>
            <a:off x="731520" y="5751576"/>
            <a:ext cx="420624" cy="420624"/>
          </a:xfrm>
          <a:prstGeom prst="ellipse">
            <a:avLst/>
          </a:prstGeom>
          <a:solidFill>
            <a:srgbClr val="E0A526"/>
          </a:solidFill>
          <a:ln w="12700">
            <a:solidFill>
              <a:srgbClr val="E0A526"/>
            </a:solidFill>
            <a:prstDash val="solid"/>
          </a:ln>
        </p:spPr>
      </p:sp>
      <p:sp>
        <p:nvSpPr>
          <p:cNvPr id="20" name="Text 18"/>
          <p:cNvSpPr txBox="1"/>
          <p:nvPr/>
        </p:nvSpPr>
        <p:spPr>
          <a:xfrm>
            <a:off x="731520" y="5751576"/>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4</a:t>
            </a:r>
            <a:endParaRPr lang="en-US" sz="1500" dirty="0"/>
          </a:p>
        </p:txBody>
      </p:sp>
      <p:sp>
        <p:nvSpPr>
          <p:cNvPr id="21" name="Text 19"/>
          <p:cNvSpPr txBox="1"/>
          <p:nvPr/>
        </p:nvSpPr>
        <p:spPr>
          <a:xfrm>
            <a:off x="1325880" y="5751576"/>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Debitor menghilang</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Perkara yang Sedang Berjalan</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Seluruhnya jatuh ke BHP karena pemohon tidak mengusulkan kurator.</a:t>
            </a:r>
            <a:endParaRPr lang="en-US" sz="2000" dirty="0"/>
          </a:p>
        </p:txBody>
      </p:sp>
      <p:sp>
        <p:nvSpPr>
          <p:cNvPr id="7" name="Shape 5"/>
          <p:cNvSpPr/>
          <p:nvPr/>
        </p:nvSpPr>
        <p:spPr>
          <a:xfrm>
            <a:off x="548640" y="2286000"/>
            <a:ext cx="3514344" cy="2651760"/>
          </a:xfrm>
          <a:prstGeom prst="roundRect">
            <a:avLst>
              <a:gd name="adj" fmla="val 4138"/>
            </a:avLst>
          </a:prstGeom>
          <a:solidFill>
            <a:srgbClr val="14284B"/>
          </a:solidFill>
          <a:ln w="12700">
            <a:solidFill>
              <a:srgbClr val="14284B"/>
            </a:solidFill>
            <a:prstDash val="solid"/>
          </a:ln>
        </p:spPr>
      </p:sp>
      <p:sp>
        <p:nvSpPr>
          <p:cNvPr id="8" name="Text 6"/>
          <p:cNvSpPr txBox="1"/>
          <p:nvPr/>
        </p:nvSpPr>
        <p:spPr>
          <a:xfrm>
            <a:off x="822960" y="2542032"/>
            <a:ext cx="2965704" cy="2212848"/>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PERKARA KEPAILITAN</a:t>
            </a:r>
            <a:endParaRPr lang="en-US" sz="1300" dirty="0"/>
          </a:p>
          <a:p>
            <a:pPr indent="0" marL="0">
              <a:spcAft>
                <a:spcPts val="400"/>
              </a:spcAft>
              <a:buNone/>
            </a:pPr>
            <a:r>
              <a:rPr lang="en-US" sz="5400" b="1" dirty="0">
                <a:solidFill>
                  <a:srgbClr val="E0A526"/>
                </a:solidFill>
                <a:latin typeface="Arial" pitchFamily="34" charset="0"/>
                <a:ea typeface="Arial" pitchFamily="34" charset="-122"/>
                <a:cs typeface="Arial" pitchFamily="34" charset="-120"/>
              </a:rPr>
              <a:t>9</a:t>
            </a:r>
            <a:endParaRPr lang="en-US" sz="1300" dirty="0"/>
          </a:p>
          <a:p>
            <a:pPr indent="0" marL="0">
              <a:spcAft>
                <a:spcPts val="400"/>
              </a:spcAft>
              <a:buNone/>
            </a:pPr>
            <a:r>
              <a:rPr lang="en-US" sz="2000" dirty="0">
                <a:solidFill>
                  <a:srgbClr val="DCE4F2"/>
                </a:solidFill>
                <a:latin typeface="Arial" pitchFamily="34" charset="0"/>
                <a:ea typeface="Arial" pitchFamily="34" charset="-122"/>
                <a:cs typeface="Arial" pitchFamily="34" charset="-120"/>
              </a:rPr>
              <a:t>yang masih berjalan</a:t>
            </a:r>
            <a:endParaRPr lang="en-US" sz="1300" dirty="0"/>
          </a:p>
        </p:txBody>
      </p:sp>
      <p:sp>
        <p:nvSpPr>
          <p:cNvPr id="9" name="Shape 7"/>
          <p:cNvSpPr/>
          <p:nvPr/>
        </p:nvSpPr>
        <p:spPr>
          <a:xfrm>
            <a:off x="4337304" y="2286000"/>
            <a:ext cx="3514344" cy="2651760"/>
          </a:xfrm>
          <a:prstGeom prst="roundRect">
            <a:avLst>
              <a:gd name="adj" fmla="val 4138"/>
            </a:avLst>
          </a:prstGeom>
          <a:solidFill>
            <a:srgbClr val="EEF2F8"/>
          </a:solidFill>
          <a:ln w="12700">
            <a:solidFill>
              <a:srgbClr val="EEF2F8"/>
            </a:solidFill>
            <a:prstDash val="solid"/>
          </a:ln>
        </p:spPr>
      </p:sp>
      <p:sp>
        <p:nvSpPr>
          <p:cNvPr id="10" name="Text 8"/>
          <p:cNvSpPr txBox="1"/>
          <p:nvPr/>
        </p:nvSpPr>
        <p:spPr>
          <a:xfrm>
            <a:off x="4611624" y="2542032"/>
            <a:ext cx="2965704" cy="221284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TOTAL TAGIHAN</a:t>
            </a:r>
            <a:endParaRPr lang="en-US" sz="1300" dirty="0"/>
          </a:p>
          <a:p>
            <a:pPr indent="0" marL="0">
              <a:spcAft>
                <a:spcPts val="400"/>
              </a:spcAft>
              <a:buNone/>
            </a:pPr>
            <a:r>
              <a:rPr lang="en-US" sz="4600" b="1" dirty="0">
                <a:solidFill>
                  <a:srgbClr val="14284B"/>
                </a:solidFill>
                <a:latin typeface="Arial" pitchFamily="34" charset="0"/>
                <a:ea typeface="Arial" pitchFamily="34" charset="-122"/>
                <a:cs typeface="Arial" pitchFamily="34" charset="-120"/>
              </a:rPr>
              <a:t>Rp47,35 M</a:t>
            </a:r>
            <a:endParaRPr lang="en-US" sz="1300" dirty="0"/>
          </a:p>
          <a:p>
            <a:pPr indent="0" marL="0">
              <a:spcAft>
                <a:spcPts val="400"/>
              </a:spcAft>
              <a:buNone/>
            </a:pPr>
            <a:r>
              <a:rPr lang="en-US" sz="2000" dirty="0">
                <a:solidFill>
                  <a:srgbClr val="1A1A1A"/>
                </a:solidFill>
                <a:latin typeface="Arial" pitchFamily="34" charset="0"/>
                <a:ea typeface="Arial" pitchFamily="34" charset="-122"/>
                <a:cs typeface="Arial" pitchFamily="34" charset="-120"/>
              </a:rPr>
              <a:t>sekitar Rp47,35 miliar</a:t>
            </a:r>
            <a:endParaRPr lang="en-US" sz="1300" dirty="0"/>
          </a:p>
        </p:txBody>
      </p:sp>
      <p:sp>
        <p:nvSpPr>
          <p:cNvPr id="11" name="Shape 9"/>
          <p:cNvSpPr/>
          <p:nvPr/>
        </p:nvSpPr>
        <p:spPr>
          <a:xfrm>
            <a:off x="8125968" y="2286000"/>
            <a:ext cx="3514344" cy="2651760"/>
          </a:xfrm>
          <a:prstGeom prst="roundRect">
            <a:avLst>
              <a:gd name="adj" fmla="val 4138"/>
            </a:avLst>
          </a:prstGeom>
          <a:solidFill>
            <a:srgbClr val="EEF2F8"/>
          </a:solidFill>
          <a:ln w="12700">
            <a:solidFill>
              <a:srgbClr val="EEF2F8"/>
            </a:solidFill>
            <a:prstDash val="solid"/>
          </a:ln>
        </p:spPr>
      </p:sp>
      <p:pic>
        <p:nvPicPr>
          <p:cNvPr id="12" name="Image 0" descr="preencoded.png">    </p:cNvPr>
          <p:cNvPicPr>
            <a:picLocks noChangeAspect="1"/>
          </p:cNvPicPr>
          <p:nvPr/>
        </p:nvPicPr>
        <p:blipFill>
          <a:blip r:embed="rId1"/>
          <a:stretch>
            <a:fillRect/>
          </a:stretch>
        </p:blipFill>
        <p:spPr>
          <a:xfrm>
            <a:off x="8400288" y="2542032"/>
            <a:ext cx="502920" cy="502920"/>
          </a:xfrm>
          <a:prstGeom prst="rect">
            <a:avLst/>
          </a:prstGeom>
        </p:spPr>
      </p:pic>
      <p:sp>
        <p:nvSpPr>
          <p:cNvPr id="13" name="Text 10"/>
          <p:cNvSpPr txBox="1"/>
          <p:nvPr/>
        </p:nvSpPr>
        <p:spPr>
          <a:xfrm>
            <a:off x="8400288" y="3255264"/>
            <a:ext cx="2965704" cy="149961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ASAL PERKARA</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Seluruhnya jatuh ke BHP</a:t>
            </a:r>
            <a:endParaRPr lang="en-US" sz="1300" dirty="0"/>
          </a:p>
          <a:p>
            <a:pPr indent="0" marL="0">
              <a:spcAft>
                <a:spcPts val="400"/>
              </a:spcAft>
              <a:buNone/>
            </a:pPr>
            <a:r>
              <a:rPr lang="en-US" sz="2000" dirty="0">
                <a:solidFill>
                  <a:srgbClr val="1A1A1A"/>
                </a:solidFill>
                <a:latin typeface="Arial" pitchFamily="34" charset="0"/>
                <a:ea typeface="Arial" pitchFamily="34" charset="-122"/>
                <a:cs typeface="Arial" pitchFamily="34" charset="-120"/>
              </a:rPr>
              <a:t>karena pemohon tidak mengusulkan kurator</a:t>
            </a:r>
            <a:endParaRPr lang="en-US" sz="1300" dirty="0"/>
          </a:p>
        </p:txBody>
      </p:sp>
      <p:sp>
        <p:nvSpPr>
          <p:cNvPr id="14" name="Text 11"/>
          <p:cNvSpPr txBox="1"/>
          <p:nvPr/>
        </p:nvSpPr>
        <p:spPr>
          <a:xfrm>
            <a:off x="548640" y="5257800"/>
            <a:ext cx="11091672" cy="914400"/>
          </a:xfrm>
          <a:prstGeom prst="rect">
            <a:avLst/>
          </a:prstGeom>
          <a:noFill/>
          <a:ln/>
        </p:spPr>
        <p:txBody>
          <a:bodyPr wrap="square" lIns="0" tIns="0" rIns="0" bIns="0" rtlCol="0" anchor="ctr"/>
          <a:lstStyle/>
          <a:p>
            <a:pPr indent="0" marL="0">
              <a:buNone/>
            </a:pPr>
            <a:r>
              <a:rPr lang="en-US" sz="2000" dirty="0">
                <a:solidFill>
                  <a:srgbClr val="1A1A1A"/>
                </a:solidFill>
                <a:latin typeface="Arial" pitchFamily="34" charset="0"/>
                <a:ea typeface="Arial" pitchFamily="34" charset="-122"/>
                <a:cs typeface="Arial" pitchFamily="34" charset="-120"/>
              </a:rPr>
              <a:t>Selain itu, BHP Medan telah menyelesaikan perkara lain, antara lain </a:t>
            </a:r>
            <a:pPr indent="0" marL="0">
              <a:buNone/>
            </a:pPr>
            <a:r>
              <a:rPr lang="en-US" sz="2000" b="1" dirty="0">
                <a:solidFill>
                  <a:srgbClr val="14284B"/>
                </a:solidFill>
                <a:latin typeface="Arial" pitchFamily="34" charset="0"/>
                <a:ea typeface="Arial" pitchFamily="34" charset="-122"/>
                <a:cs typeface="Arial" pitchFamily="34" charset="-120"/>
              </a:rPr>
              <a:t>PT Jasa Prima Mandiri</a:t>
            </a:r>
            <a:pPr indent="0" marL="0">
              <a:buNone/>
            </a:pPr>
            <a:r>
              <a:rPr lang="en-US" sz="2000" dirty="0">
                <a:solidFill>
                  <a:srgbClr val="1A1A1A"/>
                </a:solidFill>
                <a:latin typeface="Arial" pitchFamily="34" charset="0"/>
                <a:ea typeface="Arial" pitchFamily="34" charset="-122"/>
                <a:cs typeface="Arial" pitchFamily="34" charset="-120"/>
              </a:rPr>
              <a:t> yang ditangani bersama kurator perorangan.</a:t>
            </a:r>
            <a:endParaRPr lang="en-US" sz="2000" dirty="0"/>
          </a:p>
        </p:txBody>
      </p:sp>
      <p:sp>
        <p:nvSpPr>
          <p:cNvPr id="15"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6"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9</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TEMUAN 1</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Hartanya Kecil</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Pada empat perkara yang sudah dinilai, harta pailit hanya 12% sampai 40% dari tagihan.</a:t>
            </a:r>
            <a:endParaRPr lang="en-US" sz="2000" dirty="0"/>
          </a:p>
        </p:txBody>
      </p:sp>
      <p:sp>
        <p:nvSpPr>
          <p:cNvPr id="7" name="Text 5"/>
          <p:cNvSpPr txBox="1"/>
          <p:nvPr/>
        </p:nvSpPr>
        <p:spPr>
          <a:xfrm>
            <a:off x="548640" y="2240280"/>
            <a:ext cx="3108960" cy="731520"/>
          </a:xfrm>
          <a:prstGeom prst="rect">
            <a:avLst/>
          </a:prstGeom>
          <a:noFill/>
          <a:ln/>
        </p:spPr>
        <p:txBody>
          <a:bodyPr wrap="square" lIns="0" tIns="0" rIns="0" bIns="0" rtlCol="0" anchor="ctr"/>
          <a:lstStyle/>
          <a:p>
            <a:pPr indent="0" marL="0">
              <a:buNone/>
            </a:pPr>
            <a:r>
              <a:rPr lang="en-US" sz="2000" b="1" dirty="0">
                <a:solidFill>
                  <a:srgbClr val="14284B"/>
                </a:solidFill>
                <a:latin typeface="Arial" pitchFamily="34" charset="0"/>
                <a:ea typeface="Arial" pitchFamily="34" charset="-122"/>
                <a:cs typeface="Arial" pitchFamily="34" charset="-120"/>
              </a:rPr>
              <a:t>Badaruddin HSB</a:t>
            </a:r>
            <a:endParaRPr lang="en-US" sz="2000" dirty="0"/>
          </a:p>
          <a:p>
            <a:pPr indent="0" marL="0">
              <a:buNone/>
            </a:pPr>
            <a:r>
              <a:rPr lang="en-US" sz="1200" dirty="0">
                <a:solidFill>
                  <a:srgbClr val="4A5568"/>
                </a:solidFill>
                <a:latin typeface="Arial" pitchFamily="34" charset="0"/>
                <a:ea typeface="Arial" pitchFamily="34" charset="-122"/>
                <a:cs typeface="Arial" pitchFamily="34" charset="-120"/>
              </a:rPr>
              <a:t>Tagihan Rp2,30 miliar</a:t>
            </a:r>
            <a:endParaRPr lang="en-US" sz="2000" dirty="0"/>
          </a:p>
          <a:p>
            <a:pPr indent="0" marL="0">
              <a:buNone/>
            </a:pPr>
            <a:r>
              <a:rPr lang="en-US" sz="1200" dirty="0">
                <a:solidFill>
                  <a:srgbClr val="4A5568"/>
                </a:solidFill>
                <a:latin typeface="Arial" pitchFamily="34" charset="0"/>
                <a:ea typeface="Arial" pitchFamily="34" charset="-122"/>
                <a:cs typeface="Arial" pitchFamily="34" charset="-120"/>
              </a:rPr>
              <a:t>Harta Rp0,93 miliar</a:t>
            </a:r>
            <a:endParaRPr lang="en-US" sz="2000" dirty="0"/>
          </a:p>
        </p:txBody>
      </p:sp>
      <p:sp>
        <p:nvSpPr>
          <p:cNvPr id="8" name="Shape 6"/>
          <p:cNvSpPr/>
          <p:nvPr/>
        </p:nvSpPr>
        <p:spPr>
          <a:xfrm>
            <a:off x="3749040" y="2414016"/>
            <a:ext cx="6400800" cy="384048"/>
          </a:xfrm>
          <a:prstGeom prst="roundRect">
            <a:avLst>
              <a:gd name="adj" fmla="val 19048"/>
            </a:avLst>
          </a:prstGeom>
          <a:solidFill>
            <a:srgbClr val="D5DDEA"/>
          </a:solidFill>
          <a:ln w="12700">
            <a:solidFill>
              <a:srgbClr val="D5DDEA"/>
            </a:solidFill>
            <a:prstDash val="solid"/>
          </a:ln>
        </p:spPr>
      </p:sp>
      <p:sp>
        <p:nvSpPr>
          <p:cNvPr id="9" name="Shape 7"/>
          <p:cNvSpPr/>
          <p:nvPr/>
        </p:nvSpPr>
        <p:spPr>
          <a:xfrm>
            <a:off x="3749040" y="2414016"/>
            <a:ext cx="2560320" cy="384048"/>
          </a:xfrm>
          <a:prstGeom prst="roundRect">
            <a:avLst>
              <a:gd name="adj" fmla="val 19048"/>
            </a:avLst>
          </a:prstGeom>
          <a:solidFill>
            <a:srgbClr val="14284B"/>
          </a:solidFill>
          <a:ln w="12700">
            <a:solidFill>
              <a:srgbClr val="14284B"/>
            </a:solidFill>
            <a:prstDash val="solid"/>
          </a:ln>
        </p:spPr>
      </p:sp>
      <p:sp>
        <p:nvSpPr>
          <p:cNvPr id="10" name="Text 8"/>
          <p:cNvSpPr txBox="1"/>
          <p:nvPr/>
        </p:nvSpPr>
        <p:spPr>
          <a:xfrm>
            <a:off x="10241280" y="2286000"/>
            <a:ext cx="1399032" cy="640080"/>
          </a:xfrm>
          <a:prstGeom prst="rect">
            <a:avLst/>
          </a:prstGeom>
          <a:noFill/>
          <a:ln/>
        </p:spPr>
        <p:txBody>
          <a:bodyPr wrap="square" lIns="0" tIns="0" rIns="0" bIns="0" rtlCol="0" anchor="ctr"/>
          <a:lstStyle/>
          <a:p>
            <a:pPr algn="r" indent="0" marL="0">
              <a:buNone/>
            </a:pPr>
            <a:r>
              <a:rPr lang="en-US" sz="3200" b="1" dirty="0">
                <a:solidFill>
                  <a:srgbClr val="14284B"/>
                </a:solidFill>
                <a:latin typeface="Arial" pitchFamily="34" charset="0"/>
                <a:ea typeface="Arial" pitchFamily="34" charset="-122"/>
                <a:cs typeface="Arial" pitchFamily="34" charset="-120"/>
              </a:rPr>
              <a:t>40%</a:t>
            </a:r>
            <a:endParaRPr lang="en-US" sz="3200" dirty="0"/>
          </a:p>
        </p:txBody>
      </p:sp>
      <p:sp>
        <p:nvSpPr>
          <p:cNvPr id="11" name="Text 9"/>
          <p:cNvSpPr txBox="1"/>
          <p:nvPr/>
        </p:nvSpPr>
        <p:spPr>
          <a:xfrm>
            <a:off x="548640" y="3017520"/>
            <a:ext cx="3108960" cy="731520"/>
          </a:xfrm>
          <a:prstGeom prst="rect">
            <a:avLst/>
          </a:prstGeom>
          <a:noFill/>
          <a:ln/>
        </p:spPr>
        <p:txBody>
          <a:bodyPr wrap="square" lIns="0" tIns="0" rIns="0" bIns="0" rtlCol="0" anchor="ctr"/>
          <a:lstStyle/>
          <a:p>
            <a:pPr indent="0" marL="0">
              <a:buNone/>
            </a:pPr>
            <a:r>
              <a:rPr lang="en-US" sz="2000" b="1" dirty="0">
                <a:solidFill>
                  <a:srgbClr val="14284B"/>
                </a:solidFill>
                <a:latin typeface="Arial" pitchFamily="34" charset="0"/>
                <a:ea typeface="Arial" pitchFamily="34" charset="-122"/>
                <a:cs typeface="Arial" pitchFamily="34" charset="-120"/>
              </a:rPr>
              <a:t>Gwe Tjoen</a:t>
            </a:r>
            <a:endParaRPr lang="en-US" sz="2000" dirty="0"/>
          </a:p>
          <a:p>
            <a:pPr indent="0" marL="0">
              <a:buNone/>
            </a:pPr>
            <a:r>
              <a:rPr lang="en-US" sz="1200" dirty="0">
                <a:solidFill>
                  <a:srgbClr val="4A5568"/>
                </a:solidFill>
                <a:latin typeface="Arial" pitchFamily="34" charset="0"/>
                <a:ea typeface="Arial" pitchFamily="34" charset="-122"/>
                <a:cs typeface="Arial" pitchFamily="34" charset="-120"/>
              </a:rPr>
              <a:t>Tagihan Rp25,66 miliar</a:t>
            </a:r>
            <a:endParaRPr lang="en-US" sz="2000" dirty="0"/>
          </a:p>
          <a:p>
            <a:pPr indent="0" marL="0">
              <a:buNone/>
            </a:pPr>
            <a:r>
              <a:rPr lang="en-US" sz="1200" dirty="0">
                <a:solidFill>
                  <a:srgbClr val="4A5568"/>
                </a:solidFill>
                <a:latin typeface="Arial" pitchFamily="34" charset="0"/>
                <a:ea typeface="Arial" pitchFamily="34" charset="-122"/>
                <a:cs typeface="Arial" pitchFamily="34" charset="-120"/>
              </a:rPr>
              <a:t>Harta Rp8,00 miliar</a:t>
            </a:r>
            <a:endParaRPr lang="en-US" sz="2000" dirty="0"/>
          </a:p>
        </p:txBody>
      </p:sp>
      <p:sp>
        <p:nvSpPr>
          <p:cNvPr id="12" name="Shape 10"/>
          <p:cNvSpPr/>
          <p:nvPr/>
        </p:nvSpPr>
        <p:spPr>
          <a:xfrm>
            <a:off x="3749040" y="3191256"/>
            <a:ext cx="6400800" cy="384048"/>
          </a:xfrm>
          <a:prstGeom prst="roundRect">
            <a:avLst>
              <a:gd name="adj" fmla="val 19048"/>
            </a:avLst>
          </a:prstGeom>
          <a:solidFill>
            <a:srgbClr val="D5DDEA"/>
          </a:solidFill>
          <a:ln w="12700">
            <a:solidFill>
              <a:srgbClr val="D5DDEA"/>
            </a:solidFill>
            <a:prstDash val="solid"/>
          </a:ln>
        </p:spPr>
      </p:sp>
      <p:sp>
        <p:nvSpPr>
          <p:cNvPr id="13" name="Shape 11"/>
          <p:cNvSpPr/>
          <p:nvPr/>
        </p:nvSpPr>
        <p:spPr>
          <a:xfrm>
            <a:off x="3749040" y="3191256"/>
            <a:ext cx="1984248" cy="384048"/>
          </a:xfrm>
          <a:prstGeom prst="roundRect">
            <a:avLst>
              <a:gd name="adj" fmla="val 19048"/>
            </a:avLst>
          </a:prstGeom>
          <a:solidFill>
            <a:srgbClr val="14284B"/>
          </a:solidFill>
          <a:ln w="12700">
            <a:solidFill>
              <a:srgbClr val="14284B"/>
            </a:solidFill>
            <a:prstDash val="solid"/>
          </a:ln>
        </p:spPr>
      </p:sp>
      <p:sp>
        <p:nvSpPr>
          <p:cNvPr id="14" name="Text 12"/>
          <p:cNvSpPr txBox="1"/>
          <p:nvPr/>
        </p:nvSpPr>
        <p:spPr>
          <a:xfrm>
            <a:off x="10241280" y="3063240"/>
            <a:ext cx="1399032" cy="640080"/>
          </a:xfrm>
          <a:prstGeom prst="rect">
            <a:avLst/>
          </a:prstGeom>
          <a:noFill/>
          <a:ln/>
        </p:spPr>
        <p:txBody>
          <a:bodyPr wrap="square" lIns="0" tIns="0" rIns="0" bIns="0" rtlCol="0" anchor="ctr"/>
          <a:lstStyle/>
          <a:p>
            <a:pPr algn="r" indent="0" marL="0">
              <a:buNone/>
            </a:pPr>
            <a:r>
              <a:rPr lang="en-US" sz="3200" b="1" dirty="0">
                <a:solidFill>
                  <a:srgbClr val="14284B"/>
                </a:solidFill>
                <a:latin typeface="Arial" pitchFamily="34" charset="0"/>
                <a:ea typeface="Arial" pitchFamily="34" charset="-122"/>
                <a:cs typeface="Arial" pitchFamily="34" charset="-120"/>
              </a:rPr>
              <a:t>31%</a:t>
            </a:r>
            <a:endParaRPr lang="en-US" sz="3200" dirty="0"/>
          </a:p>
        </p:txBody>
      </p:sp>
      <p:sp>
        <p:nvSpPr>
          <p:cNvPr id="15" name="Text 13"/>
          <p:cNvSpPr txBox="1"/>
          <p:nvPr/>
        </p:nvSpPr>
        <p:spPr>
          <a:xfrm>
            <a:off x="548640" y="3794760"/>
            <a:ext cx="3108960" cy="731520"/>
          </a:xfrm>
          <a:prstGeom prst="rect">
            <a:avLst/>
          </a:prstGeom>
          <a:noFill/>
          <a:ln/>
        </p:spPr>
        <p:txBody>
          <a:bodyPr wrap="square" lIns="0" tIns="0" rIns="0" bIns="0" rtlCol="0" anchor="ctr"/>
          <a:lstStyle/>
          <a:p>
            <a:pPr indent="0" marL="0">
              <a:buNone/>
            </a:pPr>
            <a:r>
              <a:rPr lang="en-US" sz="2000" b="1" dirty="0">
                <a:solidFill>
                  <a:srgbClr val="14284B"/>
                </a:solidFill>
                <a:latin typeface="Arial" pitchFamily="34" charset="0"/>
                <a:ea typeface="Arial" pitchFamily="34" charset="-122"/>
                <a:cs typeface="Arial" pitchFamily="34" charset="-120"/>
              </a:rPr>
              <a:t>CV Hitado</a:t>
            </a:r>
            <a:endParaRPr lang="en-US" sz="2000" dirty="0"/>
          </a:p>
          <a:p>
            <a:pPr indent="0" marL="0">
              <a:buNone/>
            </a:pPr>
            <a:r>
              <a:rPr lang="en-US" sz="1200" dirty="0">
                <a:solidFill>
                  <a:srgbClr val="4A5568"/>
                </a:solidFill>
                <a:latin typeface="Arial" pitchFamily="34" charset="0"/>
                <a:ea typeface="Arial" pitchFamily="34" charset="-122"/>
                <a:cs typeface="Arial" pitchFamily="34" charset="-120"/>
              </a:rPr>
              <a:t>Tagihan Rp1,94 miliar</a:t>
            </a:r>
            <a:endParaRPr lang="en-US" sz="2000" dirty="0"/>
          </a:p>
          <a:p>
            <a:pPr indent="0" marL="0">
              <a:buNone/>
            </a:pPr>
            <a:r>
              <a:rPr lang="en-US" sz="1200" dirty="0">
                <a:solidFill>
                  <a:srgbClr val="4A5568"/>
                </a:solidFill>
                <a:latin typeface="Arial" pitchFamily="34" charset="0"/>
                <a:ea typeface="Arial" pitchFamily="34" charset="-122"/>
                <a:cs typeface="Arial" pitchFamily="34" charset="-120"/>
              </a:rPr>
              <a:t>Harta Rp0,53 miliar</a:t>
            </a:r>
            <a:endParaRPr lang="en-US" sz="2000" dirty="0"/>
          </a:p>
        </p:txBody>
      </p:sp>
      <p:sp>
        <p:nvSpPr>
          <p:cNvPr id="16" name="Shape 14"/>
          <p:cNvSpPr/>
          <p:nvPr/>
        </p:nvSpPr>
        <p:spPr>
          <a:xfrm>
            <a:off x="3749040" y="3968496"/>
            <a:ext cx="6400800" cy="384048"/>
          </a:xfrm>
          <a:prstGeom prst="roundRect">
            <a:avLst>
              <a:gd name="adj" fmla="val 19048"/>
            </a:avLst>
          </a:prstGeom>
          <a:solidFill>
            <a:srgbClr val="D5DDEA"/>
          </a:solidFill>
          <a:ln w="12700">
            <a:solidFill>
              <a:srgbClr val="D5DDEA"/>
            </a:solidFill>
            <a:prstDash val="solid"/>
          </a:ln>
        </p:spPr>
      </p:sp>
      <p:sp>
        <p:nvSpPr>
          <p:cNvPr id="17" name="Shape 15"/>
          <p:cNvSpPr/>
          <p:nvPr/>
        </p:nvSpPr>
        <p:spPr>
          <a:xfrm>
            <a:off x="3749040" y="3968496"/>
            <a:ext cx="1728216" cy="384048"/>
          </a:xfrm>
          <a:prstGeom prst="roundRect">
            <a:avLst>
              <a:gd name="adj" fmla="val 19048"/>
            </a:avLst>
          </a:prstGeom>
          <a:solidFill>
            <a:srgbClr val="14284B"/>
          </a:solidFill>
          <a:ln w="12700">
            <a:solidFill>
              <a:srgbClr val="14284B"/>
            </a:solidFill>
            <a:prstDash val="solid"/>
          </a:ln>
        </p:spPr>
      </p:sp>
      <p:sp>
        <p:nvSpPr>
          <p:cNvPr id="18" name="Text 16"/>
          <p:cNvSpPr txBox="1"/>
          <p:nvPr/>
        </p:nvSpPr>
        <p:spPr>
          <a:xfrm>
            <a:off x="10241280" y="3840480"/>
            <a:ext cx="1399032" cy="640080"/>
          </a:xfrm>
          <a:prstGeom prst="rect">
            <a:avLst/>
          </a:prstGeom>
          <a:noFill/>
          <a:ln/>
        </p:spPr>
        <p:txBody>
          <a:bodyPr wrap="square" lIns="0" tIns="0" rIns="0" bIns="0" rtlCol="0" anchor="ctr"/>
          <a:lstStyle/>
          <a:p>
            <a:pPr algn="r" indent="0" marL="0">
              <a:buNone/>
            </a:pPr>
            <a:r>
              <a:rPr lang="en-US" sz="3200" b="1" dirty="0">
                <a:solidFill>
                  <a:srgbClr val="14284B"/>
                </a:solidFill>
                <a:latin typeface="Arial" pitchFamily="34" charset="0"/>
                <a:ea typeface="Arial" pitchFamily="34" charset="-122"/>
                <a:cs typeface="Arial" pitchFamily="34" charset="-120"/>
              </a:rPr>
              <a:t>27%</a:t>
            </a:r>
            <a:endParaRPr lang="en-US" sz="3200" dirty="0"/>
          </a:p>
        </p:txBody>
      </p:sp>
      <p:sp>
        <p:nvSpPr>
          <p:cNvPr id="19" name="Text 17"/>
          <p:cNvSpPr txBox="1"/>
          <p:nvPr/>
        </p:nvSpPr>
        <p:spPr>
          <a:xfrm>
            <a:off x="548640" y="4572000"/>
            <a:ext cx="3108960" cy="731520"/>
          </a:xfrm>
          <a:prstGeom prst="rect">
            <a:avLst/>
          </a:prstGeom>
          <a:noFill/>
          <a:ln/>
        </p:spPr>
        <p:txBody>
          <a:bodyPr wrap="square" lIns="0" tIns="0" rIns="0" bIns="0" rtlCol="0" anchor="ctr"/>
          <a:lstStyle/>
          <a:p>
            <a:pPr indent="0" marL="0">
              <a:buNone/>
            </a:pPr>
            <a:r>
              <a:rPr lang="en-US" sz="2000" b="1" dirty="0">
                <a:solidFill>
                  <a:srgbClr val="14284B"/>
                </a:solidFill>
                <a:latin typeface="Arial" pitchFamily="34" charset="0"/>
                <a:ea typeface="Arial" pitchFamily="34" charset="-122"/>
                <a:cs typeface="Arial" pitchFamily="34" charset="-120"/>
              </a:rPr>
              <a:t>PT Rata Makmur</a:t>
            </a:r>
            <a:endParaRPr lang="en-US" sz="2000" dirty="0"/>
          </a:p>
          <a:p>
            <a:pPr indent="0" marL="0">
              <a:buNone/>
            </a:pPr>
            <a:r>
              <a:rPr lang="en-US" sz="1200" dirty="0">
                <a:solidFill>
                  <a:srgbClr val="4A5568"/>
                </a:solidFill>
                <a:latin typeface="Arial" pitchFamily="34" charset="0"/>
                <a:ea typeface="Arial" pitchFamily="34" charset="-122"/>
                <a:cs typeface="Arial" pitchFamily="34" charset="-120"/>
              </a:rPr>
              <a:t>Tagihan Rp1,43 miliar</a:t>
            </a:r>
            <a:endParaRPr lang="en-US" sz="2000" dirty="0"/>
          </a:p>
          <a:p>
            <a:pPr indent="0" marL="0">
              <a:buNone/>
            </a:pPr>
            <a:r>
              <a:rPr lang="en-US" sz="1200" dirty="0">
                <a:solidFill>
                  <a:srgbClr val="4A5568"/>
                </a:solidFill>
                <a:latin typeface="Arial" pitchFamily="34" charset="0"/>
                <a:ea typeface="Arial" pitchFamily="34" charset="-122"/>
                <a:cs typeface="Arial" pitchFamily="34" charset="-120"/>
              </a:rPr>
              <a:t>Harta Rp0,17 miliar</a:t>
            </a:r>
            <a:endParaRPr lang="en-US" sz="2000" dirty="0"/>
          </a:p>
        </p:txBody>
      </p:sp>
      <p:sp>
        <p:nvSpPr>
          <p:cNvPr id="20" name="Shape 18"/>
          <p:cNvSpPr/>
          <p:nvPr/>
        </p:nvSpPr>
        <p:spPr>
          <a:xfrm>
            <a:off x="3749040" y="4745736"/>
            <a:ext cx="6400800" cy="384048"/>
          </a:xfrm>
          <a:prstGeom prst="roundRect">
            <a:avLst>
              <a:gd name="adj" fmla="val 19048"/>
            </a:avLst>
          </a:prstGeom>
          <a:solidFill>
            <a:srgbClr val="D5DDEA"/>
          </a:solidFill>
          <a:ln w="12700">
            <a:solidFill>
              <a:srgbClr val="D5DDEA"/>
            </a:solidFill>
            <a:prstDash val="solid"/>
          </a:ln>
        </p:spPr>
      </p:sp>
      <p:sp>
        <p:nvSpPr>
          <p:cNvPr id="21" name="Shape 19"/>
          <p:cNvSpPr/>
          <p:nvPr/>
        </p:nvSpPr>
        <p:spPr>
          <a:xfrm>
            <a:off x="3749040" y="4745736"/>
            <a:ext cx="768096" cy="384048"/>
          </a:xfrm>
          <a:prstGeom prst="roundRect">
            <a:avLst>
              <a:gd name="adj" fmla="val 19048"/>
            </a:avLst>
          </a:prstGeom>
          <a:solidFill>
            <a:srgbClr val="14284B"/>
          </a:solidFill>
          <a:ln w="12700">
            <a:solidFill>
              <a:srgbClr val="14284B"/>
            </a:solidFill>
            <a:prstDash val="solid"/>
          </a:ln>
        </p:spPr>
      </p:sp>
      <p:sp>
        <p:nvSpPr>
          <p:cNvPr id="22" name="Text 20"/>
          <p:cNvSpPr txBox="1"/>
          <p:nvPr/>
        </p:nvSpPr>
        <p:spPr>
          <a:xfrm>
            <a:off x="10241280" y="4617720"/>
            <a:ext cx="1399032" cy="640080"/>
          </a:xfrm>
          <a:prstGeom prst="rect">
            <a:avLst/>
          </a:prstGeom>
          <a:noFill/>
          <a:ln/>
        </p:spPr>
        <p:txBody>
          <a:bodyPr wrap="square" lIns="0" tIns="0" rIns="0" bIns="0" rtlCol="0" anchor="ctr"/>
          <a:lstStyle/>
          <a:p>
            <a:pPr algn="r" indent="0" marL="0">
              <a:buNone/>
            </a:pPr>
            <a:r>
              <a:rPr lang="en-US" sz="3200" b="1" dirty="0">
                <a:solidFill>
                  <a:srgbClr val="14284B"/>
                </a:solidFill>
                <a:latin typeface="Arial" pitchFamily="34" charset="0"/>
                <a:ea typeface="Arial" pitchFamily="34" charset="-122"/>
                <a:cs typeface="Arial" pitchFamily="34" charset="-120"/>
              </a:rPr>
              <a:t>12%</a:t>
            </a:r>
            <a:endParaRPr lang="en-US" sz="3200" dirty="0"/>
          </a:p>
        </p:txBody>
      </p:sp>
      <p:sp>
        <p:nvSpPr>
          <p:cNvPr id="23" name="Text 21"/>
          <p:cNvSpPr txBox="1"/>
          <p:nvPr/>
        </p:nvSpPr>
        <p:spPr>
          <a:xfrm>
            <a:off x="548640" y="5440680"/>
            <a:ext cx="11091672" cy="77724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Perkara seperti ini tidak menarik bagi kurator yang bekerja atas dasar imbalan.</a:t>
            </a:r>
            <a:endParaRPr lang="en-US" sz="2200" dirty="0"/>
          </a:p>
        </p:txBody>
      </p:sp>
      <p:sp>
        <p:nvSpPr>
          <p:cNvPr id="24" name="Text 2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5" name="Text 2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10</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TEMUAN 2</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Perkaranya Panjang</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Enam dari sembilan perkara berjalan lebih dari lima tahun, yang terlama sejak 2016.</a:t>
            </a:r>
            <a:endParaRPr lang="en-US" sz="2000" dirty="0"/>
          </a:p>
        </p:txBody>
      </p:sp>
      <p:sp>
        <p:nvSpPr>
          <p:cNvPr id="7" name="Shape 5"/>
          <p:cNvSpPr/>
          <p:nvPr/>
        </p:nvSpPr>
        <p:spPr>
          <a:xfrm>
            <a:off x="4419600" y="2148840"/>
            <a:ext cx="0" cy="4069080"/>
          </a:xfrm>
          <a:prstGeom prst="line">
            <a:avLst/>
          </a:prstGeom>
          <a:noFill/>
          <a:ln w="19050">
            <a:solidFill>
              <a:srgbClr val="8A6100"/>
            </a:solidFill>
            <a:prstDash val="dash"/>
          </a:ln>
        </p:spPr>
      </p:sp>
      <p:sp>
        <p:nvSpPr>
          <p:cNvPr id="8" name="Text 6"/>
          <p:cNvSpPr txBox="1"/>
          <p:nvPr/>
        </p:nvSpPr>
        <p:spPr>
          <a:xfrm>
            <a:off x="4492752" y="2103120"/>
            <a:ext cx="1097280" cy="228600"/>
          </a:xfrm>
          <a:prstGeom prst="rect">
            <a:avLst/>
          </a:prstGeom>
          <a:noFill/>
          <a:ln/>
        </p:spPr>
        <p:txBody>
          <a:bodyPr wrap="square" lIns="0" tIns="0" rIns="0" bIns="0" rtlCol="0" anchor="t"/>
          <a:lstStyle/>
          <a:p>
            <a:pPr indent="0" marL="0">
              <a:buNone/>
            </a:pPr>
            <a:r>
              <a:rPr lang="en-US" sz="1200" b="1" dirty="0">
                <a:solidFill>
                  <a:srgbClr val="8A6100"/>
                </a:solidFill>
                <a:latin typeface="Arial" pitchFamily="34" charset="0"/>
                <a:ea typeface="Arial" pitchFamily="34" charset="-122"/>
                <a:cs typeface="Arial" pitchFamily="34" charset="-120"/>
              </a:rPr>
              <a:t>5 tahun</a:t>
            </a:r>
            <a:endParaRPr lang="en-US" sz="1200" dirty="0"/>
          </a:p>
        </p:txBody>
      </p:sp>
      <p:sp>
        <p:nvSpPr>
          <p:cNvPr id="9" name="Text 7"/>
          <p:cNvSpPr txBox="1"/>
          <p:nvPr/>
        </p:nvSpPr>
        <p:spPr>
          <a:xfrm>
            <a:off x="548640" y="2377440"/>
            <a:ext cx="1828800" cy="329184"/>
          </a:xfrm>
          <a:prstGeom prst="rect">
            <a:avLst/>
          </a:prstGeom>
          <a:noFill/>
          <a:ln/>
        </p:spPr>
        <p:txBody>
          <a:bodyPr wrap="square" lIns="0" tIns="0" rIns="0" bIns="0" rtlCol="0" anchor="ctr"/>
          <a:lstStyle/>
          <a:p>
            <a:pPr algn="r" indent="0" marL="0">
              <a:buNone/>
            </a:pPr>
            <a:r>
              <a:rPr lang="en-US" sz="1400" dirty="0">
                <a:solidFill>
                  <a:srgbClr val="1A1A1A"/>
                </a:solidFill>
                <a:latin typeface="Arial" pitchFamily="34" charset="0"/>
                <a:ea typeface="Arial" pitchFamily="34" charset="-122"/>
                <a:cs typeface="Arial" pitchFamily="34" charset="-120"/>
              </a:rPr>
              <a:t>Gwe Tjoen</a:t>
            </a:r>
            <a:endParaRPr lang="en-US" sz="1400" dirty="0"/>
          </a:p>
        </p:txBody>
      </p:sp>
      <p:sp>
        <p:nvSpPr>
          <p:cNvPr id="10" name="Shape 8"/>
          <p:cNvSpPr/>
          <p:nvPr/>
        </p:nvSpPr>
        <p:spPr>
          <a:xfrm>
            <a:off x="2514600" y="2404872"/>
            <a:ext cx="4038600" cy="274320"/>
          </a:xfrm>
          <a:prstGeom prst="rect">
            <a:avLst/>
          </a:prstGeom>
          <a:solidFill>
            <a:srgbClr val="14284B"/>
          </a:solidFill>
          <a:ln w="12700">
            <a:solidFill>
              <a:srgbClr val="14284B"/>
            </a:solidFill>
            <a:prstDash val="solid"/>
          </a:ln>
        </p:spPr>
      </p:sp>
      <p:sp>
        <p:nvSpPr>
          <p:cNvPr id="11" name="Text 9"/>
          <p:cNvSpPr txBox="1"/>
          <p:nvPr/>
        </p:nvSpPr>
        <p:spPr>
          <a:xfrm>
            <a:off x="6626352" y="2377440"/>
            <a:ext cx="1188720" cy="329184"/>
          </a:xfrm>
          <a:prstGeom prst="rect">
            <a:avLst/>
          </a:prstGeom>
          <a:noFill/>
          <a:ln/>
        </p:spPr>
        <p:txBody>
          <a:bodyPr wrap="square" lIns="0" tIns="0" rIns="0" bIns="0" rtlCol="0" anchor="ctr"/>
          <a:lstStyle/>
          <a:p>
            <a:pPr indent="0" marL="0">
              <a:buNone/>
            </a:pPr>
            <a:r>
              <a:rPr lang="en-US" sz="1300" b="1" dirty="0">
                <a:solidFill>
                  <a:srgbClr val="14284B"/>
                </a:solidFill>
                <a:latin typeface="Arial" pitchFamily="34" charset="0"/>
                <a:ea typeface="Arial" pitchFamily="34" charset="-122"/>
                <a:cs typeface="Arial" pitchFamily="34" charset="-120"/>
              </a:rPr>
              <a:t>10,6 tahun</a:t>
            </a:r>
            <a:endParaRPr lang="en-US" sz="1300" dirty="0"/>
          </a:p>
        </p:txBody>
      </p:sp>
      <p:sp>
        <p:nvSpPr>
          <p:cNvPr id="12" name="Text 10"/>
          <p:cNvSpPr txBox="1"/>
          <p:nvPr/>
        </p:nvSpPr>
        <p:spPr>
          <a:xfrm>
            <a:off x="548640" y="2798064"/>
            <a:ext cx="1828800" cy="329184"/>
          </a:xfrm>
          <a:prstGeom prst="rect">
            <a:avLst/>
          </a:prstGeom>
          <a:noFill/>
          <a:ln/>
        </p:spPr>
        <p:txBody>
          <a:bodyPr wrap="square" lIns="0" tIns="0" rIns="0" bIns="0" rtlCol="0" anchor="ctr"/>
          <a:lstStyle/>
          <a:p>
            <a:pPr algn="r" indent="0" marL="0">
              <a:buNone/>
            </a:pPr>
            <a:r>
              <a:rPr lang="en-US" sz="1400" dirty="0">
                <a:solidFill>
                  <a:srgbClr val="1A1A1A"/>
                </a:solidFill>
                <a:latin typeface="Arial" pitchFamily="34" charset="0"/>
                <a:ea typeface="Arial" pitchFamily="34" charset="-122"/>
                <a:cs typeface="Arial" pitchFamily="34" charset="-120"/>
              </a:rPr>
              <a:t>CV Hitado</a:t>
            </a:r>
            <a:endParaRPr lang="en-US" sz="1400" dirty="0"/>
          </a:p>
        </p:txBody>
      </p:sp>
      <p:sp>
        <p:nvSpPr>
          <p:cNvPr id="13" name="Shape 11"/>
          <p:cNvSpPr/>
          <p:nvPr/>
        </p:nvSpPr>
        <p:spPr>
          <a:xfrm>
            <a:off x="2514600" y="2825496"/>
            <a:ext cx="3581400" cy="274320"/>
          </a:xfrm>
          <a:prstGeom prst="rect">
            <a:avLst/>
          </a:prstGeom>
          <a:solidFill>
            <a:srgbClr val="14284B"/>
          </a:solidFill>
          <a:ln w="12700">
            <a:solidFill>
              <a:srgbClr val="14284B"/>
            </a:solidFill>
            <a:prstDash val="solid"/>
          </a:ln>
        </p:spPr>
      </p:sp>
      <p:sp>
        <p:nvSpPr>
          <p:cNvPr id="14" name="Text 12"/>
          <p:cNvSpPr txBox="1"/>
          <p:nvPr/>
        </p:nvSpPr>
        <p:spPr>
          <a:xfrm>
            <a:off x="6169152" y="2798064"/>
            <a:ext cx="1188720" cy="329184"/>
          </a:xfrm>
          <a:prstGeom prst="rect">
            <a:avLst/>
          </a:prstGeom>
          <a:noFill/>
          <a:ln/>
        </p:spPr>
        <p:txBody>
          <a:bodyPr wrap="square" lIns="0" tIns="0" rIns="0" bIns="0" rtlCol="0" anchor="ctr"/>
          <a:lstStyle/>
          <a:p>
            <a:pPr indent="0" marL="0">
              <a:buNone/>
            </a:pPr>
            <a:r>
              <a:rPr lang="en-US" sz="1300" b="1" dirty="0">
                <a:solidFill>
                  <a:srgbClr val="14284B"/>
                </a:solidFill>
                <a:latin typeface="Arial" pitchFamily="34" charset="0"/>
                <a:ea typeface="Arial" pitchFamily="34" charset="-122"/>
                <a:cs typeface="Arial" pitchFamily="34" charset="-120"/>
              </a:rPr>
              <a:t>9,4 tahun</a:t>
            </a:r>
            <a:endParaRPr lang="en-US" sz="1300" dirty="0"/>
          </a:p>
        </p:txBody>
      </p:sp>
      <p:sp>
        <p:nvSpPr>
          <p:cNvPr id="15" name="Text 13"/>
          <p:cNvSpPr txBox="1"/>
          <p:nvPr/>
        </p:nvSpPr>
        <p:spPr>
          <a:xfrm>
            <a:off x="548640" y="3218688"/>
            <a:ext cx="1828800" cy="329184"/>
          </a:xfrm>
          <a:prstGeom prst="rect">
            <a:avLst/>
          </a:prstGeom>
          <a:noFill/>
          <a:ln/>
        </p:spPr>
        <p:txBody>
          <a:bodyPr wrap="square" lIns="0" tIns="0" rIns="0" bIns="0" rtlCol="0" anchor="ctr"/>
          <a:lstStyle/>
          <a:p>
            <a:pPr algn="r" indent="0" marL="0">
              <a:buNone/>
            </a:pPr>
            <a:r>
              <a:rPr lang="en-US" sz="1400" dirty="0">
                <a:solidFill>
                  <a:srgbClr val="1A1A1A"/>
                </a:solidFill>
                <a:latin typeface="Arial" pitchFamily="34" charset="0"/>
                <a:ea typeface="Arial" pitchFamily="34" charset="-122"/>
                <a:cs typeface="Arial" pitchFamily="34" charset="-120"/>
              </a:rPr>
              <a:t>PT Pro Mekanika</a:t>
            </a:r>
            <a:endParaRPr lang="en-US" sz="1400" dirty="0"/>
          </a:p>
        </p:txBody>
      </p:sp>
      <p:sp>
        <p:nvSpPr>
          <p:cNvPr id="16" name="Shape 14"/>
          <p:cNvSpPr/>
          <p:nvPr/>
        </p:nvSpPr>
        <p:spPr>
          <a:xfrm>
            <a:off x="2514600" y="3246120"/>
            <a:ext cx="3162300" cy="274320"/>
          </a:xfrm>
          <a:prstGeom prst="rect">
            <a:avLst/>
          </a:prstGeom>
          <a:solidFill>
            <a:srgbClr val="14284B"/>
          </a:solidFill>
          <a:ln w="12700">
            <a:solidFill>
              <a:srgbClr val="14284B"/>
            </a:solidFill>
            <a:prstDash val="solid"/>
          </a:ln>
        </p:spPr>
      </p:sp>
      <p:sp>
        <p:nvSpPr>
          <p:cNvPr id="17" name="Text 15"/>
          <p:cNvSpPr txBox="1"/>
          <p:nvPr/>
        </p:nvSpPr>
        <p:spPr>
          <a:xfrm>
            <a:off x="5750052" y="3218688"/>
            <a:ext cx="1188720" cy="329184"/>
          </a:xfrm>
          <a:prstGeom prst="rect">
            <a:avLst/>
          </a:prstGeom>
          <a:noFill/>
          <a:ln/>
        </p:spPr>
        <p:txBody>
          <a:bodyPr wrap="square" lIns="0" tIns="0" rIns="0" bIns="0" rtlCol="0" anchor="ctr"/>
          <a:lstStyle/>
          <a:p>
            <a:pPr indent="0" marL="0">
              <a:buNone/>
            </a:pPr>
            <a:r>
              <a:rPr lang="en-US" sz="1300" b="1" dirty="0">
                <a:solidFill>
                  <a:srgbClr val="14284B"/>
                </a:solidFill>
                <a:latin typeface="Arial" pitchFamily="34" charset="0"/>
                <a:ea typeface="Arial" pitchFamily="34" charset="-122"/>
                <a:cs typeface="Arial" pitchFamily="34" charset="-120"/>
              </a:rPr>
              <a:t>8,3 tahun</a:t>
            </a:r>
            <a:endParaRPr lang="en-US" sz="1300" dirty="0"/>
          </a:p>
        </p:txBody>
      </p:sp>
      <p:sp>
        <p:nvSpPr>
          <p:cNvPr id="18" name="Text 16"/>
          <p:cNvSpPr txBox="1"/>
          <p:nvPr/>
        </p:nvSpPr>
        <p:spPr>
          <a:xfrm>
            <a:off x="548640" y="3639312"/>
            <a:ext cx="1828800" cy="329184"/>
          </a:xfrm>
          <a:prstGeom prst="rect">
            <a:avLst/>
          </a:prstGeom>
          <a:noFill/>
          <a:ln/>
        </p:spPr>
        <p:txBody>
          <a:bodyPr wrap="square" lIns="0" tIns="0" rIns="0" bIns="0" rtlCol="0" anchor="ctr"/>
          <a:lstStyle/>
          <a:p>
            <a:pPr algn="r" indent="0" marL="0">
              <a:buNone/>
            </a:pPr>
            <a:r>
              <a:rPr lang="en-US" sz="1400" dirty="0">
                <a:solidFill>
                  <a:srgbClr val="1A1A1A"/>
                </a:solidFill>
                <a:latin typeface="Arial" pitchFamily="34" charset="0"/>
                <a:ea typeface="Arial" pitchFamily="34" charset="-122"/>
                <a:cs typeface="Arial" pitchFamily="34" charset="-120"/>
              </a:rPr>
              <a:t>Badaruddin HSB</a:t>
            </a:r>
            <a:endParaRPr lang="en-US" sz="1400" dirty="0"/>
          </a:p>
        </p:txBody>
      </p:sp>
      <p:sp>
        <p:nvSpPr>
          <p:cNvPr id="19" name="Shape 17"/>
          <p:cNvSpPr/>
          <p:nvPr/>
        </p:nvSpPr>
        <p:spPr>
          <a:xfrm>
            <a:off x="2514600" y="3666744"/>
            <a:ext cx="2971800" cy="274320"/>
          </a:xfrm>
          <a:prstGeom prst="rect">
            <a:avLst/>
          </a:prstGeom>
          <a:solidFill>
            <a:srgbClr val="14284B"/>
          </a:solidFill>
          <a:ln w="12700">
            <a:solidFill>
              <a:srgbClr val="14284B"/>
            </a:solidFill>
            <a:prstDash val="solid"/>
          </a:ln>
        </p:spPr>
      </p:sp>
      <p:sp>
        <p:nvSpPr>
          <p:cNvPr id="20" name="Text 18"/>
          <p:cNvSpPr txBox="1"/>
          <p:nvPr/>
        </p:nvSpPr>
        <p:spPr>
          <a:xfrm>
            <a:off x="5559552" y="3639312"/>
            <a:ext cx="1188720" cy="329184"/>
          </a:xfrm>
          <a:prstGeom prst="rect">
            <a:avLst/>
          </a:prstGeom>
          <a:noFill/>
          <a:ln/>
        </p:spPr>
        <p:txBody>
          <a:bodyPr wrap="square" lIns="0" tIns="0" rIns="0" bIns="0" rtlCol="0" anchor="ctr"/>
          <a:lstStyle/>
          <a:p>
            <a:pPr indent="0" marL="0">
              <a:buNone/>
            </a:pPr>
            <a:r>
              <a:rPr lang="en-US" sz="1300" b="1" dirty="0">
                <a:solidFill>
                  <a:srgbClr val="14284B"/>
                </a:solidFill>
                <a:latin typeface="Arial" pitchFamily="34" charset="0"/>
                <a:ea typeface="Arial" pitchFamily="34" charset="-122"/>
                <a:cs typeface="Arial" pitchFamily="34" charset="-120"/>
              </a:rPr>
              <a:t>7,8 tahun</a:t>
            </a:r>
            <a:endParaRPr lang="en-US" sz="1300" dirty="0"/>
          </a:p>
        </p:txBody>
      </p:sp>
      <p:sp>
        <p:nvSpPr>
          <p:cNvPr id="21" name="Text 19"/>
          <p:cNvSpPr txBox="1"/>
          <p:nvPr/>
        </p:nvSpPr>
        <p:spPr>
          <a:xfrm>
            <a:off x="548640" y="4059936"/>
            <a:ext cx="1828800" cy="329184"/>
          </a:xfrm>
          <a:prstGeom prst="rect">
            <a:avLst/>
          </a:prstGeom>
          <a:noFill/>
          <a:ln/>
        </p:spPr>
        <p:txBody>
          <a:bodyPr wrap="square" lIns="0" tIns="0" rIns="0" bIns="0" rtlCol="0" anchor="ctr"/>
          <a:lstStyle/>
          <a:p>
            <a:pPr algn="r" indent="0" marL="0">
              <a:buNone/>
            </a:pPr>
            <a:r>
              <a:rPr lang="en-US" sz="1400" dirty="0">
                <a:solidFill>
                  <a:srgbClr val="1A1A1A"/>
                </a:solidFill>
                <a:latin typeface="Arial" pitchFamily="34" charset="0"/>
                <a:ea typeface="Arial" pitchFamily="34" charset="-122"/>
                <a:cs typeface="Arial" pitchFamily="34" charset="-120"/>
              </a:rPr>
              <a:t>Suparjo Rustam</a:t>
            </a:r>
            <a:endParaRPr lang="en-US" sz="1400" dirty="0"/>
          </a:p>
        </p:txBody>
      </p:sp>
      <p:sp>
        <p:nvSpPr>
          <p:cNvPr id="22" name="Shape 20"/>
          <p:cNvSpPr/>
          <p:nvPr/>
        </p:nvSpPr>
        <p:spPr>
          <a:xfrm>
            <a:off x="2514600" y="4087368"/>
            <a:ext cx="2628900" cy="274320"/>
          </a:xfrm>
          <a:prstGeom prst="rect">
            <a:avLst/>
          </a:prstGeom>
          <a:solidFill>
            <a:srgbClr val="14284B"/>
          </a:solidFill>
          <a:ln w="12700">
            <a:solidFill>
              <a:srgbClr val="14284B"/>
            </a:solidFill>
            <a:prstDash val="solid"/>
          </a:ln>
        </p:spPr>
      </p:sp>
      <p:sp>
        <p:nvSpPr>
          <p:cNvPr id="23" name="Text 21"/>
          <p:cNvSpPr txBox="1"/>
          <p:nvPr/>
        </p:nvSpPr>
        <p:spPr>
          <a:xfrm>
            <a:off x="5216652" y="4059936"/>
            <a:ext cx="1188720" cy="329184"/>
          </a:xfrm>
          <a:prstGeom prst="rect">
            <a:avLst/>
          </a:prstGeom>
          <a:noFill/>
          <a:ln/>
        </p:spPr>
        <p:txBody>
          <a:bodyPr wrap="square" lIns="0" tIns="0" rIns="0" bIns="0" rtlCol="0" anchor="ctr"/>
          <a:lstStyle/>
          <a:p>
            <a:pPr indent="0" marL="0">
              <a:buNone/>
            </a:pPr>
            <a:r>
              <a:rPr lang="en-US" sz="1300" b="1" dirty="0">
                <a:solidFill>
                  <a:srgbClr val="14284B"/>
                </a:solidFill>
                <a:latin typeface="Arial" pitchFamily="34" charset="0"/>
                <a:ea typeface="Arial" pitchFamily="34" charset="-122"/>
                <a:cs typeface="Arial" pitchFamily="34" charset="-120"/>
              </a:rPr>
              <a:t>6,9 tahun</a:t>
            </a:r>
            <a:endParaRPr lang="en-US" sz="1300" dirty="0"/>
          </a:p>
        </p:txBody>
      </p:sp>
      <p:sp>
        <p:nvSpPr>
          <p:cNvPr id="24" name="Text 22"/>
          <p:cNvSpPr txBox="1"/>
          <p:nvPr/>
        </p:nvSpPr>
        <p:spPr>
          <a:xfrm>
            <a:off x="548640" y="4480560"/>
            <a:ext cx="1828800" cy="329184"/>
          </a:xfrm>
          <a:prstGeom prst="rect">
            <a:avLst/>
          </a:prstGeom>
          <a:noFill/>
          <a:ln/>
        </p:spPr>
        <p:txBody>
          <a:bodyPr wrap="square" lIns="0" tIns="0" rIns="0" bIns="0" rtlCol="0" anchor="ctr"/>
          <a:lstStyle/>
          <a:p>
            <a:pPr algn="r" indent="0" marL="0">
              <a:buNone/>
            </a:pPr>
            <a:r>
              <a:rPr lang="en-US" sz="1400" dirty="0">
                <a:solidFill>
                  <a:srgbClr val="1A1A1A"/>
                </a:solidFill>
                <a:latin typeface="Arial" pitchFamily="34" charset="0"/>
                <a:ea typeface="Arial" pitchFamily="34" charset="-122"/>
                <a:cs typeface="Arial" pitchFamily="34" charset="-120"/>
              </a:rPr>
              <a:t>Hermanto</a:t>
            </a:r>
            <a:endParaRPr lang="en-US" sz="1400" dirty="0"/>
          </a:p>
        </p:txBody>
      </p:sp>
      <p:sp>
        <p:nvSpPr>
          <p:cNvPr id="25" name="Shape 23"/>
          <p:cNvSpPr/>
          <p:nvPr/>
        </p:nvSpPr>
        <p:spPr>
          <a:xfrm>
            <a:off x="2514600" y="4507992"/>
            <a:ext cx="2514600" cy="274320"/>
          </a:xfrm>
          <a:prstGeom prst="rect">
            <a:avLst/>
          </a:prstGeom>
          <a:solidFill>
            <a:srgbClr val="14284B"/>
          </a:solidFill>
          <a:ln w="12700">
            <a:solidFill>
              <a:srgbClr val="14284B"/>
            </a:solidFill>
            <a:prstDash val="solid"/>
          </a:ln>
        </p:spPr>
      </p:sp>
      <p:sp>
        <p:nvSpPr>
          <p:cNvPr id="26" name="Text 24"/>
          <p:cNvSpPr txBox="1"/>
          <p:nvPr/>
        </p:nvSpPr>
        <p:spPr>
          <a:xfrm>
            <a:off x="5102352" y="4480560"/>
            <a:ext cx="1188720" cy="329184"/>
          </a:xfrm>
          <a:prstGeom prst="rect">
            <a:avLst/>
          </a:prstGeom>
          <a:noFill/>
          <a:ln/>
        </p:spPr>
        <p:txBody>
          <a:bodyPr wrap="square" lIns="0" tIns="0" rIns="0" bIns="0" rtlCol="0" anchor="ctr"/>
          <a:lstStyle/>
          <a:p>
            <a:pPr indent="0" marL="0">
              <a:buNone/>
            </a:pPr>
            <a:r>
              <a:rPr lang="en-US" sz="1300" b="1" dirty="0">
                <a:solidFill>
                  <a:srgbClr val="14284B"/>
                </a:solidFill>
                <a:latin typeface="Arial" pitchFamily="34" charset="0"/>
                <a:ea typeface="Arial" pitchFamily="34" charset="-122"/>
                <a:cs typeface="Arial" pitchFamily="34" charset="-120"/>
              </a:rPr>
              <a:t>6,6 tahun</a:t>
            </a:r>
            <a:endParaRPr lang="en-US" sz="1300" dirty="0"/>
          </a:p>
        </p:txBody>
      </p:sp>
      <p:sp>
        <p:nvSpPr>
          <p:cNvPr id="27" name="Text 25"/>
          <p:cNvSpPr txBox="1"/>
          <p:nvPr/>
        </p:nvSpPr>
        <p:spPr>
          <a:xfrm>
            <a:off x="548640" y="4901184"/>
            <a:ext cx="1828800" cy="329184"/>
          </a:xfrm>
          <a:prstGeom prst="rect">
            <a:avLst/>
          </a:prstGeom>
          <a:noFill/>
          <a:ln/>
        </p:spPr>
        <p:txBody>
          <a:bodyPr wrap="square" lIns="0" tIns="0" rIns="0" bIns="0" rtlCol="0" anchor="ctr"/>
          <a:lstStyle/>
          <a:p>
            <a:pPr algn="r" indent="0" marL="0">
              <a:buNone/>
            </a:pPr>
            <a:r>
              <a:rPr lang="en-US" sz="1400" dirty="0">
                <a:solidFill>
                  <a:srgbClr val="1A1A1A"/>
                </a:solidFill>
                <a:latin typeface="Arial" pitchFamily="34" charset="0"/>
                <a:ea typeface="Arial" pitchFamily="34" charset="-122"/>
                <a:cs typeface="Arial" pitchFamily="34" charset="-120"/>
              </a:rPr>
              <a:t>PT Rata Makmur</a:t>
            </a:r>
            <a:endParaRPr lang="en-US" sz="1400" dirty="0"/>
          </a:p>
        </p:txBody>
      </p:sp>
      <p:sp>
        <p:nvSpPr>
          <p:cNvPr id="28" name="Shape 26"/>
          <p:cNvSpPr/>
          <p:nvPr/>
        </p:nvSpPr>
        <p:spPr>
          <a:xfrm>
            <a:off x="2514600" y="4928616"/>
            <a:ext cx="1562100" cy="274320"/>
          </a:xfrm>
          <a:prstGeom prst="rect">
            <a:avLst/>
          </a:prstGeom>
          <a:solidFill>
            <a:srgbClr val="C3CEDF"/>
          </a:solidFill>
          <a:ln w="12700">
            <a:solidFill>
              <a:srgbClr val="C3CEDF"/>
            </a:solidFill>
            <a:prstDash val="solid"/>
          </a:ln>
        </p:spPr>
      </p:sp>
      <p:sp>
        <p:nvSpPr>
          <p:cNvPr id="29" name="Text 27"/>
          <p:cNvSpPr txBox="1"/>
          <p:nvPr/>
        </p:nvSpPr>
        <p:spPr>
          <a:xfrm>
            <a:off x="4149852" y="4901184"/>
            <a:ext cx="1188720" cy="329184"/>
          </a:xfrm>
          <a:prstGeom prst="rect">
            <a:avLst/>
          </a:prstGeom>
          <a:noFill/>
          <a:ln/>
        </p:spPr>
        <p:txBody>
          <a:bodyPr wrap="square" lIns="0" tIns="0" rIns="0" bIns="0" rtlCol="0" anchor="ctr"/>
          <a:lstStyle/>
          <a:p>
            <a:pPr indent="0" marL="0">
              <a:buNone/>
            </a:pPr>
            <a:r>
              <a:rPr lang="en-US" sz="1300" b="1" dirty="0">
                <a:solidFill>
                  <a:srgbClr val="14284B"/>
                </a:solidFill>
                <a:latin typeface="Arial" pitchFamily="34" charset="0"/>
                <a:ea typeface="Arial" pitchFamily="34" charset="-122"/>
                <a:cs typeface="Arial" pitchFamily="34" charset="-120"/>
              </a:rPr>
              <a:t>4,1 tahun</a:t>
            </a:r>
            <a:endParaRPr lang="en-US" sz="1300" dirty="0"/>
          </a:p>
        </p:txBody>
      </p:sp>
      <p:sp>
        <p:nvSpPr>
          <p:cNvPr id="30" name="Text 28"/>
          <p:cNvSpPr txBox="1"/>
          <p:nvPr/>
        </p:nvSpPr>
        <p:spPr>
          <a:xfrm>
            <a:off x="548640" y="5321808"/>
            <a:ext cx="1828800" cy="329184"/>
          </a:xfrm>
          <a:prstGeom prst="rect">
            <a:avLst/>
          </a:prstGeom>
          <a:noFill/>
          <a:ln/>
        </p:spPr>
        <p:txBody>
          <a:bodyPr wrap="square" lIns="0" tIns="0" rIns="0" bIns="0" rtlCol="0" anchor="ctr"/>
          <a:lstStyle/>
          <a:p>
            <a:pPr algn="r" indent="0" marL="0">
              <a:buNone/>
            </a:pPr>
            <a:r>
              <a:rPr lang="en-US" sz="1400" dirty="0">
                <a:solidFill>
                  <a:srgbClr val="1A1A1A"/>
                </a:solidFill>
                <a:latin typeface="Arial" pitchFamily="34" charset="0"/>
                <a:ea typeface="Arial" pitchFamily="34" charset="-122"/>
                <a:cs typeface="Arial" pitchFamily="34" charset="-120"/>
              </a:rPr>
              <a:t>KSO Maju Abadi</a:t>
            </a:r>
            <a:endParaRPr lang="en-US" sz="1400" dirty="0"/>
          </a:p>
        </p:txBody>
      </p:sp>
      <p:sp>
        <p:nvSpPr>
          <p:cNvPr id="31" name="Shape 29"/>
          <p:cNvSpPr/>
          <p:nvPr/>
        </p:nvSpPr>
        <p:spPr>
          <a:xfrm>
            <a:off x="2514600" y="5349240"/>
            <a:ext cx="1143000" cy="274320"/>
          </a:xfrm>
          <a:prstGeom prst="rect">
            <a:avLst/>
          </a:prstGeom>
          <a:solidFill>
            <a:srgbClr val="C3CEDF"/>
          </a:solidFill>
          <a:ln w="12700">
            <a:solidFill>
              <a:srgbClr val="C3CEDF"/>
            </a:solidFill>
            <a:prstDash val="solid"/>
          </a:ln>
        </p:spPr>
      </p:sp>
      <p:sp>
        <p:nvSpPr>
          <p:cNvPr id="32" name="Text 30"/>
          <p:cNvSpPr txBox="1"/>
          <p:nvPr/>
        </p:nvSpPr>
        <p:spPr>
          <a:xfrm>
            <a:off x="3730752" y="5321808"/>
            <a:ext cx="1188720" cy="329184"/>
          </a:xfrm>
          <a:prstGeom prst="rect">
            <a:avLst/>
          </a:prstGeom>
          <a:noFill/>
          <a:ln/>
        </p:spPr>
        <p:txBody>
          <a:bodyPr wrap="square" lIns="0" tIns="0" rIns="0" bIns="0" rtlCol="0" anchor="ctr"/>
          <a:lstStyle/>
          <a:p>
            <a:pPr indent="0" marL="0">
              <a:buNone/>
            </a:pPr>
            <a:r>
              <a:rPr lang="en-US" sz="1300" b="1" dirty="0">
                <a:solidFill>
                  <a:srgbClr val="14284B"/>
                </a:solidFill>
                <a:latin typeface="Arial" pitchFamily="34" charset="0"/>
                <a:ea typeface="Arial" pitchFamily="34" charset="-122"/>
                <a:cs typeface="Arial" pitchFamily="34" charset="-120"/>
              </a:rPr>
              <a:t>3,0 tahun</a:t>
            </a:r>
            <a:endParaRPr lang="en-US" sz="1300" dirty="0"/>
          </a:p>
        </p:txBody>
      </p:sp>
      <p:sp>
        <p:nvSpPr>
          <p:cNvPr id="33" name="Text 31"/>
          <p:cNvSpPr txBox="1"/>
          <p:nvPr/>
        </p:nvSpPr>
        <p:spPr>
          <a:xfrm>
            <a:off x="548640" y="5742432"/>
            <a:ext cx="1828800" cy="329184"/>
          </a:xfrm>
          <a:prstGeom prst="rect">
            <a:avLst/>
          </a:prstGeom>
          <a:noFill/>
          <a:ln/>
        </p:spPr>
        <p:txBody>
          <a:bodyPr wrap="square" lIns="0" tIns="0" rIns="0" bIns="0" rtlCol="0" anchor="ctr"/>
          <a:lstStyle/>
          <a:p>
            <a:pPr algn="r" indent="0" marL="0">
              <a:buNone/>
            </a:pPr>
            <a:r>
              <a:rPr lang="en-US" sz="1400" dirty="0">
                <a:solidFill>
                  <a:srgbClr val="1A1A1A"/>
                </a:solidFill>
                <a:latin typeface="Arial" pitchFamily="34" charset="0"/>
                <a:ea typeface="Arial" pitchFamily="34" charset="-122"/>
                <a:cs typeface="Arial" pitchFamily="34" charset="-120"/>
              </a:rPr>
              <a:t>Frans Winner</a:t>
            </a:r>
            <a:endParaRPr lang="en-US" sz="1400" dirty="0"/>
          </a:p>
        </p:txBody>
      </p:sp>
      <p:sp>
        <p:nvSpPr>
          <p:cNvPr id="34" name="Shape 32"/>
          <p:cNvSpPr/>
          <p:nvPr/>
        </p:nvSpPr>
        <p:spPr>
          <a:xfrm>
            <a:off x="2514600" y="5769864"/>
            <a:ext cx="304800" cy="274320"/>
          </a:xfrm>
          <a:prstGeom prst="rect">
            <a:avLst/>
          </a:prstGeom>
          <a:solidFill>
            <a:srgbClr val="C3CEDF"/>
          </a:solidFill>
          <a:ln w="12700">
            <a:solidFill>
              <a:srgbClr val="C3CEDF"/>
            </a:solidFill>
            <a:prstDash val="solid"/>
          </a:ln>
        </p:spPr>
      </p:sp>
      <p:sp>
        <p:nvSpPr>
          <p:cNvPr id="35" name="Text 33"/>
          <p:cNvSpPr txBox="1"/>
          <p:nvPr/>
        </p:nvSpPr>
        <p:spPr>
          <a:xfrm>
            <a:off x="2892552" y="5742432"/>
            <a:ext cx="1188720" cy="329184"/>
          </a:xfrm>
          <a:prstGeom prst="rect">
            <a:avLst/>
          </a:prstGeom>
          <a:noFill/>
          <a:ln/>
        </p:spPr>
        <p:txBody>
          <a:bodyPr wrap="square" lIns="0" tIns="0" rIns="0" bIns="0" rtlCol="0" anchor="ctr"/>
          <a:lstStyle/>
          <a:p>
            <a:pPr indent="0" marL="0">
              <a:buNone/>
            </a:pPr>
            <a:r>
              <a:rPr lang="en-US" sz="1300" b="1" dirty="0">
                <a:solidFill>
                  <a:srgbClr val="14284B"/>
                </a:solidFill>
                <a:latin typeface="Arial" pitchFamily="34" charset="0"/>
                <a:ea typeface="Arial" pitchFamily="34" charset="-122"/>
                <a:cs typeface="Arial" pitchFamily="34" charset="-120"/>
              </a:rPr>
              <a:t>0,8 tahun</a:t>
            </a:r>
            <a:endParaRPr lang="en-US" sz="1300" dirty="0"/>
          </a:p>
        </p:txBody>
      </p:sp>
      <p:sp>
        <p:nvSpPr>
          <p:cNvPr id="36" name="Shape 34"/>
          <p:cNvSpPr/>
          <p:nvPr/>
        </p:nvSpPr>
        <p:spPr>
          <a:xfrm>
            <a:off x="8595360" y="2240280"/>
            <a:ext cx="3044952" cy="3977640"/>
          </a:xfrm>
          <a:prstGeom prst="roundRect">
            <a:avLst>
              <a:gd name="adj" fmla="val 3604"/>
            </a:avLst>
          </a:prstGeom>
          <a:solidFill>
            <a:srgbClr val="14284B"/>
          </a:solidFill>
          <a:ln w="12700">
            <a:solidFill>
              <a:srgbClr val="14284B"/>
            </a:solidFill>
            <a:prstDash val="solid"/>
          </a:ln>
        </p:spPr>
      </p:sp>
      <p:sp>
        <p:nvSpPr>
          <p:cNvPr id="37" name="Text 35"/>
          <p:cNvSpPr txBox="1"/>
          <p:nvPr/>
        </p:nvSpPr>
        <p:spPr>
          <a:xfrm>
            <a:off x="8869680" y="2496312"/>
            <a:ext cx="2496312" cy="3538728"/>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DARI 9 PERKARA</a:t>
            </a:r>
            <a:endParaRPr lang="en-US" sz="1300" dirty="0"/>
          </a:p>
          <a:p>
            <a:pPr indent="0" marL="0">
              <a:spcAft>
                <a:spcPts val="400"/>
              </a:spcAft>
              <a:buNone/>
            </a:pPr>
            <a:r>
              <a:rPr lang="en-US" sz="5400" b="1" dirty="0">
                <a:solidFill>
                  <a:srgbClr val="E0A526"/>
                </a:solidFill>
                <a:latin typeface="Arial" pitchFamily="34" charset="0"/>
                <a:ea typeface="Arial" pitchFamily="34" charset="-122"/>
                <a:cs typeface="Arial" pitchFamily="34" charset="-120"/>
              </a:rPr>
              <a:t>6</a:t>
            </a:r>
            <a:endParaRPr lang="en-US" sz="1300" dirty="0"/>
          </a:p>
          <a:p>
            <a:pPr indent="0" marL="0">
              <a:spcAft>
                <a:spcPts val="400"/>
              </a:spcAft>
              <a:buNone/>
            </a:pPr>
            <a:r>
              <a:rPr lang="en-US" sz="1900" dirty="0">
                <a:solidFill>
                  <a:srgbClr val="DCE4F2"/>
                </a:solidFill>
                <a:latin typeface="Arial" pitchFamily="34" charset="0"/>
                <a:ea typeface="Arial" pitchFamily="34" charset="-122"/>
                <a:cs typeface="Arial" pitchFamily="34" charset="-120"/>
              </a:rPr>
              <a:t>berjalan lebih dari lima tahun. Kurator perorangan bisa berhenti atau meninggal dunia, sedangkan BHP tetap berjalan sebagai lembaga.</a:t>
            </a:r>
            <a:endParaRPr lang="en-US" sz="1300" dirty="0"/>
          </a:p>
        </p:txBody>
      </p:sp>
      <p:sp>
        <p:nvSpPr>
          <p:cNvPr id="38" name="Text 36"/>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39" name="Text 37"/>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11</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TEMUAN 3 DAN 4</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Hak Pekerja dan Debitor yang Menghilang</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Perkara yang menyangkut kepentingan publik ditangani BHP sampai tuntas.</a:t>
            </a:r>
            <a:endParaRPr lang="en-US" sz="2000" dirty="0"/>
          </a:p>
        </p:txBody>
      </p:sp>
      <p:sp>
        <p:nvSpPr>
          <p:cNvPr id="7" name="Shape 5"/>
          <p:cNvSpPr/>
          <p:nvPr/>
        </p:nvSpPr>
        <p:spPr>
          <a:xfrm>
            <a:off x="548640" y="2286000"/>
            <a:ext cx="5408676" cy="3840480"/>
          </a:xfrm>
          <a:prstGeom prst="roundRect">
            <a:avLst>
              <a:gd name="adj" fmla="val 2857"/>
            </a:avLst>
          </a:prstGeom>
          <a:solidFill>
            <a:srgbClr val="14284B"/>
          </a:solidFill>
          <a:ln w="12700">
            <a:solidFill>
              <a:srgbClr val="14284B"/>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4860036" cy="268833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TEMUAN 3 · PT RATA MAKMUR</a:t>
            </a:r>
            <a:endParaRPr lang="en-US" sz="1300" dirty="0"/>
          </a:p>
          <a:p>
            <a:pPr indent="0" marL="0">
              <a:spcAft>
                <a:spcPts val="400"/>
              </a:spcAft>
              <a:buNone/>
            </a:pPr>
            <a:r>
              <a:rPr lang="en-US" sz="2400" b="1" dirty="0">
                <a:solidFill>
                  <a:srgbClr val="FFFFFF"/>
                </a:solidFill>
                <a:latin typeface="Arial" pitchFamily="34" charset="0"/>
                <a:ea typeface="Arial" pitchFamily="34" charset="-122"/>
                <a:cs typeface="Arial" pitchFamily="34" charset="-120"/>
              </a:rPr>
              <a:t>Menyangkut hak pekerja dan uang negara</a:t>
            </a:r>
            <a:endParaRPr lang="en-US" sz="1300" dirty="0"/>
          </a:p>
          <a:p>
            <a:pPr indent="0" marL="0">
              <a:spcAft>
                <a:spcPts val="400"/>
              </a:spcAft>
              <a:buNone/>
            </a:pPr>
            <a:r>
              <a:rPr lang="en-US" sz="1900" dirty="0">
                <a:solidFill>
                  <a:srgbClr val="DCE4F2"/>
                </a:solidFill>
                <a:latin typeface="Arial" pitchFamily="34" charset="0"/>
                <a:ea typeface="Arial" pitchFamily="34" charset="-122"/>
                <a:cs typeface="Arial" pitchFamily="34" charset="-120"/>
              </a:rPr>
              <a:t>Permohonan diajukan pekerja dan pengadilan menunjuk BHP Medan sebagai pengurus lalu kurator. Tagihan para pekerja pemohon sudah lunas, sisanya tagihan pajak.</a:t>
            </a:r>
            <a:endParaRPr lang="en-US" sz="1300" dirty="0"/>
          </a:p>
        </p:txBody>
      </p:sp>
      <p:sp>
        <p:nvSpPr>
          <p:cNvPr id="10" name="Shape 7"/>
          <p:cNvSpPr/>
          <p:nvPr/>
        </p:nvSpPr>
        <p:spPr>
          <a:xfrm>
            <a:off x="6231636" y="2286000"/>
            <a:ext cx="5408676" cy="3840480"/>
          </a:xfrm>
          <a:prstGeom prst="roundRect">
            <a:avLst>
              <a:gd name="adj" fmla="val 2857"/>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6505956" y="2542032"/>
            <a:ext cx="502920" cy="502920"/>
          </a:xfrm>
          <a:prstGeom prst="rect">
            <a:avLst/>
          </a:prstGeom>
        </p:spPr>
      </p:pic>
      <p:sp>
        <p:nvSpPr>
          <p:cNvPr id="12" name="Text 8"/>
          <p:cNvSpPr txBox="1"/>
          <p:nvPr/>
        </p:nvSpPr>
        <p:spPr>
          <a:xfrm>
            <a:off x="6505956" y="3255264"/>
            <a:ext cx="4860036" cy="268833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TEMUAN 4 · CV HITADO</a:t>
            </a:r>
            <a:endParaRPr lang="en-US" sz="1300" dirty="0"/>
          </a:p>
          <a:p>
            <a:pPr indent="0" marL="0">
              <a:spcAft>
                <a:spcPts val="400"/>
              </a:spcAft>
              <a:buNone/>
            </a:pPr>
            <a:r>
              <a:rPr lang="en-US" sz="2400" b="1" dirty="0">
                <a:solidFill>
                  <a:srgbClr val="14284B"/>
                </a:solidFill>
                <a:latin typeface="Arial" pitchFamily="34" charset="0"/>
                <a:ea typeface="Arial" pitchFamily="34" charset="-122"/>
                <a:cs typeface="Arial" pitchFamily="34" charset="-120"/>
              </a:rPr>
              <a:t>Debitor menghilang</a:t>
            </a:r>
            <a:endParaRPr lang="en-US" sz="1300" dirty="0"/>
          </a:p>
          <a:p>
            <a:pPr indent="0" marL="0">
              <a:spcAft>
                <a:spcPts val="400"/>
              </a:spcAft>
              <a:buNone/>
            </a:pPr>
            <a:r>
              <a:rPr lang="en-US" sz="1900" dirty="0">
                <a:solidFill>
                  <a:srgbClr val="1A1A1A"/>
                </a:solidFill>
                <a:latin typeface="Arial" pitchFamily="34" charset="0"/>
                <a:ea typeface="Arial" pitchFamily="34" charset="-122"/>
                <a:cs typeface="Arial" pitchFamily="34" charset="-120"/>
              </a:rPr>
              <a:t>Debitor tidak ditemukan sekitar lima tahun sehingga penyelesaian perkara tertahan.</a:t>
            </a:r>
            <a:endParaRPr lang="en-US" sz="1300" dirty="0"/>
          </a:p>
        </p:txBody>
      </p:sp>
      <p:sp>
        <p:nvSpPr>
          <p:cNvPr id="13" name="Text 9"/>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4" name="Text 10"/>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II</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 · PENGALAMAN BHP MEDAN · SECARA NASIONAL</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Perkara Naik, Datanya Belum Ada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Laporan Tahunan Mahkamah Agung 2025 mencatat perkara niaga naik 19,18%.</a:t>
            </a:r>
            <a:endParaRPr lang="en-US" sz="2000" dirty="0"/>
          </a:p>
        </p:txBody>
      </p:sp>
      <p:sp>
        <p:nvSpPr>
          <p:cNvPr id="7" name="Shape 5"/>
          <p:cNvSpPr/>
          <p:nvPr/>
        </p:nvSpPr>
        <p:spPr>
          <a:xfrm>
            <a:off x="548640" y="2286000"/>
            <a:ext cx="3514344" cy="2377440"/>
          </a:xfrm>
          <a:prstGeom prst="roundRect">
            <a:avLst>
              <a:gd name="adj" fmla="val 4615"/>
            </a:avLst>
          </a:prstGeom>
          <a:solidFill>
            <a:srgbClr val="EEF2F8"/>
          </a:solidFill>
          <a:ln w="12700">
            <a:solidFill>
              <a:srgbClr val="EEF2F8"/>
            </a:solidFill>
            <a:prstDash val="solid"/>
          </a:ln>
        </p:spPr>
      </p:sp>
      <p:sp>
        <p:nvSpPr>
          <p:cNvPr id="8" name="Text 6"/>
          <p:cNvSpPr txBox="1"/>
          <p:nvPr/>
        </p:nvSpPr>
        <p:spPr>
          <a:xfrm>
            <a:off x="822960" y="2542032"/>
            <a:ext cx="2965704" cy="1938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DARI</a:t>
            </a:r>
            <a:endParaRPr lang="en-US" sz="1300" dirty="0"/>
          </a:p>
          <a:p>
            <a:pPr indent="0" marL="0">
              <a:spcAft>
                <a:spcPts val="400"/>
              </a:spcAft>
              <a:buNone/>
            </a:pPr>
            <a:r>
              <a:rPr lang="en-US" sz="5400" b="1" dirty="0">
                <a:solidFill>
                  <a:srgbClr val="14284B"/>
                </a:solidFill>
                <a:latin typeface="Arial" pitchFamily="34" charset="0"/>
                <a:ea typeface="Arial" pitchFamily="34" charset="-122"/>
                <a:cs typeface="Arial" pitchFamily="34" charset="-120"/>
              </a:rPr>
              <a:t>782</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perkara niaga</a:t>
            </a:r>
            <a:endParaRPr lang="en-US" sz="1300" dirty="0"/>
          </a:p>
        </p:txBody>
      </p:sp>
      <p:sp>
        <p:nvSpPr>
          <p:cNvPr id="9" name="Shape 7"/>
          <p:cNvSpPr/>
          <p:nvPr/>
        </p:nvSpPr>
        <p:spPr>
          <a:xfrm>
            <a:off x="4337304" y="2286000"/>
            <a:ext cx="3514344" cy="2377440"/>
          </a:xfrm>
          <a:prstGeom prst="roundRect">
            <a:avLst>
              <a:gd name="adj" fmla="val 4615"/>
            </a:avLst>
          </a:prstGeom>
          <a:solidFill>
            <a:srgbClr val="14284B"/>
          </a:solidFill>
          <a:ln w="12700">
            <a:solidFill>
              <a:srgbClr val="14284B"/>
            </a:solidFill>
            <a:prstDash val="solid"/>
          </a:ln>
        </p:spPr>
      </p:sp>
      <p:sp>
        <p:nvSpPr>
          <p:cNvPr id="10" name="Text 8"/>
          <p:cNvSpPr txBox="1"/>
          <p:nvPr/>
        </p:nvSpPr>
        <p:spPr>
          <a:xfrm>
            <a:off x="4611624" y="2542032"/>
            <a:ext cx="2965704" cy="1938528"/>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MENJADI</a:t>
            </a:r>
            <a:endParaRPr lang="en-US" sz="1300" dirty="0"/>
          </a:p>
          <a:p>
            <a:pPr indent="0" marL="0">
              <a:spcAft>
                <a:spcPts val="400"/>
              </a:spcAft>
              <a:buNone/>
            </a:pPr>
            <a:r>
              <a:rPr lang="en-US" sz="5400" b="1" dirty="0">
                <a:solidFill>
                  <a:srgbClr val="E0A526"/>
                </a:solidFill>
                <a:latin typeface="Arial" pitchFamily="34" charset="0"/>
                <a:ea typeface="Arial" pitchFamily="34" charset="-122"/>
                <a:cs typeface="Arial" pitchFamily="34" charset="-120"/>
              </a:rPr>
              <a:t>932</a:t>
            </a:r>
            <a:endParaRPr lang="en-US" sz="1300" dirty="0"/>
          </a:p>
          <a:p>
            <a:pPr indent="0" marL="0">
              <a:spcAft>
                <a:spcPts val="400"/>
              </a:spcAft>
              <a:buNone/>
            </a:pPr>
            <a:r>
              <a:rPr lang="en-US" sz="1700" dirty="0">
                <a:solidFill>
                  <a:srgbClr val="DCE4F2"/>
                </a:solidFill>
                <a:latin typeface="Arial" pitchFamily="34" charset="0"/>
                <a:ea typeface="Arial" pitchFamily="34" charset="-122"/>
                <a:cs typeface="Arial" pitchFamily="34" charset="-120"/>
              </a:rPr>
              <a:t>perkara niaga</a:t>
            </a:r>
            <a:endParaRPr lang="en-US" sz="1300" dirty="0"/>
          </a:p>
        </p:txBody>
      </p:sp>
      <p:sp>
        <p:nvSpPr>
          <p:cNvPr id="11" name="Shape 9"/>
          <p:cNvSpPr/>
          <p:nvPr/>
        </p:nvSpPr>
        <p:spPr>
          <a:xfrm>
            <a:off x="8125968" y="2286000"/>
            <a:ext cx="3514344" cy="2377440"/>
          </a:xfrm>
          <a:prstGeom prst="roundRect">
            <a:avLst>
              <a:gd name="adj" fmla="val 4615"/>
            </a:avLst>
          </a:prstGeom>
          <a:solidFill>
            <a:srgbClr val="EEF2F8"/>
          </a:solidFill>
          <a:ln w="12700">
            <a:solidFill>
              <a:srgbClr val="EEF2F8"/>
            </a:solidFill>
            <a:prstDash val="solid"/>
          </a:ln>
        </p:spPr>
      </p:sp>
      <p:sp>
        <p:nvSpPr>
          <p:cNvPr id="12" name="Text 10"/>
          <p:cNvSpPr txBox="1"/>
          <p:nvPr/>
        </p:nvSpPr>
        <p:spPr>
          <a:xfrm>
            <a:off x="8400288" y="2542032"/>
            <a:ext cx="2965704" cy="193852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NAIK</a:t>
            </a:r>
            <a:endParaRPr lang="en-US" sz="1300" dirty="0"/>
          </a:p>
          <a:p>
            <a:pPr indent="0" marL="0">
              <a:spcAft>
                <a:spcPts val="400"/>
              </a:spcAft>
              <a:buNone/>
            </a:pPr>
            <a:r>
              <a:rPr lang="en-US" sz="5400" b="1" dirty="0">
                <a:solidFill>
                  <a:srgbClr val="14284B"/>
                </a:solidFill>
                <a:latin typeface="Arial" pitchFamily="34" charset="0"/>
                <a:ea typeface="Arial" pitchFamily="34" charset="-122"/>
                <a:cs typeface="Arial" pitchFamily="34" charset="-120"/>
              </a:rPr>
              <a:t>19,18%</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Laporan Tahunan Mahkamah Agung 2025</a:t>
            </a:r>
            <a:endParaRPr lang="en-US" sz="1300" dirty="0"/>
          </a:p>
        </p:txBody>
      </p:sp>
      <p:sp>
        <p:nvSpPr>
          <p:cNvPr id="13" name="Text 11"/>
          <p:cNvSpPr txBox="1"/>
          <p:nvPr/>
        </p:nvSpPr>
        <p:spPr>
          <a:xfrm>
            <a:off x="548640" y="4937760"/>
            <a:ext cx="11091672" cy="118872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Data perbandingan perkara BHP dan kurator privat belum tersedia, karena pengadilan tidak mencatat siapa kurator yang diangkat.</a:t>
            </a:r>
            <a:endParaRPr lang="en-US" sz="2200" dirty="0"/>
          </a:p>
        </p:txBody>
      </p:sp>
      <p:sp>
        <p:nvSpPr>
          <p:cNvPr id="14"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5"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13</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8A7A4A"/>
          </a:solidFill>
          <a:ln w="12700">
            <a:solidFill>
              <a:srgbClr val="8A7A4A"/>
            </a:solidFill>
            <a:prstDash val="solid"/>
          </a:ln>
        </p:spPr>
      </p:sp>
      <p:sp>
        <p:nvSpPr>
          <p:cNvPr id="4" name="Shape 2"/>
          <p:cNvSpPr/>
          <p:nvPr/>
        </p:nvSpPr>
        <p:spPr>
          <a:xfrm>
            <a:off x="5084064" y="548640"/>
            <a:ext cx="2011680" cy="73152"/>
          </a:xfrm>
          <a:prstGeom prst="roundRect">
            <a:avLst>
              <a:gd name="adj" fmla="val 50000"/>
            </a:avLst>
          </a:prstGeom>
          <a:solidFill>
            <a:srgbClr val="E0A526"/>
          </a:solidFill>
          <a:ln w="12700">
            <a:solidFill>
              <a:srgbClr val="E0A526"/>
            </a:solidFill>
            <a:prstDash val="solid"/>
          </a:ln>
        </p:spPr>
      </p:sp>
      <p:sp>
        <p:nvSpPr>
          <p:cNvPr id="5" name="Shape 3"/>
          <p:cNvSpPr/>
          <p:nvPr/>
        </p:nvSpPr>
        <p:spPr>
          <a:xfrm>
            <a:off x="7260336" y="548640"/>
            <a:ext cx="2011680" cy="73152"/>
          </a:xfrm>
          <a:prstGeom prst="roundRect">
            <a:avLst>
              <a:gd name="adj" fmla="val 50000"/>
            </a:avLst>
          </a:prstGeom>
          <a:solidFill>
            <a:srgbClr val="34456A"/>
          </a:solidFill>
          <a:ln w="12700">
            <a:solidFill>
              <a:srgbClr val="34456A"/>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III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Jawaban Klaster 1</a:t>
            </a:r>
            <a:endParaRPr lang="en-US" sz="4800" dirty="0"/>
          </a:p>
        </p:txBody>
      </p:sp>
      <p:sp>
        <p:nvSpPr>
          <p:cNvPr id="9" name="Text 7"/>
          <p:cNvSpPr txBox="1"/>
          <p:nvPr/>
        </p:nvSpPr>
        <p:spPr>
          <a:xfrm>
            <a:off x="731520" y="2697480"/>
            <a:ext cx="10241280" cy="1188720"/>
          </a:xfrm>
          <a:prstGeom prst="rect">
            <a:avLst/>
          </a:prstGeom>
          <a:noFill/>
          <a:ln/>
        </p:spPr>
        <p:txBody>
          <a:bodyPr wrap="square" lIns="0" tIns="0" rIns="0" bIns="0" rtlCol="0" anchor="t"/>
          <a:lstStyle/>
          <a:p>
            <a:pPr indent="0" marL="0">
              <a:buNone/>
            </a:pPr>
            <a:r>
              <a:rPr lang="en-US" sz="2200" dirty="0">
                <a:solidFill>
                  <a:srgbClr val="DCE4F2"/>
                </a:solidFill>
                <a:latin typeface="Arial" pitchFamily="34" charset="0"/>
                <a:ea typeface="Arial" pitchFamily="34" charset="-122"/>
                <a:cs typeface="Arial" pitchFamily="34" charset="-120"/>
              </a:rPr>
              <a:t>Tidak perlu memisahkan BHP dari tugas kurator. Yang diperlukan adalah pembagian peran yang jelas.</a:t>
            </a:r>
            <a:endParaRPr lang="en-US" sz="2200" dirty="0"/>
          </a:p>
        </p:txBody>
      </p:sp>
      <p:sp>
        <p:nvSpPr>
          <p:cNvPr id="10" name="Shape 8"/>
          <p:cNvSpPr/>
          <p:nvPr/>
        </p:nvSpPr>
        <p:spPr>
          <a:xfrm>
            <a:off x="731520" y="4160520"/>
            <a:ext cx="420624" cy="420624"/>
          </a:xfrm>
          <a:prstGeom prst="ellipse">
            <a:avLst/>
          </a:prstGeom>
          <a:solidFill>
            <a:srgbClr val="E0A526"/>
          </a:solidFill>
          <a:ln w="12700">
            <a:solidFill>
              <a:srgbClr val="E0A526"/>
            </a:solidFill>
            <a:prstDash val="solid"/>
          </a:ln>
        </p:spPr>
      </p:sp>
      <p:sp>
        <p:nvSpPr>
          <p:cNvPr id="11" name="Text 9"/>
          <p:cNvSpPr txBox="1"/>
          <p:nvPr/>
        </p:nvSpPr>
        <p:spPr>
          <a:xfrm>
            <a:off x="731520" y="4160520"/>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1</a:t>
            </a:r>
            <a:endParaRPr lang="en-US" sz="1500" dirty="0"/>
          </a:p>
        </p:txBody>
      </p:sp>
      <p:sp>
        <p:nvSpPr>
          <p:cNvPr id="12" name="Text 10"/>
          <p:cNvSpPr txBox="1"/>
          <p:nvPr/>
        </p:nvSpPr>
        <p:spPr>
          <a:xfrm>
            <a:off x="1325880" y="4160520"/>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Mekanisme BHP sebagai kurator dan kendalanya</a:t>
            </a:r>
            <a:endParaRPr lang="en-US" sz="1900" dirty="0"/>
          </a:p>
        </p:txBody>
      </p:sp>
      <p:sp>
        <p:nvSpPr>
          <p:cNvPr id="13" name="Shape 11"/>
          <p:cNvSpPr/>
          <p:nvPr/>
        </p:nvSpPr>
        <p:spPr>
          <a:xfrm>
            <a:off x="731520" y="4690872"/>
            <a:ext cx="420624" cy="420624"/>
          </a:xfrm>
          <a:prstGeom prst="ellipse">
            <a:avLst/>
          </a:prstGeom>
          <a:solidFill>
            <a:srgbClr val="E0A526"/>
          </a:solidFill>
          <a:ln w="12700">
            <a:solidFill>
              <a:srgbClr val="E0A526"/>
            </a:solidFill>
            <a:prstDash val="solid"/>
          </a:ln>
        </p:spPr>
      </p:sp>
      <p:sp>
        <p:nvSpPr>
          <p:cNvPr id="14" name="Text 12"/>
          <p:cNvSpPr txBox="1"/>
          <p:nvPr/>
        </p:nvSpPr>
        <p:spPr>
          <a:xfrm>
            <a:off x="731520" y="4690872"/>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1325880" y="4690872"/>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Perlukah pemisahan peran</a:t>
            </a:r>
            <a:endParaRPr lang="en-US" sz="1900" dirty="0"/>
          </a:p>
        </p:txBody>
      </p:sp>
      <p:sp>
        <p:nvSpPr>
          <p:cNvPr id="16" name="Shape 14"/>
          <p:cNvSpPr/>
          <p:nvPr/>
        </p:nvSpPr>
        <p:spPr>
          <a:xfrm>
            <a:off x="731520" y="5221224"/>
            <a:ext cx="420624" cy="420624"/>
          </a:xfrm>
          <a:prstGeom prst="ellipse">
            <a:avLst/>
          </a:prstGeom>
          <a:solidFill>
            <a:srgbClr val="E0A526"/>
          </a:solidFill>
          <a:ln w="12700">
            <a:solidFill>
              <a:srgbClr val="E0A526"/>
            </a:solidFill>
            <a:prstDash val="solid"/>
          </a:ln>
        </p:spPr>
      </p:sp>
      <p:sp>
        <p:nvSpPr>
          <p:cNvPr id="17" name="Text 15"/>
          <p:cNvSpPr txBox="1"/>
          <p:nvPr/>
        </p:nvSpPr>
        <p:spPr>
          <a:xfrm>
            <a:off x="731520" y="5221224"/>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1325880" y="5221224"/>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Kewajiban memakai BHP pada kasus tertentu</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1</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Bagaimana BHP Bekerja sebagai Kurator</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Bagaimana mekanisme BHP sebagai kurator, dan adakah kendala dengan kurator privat?</a:t>
            </a:r>
            <a:endParaRPr lang="en-US" sz="2000" dirty="0"/>
          </a:p>
        </p:txBody>
      </p:sp>
      <p:sp>
        <p:nvSpPr>
          <p:cNvPr id="7" name="Shape 5"/>
          <p:cNvSpPr/>
          <p:nvPr/>
        </p:nvSpPr>
        <p:spPr>
          <a:xfrm>
            <a:off x="548640" y="2286000"/>
            <a:ext cx="2514600" cy="1371600"/>
          </a:xfrm>
          <a:prstGeom prst="roundRect">
            <a:avLst>
              <a:gd name="adj" fmla="val 8000"/>
            </a:avLst>
          </a:prstGeom>
          <a:solidFill>
            <a:srgbClr val="FFFFFF"/>
          </a:solidFill>
          <a:ln w="12700">
            <a:solidFill>
              <a:srgbClr val="B8C4D8"/>
            </a:solidFill>
            <a:prstDash val="solid"/>
          </a:ln>
        </p:spPr>
      </p:sp>
      <p:pic>
        <p:nvPicPr>
          <p:cNvPr id="8" name="Image 0" descr="preencoded.png">    </p:cNvPr>
          <p:cNvPicPr>
            <a:picLocks noChangeAspect="1"/>
          </p:cNvPicPr>
          <p:nvPr/>
        </p:nvPicPr>
        <p:blipFill>
          <a:blip r:embed="rId1"/>
          <a:stretch>
            <a:fillRect/>
          </a:stretch>
        </p:blipFill>
        <p:spPr>
          <a:xfrm>
            <a:off x="731520" y="2697480"/>
            <a:ext cx="457200" cy="457200"/>
          </a:xfrm>
          <a:prstGeom prst="rect">
            <a:avLst/>
          </a:prstGeom>
        </p:spPr>
      </p:pic>
      <p:sp>
        <p:nvSpPr>
          <p:cNvPr id="9" name="Text 6"/>
          <p:cNvSpPr txBox="1"/>
          <p:nvPr/>
        </p:nvSpPr>
        <p:spPr>
          <a:xfrm>
            <a:off x="1325880" y="2286000"/>
            <a:ext cx="1645920" cy="1371600"/>
          </a:xfrm>
          <a:prstGeom prst="rect">
            <a:avLst/>
          </a:prstGeom>
          <a:noFill/>
          <a:ln/>
        </p:spPr>
        <p:txBody>
          <a:bodyPr wrap="square" lIns="0" tIns="0" rIns="0" bIns="0" rtlCol="0" anchor="ctr"/>
          <a:lstStyle/>
          <a:p>
            <a:pPr indent="0" marL="0">
              <a:buNone/>
            </a:pPr>
            <a:r>
              <a:rPr lang="en-US" sz="1600" b="1" dirty="0">
                <a:solidFill>
                  <a:srgbClr val="14284B"/>
                </a:solidFill>
                <a:latin typeface="Arial" pitchFamily="34" charset="0"/>
                <a:ea typeface="Arial" pitchFamily="34" charset="-122"/>
                <a:cs typeface="Arial" pitchFamily="34" charset="-120"/>
              </a:rPr>
              <a:t>Ditunjuk pengadilan</a:t>
            </a:r>
            <a:endParaRPr lang="en-US" sz="1600" dirty="0"/>
          </a:p>
        </p:txBody>
      </p:sp>
      <p:pic>
        <p:nvPicPr>
          <p:cNvPr id="10" name="Image 1" descr="preencoded.png">    </p:cNvPr>
          <p:cNvPicPr>
            <a:picLocks noChangeAspect="1"/>
          </p:cNvPicPr>
          <p:nvPr/>
        </p:nvPicPr>
        <p:blipFill>
          <a:blip r:embed="rId2"/>
          <a:stretch>
            <a:fillRect/>
          </a:stretch>
        </p:blipFill>
        <p:spPr>
          <a:xfrm>
            <a:off x="3108960" y="2834640"/>
            <a:ext cx="228600" cy="274320"/>
          </a:xfrm>
          <a:prstGeom prst="rect">
            <a:avLst/>
          </a:prstGeom>
        </p:spPr>
      </p:pic>
      <p:sp>
        <p:nvSpPr>
          <p:cNvPr id="11" name="Shape 7"/>
          <p:cNvSpPr/>
          <p:nvPr/>
        </p:nvSpPr>
        <p:spPr>
          <a:xfrm>
            <a:off x="3383280" y="2286000"/>
            <a:ext cx="2514600" cy="1371600"/>
          </a:xfrm>
          <a:prstGeom prst="roundRect">
            <a:avLst>
              <a:gd name="adj" fmla="val 8000"/>
            </a:avLst>
          </a:prstGeom>
          <a:solidFill>
            <a:srgbClr val="FFFFFF"/>
          </a:solidFill>
          <a:ln w="12700">
            <a:solidFill>
              <a:srgbClr val="B8C4D8"/>
            </a:solidFill>
            <a:prstDash val="solid"/>
          </a:ln>
        </p:spPr>
      </p:sp>
      <p:pic>
        <p:nvPicPr>
          <p:cNvPr id="12" name="Image 2" descr="preencoded.png">    </p:cNvPr>
          <p:cNvPicPr>
            <a:picLocks noChangeAspect="1"/>
          </p:cNvPicPr>
          <p:nvPr/>
        </p:nvPicPr>
        <p:blipFill>
          <a:blip r:embed="rId3"/>
          <a:stretch>
            <a:fillRect/>
          </a:stretch>
        </p:blipFill>
        <p:spPr>
          <a:xfrm>
            <a:off x="3566160" y="2697480"/>
            <a:ext cx="457200" cy="457200"/>
          </a:xfrm>
          <a:prstGeom prst="rect">
            <a:avLst/>
          </a:prstGeom>
        </p:spPr>
      </p:pic>
      <p:sp>
        <p:nvSpPr>
          <p:cNvPr id="13" name="Text 8"/>
          <p:cNvSpPr txBox="1"/>
          <p:nvPr/>
        </p:nvSpPr>
        <p:spPr>
          <a:xfrm>
            <a:off x="4160520" y="2286000"/>
            <a:ext cx="1645920" cy="1371600"/>
          </a:xfrm>
          <a:prstGeom prst="rect">
            <a:avLst/>
          </a:prstGeom>
          <a:noFill/>
          <a:ln/>
        </p:spPr>
        <p:txBody>
          <a:bodyPr wrap="square" lIns="0" tIns="0" rIns="0" bIns="0" rtlCol="0" anchor="ctr"/>
          <a:lstStyle/>
          <a:p>
            <a:pPr indent="0" marL="0">
              <a:buNone/>
            </a:pPr>
            <a:r>
              <a:rPr lang="en-US" sz="1600" b="1" dirty="0">
                <a:solidFill>
                  <a:srgbClr val="14284B"/>
                </a:solidFill>
                <a:latin typeface="Arial" pitchFamily="34" charset="0"/>
                <a:ea typeface="Arial" pitchFamily="34" charset="-122"/>
                <a:cs typeface="Arial" pitchFamily="34" charset="-120"/>
              </a:rPr>
              <a:t>Kepala BHP menugaskan tim Kurator Keperdataan</a:t>
            </a:r>
            <a:endParaRPr lang="en-US" sz="1600" dirty="0"/>
          </a:p>
        </p:txBody>
      </p:sp>
      <p:pic>
        <p:nvPicPr>
          <p:cNvPr id="14" name="Image 3" descr="preencoded.png">    </p:cNvPr>
          <p:cNvPicPr>
            <a:picLocks noChangeAspect="1"/>
          </p:cNvPicPr>
          <p:nvPr/>
        </p:nvPicPr>
        <p:blipFill>
          <a:blip r:embed="rId4"/>
          <a:stretch>
            <a:fillRect/>
          </a:stretch>
        </p:blipFill>
        <p:spPr>
          <a:xfrm>
            <a:off x="5943600" y="2834640"/>
            <a:ext cx="228600" cy="274320"/>
          </a:xfrm>
          <a:prstGeom prst="rect">
            <a:avLst/>
          </a:prstGeom>
        </p:spPr>
      </p:pic>
      <p:sp>
        <p:nvSpPr>
          <p:cNvPr id="15" name="Shape 9"/>
          <p:cNvSpPr/>
          <p:nvPr/>
        </p:nvSpPr>
        <p:spPr>
          <a:xfrm>
            <a:off x="6217920" y="2286000"/>
            <a:ext cx="2514600" cy="1371600"/>
          </a:xfrm>
          <a:prstGeom prst="roundRect">
            <a:avLst>
              <a:gd name="adj" fmla="val 8000"/>
            </a:avLst>
          </a:prstGeom>
          <a:solidFill>
            <a:srgbClr val="FFFFFF"/>
          </a:solidFill>
          <a:ln w="12700">
            <a:solidFill>
              <a:srgbClr val="B8C4D8"/>
            </a:solidFill>
            <a:prstDash val="solid"/>
          </a:ln>
        </p:spPr>
      </p:sp>
      <p:pic>
        <p:nvPicPr>
          <p:cNvPr id="16" name="Image 4" descr="preencoded.png">    </p:cNvPr>
          <p:cNvPicPr>
            <a:picLocks noChangeAspect="1"/>
          </p:cNvPicPr>
          <p:nvPr/>
        </p:nvPicPr>
        <p:blipFill>
          <a:blip r:embed="rId5"/>
          <a:stretch>
            <a:fillRect/>
          </a:stretch>
        </p:blipFill>
        <p:spPr>
          <a:xfrm>
            <a:off x="6400800" y="2697480"/>
            <a:ext cx="457200" cy="457200"/>
          </a:xfrm>
          <a:prstGeom prst="rect">
            <a:avLst/>
          </a:prstGeom>
        </p:spPr>
      </p:pic>
      <p:sp>
        <p:nvSpPr>
          <p:cNvPr id="17" name="Text 10"/>
          <p:cNvSpPr txBox="1"/>
          <p:nvPr/>
        </p:nvSpPr>
        <p:spPr>
          <a:xfrm>
            <a:off x="6995160" y="2286000"/>
            <a:ext cx="1645920" cy="1371600"/>
          </a:xfrm>
          <a:prstGeom prst="rect">
            <a:avLst/>
          </a:prstGeom>
          <a:noFill/>
          <a:ln/>
        </p:spPr>
        <p:txBody>
          <a:bodyPr wrap="square" lIns="0" tIns="0" rIns="0" bIns="0" rtlCol="0" anchor="ctr"/>
          <a:lstStyle/>
          <a:p>
            <a:pPr indent="0" marL="0">
              <a:buNone/>
            </a:pPr>
            <a:r>
              <a:rPr lang="en-US" sz="1600" b="1" dirty="0">
                <a:solidFill>
                  <a:srgbClr val="14284B"/>
                </a:solidFill>
                <a:latin typeface="Arial" pitchFamily="34" charset="0"/>
                <a:ea typeface="Arial" pitchFamily="34" charset="-122"/>
                <a:cs typeface="Arial" pitchFamily="34" charset="-120"/>
              </a:rPr>
              <a:t>Tim mengurus, menilai, dan menjual harta</a:t>
            </a:r>
            <a:endParaRPr lang="en-US" sz="1600" dirty="0"/>
          </a:p>
        </p:txBody>
      </p:sp>
      <p:pic>
        <p:nvPicPr>
          <p:cNvPr id="18" name="Image 5" descr="preencoded.png">    </p:cNvPr>
          <p:cNvPicPr>
            <a:picLocks noChangeAspect="1"/>
          </p:cNvPicPr>
          <p:nvPr/>
        </p:nvPicPr>
        <p:blipFill>
          <a:blip r:embed="rId6"/>
          <a:stretch>
            <a:fillRect/>
          </a:stretch>
        </p:blipFill>
        <p:spPr>
          <a:xfrm>
            <a:off x="8778240" y="2834640"/>
            <a:ext cx="228600" cy="274320"/>
          </a:xfrm>
          <a:prstGeom prst="rect">
            <a:avLst/>
          </a:prstGeom>
        </p:spPr>
      </p:pic>
      <p:sp>
        <p:nvSpPr>
          <p:cNvPr id="19" name="Shape 11"/>
          <p:cNvSpPr/>
          <p:nvPr/>
        </p:nvSpPr>
        <p:spPr>
          <a:xfrm>
            <a:off x="9052560" y="2286000"/>
            <a:ext cx="2514600" cy="1371600"/>
          </a:xfrm>
          <a:prstGeom prst="roundRect">
            <a:avLst>
              <a:gd name="adj" fmla="val 8000"/>
            </a:avLst>
          </a:prstGeom>
          <a:solidFill>
            <a:srgbClr val="FFFFFF"/>
          </a:solidFill>
          <a:ln w="12700">
            <a:solidFill>
              <a:srgbClr val="B8C4D8"/>
            </a:solidFill>
            <a:prstDash val="solid"/>
          </a:ln>
        </p:spPr>
      </p:sp>
      <p:pic>
        <p:nvPicPr>
          <p:cNvPr id="20" name="Image 6" descr="preencoded.png">    </p:cNvPr>
          <p:cNvPicPr>
            <a:picLocks noChangeAspect="1"/>
          </p:cNvPicPr>
          <p:nvPr/>
        </p:nvPicPr>
        <p:blipFill>
          <a:blip r:embed="rId7"/>
          <a:stretch>
            <a:fillRect/>
          </a:stretch>
        </p:blipFill>
        <p:spPr>
          <a:xfrm>
            <a:off x="9235440" y="2697480"/>
            <a:ext cx="457200" cy="457200"/>
          </a:xfrm>
          <a:prstGeom prst="rect">
            <a:avLst/>
          </a:prstGeom>
        </p:spPr>
      </p:pic>
      <p:sp>
        <p:nvSpPr>
          <p:cNvPr id="21" name="Text 12"/>
          <p:cNvSpPr txBox="1"/>
          <p:nvPr/>
        </p:nvSpPr>
        <p:spPr>
          <a:xfrm>
            <a:off x="9829800" y="2286000"/>
            <a:ext cx="1645920" cy="1371600"/>
          </a:xfrm>
          <a:prstGeom prst="rect">
            <a:avLst/>
          </a:prstGeom>
          <a:noFill/>
          <a:ln/>
        </p:spPr>
        <p:txBody>
          <a:bodyPr wrap="square" lIns="0" tIns="0" rIns="0" bIns="0" rtlCol="0" anchor="ctr"/>
          <a:lstStyle/>
          <a:p>
            <a:pPr indent="0" marL="0">
              <a:buNone/>
            </a:pPr>
            <a:r>
              <a:rPr lang="en-US" sz="1600" b="1" dirty="0">
                <a:solidFill>
                  <a:srgbClr val="14284B"/>
                </a:solidFill>
                <a:latin typeface="Arial" pitchFamily="34" charset="0"/>
                <a:ea typeface="Arial" pitchFamily="34" charset="-122"/>
                <a:cs typeface="Arial" pitchFamily="34" charset="-120"/>
              </a:rPr>
              <a:t>Melapor secara berkala</a:t>
            </a:r>
            <a:endParaRPr lang="en-US" sz="1600" dirty="0"/>
          </a:p>
        </p:txBody>
      </p:sp>
      <p:sp>
        <p:nvSpPr>
          <p:cNvPr id="22" name="Shape 13"/>
          <p:cNvSpPr/>
          <p:nvPr/>
        </p:nvSpPr>
        <p:spPr>
          <a:xfrm>
            <a:off x="548640" y="3931920"/>
            <a:ext cx="5408676" cy="2194560"/>
          </a:xfrm>
          <a:prstGeom prst="roundRect">
            <a:avLst>
              <a:gd name="adj" fmla="val 5000"/>
            </a:avLst>
          </a:prstGeom>
          <a:solidFill>
            <a:srgbClr val="EEF2F8"/>
          </a:solidFill>
          <a:ln w="12700">
            <a:solidFill>
              <a:srgbClr val="EEF2F8"/>
            </a:solidFill>
            <a:prstDash val="solid"/>
          </a:ln>
        </p:spPr>
      </p:sp>
      <p:pic>
        <p:nvPicPr>
          <p:cNvPr id="23" name="Image 7" descr="preencoded.png">    </p:cNvPr>
          <p:cNvPicPr>
            <a:picLocks noChangeAspect="1"/>
          </p:cNvPicPr>
          <p:nvPr/>
        </p:nvPicPr>
        <p:blipFill>
          <a:blip r:embed="rId8"/>
          <a:stretch>
            <a:fillRect/>
          </a:stretch>
        </p:blipFill>
        <p:spPr>
          <a:xfrm>
            <a:off x="822960" y="4187952"/>
            <a:ext cx="502920" cy="502920"/>
          </a:xfrm>
          <a:prstGeom prst="rect">
            <a:avLst/>
          </a:prstGeom>
        </p:spPr>
      </p:pic>
      <p:sp>
        <p:nvSpPr>
          <p:cNvPr id="24" name="Text 14"/>
          <p:cNvSpPr txBox="1"/>
          <p:nvPr/>
        </p:nvSpPr>
        <p:spPr>
          <a:xfrm>
            <a:off x="822960" y="4901184"/>
            <a:ext cx="4860036" cy="104241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PENGAWASAN</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Di bawah pengawasan Hakim Pengawas</a:t>
            </a:r>
            <a:endParaRPr lang="en-US" sz="1300" dirty="0"/>
          </a:p>
        </p:txBody>
      </p:sp>
      <p:sp>
        <p:nvSpPr>
          <p:cNvPr id="25" name="Shape 15"/>
          <p:cNvSpPr/>
          <p:nvPr/>
        </p:nvSpPr>
        <p:spPr>
          <a:xfrm>
            <a:off x="6231636" y="3931920"/>
            <a:ext cx="5408676" cy="2194560"/>
          </a:xfrm>
          <a:prstGeom prst="roundRect">
            <a:avLst>
              <a:gd name="adj" fmla="val 5000"/>
            </a:avLst>
          </a:prstGeom>
          <a:solidFill>
            <a:srgbClr val="14284B"/>
          </a:solidFill>
          <a:ln w="12700">
            <a:solidFill>
              <a:srgbClr val="14284B"/>
            </a:solidFill>
            <a:prstDash val="solid"/>
          </a:ln>
        </p:spPr>
      </p:sp>
      <p:pic>
        <p:nvPicPr>
          <p:cNvPr id="26" name="Image 8" descr="preencoded.png">    </p:cNvPr>
          <p:cNvPicPr>
            <a:picLocks noChangeAspect="1"/>
          </p:cNvPicPr>
          <p:nvPr/>
        </p:nvPicPr>
        <p:blipFill>
          <a:blip r:embed="rId9"/>
          <a:stretch>
            <a:fillRect/>
          </a:stretch>
        </p:blipFill>
        <p:spPr>
          <a:xfrm>
            <a:off x="6505956" y="4187952"/>
            <a:ext cx="502920" cy="502920"/>
          </a:xfrm>
          <a:prstGeom prst="rect">
            <a:avLst/>
          </a:prstGeom>
        </p:spPr>
      </p:pic>
      <p:sp>
        <p:nvSpPr>
          <p:cNvPr id="27" name="Text 16"/>
          <p:cNvSpPr txBox="1"/>
          <p:nvPr/>
        </p:nvSpPr>
        <p:spPr>
          <a:xfrm>
            <a:off x="6505956" y="4901184"/>
            <a:ext cx="4860036" cy="104241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IMBALAN JASA</a:t>
            </a:r>
            <a:endParaRPr lang="en-US" sz="1300" dirty="0"/>
          </a:p>
          <a:p>
            <a:pPr indent="0" marL="0">
              <a:spcAft>
                <a:spcPts val="400"/>
              </a:spcAft>
              <a:buNone/>
            </a:pPr>
            <a:r>
              <a:rPr lang="en-US" sz="2200" b="1" dirty="0">
                <a:solidFill>
                  <a:srgbClr val="FFFFFF"/>
                </a:solidFill>
                <a:latin typeface="Arial" pitchFamily="34" charset="0"/>
                <a:ea typeface="Arial" pitchFamily="34" charset="-122"/>
                <a:cs typeface="Arial" pitchFamily="34" charset="-120"/>
              </a:rPr>
              <a:t>Imbalan jasa BHP disetor ke kas negara</a:t>
            </a:r>
            <a:endParaRPr lang="en-US" sz="1300" dirty="0"/>
          </a:p>
        </p:txBody>
      </p:sp>
      <p:sp>
        <p:nvSpPr>
          <p:cNvPr id="28" name="Text 17"/>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9" name="Text 18"/>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15</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1</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Bersama Kurator Perorangan: PT Jasa Prima Mandiri</a:t>
            </a:r>
            <a:endParaRPr lang="en-US" sz="26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Nomor 1/Pdt.Sus-Pailit/2015/PN Niaga Mdn. Kerja sama berjalan baik.</a:t>
            </a:r>
            <a:endParaRPr lang="en-US" sz="2000" dirty="0"/>
          </a:p>
        </p:txBody>
      </p:sp>
      <p:sp>
        <p:nvSpPr>
          <p:cNvPr id="7" name="Shape 5"/>
          <p:cNvSpPr/>
          <p:nvPr/>
        </p:nvSpPr>
        <p:spPr>
          <a:xfrm>
            <a:off x="548640" y="2286000"/>
            <a:ext cx="3514344" cy="1371600"/>
          </a:xfrm>
          <a:prstGeom prst="roundRect">
            <a:avLst>
              <a:gd name="adj" fmla="val 8000"/>
            </a:avLst>
          </a:prstGeom>
          <a:solidFill>
            <a:srgbClr val="EEF2F8"/>
          </a:solidFill>
          <a:ln w="12700">
            <a:solidFill>
              <a:srgbClr val="EEF2F8"/>
            </a:solidFill>
            <a:prstDash val="solid"/>
          </a:ln>
        </p:spPr>
      </p:sp>
      <p:sp>
        <p:nvSpPr>
          <p:cNvPr id="8" name="Text 6"/>
          <p:cNvSpPr txBox="1"/>
          <p:nvPr/>
        </p:nvSpPr>
        <p:spPr>
          <a:xfrm>
            <a:off x="822960" y="2542032"/>
            <a:ext cx="2965704" cy="9326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PUTUSAN PAILIT</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BHP Medan diangkat sebagai kurator</a:t>
            </a:r>
            <a:endParaRPr lang="en-US" sz="1300" dirty="0"/>
          </a:p>
        </p:txBody>
      </p:sp>
      <p:sp>
        <p:nvSpPr>
          <p:cNvPr id="9" name="Shape 7"/>
          <p:cNvSpPr/>
          <p:nvPr/>
        </p:nvSpPr>
        <p:spPr>
          <a:xfrm>
            <a:off x="4337304" y="2286000"/>
            <a:ext cx="3514344" cy="1371600"/>
          </a:xfrm>
          <a:prstGeom prst="roundRect">
            <a:avLst>
              <a:gd name="adj" fmla="val 8000"/>
            </a:avLst>
          </a:prstGeom>
          <a:solidFill>
            <a:srgbClr val="EEF2F8"/>
          </a:solidFill>
          <a:ln w="12700">
            <a:solidFill>
              <a:srgbClr val="EEF2F8"/>
            </a:solidFill>
            <a:prstDash val="solid"/>
          </a:ln>
        </p:spPr>
      </p:sp>
      <p:sp>
        <p:nvSpPr>
          <p:cNvPr id="10" name="Text 8"/>
          <p:cNvSpPr txBox="1"/>
          <p:nvPr/>
        </p:nvSpPr>
        <p:spPr>
          <a:xfrm>
            <a:off x="4611624" y="2542032"/>
            <a:ext cx="2965704" cy="9326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MEI 2015</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Kurator tambahan diangkat</a:t>
            </a:r>
            <a:endParaRPr lang="en-US" sz="1300" dirty="0"/>
          </a:p>
        </p:txBody>
      </p:sp>
      <p:sp>
        <p:nvSpPr>
          <p:cNvPr id="11" name="Shape 9"/>
          <p:cNvSpPr/>
          <p:nvPr/>
        </p:nvSpPr>
        <p:spPr>
          <a:xfrm>
            <a:off x="8125968" y="2286000"/>
            <a:ext cx="3514344" cy="1371600"/>
          </a:xfrm>
          <a:prstGeom prst="roundRect">
            <a:avLst>
              <a:gd name="adj" fmla="val 8000"/>
            </a:avLst>
          </a:prstGeom>
          <a:solidFill>
            <a:srgbClr val="EEF2F8"/>
          </a:solidFill>
          <a:ln w="12700">
            <a:solidFill>
              <a:srgbClr val="EEF2F8"/>
            </a:solidFill>
            <a:prstDash val="solid"/>
          </a:ln>
        </p:spPr>
      </p:sp>
      <p:sp>
        <p:nvSpPr>
          <p:cNvPr id="12" name="Text 10"/>
          <p:cNvSpPr txBox="1"/>
          <p:nvPr/>
        </p:nvSpPr>
        <p:spPr>
          <a:xfrm>
            <a:off x="8400288" y="2542032"/>
            <a:ext cx="2965704" cy="932688"/>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MEI 2019</a:t>
            </a:r>
            <a:endParaRPr lang="en-US" sz="1300" dirty="0"/>
          </a:p>
          <a:p>
            <a:pPr indent="0" marL="0">
              <a:spcAft>
                <a:spcPts val="400"/>
              </a:spcAft>
              <a:buNone/>
            </a:pPr>
            <a:r>
              <a:rPr lang="en-US" sz="2000" b="1" dirty="0">
                <a:solidFill>
                  <a:srgbClr val="14284B"/>
                </a:solidFill>
                <a:latin typeface="Arial" pitchFamily="34" charset="0"/>
                <a:ea typeface="Arial" pitchFamily="34" charset="-122"/>
                <a:cs typeface="Arial" pitchFamily="34" charset="-120"/>
              </a:rPr>
              <a:t>Kepailitan berakhir, sekitar empat tahun</a:t>
            </a:r>
            <a:endParaRPr lang="en-US" sz="1300" dirty="0"/>
          </a:p>
        </p:txBody>
      </p:sp>
      <p:sp>
        <p:nvSpPr>
          <p:cNvPr id="13" name="Shape 11"/>
          <p:cNvSpPr/>
          <p:nvPr/>
        </p:nvSpPr>
        <p:spPr>
          <a:xfrm>
            <a:off x="548640" y="3886200"/>
            <a:ext cx="5408676" cy="2286000"/>
          </a:xfrm>
          <a:prstGeom prst="roundRect">
            <a:avLst>
              <a:gd name="adj" fmla="val 4800"/>
            </a:avLst>
          </a:prstGeom>
          <a:solidFill>
            <a:srgbClr val="14284B"/>
          </a:solidFill>
          <a:ln w="12700">
            <a:solidFill>
              <a:srgbClr val="14284B"/>
            </a:solidFill>
            <a:prstDash val="solid"/>
          </a:ln>
        </p:spPr>
      </p:sp>
      <p:sp>
        <p:nvSpPr>
          <p:cNvPr id="14" name="Text 12"/>
          <p:cNvSpPr txBox="1"/>
          <p:nvPr/>
        </p:nvSpPr>
        <p:spPr>
          <a:xfrm>
            <a:off x="822960" y="4142232"/>
            <a:ext cx="4860036" cy="1847088"/>
          </a:xfrm>
          <a:prstGeom prst="rect">
            <a:avLst/>
          </a:prstGeom>
          <a:noFill/>
          <a:ln/>
        </p:spPr>
        <p:txBody>
          <a:bodyPr wrap="square" lIns="0" tIns="0" rIns="0" bIns="0" rtlCol="0" anchor="t"/>
          <a:lstStyle/>
          <a:p>
            <a:pPr indent="0" marL="0">
              <a:spcAft>
                <a:spcPts val="400"/>
              </a:spcAft>
              <a:buNone/>
            </a:pPr>
            <a:r>
              <a:rPr lang="en-US" sz="4600" b="1" dirty="0">
                <a:solidFill>
                  <a:srgbClr val="E0A526"/>
                </a:solidFill>
                <a:latin typeface="Arial" pitchFamily="34" charset="0"/>
                <a:ea typeface="Arial" pitchFamily="34" charset="-122"/>
                <a:cs typeface="Arial" pitchFamily="34" charset="-120"/>
              </a:rPr>
              <a:t>Rp12,85 M</a:t>
            </a:r>
            <a:endParaRPr lang="en-US" sz="4600" dirty="0"/>
          </a:p>
          <a:p>
            <a:pPr indent="0" marL="0">
              <a:spcAft>
                <a:spcPts val="400"/>
              </a:spcAft>
              <a:buNone/>
            </a:pPr>
            <a:r>
              <a:rPr lang="en-US" sz="2000" dirty="0">
                <a:solidFill>
                  <a:srgbClr val="DCE4F2"/>
                </a:solidFill>
                <a:latin typeface="Arial" pitchFamily="34" charset="0"/>
                <a:ea typeface="Arial" pitchFamily="34" charset="-122"/>
                <a:cs typeface="Arial" pitchFamily="34" charset="-120"/>
              </a:rPr>
              <a:t>harta berhasil dibereskan</a:t>
            </a:r>
            <a:endParaRPr lang="en-US" sz="4600" dirty="0"/>
          </a:p>
        </p:txBody>
      </p:sp>
      <p:sp>
        <p:nvSpPr>
          <p:cNvPr id="15" name="Shape 13"/>
          <p:cNvSpPr/>
          <p:nvPr/>
        </p:nvSpPr>
        <p:spPr>
          <a:xfrm>
            <a:off x="6231636" y="3886200"/>
            <a:ext cx="5408676" cy="2286000"/>
          </a:xfrm>
          <a:prstGeom prst="roundRect">
            <a:avLst>
              <a:gd name="adj" fmla="val 4800"/>
            </a:avLst>
          </a:prstGeom>
          <a:solidFill>
            <a:srgbClr val="EEF2F8"/>
          </a:solidFill>
          <a:ln w="12700">
            <a:solidFill>
              <a:srgbClr val="EEF2F8"/>
            </a:solidFill>
            <a:prstDash val="solid"/>
          </a:ln>
        </p:spPr>
      </p:sp>
      <p:pic>
        <p:nvPicPr>
          <p:cNvPr id="16" name="Image 0" descr="preencoded.png">    </p:cNvPr>
          <p:cNvPicPr>
            <a:picLocks noChangeAspect="1"/>
          </p:cNvPicPr>
          <p:nvPr/>
        </p:nvPicPr>
        <p:blipFill>
          <a:blip r:embed="rId1"/>
          <a:stretch>
            <a:fillRect/>
          </a:stretch>
        </p:blipFill>
        <p:spPr>
          <a:xfrm>
            <a:off x="6505956" y="4142232"/>
            <a:ext cx="502920" cy="502920"/>
          </a:xfrm>
          <a:prstGeom prst="rect">
            <a:avLst/>
          </a:prstGeom>
        </p:spPr>
      </p:pic>
      <p:sp>
        <p:nvSpPr>
          <p:cNvPr id="17" name="Text 14"/>
          <p:cNvSpPr txBox="1"/>
          <p:nvPr/>
        </p:nvSpPr>
        <p:spPr>
          <a:xfrm>
            <a:off x="6505956" y="4855464"/>
            <a:ext cx="4860036" cy="11338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HASILNYA</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Kerja sama berjalan baik</a:t>
            </a:r>
            <a:endParaRPr lang="en-US" sz="1300" dirty="0"/>
          </a:p>
        </p:txBody>
      </p:sp>
      <p:sp>
        <p:nvSpPr>
          <p:cNvPr id="18" name="Text 1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9" name="Text 1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16</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1</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1</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Kendalanya: Imbalan Jasa</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Kurator tambahan memperoleh imbalan lebih besar daripada BHP sebagai kurator yang diangkat lebih dahulu.</a:t>
            </a:r>
            <a:endParaRPr lang="en-US" sz="2000" dirty="0"/>
          </a:p>
        </p:txBody>
      </p:sp>
      <p:sp>
        <p:nvSpPr>
          <p:cNvPr id="7" name="Text 5"/>
          <p:cNvSpPr txBox="1"/>
          <p:nvPr/>
        </p:nvSpPr>
        <p:spPr>
          <a:xfrm>
            <a:off x="548640" y="2377440"/>
            <a:ext cx="3017520" cy="86868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BHP Medan</a:t>
            </a:r>
            <a:endParaRPr lang="en-US" sz="2200" dirty="0"/>
          </a:p>
          <a:p>
            <a:pPr indent="0" marL="0">
              <a:buNone/>
            </a:pPr>
            <a:r>
              <a:rPr lang="en-US" sz="1500" dirty="0">
                <a:solidFill>
                  <a:srgbClr val="4A5568"/>
                </a:solidFill>
                <a:latin typeface="Arial" pitchFamily="34" charset="0"/>
                <a:ea typeface="Arial" pitchFamily="34" charset="-122"/>
                <a:cs typeface="Arial" pitchFamily="34" charset="-120"/>
              </a:rPr>
              <a:t>PNBP · 8% dari nilai bersih</a:t>
            </a:r>
            <a:endParaRPr lang="en-US" sz="2200" dirty="0"/>
          </a:p>
        </p:txBody>
      </p:sp>
      <p:sp>
        <p:nvSpPr>
          <p:cNvPr id="8" name="Shape 6"/>
          <p:cNvSpPr/>
          <p:nvPr/>
        </p:nvSpPr>
        <p:spPr>
          <a:xfrm>
            <a:off x="3657600" y="2514600"/>
            <a:ext cx="3242158" cy="594360"/>
          </a:xfrm>
          <a:prstGeom prst="roundRect">
            <a:avLst>
              <a:gd name="adj" fmla="val 15385"/>
            </a:avLst>
          </a:prstGeom>
          <a:solidFill>
            <a:srgbClr val="14284B"/>
          </a:solidFill>
          <a:ln w="12700">
            <a:solidFill>
              <a:srgbClr val="14284B"/>
            </a:solidFill>
            <a:prstDash val="solid"/>
          </a:ln>
        </p:spPr>
      </p:sp>
      <p:sp>
        <p:nvSpPr>
          <p:cNvPr id="9" name="Text 7"/>
          <p:cNvSpPr txBox="1"/>
          <p:nvPr/>
        </p:nvSpPr>
        <p:spPr>
          <a:xfrm>
            <a:off x="9326880" y="2377440"/>
            <a:ext cx="2313432" cy="868680"/>
          </a:xfrm>
          <a:prstGeom prst="rect">
            <a:avLst/>
          </a:prstGeom>
          <a:noFill/>
          <a:ln/>
        </p:spPr>
        <p:txBody>
          <a:bodyPr wrap="square" lIns="0" tIns="0" rIns="0" bIns="0" rtlCol="0" anchor="ctr"/>
          <a:lstStyle/>
          <a:p>
            <a:pPr algn="r" indent="0" marL="0">
              <a:buNone/>
            </a:pPr>
            <a:r>
              <a:rPr lang="en-US" sz="2600" b="1" dirty="0">
                <a:solidFill>
                  <a:srgbClr val="14284B"/>
                </a:solidFill>
                <a:latin typeface="Arial" pitchFamily="34" charset="0"/>
                <a:ea typeface="Arial" pitchFamily="34" charset="-122"/>
                <a:cs typeface="Arial" pitchFamily="34" charset="-120"/>
              </a:rPr>
              <a:t>Rp379,8 juta</a:t>
            </a:r>
            <a:endParaRPr lang="en-US" sz="2600" dirty="0"/>
          </a:p>
        </p:txBody>
      </p:sp>
      <p:sp>
        <p:nvSpPr>
          <p:cNvPr id="10" name="Text 8"/>
          <p:cNvSpPr txBox="1"/>
          <p:nvPr/>
        </p:nvSpPr>
        <p:spPr>
          <a:xfrm>
            <a:off x="548640" y="3520440"/>
            <a:ext cx="3017520" cy="86868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Kurator tambahan</a:t>
            </a:r>
            <a:endParaRPr lang="en-US" sz="2200" dirty="0"/>
          </a:p>
          <a:p>
            <a:pPr indent="0" marL="0">
              <a:buNone/>
            </a:pPr>
            <a:r>
              <a:rPr lang="en-US" sz="1500" dirty="0">
                <a:solidFill>
                  <a:srgbClr val="4A5568"/>
                </a:solidFill>
                <a:latin typeface="Arial" pitchFamily="34" charset="0"/>
                <a:ea typeface="Arial" pitchFamily="34" charset="-122"/>
                <a:cs typeface="Arial" pitchFamily="34" charset="-120"/>
              </a:rPr>
              <a:t>5% dari nilai kotor</a:t>
            </a:r>
            <a:endParaRPr lang="en-US" sz="2200" dirty="0"/>
          </a:p>
        </p:txBody>
      </p:sp>
      <p:sp>
        <p:nvSpPr>
          <p:cNvPr id="11" name="Shape 9"/>
          <p:cNvSpPr/>
          <p:nvPr/>
        </p:nvSpPr>
        <p:spPr>
          <a:xfrm>
            <a:off x="3657600" y="3657600"/>
            <a:ext cx="5486400" cy="594360"/>
          </a:xfrm>
          <a:prstGeom prst="roundRect">
            <a:avLst>
              <a:gd name="adj" fmla="val 15385"/>
            </a:avLst>
          </a:prstGeom>
          <a:solidFill>
            <a:srgbClr val="E0A526"/>
          </a:solidFill>
          <a:ln w="12700">
            <a:solidFill>
              <a:srgbClr val="E0A526"/>
            </a:solidFill>
            <a:prstDash val="solid"/>
          </a:ln>
        </p:spPr>
      </p:sp>
      <p:sp>
        <p:nvSpPr>
          <p:cNvPr id="12" name="Text 10"/>
          <p:cNvSpPr txBox="1"/>
          <p:nvPr/>
        </p:nvSpPr>
        <p:spPr>
          <a:xfrm>
            <a:off x="9326880" y="3520440"/>
            <a:ext cx="2313432" cy="868680"/>
          </a:xfrm>
          <a:prstGeom prst="rect">
            <a:avLst/>
          </a:prstGeom>
          <a:noFill/>
          <a:ln/>
        </p:spPr>
        <p:txBody>
          <a:bodyPr wrap="square" lIns="0" tIns="0" rIns="0" bIns="0" rtlCol="0" anchor="ctr"/>
          <a:lstStyle/>
          <a:p>
            <a:pPr algn="r" indent="0" marL="0">
              <a:buNone/>
            </a:pPr>
            <a:r>
              <a:rPr lang="en-US" sz="2600" b="1" dirty="0">
                <a:solidFill>
                  <a:srgbClr val="14284B"/>
                </a:solidFill>
                <a:latin typeface="Arial" pitchFamily="34" charset="0"/>
                <a:ea typeface="Arial" pitchFamily="34" charset="-122"/>
                <a:cs typeface="Arial" pitchFamily="34" charset="-120"/>
              </a:rPr>
              <a:t>Rp642,7 juta</a:t>
            </a:r>
            <a:endParaRPr lang="en-US" sz="2600" dirty="0"/>
          </a:p>
        </p:txBody>
      </p:sp>
      <p:sp>
        <p:nvSpPr>
          <p:cNvPr id="13" name="Text 11"/>
          <p:cNvSpPr txBox="1"/>
          <p:nvPr/>
        </p:nvSpPr>
        <p:spPr>
          <a:xfrm>
            <a:off x="548640" y="4846320"/>
            <a:ext cx="11091672" cy="1280160"/>
          </a:xfrm>
          <a:prstGeom prst="rect">
            <a:avLst/>
          </a:prstGeom>
          <a:noFill/>
          <a:ln/>
        </p:spPr>
        <p:txBody>
          <a:bodyPr wrap="square" lIns="0" tIns="0" rIns="0" bIns="0" rtlCol="0" anchor="ctr"/>
          <a:lstStyle/>
          <a:p>
            <a:pPr indent="0" marL="0">
              <a:buNone/>
            </a:pPr>
            <a:r>
              <a:rPr lang="en-US" sz="2200" b="1" dirty="0">
                <a:solidFill>
                  <a:srgbClr val="14284B"/>
                </a:solidFill>
                <a:latin typeface="Arial" pitchFamily="34" charset="0"/>
                <a:ea typeface="Arial" pitchFamily="34" charset="-122"/>
                <a:cs typeface="Arial" pitchFamily="34" charset="-120"/>
              </a:rPr>
              <a:t>Tidak ada aturan pembagian imbalan berdasarkan porsi tugas. Aturan juga belum mengatur pembagian tugas dan tanggung jawab di antara keduanya.</a:t>
            </a:r>
            <a:endParaRPr lang="en-US" sz="2200" dirty="0"/>
          </a:p>
        </p:txBody>
      </p:sp>
      <p:sp>
        <p:nvSpPr>
          <p:cNvPr id="14"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5"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17</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2</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2</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2600" b="1" dirty="0">
                <a:solidFill>
                  <a:srgbClr val="14284B"/>
                </a:solidFill>
                <a:latin typeface="Arial" pitchFamily="34" charset="0"/>
                <a:ea typeface="Arial" pitchFamily="34" charset="-122"/>
                <a:cs typeface="Arial" pitchFamily="34" charset="-120"/>
              </a:rPr>
              <a:t>Tidak Perlu Dipisahkan, Cukup Dibagi dengan Jelas</a:t>
            </a:r>
            <a:endParaRPr lang="en-US" sz="26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Perlukah pemisahan tegas peran BHP sebagai balai harta atau wali pengawas dengan peran kurator privat?</a:t>
            </a:r>
            <a:endParaRPr lang="en-US" sz="2000" dirty="0"/>
          </a:p>
        </p:txBody>
      </p:sp>
      <p:sp>
        <p:nvSpPr>
          <p:cNvPr id="7" name="Shape 5"/>
          <p:cNvSpPr/>
          <p:nvPr/>
        </p:nvSpPr>
        <p:spPr>
          <a:xfrm>
            <a:off x="548640" y="2286000"/>
            <a:ext cx="3514344" cy="3108960"/>
          </a:xfrm>
          <a:prstGeom prst="roundRect">
            <a:avLst>
              <a:gd name="adj" fmla="val 3529"/>
            </a:avLst>
          </a:prstGeom>
          <a:solidFill>
            <a:srgbClr val="EEF2F8"/>
          </a:solidFill>
          <a:ln w="12700">
            <a:solidFill>
              <a:srgbClr val="EEF2F8"/>
            </a:solidFill>
            <a:prstDash val="solid"/>
          </a:ln>
        </p:spPr>
      </p:sp>
      <p:pic>
        <p:nvPicPr>
          <p:cNvPr id="8" name="Image 0" descr="preencoded.png">    </p:cNvPr>
          <p:cNvPicPr>
            <a:picLocks noChangeAspect="1"/>
          </p:cNvPicPr>
          <p:nvPr/>
        </p:nvPicPr>
        <p:blipFill>
          <a:blip r:embed="rId1"/>
          <a:stretch>
            <a:fillRect/>
          </a:stretch>
        </p:blipFill>
        <p:spPr>
          <a:xfrm>
            <a:off x="822960" y="2542032"/>
            <a:ext cx="502920" cy="502920"/>
          </a:xfrm>
          <a:prstGeom prst="rect">
            <a:avLst/>
          </a:prstGeom>
        </p:spPr>
      </p:pic>
      <p:sp>
        <p:nvSpPr>
          <p:cNvPr id="9" name="Text 6"/>
          <p:cNvSpPr txBox="1"/>
          <p:nvPr/>
        </p:nvSpPr>
        <p:spPr>
          <a:xfrm>
            <a:off x="822960" y="3255264"/>
            <a:ext cx="2965704" cy="195681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ALASAN A</a:t>
            </a:r>
            <a:endParaRPr lang="en-US" sz="1300" dirty="0"/>
          </a:p>
          <a:p>
            <a:pPr indent="0" marL="0">
              <a:spcAft>
                <a:spcPts val="400"/>
              </a:spcAft>
              <a:buNone/>
            </a:pPr>
            <a:r>
              <a:rPr lang="en-US" sz="1800" b="1" dirty="0">
                <a:solidFill>
                  <a:srgbClr val="14284B"/>
                </a:solidFill>
                <a:latin typeface="Arial" pitchFamily="34" charset="0"/>
                <a:ea typeface="Arial" pitchFamily="34" charset="-122"/>
                <a:cs typeface="Arial" pitchFamily="34" charset="-120"/>
              </a:rPr>
              <a:t>Tanpa BHP, perkara yang tidak diminati kurator privat tidak punya pelaksana.</a:t>
            </a:r>
            <a:endParaRPr lang="en-US" sz="1300" dirty="0"/>
          </a:p>
        </p:txBody>
      </p:sp>
      <p:sp>
        <p:nvSpPr>
          <p:cNvPr id="10" name="Shape 7"/>
          <p:cNvSpPr/>
          <p:nvPr/>
        </p:nvSpPr>
        <p:spPr>
          <a:xfrm>
            <a:off x="4337304" y="2286000"/>
            <a:ext cx="3514344" cy="3108960"/>
          </a:xfrm>
          <a:prstGeom prst="roundRect">
            <a:avLst>
              <a:gd name="adj" fmla="val 3529"/>
            </a:avLst>
          </a:prstGeom>
          <a:solidFill>
            <a:srgbClr val="EEF2F8"/>
          </a:solidFill>
          <a:ln w="12700">
            <a:solidFill>
              <a:srgbClr val="EEF2F8"/>
            </a:solidFill>
            <a:prstDash val="solid"/>
          </a:ln>
        </p:spPr>
      </p:sp>
      <p:pic>
        <p:nvPicPr>
          <p:cNvPr id="11" name="Image 1" descr="preencoded.png">    </p:cNvPr>
          <p:cNvPicPr>
            <a:picLocks noChangeAspect="1"/>
          </p:cNvPicPr>
          <p:nvPr/>
        </p:nvPicPr>
        <p:blipFill>
          <a:blip r:embed="rId2"/>
          <a:stretch>
            <a:fillRect/>
          </a:stretch>
        </p:blipFill>
        <p:spPr>
          <a:xfrm>
            <a:off x="4611624" y="2542032"/>
            <a:ext cx="502920" cy="502920"/>
          </a:xfrm>
          <a:prstGeom prst="rect">
            <a:avLst/>
          </a:prstGeom>
        </p:spPr>
      </p:pic>
      <p:sp>
        <p:nvSpPr>
          <p:cNvPr id="12" name="Text 8"/>
          <p:cNvSpPr txBox="1"/>
          <p:nvPr/>
        </p:nvSpPr>
        <p:spPr>
          <a:xfrm>
            <a:off x="4611624" y="3255264"/>
            <a:ext cx="2965704" cy="195681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ALASAN B</a:t>
            </a:r>
            <a:endParaRPr lang="en-US" sz="1300" dirty="0"/>
          </a:p>
          <a:p>
            <a:pPr indent="0" marL="0">
              <a:spcAft>
                <a:spcPts val="400"/>
              </a:spcAft>
              <a:buNone/>
            </a:pPr>
            <a:r>
              <a:rPr lang="en-US" sz="1800" b="1" dirty="0">
                <a:solidFill>
                  <a:srgbClr val="14284B"/>
                </a:solidFill>
                <a:latin typeface="Arial" pitchFamily="34" charset="0"/>
                <a:ea typeface="Arial" pitchFamily="34" charset="-122"/>
                <a:cs typeface="Arial" pitchFamily="34" charset="-120"/>
              </a:rPr>
              <a:t>BHP tidak berebut perkara dengan kurator privat.</a:t>
            </a:r>
            <a:endParaRPr lang="en-US" sz="1300" dirty="0"/>
          </a:p>
          <a:p>
            <a:pPr indent="0" marL="0">
              <a:spcAft>
                <a:spcPts val="400"/>
              </a:spcAft>
              <a:buNone/>
            </a:pPr>
            <a:r>
              <a:rPr lang="en-US" sz="1500" dirty="0">
                <a:solidFill>
                  <a:srgbClr val="1A1A1A"/>
                </a:solidFill>
                <a:latin typeface="Arial" pitchFamily="34" charset="0"/>
                <a:ea typeface="Arial" pitchFamily="34" charset="-122"/>
                <a:cs typeface="Arial" pitchFamily="34" charset="-120"/>
              </a:rPr>
              <a:t>Yang ditangani BHP adalah perkara yang tidak diambil pihak lain.</a:t>
            </a:r>
            <a:endParaRPr lang="en-US" sz="1300" dirty="0"/>
          </a:p>
        </p:txBody>
      </p:sp>
      <p:sp>
        <p:nvSpPr>
          <p:cNvPr id="13" name="Shape 9"/>
          <p:cNvSpPr/>
          <p:nvPr/>
        </p:nvSpPr>
        <p:spPr>
          <a:xfrm>
            <a:off x="8125968" y="2286000"/>
            <a:ext cx="3514344" cy="3108960"/>
          </a:xfrm>
          <a:prstGeom prst="roundRect">
            <a:avLst>
              <a:gd name="adj" fmla="val 3529"/>
            </a:avLst>
          </a:prstGeom>
          <a:solidFill>
            <a:srgbClr val="14284B"/>
          </a:solidFill>
          <a:ln w="12700">
            <a:solidFill>
              <a:srgbClr val="14284B"/>
            </a:solidFill>
            <a:prstDash val="solid"/>
          </a:ln>
        </p:spPr>
      </p:sp>
      <p:pic>
        <p:nvPicPr>
          <p:cNvPr id="14" name="Image 2" descr="preencoded.png">    </p:cNvPr>
          <p:cNvPicPr>
            <a:picLocks noChangeAspect="1"/>
          </p:cNvPicPr>
          <p:nvPr/>
        </p:nvPicPr>
        <p:blipFill>
          <a:blip r:embed="rId3"/>
          <a:stretch>
            <a:fillRect/>
          </a:stretch>
        </p:blipFill>
        <p:spPr>
          <a:xfrm>
            <a:off x="8400288" y="2542032"/>
            <a:ext cx="502920" cy="502920"/>
          </a:xfrm>
          <a:prstGeom prst="rect">
            <a:avLst/>
          </a:prstGeom>
        </p:spPr>
      </p:pic>
      <p:sp>
        <p:nvSpPr>
          <p:cNvPr id="15" name="Text 10"/>
          <p:cNvSpPr txBox="1"/>
          <p:nvPr/>
        </p:nvSpPr>
        <p:spPr>
          <a:xfrm>
            <a:off x="8400288" y="3255264"/>
            <a:ext cx="2965704" cy="1956816"/>
          </a:xfrm>
          <a:prstGeom prst="rect">
            <a:avLst/>
          </a:prstGeom>
          <a:noFill/>
          <a:ln/>
        </p:spPr>
        <p:txBody>
          <a:bodyPr wrap="square" lIns="0" tIns="0" rIns="0" bIns="0" rtlCol="0" anchor="t"/>
          <a:lstStyle/>
          <a:p>
            <a:pPr indent="0" marL="0">
              <a:spcAft>
                <a:spcPts val="400"/>
              </a:spcAft>
              <a:buNone/>
            </a:pPr>
            <a:r>
              <a:rPr lang="en-US" sz="1300" b="1" spc="150" kern="0" dirty="0">
                <a:solidFill>
                  <a:srgbClr val="E0A526"/>
                </a:solidFill>
                <a:latin typeface="Arial" pitchFamily="34" charset="0"/>
                <a:ea typeface="Arial" pitchFamily="34" charset="-122"/>
                <a:cs typeface="Arial" pitchFamily="34" charset="-120"/>
              </a:rPr>
              <a:t>ALASAN C</a:t>
            </a:r>
            <a:endParaRPr lang="en-US" sz="1300" dirty="0"/>
          </a:p>
          <a:p>
            <a:pPr indent="0" marL="0">
              <a:spcAft>
                <a:spcPts val="400"/>
              </a:spcAft>
              <a:buNone/>
            </a:pPr>
            <a:r>
              <a:rPr lang="en-US" sz="1700" b="1" dirty="0">
                <a:solidFill>
                  <a:srgbClr val="FFFFFF"/>
                </a:solidFill>
                <a:latin typeface="Arial" pitchFamily="34" charset="0"/>
                <a:ea typeface="Arial" pitchFamily="34" charset="-122"/>
                <a:cs typeface="Arial" pitchFamily="34" charset="-120"/>
              </a:rPr>
              <a:t>Pengalaman BHP mengurus warisan, perwalian anak, dan harta orang yang menghilang</a:t>
            </a:r>
            <a:endParaRPr lang="en-US" sz="1300" dirty="0"/>
          </a:p>
          <a:p>
            <a:pPr indent="0" marL="0">
              <a:spcAft>
                <a:spcPts val="400"/>
              </a:spcAft>
              <a:buNone/>
            </a:pPr>
            <a:r>
              <a:rPr lang="en-US" sz="1500" dirty="0">
                <a:solidFill>
                  <a:srgbClr val="DCE4F2"/>
                </a:solidFill>
                <a:latin typeface="Arial" pitchFamily="34" charset="0"/>
                <a:ea typeface="Arial" pitchFamily="34" charset="-122"/>
                <a:cs typeface="Arial" pitchFamily="34" charset="-120"/>
              </a:rPr>
              <a:t>membuat BHP paling siap menangani perkara yang berkaitan dengan hal tersebut.</a:t>
            </a:r>
            <a:endParaRPr lang="en-US" sz="1300" dirty="0"/>
          </a:p>
        </p:txBody>
      </p:sp>
      <p:sp>
        <p:nvSpPr>
          <p:cNvPr id="16" name="Text 11"/>
          <p:cNvSpPr txBox="1"/>
          <p:nvPr/>
        </p:nvSpPr>
        <p:spPr>
          <a:xfrm>
            <a:off x="548640" y="5486400"/>
            <a:ext cx="11091672" cy="731520"/>
          </a:xfrm>
          <a:prstGeom prst="rect">
            <a:avLst/>
          </a:prstGeom>
          <a:noFill/>
          <a:ln/>
        </p:spPr>
        <p:txBody>
          <a:bodyPr wrap="square" lIns="0" tIns="0" rIns="0" bIns="0" rtlCol="0" anchor="ctr"/>
          <a:lstStyle/>
          <a:p>
            <a:pPr indent="0" marL="0">
              <a:buNone/>
            </a:pPr>
            <a:r>
              <a:rPr lang="en-US" sz="1900" dirty="0">
                <a:solidFill>
                  <a:srgbClr val="1A1A1A"/>
                </a:solidFill>
                <a:latin typeface="Arial" pitchFamily="34" charset="0"/>
                <a:ea typeface="Arial" pitchFamily="34" charset="-122"/>
                <a:cs typeface="Arial" pitchFamily="34" charset="-120"/>
              </a:rPr>
              <a:t>Perlu dicatat, </a:t>
            </a:r>
            <a:pPr indent="0" marL="0">
              <a:buNone/>
            </a:pPr>
            <a:r>
              <a:rPr lang="en-US" sz="1900" b="1" dirty="0">
                <a:solidFill>
                  <a:srgbClr val="14284B"/>
                </a:solidFill>
                <a:latin typeface="Arial" pitchFamily="34" charset="0"/>
                <a:ea typeface="Arial" pitchFamily="34" charset="-122"/>
                <a:cs typeface="Arial" pitchFamily="34" charset="-120"/>
              </a:rPr>
              <a:t>wali pengawas</a:t>
            </a:r>
            <a:pPr indent="0" marL="0">
              <a:buNone/>
            </a:pPr>
            <a:r>
              <a:rPr lang="en-US" sz="1900" dirty="0">
                <a:solidFill>
                  <a:srgbClr val="1A1A1A"/>
                </a:solidFill>
                <a:latin typeface="Arial" pitchFamily="34" charset="0"/>
                <a:ea typeface="Arial" pitchFamily="34" charset="-122"/>
                <a:cs typeface="Arial" pitchFamily="34" charset="-120"/>
              </a:rPr>
              <a:t> adalah tugas BHP dalam perwalian anak (Pasal 366 KUHPerdata), bukan pengawas kurator.</a:t>
            </a:r>
            <a:endParaRPr lang="en-US" sz="1900" dirty="0"/>
          </a:p>
        </p:txBody>
      </p:sp>
      <p:sp>
        <p:nvSpPr>
          <p:cNvPr id="17" name="Text 12"/>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18" name="Text 13"/>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18</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3</a:t>
            </a:r>
            <a:endParaRPr lang="en-US" sz="4000" dirty="0"/>
          </a:p>
        </p:txBody>
      </p:sp>
      <p:sp>
        <p:nvSpPr>
          <p:cNvPr id="4" name="Text 2"/>
          <p:cNvSpPr txBox="1"/>
          <p:nvPr/>
        </p:nvSpPr>
        <p:spPr>
          <a:xfrm>
            <a:off x="1783080" y="384048"/>
            <a:ext cx="9859975" cy="347472"/>
          </a:xfrm>
          <a:prstGeom prst="rect">
            <a:avLst/>
          </a:prstGeom>
          <a:noFill/>
          <a:ln/>
        </p:spPr>
        <p:txBody>
          <a:bodyPr wrap="square" lIns="0" tIns="0" rIns="0" bIns="0" rtlCol="0" anchor="ctr"/>
          <a:lstStyle/>
          <a:p>
            <a:pPr indent="0" marL="0">
              <a:buNone/>
            </a:pPr>
            <a:r>
              <a:rPr lang="en-US" sz="1500" b="1" spc="200" kern="0" dirty="0">
                <a:solidFill>
                  <a:srgbClr val="8A6100"/>
                </a:solidFill>
                <a:latin typeface="Arial" pitchFamily="34" charset="0"/>
                <a:ea typeface="Arial" pitchFamily="34" charset="-122"/>
                <a:cs typeface="Arial" pitchFamily="34" charset="-120"/>
              </a:rPr>
              <a:t>BAGIAN III · JAWABAN KLASTER 1 · PERTANYAAN 3</a:t>
            </a:r>
            <a:endParaRPr lang="en-US" sz="1500" dirty="0"/>
          </a:p>
        </p:txBody>
      </p:sp>
      <p:sp>
        <p:nvSpPr>
          <p:cNvPr id="5" name="Text 3"/>
          <p:cNvSpPr txBox="1"/>
          <p:nvPr/>
        </p:nvSpPr>
        <p:spPr>
          <a:xfrm>
            <a:off x="1783080" y="731520"/>
            <a:ext cx="9859975" cy="685800"/>
          </a:xfrm>
          <a:prstGeom prst="rect">
            <a:avLst/>
          </a:prstGeom>
          <a:noFill/>
          <a:ln/>
        </p:spPr>
        <p:txBody>
          <a:bodyPr wrap="square" lIns="0" tIns="0" rIns="0" bIns="0" rtlCol="0" anchor="ctr"/>
          <a:lstStyle/>
          <a:p>
            <a:pPr indent="0" marL="0">
              <a:buNone/>
            </a:pPr>
            <a:r>
              <a:rPr lang="en-US" sz="3200" b="1" dirty="0">
                <a:solidFill>
                  <a:srgbClr val="14284B"/>
                </a:solidFill>
                <a:latin typeface="Arial" pitchFamily="34" charset="0"/>
                <a:ea typeface="Arial" pitchFamily="34" charset="-122"/>
                <a:cs typeface="Arial" pitchFamily="34" charset="-120"/>
              </a:rPr>
              <a:t>Kewajiban Memakai BHP: Setuju</a:t>
            </a:r>
            <a:endParaRPr lang="en-US" sz="3200" dirty="0"/>
          </a:p>
        </p:txBody>
      </p:sp>
      <p:sp>
        <p:nvSpPr>
          <p:cNvPr id="6" name="Text 4"/>
          <p:cNvSpPr txBox="1"/>
          <p:nvPr/>
        </p:nvSpPr>
        <p:spPr>
          <a:xfrm>
            <a:off x="548640" y="1481328"/>
            <a:ext cx="11091672" cy="731520"/>
          </a:xfrm>
          <a:prstGeom prst="rect">
            <a:avLst/>
          </a:prstGeom>
          <a:noFill/>
          <a:ln/>
        </p:spPr>
        <p:txBody>
          <a:bodyPr wrap="square" lIns="0" tIns="0" rIns="0" bIns="0" rtlCol="0" anchor="t"/>
          <a:lstStyle/>
          <a:p>
            <a:pPr indent="0" marL="0">
              <a:buNone/>
            </a:pPr>
            <a:r>
              <a:rPr lang="en-US" sz="2000" dirty="0">
                <a:solidFill>
                  <a:srgbClr val="4A5568"/>
                </a:solidFill>
                <a:latin typeface="Arial" pitchFamily="34" charset="0"/>
                <a:ea typeface="Arial" pitchFamily="34" charset="-122"/>
                <a:cs typeface="Arial" pitchFamily="34" charset="-120"/>
              </a:rPr>
              <a:t>Bagaimana pandangan BHP tentang kewajiban memakai BHP pada kasus tertentu?</a:t>
            </a:r>
            <a:endParaRPr lang="en-US" sz="2000" dirty="0"/>
          </a:p>
        </p:txBody>
      </p:sp>
      <p:sp>
        <p:nvSpPr>
          <p:cNvPr id="7" name="Shape 5"/>
          <p:cNvSpPr/>
          <p:nvPr/>
        </p:nvSpPr>
        <p:spPr>
          <a:xfrm>
            <a:off x="548640" y="2286000"/>
            <a:ext cx="6675120" cy="3886200"/>
          </a:xfrm>
          <a:prstGeom prst="roundRect">
            <a:avLst>
              <a:gd name="adj" fmla="val 2824"/>
            </a:avLst>
          </a:prstGeom>
          <a:solidFill>
            <a:srgbClr val="14284B"/>
          </a:solidFill>
          <a:ln w="12700">
            <a:solidFill>
              <a:srgbClr val="14284B"/>
            </a:solidFill>
            <a:prstDash val="solid"/>
          </a:ln>
        </p:spPr>
      </p:sp>
      <p:sp>
        <p:nvSpPr>
          <p:cNvPr id="8" name="Text 6"/>
          <p:cNvSpPr txBox="1"/>
          <p:nvPr/>
        </p:nvSpPr>
        <p:spPr>
          <a:xfrm>
            <a:off x="822960" y="2468880"/>
            <a:ext cx="6217920" cy="320040"/>
          </a:xfrm>
          <a:prstGeom prst="rect">
            <a:avLst/>
          </a:prstGeom>
          <a:noFill/>
          <a:ln/>
        </p:spPr>
        <p:txBody>
          <a:bodyPr wrap="square" lIns="0" tIns="0" rIns="0" bIns="0" rtlCol="0" anchor="t"/>
          <a:lstStyle/>
          <a:p>
            <a:pPr indent="0" marL="0">
              <a:buNone/>
            </a:pPr>
            <a:r>
              <a:rPr lang="en-US" sz="1300" b="1" spc="150" kern="0" dirty="0">
                <a:solidFill>
                  <a:srgbClr val="E0A526"/>
                </a:solidFill>
                <a:latin typeface="Arial" pitchFamily="34" charset="0"/>
                <a:ea typeface="Arial" pitchFamily="34" charset="-122"/>
                <a:cs typeface="Arial" pitchFamily="34" charset="-120"/>
              </a:rPr>
              <a:t>BHP MEDAN SETUJU, TERUTAMA UNTUK</a:t>
            </a:r>
            <a:endParaRPr lang="en-US" sz="1300" dirty="0"/>
          </a:p>
        </p:txBody>
      </p:sp>
      <p:sp>
        <p:nvSpPr>
          <p:cNvPr id="9" name="Shape 7"/>
          <p:cNvSpPr/>
          <p:nvPr/>
        </p:nvSpPr>
        <p:spPr>
          <a:xfrm>
            <a:off x="822960" y="2971800"/>
            <a:ext cx="384048" cy="384048"/>
          </a:xfrm>
          <a:prstGeom prst="ellipse">
            <a:avLst/>
          </a:prstGeom>
          <a:solidFill>
            <a:srgbClr val="E0A526"/>
          </a:solidFill>
          <a:ln w="12700">
            <a:solidFill>
              <a:srgbClr val="E0A526"/>
            </a:solidFill>
            <a:prstDash val="solid"/>
          </a:ln>
        </p:spPr>
      </p:sp>
      <p:sp>
        <p:nvSpPr>
          <p:cNvPr id="10" name="Text 8"/>
          <p:cNvSpPr txBox="1"/>
          <p:nvPr/>
        </p:nvSpPr>
        <p:spPr>
          <a:xfrm>
            <a:off x="822960" y="2971800"/>
            <a:ext cx="384048" cy="384048"/>
          </a:xfrm>
          <a:prstGeom prst="rect">
            <a:avLst/>
          </a:prstGeom>
          <a:noFill/>
          <a:ln/>
        </p:spPr>
        <p:txBody>
          <a:bodyPr wrap="square" lIns="0" tIns="0" rIns="0" bIns="0" rtlCol="0" anchor="ctr"/>
          <a:lstStyle/>
          <a:p>
            <a:pPr algn="ctr" indent="0" marL="0">
              <a:buNone/>
            </a:pPr>
            <a:r>
              <a:rPr lang="en-US" sz="1400" b="1" dirty="0">
                <a:solidFill>
                  <a:srgbClr val="14284B"/>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1371600" y="2926080"/>
            <a:ext cx="5669280" cy="5029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debitor yang meninggal tanpa ahli waris atau hartanya tidak terurus</a:t>
            </a:r>
            <a:endParaRPr lang="en-US" sz="1800" dirty="0"/>
          </a:p>
        </p:txBody>
      </p:sp>
      <p:sp>
        <p:nvSpPr>
          <p:cNvPr id="12" name="Shape 10"/>
          <p:cNvSpPr/>
          <p:nvPr/>
        </p:nvSpPr>
        <p:spPr>
          <a:xfrm>
            <a:off x="822960" y="3593592"/>
            <a:ext cx="384048" cy="384048"/>
          </a:xfrm>
          <a:prstGeom prst="ellipse">
            <a:avLst/>
          </a:prstGeom>
          <a:solidFill>
            <a:srgbClr val="E0A526"/>
          </a:solidFill>
          <a:ln w="12700">
            <a:solidFill>
              <a:srgbClr val="E0A526"/>
            </a:solidFill>
            <a:prstDash val="solid"/>
          </a:ln>
        </p:spPr>
      </p:sp>
      <p:sp>
        <p:nvSpPr>
          <p:cNvPr id="13" name="Text 11"/>
          <p:cNvSpPr txBox="1"/>
          <p:nvPr/>
        </p:nvSpPr>
        <p:spPr>
          <a:xfrm>
            <a:off x="822960" y="3593592"/>
            <a:ext cx="384048" cy="384048"/>
          </a:xfrm>
          <a:prstGeom prst="rect">
            <a:avLst/>
          </a:prstGeom>
          <a:noFill/>
          <a:ln/>
        </p:spPr>
        <p:txBody>
          <a:bodyPr wrap="square" lIns="0" tIns="0" rIns="0" bIns="0" rtlCol="0" anchor="ctr"/>
          <a:lstStyle/>
          <a:p>
            <a:pPr algn="ctr" indent="0" marL="0">
              <a:buNone/>
            </a:pPr>
            <a:r>
              <a:rPr lang="en-US" sz="1400" b="1" dirty="0">
                <a:solidFill>
                  <a:srgbClr val="14284B"/>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371600" y="3547872"/>
            <a:ext cx="5669280" cy="5029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debitor yang tidak diketahui keberadaannya</a:t>
            </a:r>
            <a:endParaRPr lang="en-US" sz="1800" dirty="0"/>
          </a:p>
        </p:txBody>
      </p:sp>
      <p:sp>
        <p:nvSpPr>
          <p:cNvPr id="15" name="Shape 13"/>
          <p:cNvSpPr/>
          <p:nvPr/>
        </p:nvSpPr>
        <p:spPr>
          <a:xfrm>
            <a:off x="822960" y="4215384"/>
            <a:ext cx="384048" cy="384048"/>
          </a:xfrm>
          <a:prstGeom prst="ellipse">
            <a:avLst/>
          </a:prstGeom>
          <a:solidFill>
            <a:srgbClr val="E0A526"/>
          </a:solidFill>
          <a:ln w="12700">
            <a:solidFill>
              <a:srgbClr val="E0A526"/>
            </a:solidFill>
            <a:prstDash val="solid"/>
          </a:ln>
        </p:spPr>
      </p:sp>
      <p:sp>
        <p:nvSpPr>
          <p:cNvPr id="16" name="Text 14"/>
          <p:cNvSpPr txBox="1"/>
          <p:nvPr/>
        </p:nvSpPr>
        <p:spPr>
          <a:xfrm>
            <a:off x="822960" y="4215384"/>
            <a:ext cx="384048" cy="384048"/>
          </a:xfrm>
          <a:prstGeom prst="rect">
            <a:avLst/>
          </a:prstGeom>
          <a:noFill/>
          <a:ln/>
        </p:spPr>
        <p:txBody>
          <a:bodyPr wrap="square" lIns="0" tIns="0" rIns="0" bIns="0" rtlCol="0" anchor="ctr"/>
          <a:lstStyle/>
          <a:p>
            <a:pPr algn="ctr" indent="0" marL="0">
              <a:buNone/>
            </a:pPr>
            <a:r>
              <a:rPr lang="en-US" sz="1400" b="1" dirty="0">
                <a:solidFill>
                  <a:srgbClr val="14284B"/>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371600" y="4169664"/>
            <a:ext cx="5669280" cy="5029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perkara pekerja</a:t>
            </a:r>
            <a:endParaRPr lang="en-US" sz="1800" dirty="0"/>
          </a:p>
        </p:txBody>
      </p:sp>
      <p:sp>
        <p:nvSpPr>
          <p:cNvPr id="18" name="Shape 16"/>
          <p:cNvSpPr/>
          <p:nvPr/>
        </p:nvSpPr>
        <p:spPr>
          <a:xfrm>
            <a:off x="822960" y="4837176"/>
            <a:ext cx="384048" cy="384048"/>
          </a:xfrm>
          <a:prstGeom prst="ellipse">
            <a:avLst/>
          </a:prstGeom>
          <a:solidFill>
            <a:srgbClr val="E0A526"/>
          </a:solidFill>
          <a:ln w="12700">
            <a:solidFill>
              <a:srgbClr val="E0A526"/>
            </a:solidFill>
            <a:prstDash val="solid"/>
          </a:ln>
        </p:spPr>
      </p:sp>
      <p:sp>
        <p:nvSpPr>
          <p:cNvPr id="19" name="Text 17"/>
          <p:cNvSpPr txBox="1"/>
          <p:nvPr/>
        </p:nvSpPr>
        <p:spPr>
          <a:xfrm>
            <a:off x="822960" y="4837176"/>
            <a:ext cx="384048" cy="384048"/>
          </a:xfrm>
          <a:prstGeom prst="rect">
            <a:avLst/>
          </a:prstGeom>
          <a:noFill/>
          <a:ln/>
        </p:spPr>
        <p:txBody>
          <a:bodyPr wrap="square" lIns="0" tIns="0" rIns="0" bIns="0" rtlCol="0" anchor="ctr"/>
          <a:lstStyle/>
          <a:p>
            <a:pPr algn="ctr" indent="0" marL="0">
              <a:buNone/>
            </a:pPr>
            <a:r>
              <a:rPr lang="en-US" sz="1400" b="1" dirty="0">
                <a:solidFill>
                  <a:srgbClr val="14284B"/>
                </a:solidFill>
                <a:latin typeface="Arial" pitchFamily="34" charset="0"/>
                <a:ea typeface="Arial" pitchFamily="34" charset="-122"/>
                <a:cs typeface="Arial" pitchFamily="34" charset="-120"/>
              </a:rPr>
              <a:t>4</a:t>
            </a:r>
            <a:endParaRPr lang="en-US" sz="1400" dirty="0"/>
          </a:p>
        </p:txBody>
      </p:sp>
      <p:sp>
        <p:nvSpPr>
          <p:cNvPr id="20" name="Text 18"/>
          <p:cNvSpPr txBox="1"/>
          <p:nvPr/>
        </p:nvSpPr>
        <p:spPr>
          <a:xfrm>
            <a:off x="1371600" y="4791456"/>
            <a:ext cx="5669280" cy="5029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perkara dengan harta kecil</a:t>
            </a:r>
            <a:endParaRPr lang="en-US" sz="1800" dirty="0"/>
          </a:p>
        </p:txBody>
      </p:sp>
      <p:sp>
        <p:nvSpPr>
          <p:cNvPr id="21" name="Shape 19"/>
          <p:cNvSpPr/>
          <p:nvPr/>
        </p:nvSpPr>
        <p:spPr>
          <a:xfrm>
            <a:off x="822960" y="5458968"/>
            <a:ext cx="384048" cy="384048"/>
          </a:xfrm>
          <a:prstGeom prst="ellipse">
            <a:avLst/>
          </a:prstGeom>
          <a:solidFill>
            <a:srgbClr val="E0A526"/>
          </a:solidFill>
          <a:ln w="12700">
            <a:solidFill>
              <a:srgbClr val="E0A526"/>
            </a:solidFill>
            <a:prstDash val="solid"/>
          </a:ln>
        </p:spPr>
      </p:sp>
      <p:sp>
        <p:nvSpPr>
          <p:cNvPr id="22" name="Text 20"/>
          <p:cNvSpPr txBox="1"/>
          <p:nvPr/>
        </p:nvSpPr>
        <p:spPr>
          <a:xfrm>
            <a:off x="822960" y="5458968"/>
            <a:ext cx="384048" cy="384048"/>
          </a:xfrm>
          <a:prstGeom prst="rect">
            <a:avLst/>
          </a:prstGeom>
          <a:noFill/>
          <a:ln/>
        </p:spPr>
        <p:txBody>
          <a:bodyPr wrap="square" lIns="0" tIns="0" rIns="0" bIns="0" rtlCol="0" anchor="ctr"/>
          <a:lstStyle/>
          <a:p>
            <a:pPr algn="ctr" indent="0" marL="0">
              <a:buNone/>
            </a:pPr>
            <a:r>
              <a:rPr lang="en-US" sz="1400" b="1" dirty="0">
                <a:solidFill>
                  <a:srgbClr val="14284B"/>
                </a:solidFill>
                <a:latin typeface="Arial" pitchFamily="34" charset="0"/>
                <a:ea typeface="Arial" pitchFamily="34" charset="-122"/>
                <a:cs typeface="Arial" pitchFamily="34" charset="-120"/>
              </a:rPr>
              <a:t>5</a:t>
            </a:r>
            <a:endParaRPr lang="en-US" sz="1400" dirty="0"/>
          </a:p>
        </p:txBody>
      </p:sp>
      <p:sp>
        <p:nvSpPr>
          <p:cNvPr id="23" name="Text 21"/>
          <p:cNvSpPr txBox="1"/>
          <p:nvPr/>
        </p:nvSpPr>
        <p:spPr>
          <a:xfrm>
            <a:off x="1371600" y="5413248"/>
            <a:ext cx="5669280" cy="50292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perkara yang kehilangan kurator</a:t>
            </a:r>
            <a:endParaRPr lang="en-US" sz="1800" dirty="0"/>
          </a:p>
        </p:txBody>
      </p:sp>
      <p:sp>
        <p:nvSpPr>
          <p:cNvPr id="24" name="Shape 22"/>
          <p:cNvSpPr/>
          <p:nvPr/>
        </p:nvSpPr>
        <p:spPr>
          <a:xfrm>
            <a:off x="7498080" y="2286000"/>
            <a:ext cx="4142232" cy="3886200"/>
          </a:xfrm>
          <a:prstGeom prst="roundRect">
            <a:avLst>
              <a:gd name="adj" fmla="val 2824"/>
            </a:avLst>
          </a:prstGeom>
          <a:solidFill>
            <a:srgbClr val="EEF2F8"/>
          </a:solidFill>
          <a:ln w="12700">
            <a:solidFill>
              <a:srgbClr val="EEF2F8"/>
            </a:solidFill>
            <a:prstDash val="solid"/>
          </a:ln>
        </p:spPr>
      </p:sp>
      <p:pic>
        <p:nvPicPr>
          <p:cNvPr id="25" name="Image 0" descr="preencoded.png">    </p:cNvPr>
          <p:cNvPicPr>
            <a:picLocks noChangeAspect="1"/>
          </p:cNvPicPr>
          <p:nvPr/>
        </p:nvPicPr>
        <p:blipFill>
          <a:blip r:embed="rId1"/>
          <a:stretch>
            <a:fillRect/>
          </a:stretch>
        </p:blipFill>
        <p:spPr>
          <a:xfrm>
            <a:off x="7772400" y="2542032"/>
            <a:ext cx="502920" cy="502920"/>
          </a:xfrm>
          <a:prstGeom prst="rect">
            <a:avLst/>
          </a:prstGeom>
        </p:spPr>
      </p:pic>
      <p:sp>
        <p:nvSpPr>
          <p:cNvPr id="26" name="Text 23"/>
          <p:cNvSpPr txBox="1"/>
          <p:nvPr/>
        </p:nvSpPr>
        <p:spPr>
          <a:xfrm>
            <a:off x="7772400" y="3255264"/>
            <a:ext cx="3593592" cy="2734056"/>
          </a:xfrm>
          <a:prstGeom prst="rect">
            <a:avLst/>
          </a:prstGeom>
          <a:noFill/>
          <a:ln/>
        </p:spPr>
        <p:txBody>
          <a:bodyPr wrap="square" lIns="0" tIns="0" rIns="0" bIns="0" rtlCol="0" anchor="t"/>
          <a:lstStyle/>
          <a:p>
            <a:pPr indent="0" marL="0">
              <a:spcAft>
                <a:spcPts val="400"/>
              </a:spcAft>
              <a:buNone/>
            </a:pPr>
            <a:r>
              <a:rPr lang="en-US" sz="1300" b="1" spc="150" kern="0" dirty="0">
                <a:solidFill>
                  <a:srgbClr val="8A6100"/>
                </a:solidFill>
                <a:latin typeface="Arial" pitchFamily="34" charset="0"/>
                <a:ea typeface="Arial" pitchFamily="34" charset="-122"/>
                <a:cs typeface="Arial" pitchFamily="34" charset="-120"/>
              </a:rPr>
              <a:t>DI LUAR ITU</a:t>
            </a:r>
            <a:endParaRPr lang="en-US" sz="1300" dirty="0"/>
          </a:p>
          <a:p>
            <a:pPr indent="0" marL="0">
              <a:spcAft>
                <a:spcPts val="400"/>
              </a:spcAft>
              <a:buNone/>
            </a:pPr>
            <a:r>
              <a:rPr lang="en-US" sz="2200" b="1" dirty="0">
                <a:solidFill>
                  <a:srgbClr val="14284B"/>
                </a:solidFill>
                <a:latin typeface="Arial" pitchFamily="34" charset="0"/>
                <a:ea typeface="Arial" pitchFamily="34" charset="-122"/>
                <a:cs typeface="Arial" pitchFamily="34" charset="-120"/>
              </a:rPr>
              <a:t>Para pihak tetap bebas memilih kurator</a:t>
            </a:r>
            <a:endParaRPr lang="en-US" sz="1300" dirty="0"/>
          </a:p>
          <a:p>
            <a:pPr indent="0" marL="0">
              <a:spcAft>
                <a:spcPts val="400"/>
              </a:spcAft>
              <a:buNone/>
            </a:pPr>
            <a:r>
              <a:rPr lang="en-US" sz="1700" dirty="0">
                <a:solidFill>
                  <a:srgbClr val="1A1A1A"/>
                </a:solidFill>
                <a:latin typeface="Arial" pitchFamily="34" charset="0"/>
                <a:ea typeface="Arial" pitchFamily="34" charset="-122"/>
                <a:cs typeface="Arial" pitchFamily="34" charset="-120"/>
              </a:rPr>
              <a:t>RUU Profesi Kurator cukup memuat dasar penugasan ini, sedangkan kriteria dan tata cara penunjukannya diatur dalam RUU Kepailitan dan PKPU.</a:t>
            </a:r>
            <a:endParaRPr lang="en-US" sz="1300" dirty="0"/>
          </a:p>
        </p:txBody>
      </p:sp>
      <p:sp>
        <p:nvSpPr>
          <p:cNvPr id="27" name="Text 24"/>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28" name="Text 25"/>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19</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8A7A4A"/>
          </a:solidFill>
          <a:ln w="12700">
            <a:solidFill>
              <a:srgbClr val="8A7A4A"/>
            </a:solidFill>
            <a:prstDash val="solid"/>
          </a:ln>
        </p:spPr>
      </p:sp>
      <p:sp>
        <p:nvSpPr>
          <p:cNvPr id="4" name="Shape 2"/>
          <p:cNvSpPr/>
          <p:nvPr/>
        </p:nvSpPr>
        <p:spPr>
          <a:xfrm>
            <a:off x="5084064" y="548640"/>
            <a:ext cx="2011680" cy="73152"/>
          </a:xfrm>
          <a:prstGeom prst="roundRect">
            <a:avLst>
              <a:gd name="adj" fmla="val 50000"/>
            </a:avLst>
          </a:prstGeom>
          <a:solidFill>
            <a:srgbClr val="8A7A4A"/>
          </a:solidFill>
          <a:ln w="12700">
            <a:solidFill>
              <a:srgbClr val="8A7A4A"/>
            </a:solidFill>
            <a:prstDash val="solid"/>
          </a:ln>
        </p:spPr>
      </p:sp>
      <p:sp>
        <p:nvSpPr>
          <p:cNvPr id="5" name="Shape 3"/>
          <p:cNvSpPr/>
          <p:nvPr/>
        </p:nvSpPr>
        <p:spPr>
          <a:xfrm>
            <a:off x="7260336" y="548640"/>
            <a:ext cx="2011680" cy="73152"/>
          </a:xfrm>
          <a:prstGeom prst="roundRect">
            <a:avLst>
              <a:gd name="adj" fmla="val 50000"/>
            </a:avLst>
          </a:prstGeom>
          <a:solidFill>
            <a:srgbClr val="E0A526"/>
          </a:solidFill>
          <a:ln w="12700">
            <a:solidFill>
              <a:srgbClr val="E0A526"/>
            </a:solidFill>
            <a:prstDash val="solid"/>
          </a:ln>
        </p:spPr>
      </p:sp>
      <p:sp>
        <p:nvSpPr>
          <p:cNvPr id="6" name="Shape 4"/>
          <p:cNvSpPr/>
          <p:nvPr/>
        </p:nvSpPr>
        <p:spPr>
          <a:xfrm>
            <a:off x="9436608" y="548640"/>
            <a:ext cx="2011680" cy="73152"/>
          </a:xfrm>
          <a:prstGeom prst="roundRect">
            <a:avLst>
              <a:gd name="adj" fmla="val 50000"/>
            </a:avLst>
          </a:prstGeom>
          <a:solidFill>
            <a:srgbClr val="34456A"/>
          </a:solidFill>
          <a:ln w="12700">
            <a:solidFill>
              <a:srgbClr val="34456A"/>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IV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Usulan Pasal untuk RUU Profesi Kurator</a:t>
            </a:r>
            <a:endParaRPr lang="en-US" sz="3600" dirty="0"/>
          </a:p>
        </p:txBody>
      </p:sp>
      <p:sp>
        <p:nvSpPr>
          <p:cNvPr id="9" name="Text 7"/>
          <p:cNvSpPr txBox="1"/>
          <p:nvPr/>
        </p:nvSpPr>
        <p:spPr>
          <a:xfrm>
            <a:off x="731520" y="2697480"/>
            <a:ext cx="10241280" cy="1188720"/>
          </a:xfrm>
          <a:prstGeom prst="rect">
            <a:avLst/>
          </a:prstGeom>
          <a:noFill/>
          <a:ln/>
        </p:spPr>
        <p:txBody>
          <a:bodyPr wrap="square" lIns="0" tIns="0" rIns="0" bIns="0" rtlCol="0" anchor="t"/>
          <a:lstStyle/>
          <a:p>
            <a:pPr indent="0" marL="0">
              <a:buNone/>
            </a:pPr>
            <a:r>
              <a:rPr lang="en-US" sz="2200" dirty="0">
                <a:solidFill>
                  <a:srgbClr val="DCE4F2"/>
                </a:solidFill>
                <a:latin typeface="Arial" pitchFamily="34" charset="0"/>
                <a:ea typeface="Arial" pitchFamily="34" charset="-122"/>
                <a:cs typeface="Arial" pitchFamily="34" charset="-120"/>
              </a:rPr>
              <a:t>Empat pasal yang dapat langsung dipakai, masing-masing disertai analisisnya.</a:t>
            </a:r>
            <a:endParaRPr lang="en-US" sz="2200" dirty="0"/>
          </a:p>
        </p:txBody>
      </p:sp>
      <p:sp>
        <p:nvSpPr>
          <p:cNvPr id="10" name="Shape 8"/>
          <p:cNvSpPr/>
          <p:nvPr/>
        </p:nvSpPr>
        <p:spPr>
          <a:xfrm>
            <a:off x="731520" y="4160520"/>
            <a:ext cx="420624" cy="420624"/>
          </a:xfrm>
          <a:prstGeom prst="ellipse">
            <a:avLst/>
          </a:prstGeom>
          <a:solidFill>
            <a:srgbClr val="E0A526"/>
          </a:solidFill>
          <a:ln w="12700">
            <a:solidFill>
              <a:srgbClr val="E0A526"/>
            </a:solidFill>
            <a:prstDash val="solid"/>
          </a:ln>
        </p:spPr>
      </p:sp>
      <p:sp>
        <p:nvSpPr>
          <p:cNvPr id="11" name="Text 9"/>
          <p:cNvSpPr txBox="1"/>
          <p:nvPr/>
        </p:nvSpPr>
        <p:spPr>
          <a:xfrm>
            <a:off x="731520" y="4160520"/>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A</a:t>
            </a:r>
            <a:endParaRPr lang="en-US" sz="1500" dirty="0"/>
          </a:p>
        </p:txBody>
      </p:sp>
      <p:sp>
        <p:nvSpPr>
          <p:cNvPr id="12" name="Text 10"/>
          <p:cNvSpPr txBox="1"/>
          <p:nvPr/>
        </p:nvSpPr>
        <p:spPr>
          <a:xfrm>
            <a:off x="1325880" y="4160520"/>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Kedudukan BHP</a:t>
            </a:r>
            <a:endParaRPr lang="en-US" sz="1900" dirty="0"/>
          </a:p>
        </p:txBody>
      </p:sp>
      <p:sp>
        <p:nvSpPr>
          <p:cNvPr id="13" name="Shape 11"/>
          <p:cNvSpPr/>
          <p:nvPr/>
        </p:nvSpPr>
        <p:spPr>
          <a:xfrm>
            <a:off x="731520" y="4690872"/>
            <a:ext cx="420624" cy="420624"/>
          </a:xfrm>
          <a:prstGeom prst="ellipse">
            <a:avLst/>
          </a:prstGeom>
          <a:solidFill>
            <a:srgbClr val="E0A526"/>
          </a:solidFill>
          <a:ln w="12700">
            <a:solidFill>
              <a:srgbClr val="E0A526"/>
            </a:solidFill>
            <a:prstDash val="solid"/>
          </a:ln>
        </p:spPr>
      </p:sp>
      <p:sp>
        <p:nvSpPr>
          <p:cNvPr id="14" name="Text 12"/>
          <p:cNvSpPr txBox="1"/>
          <p:nvPr/>
        </p:nvSpPr>
        <p:spPr>
          <a:xfrm>
            <a:off x="731520" y="4690872"/>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B</a:t>
            </a:r>
            <a:endParaRPr lang="en-US" sz="1500" dirty="0"/>
          </a:p>
        </p:txBody>
      </p:sp>
      <p:sp>
        <p:nvSpPr>
          <p:cNvPr id="15" name="Text 13"/>
          <p:cNvSpPr txBox="1"/>
          <p:nvPr/>
        </p:nvSpPr>
        <p:spPr>
          <a:xfrm>
            <a:off x="1325880" y="4690872"/>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Pembagian Peran</a:t>
            </a:r>
            <a:endParaRPr lang="en-US" sz="1900" dirty="0"/>
          </a:p>
        </p:txBody>
      </p:sp>
      <p:sp>
        <p:nvSpPr>
          <p:cNvPr id="16" name="Shape 14"/>
          <p:cNvSpPr/>
          <p:nvPr/>
        </p:nvSpPr>
        <p:spPr>
          <a:xfrm>
            <a:off x="731520" y="5221224"/>
            <a:ext cx="420624" cy="420624"/>
          </a:xfrm>
          <a:prstGeom prst="ellipse">
            <a:avLst/>
          </a:prstGeom>
          <a:solidFill>
            <a:srgbClr val="E0A526"/>
          </a:solidFill>
          <a:ln w="12700">
            <a:solidFill>
              <a:srgbClr val="E0A526"/>
            </a:solidFill>
            <a:prstDash val="solid"/>
          </a:ln>
        </p:spPr>
      </p:sp>
      <p:sp>
        <p:nvSpPr>
          <p:cNvPr id="17" name="Text 15"/>
          <p:cNvSpPr txBox="1"/>
          <p:nvPr/>
        </p:nvSpPr>
        <p:spPr>
          <a:xfrm>
            <a:off x="731520" y="5221224"/>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C</a:t>
            </a:r>
            <a:endParaRPr lang="en-US" sz="1500" dirty="0"/>
          </a:p>
        </p:txBody>
      </p:sp>
      <p:sp>
        <p:nvSpPr>
          <p:cNvPr id="18" name="Text 16"/>
          <p:cNvSpPr txBox="1"/>
          <p:nvPr/>
        </p:nvSpPr>
        <p:spPr>
          <a:xfrm>
            <a:off x="1325880" y="5221224"/>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Standar dan Pembinaan BHP</a:t>
            </a:r>
            <a:endParaRPr lang="en-US" sz="1900" dirty="0"/>
          </a:p>
        </p:txBody>
      </p:sp>
      <p:sp>
        <p:nvSpPr>
          <p:cNvPr id="19" name="Shape 17"/>
          <p:cNvSpPr/>
          <p:nvPr/>
        </p:nvSpPr>
        <p:spPr>
          <a:xfrm>
            <a:off x="731520" y="5751576"/>
            <a:ext cx="420624" cy="420624"/>
          </a:xfrm>
          <a:prstGeom prst="ellipse">
            <a:avLst/>
          </a:prstGeom>
          <a:solidFill>
            <a:srgbClr val="E0A526"/>
          </a:solidFill>
          <a:ln w="12700">
            <a:solidFill>
              <a:srgbClr val="E0A526"/>
            </a:solidFill>
            <a:prstDash val="solid"/>
          </a:ln>
        </p:spPr>
      </p:sp>
      <p:sp>
        <p:nvSpPr>
          <p:cNvPr id="20" name="Text 18"/>
          <p:cNvSpPr txBox="1"/>
          <p:nvPr/>
        </p:nvSpPr>
        <p:spPr>
          <a:xfrm>
            <a:off x="731520" y="5751576"/>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D</a:t>
            </a:r>
            <a:endParaRPr lang="en-US" sz="1500" dirty="0"/>
          </a:p>
        </p:txBody>
      </p:sp>
      <p:sp>
        <p:nvSpPr>
          <p:cNvPr id="21" name="Text 19"/>
          <p:cNvSpPr txBox="1"/>
          <p:nvPr/>
        </p:nvSpPr>
        <p:spPr>
          <a:xfrm>
            <a:off x="1325880" y="5751576"/>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Koordinasi dan Penugasan Bersama</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A</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Kedudukan BHP</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017520"/>
        </p:xfrm>
        <a:graphic>
          <a:graphicData uri="http://schemas.openxmlformats.org/drawingml/2006/table">
            <a:tbl>
              <a:tblPr/>
              <a:tblGrid>
                <a:gridCol w="731520"/>
                <a:gridCol w="594360"/>
                <a:gridCol w="9308592"/>
              </a:tblGrid>
              <a:tr h="384048">
                <a:tc gridSpan="3">
                  <a:txBody>
                    <a:bodyPr/>
                    <a:lstStyle/>
                    <a:p>
                      <a:pPr algn="ctr" indent="0" marL="0">
                        <a:buNone/>
                      </a:pPr>
                      <a:r>
                        <a:rPr lang="en-US" sz="1900" b="1" dirty="0">
                          <a:solidFill>
                            <a:srgbClr val="14284B"/>
                          </a:solidFill>
                          <a:latin typeface="Arial" pitchFamily="34" charset="0"/>
                          <a:ea typeface="Arial" pitchFamily="34" charset="-122"/>
                          <a:cs typeface="Arial" pitchFamily="34" charset="-120"/>
                        </a:rPr>
                        <a:t>Pasal A (Kedudukan BHP)</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384048">
                <a:tc>
                  <a:txBody>
                    <a:bodyPr/>
                    <a:lstStyle/>
                    <a:p>
                      <a:pPr indent="0" marL="0">
                        <a:buNone/>
                      </a:pPr>
                      <a:r>
                        <a:rPr lang="en-US" sz="1900" b="1" dirty="0">
                          <a:solidFill>
                            <a:srgbClr val="14284B"/>
                          </a:solidFill>
                          <a:latin typeface="Arial" pitchFamily="34" charset="0"/>
                          <a:ea typeface="Arial" pitchFamily="34" charset="-122"/>
                          <a:cs typeface="Arial" pitchFamily="34" charset="-120"/>
                        </a:rPr>
                        <a:t>(1)</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Kurator terdiri atas </a:t>
                      </a:r>
                      <a:pPr indent="0" marL="0">
                        <a:buNone/>
                      </a:pPr>
                      <a:r>
                        <a:rPr lang="en-US" sz="1900" b="1" dirty="0">
                          <a:solidFill>
                            <a:srgbClr val="14284B"/>
                          </a:solidFill>
                          <a:latin typeface="Arial" pitchFamily="34" charset="0"/>
                          <a:ea typeface="Arial" pitchFamily="34" charset="-122"/>
                          <a:cs typeface="Arial" pitchFamily="34" charset="-120"/>
                        </a:rPr>
                        <a:t>Balai Harta Peninggalan</a:t>
                      </a:r>
                      <a:pPr indent="0" marL="0">
                        <a:buNone/>
                      </a:pPr>
                      <a:r>
                        <a:rPr lang="en-US" sz="1900" dirty="0">
                          <a:solidFill>
                            <a:srgbClr val="1A1A1A"/>
                          </a:solidFill>
                          <a:latin typeface="Arial" pitchFamily="34" charset="0"/>
                          <a:ea typeface="Arial" pitchFamily="34" charset="-122"/>
                          <a:cs typeface="Arial" pitchFamily="34" charset="-120"/>
                        </a:rPr>
                        <a:t> dan </a:t>
                      </a:r>
                      <a:pPr indent="0" marL="0">
                        <a:buNone/>
                      </a:pPr>
                      <a:r>
                        <a:rPr lang="en-US" sz="1900" b="1" dirty="0">
                          <a:solidFill>
                            <a:srgbClr val="14284B"/>
                          </a:solidFill>
                          <a:latin typeface="Arial" pitchFamily="34" charset="0"/>
                          <a:ea typeface="Arial" pitchFamily="34" charset="-122"/>
                          <a:cs typeface="Arial" pitchFamily="34" charset="-120"/>
                        </a:rPr>
                        <a:t>Kurator perseorangan</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932688">
                <a:tc>
                  <a:txBody>
                    <a:bodyPr/>
                    <a:lstStyle/>
                    <a:p>
                      <a:pPr indent="0" marL="0">
                        <a:buNone/>
                      </a:pPr>
                      <a:r>
                        <a:rPr lang="en-US" sz="1900" b="1" dirty="0">
                          <a:solidFill>
                            <a:srgbClr val="14284B"/>
                          </a:solidFill>
                          <a:latin typeface="Arial" pitchFamily="34" charset="0"/>
                          <a:ea typeface="Arial" pitchFamily="34" charset="-122"/>
                          <a:cs typeface="Arial" pitchFamily="34" charset="-120"/>
                        </a:rPr>
                        <a:t>(2)</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Balai Harta Peninggalan merupakan lembaga negara yang menjalankan tugas Kurator dan Pengurus berdasarkan undang-undang, dan </a:t>
                      </a:r>
                      <a:pPr indent="0" marL="0">
                        <a:buNone/>
                      </a:pPr>
                      <a:r>
                        <a:rPr lang="en-US" sz="1900" b="1" dirty="0">
                          <a:solidFill>
                            <a:srgbClr val="14284B"/>
                          </a:solidFill>
                          <a:latin typeface="Arial" pitchFamily="34" charset="0"/>
                          <a:ea typeface="Arial" pitchFamily="34" charset="-122"/>
                          <a:cs typeface="Arial" pitchFamily="34" charset="-120"/>
                        </a:rPr>
                        <a:t>tidak memerlukan izin atau pendaftaran</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a:txBody>
                    <a:bodyPr/>
                    <a:lstStyle/>
                    <a:p>
                      <a:pPr indent="0" marL="0">
                        <a:buNone/>
                      </a:pPr>
                      <a:r>
                        <a:rPr lang="en-US" sz="1900" b="1" dirty="0">
                          <a:solidFill>
                            <a:srgbClr val="14284B"/>
                          </a:solidFill>
                          <a:latin typeface="Arial" pitchFamily="34" charset="0"/>
                          <a:ea typeface="Arial" pitchFamily="34" charset="-122"/>
                          <a:cs typeface="Arial" pitchFamily="34" charset="-120"/>
                        </a:rPr>
                        <a:t>(3)</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Tugas Kurator dan Pengurus pada Balai Harta Peninggalan dilaksanakan oleh </a:t>
                      </a:r>
                      <a:pPr indent="0" marL="0">
                        <a:buNone/>
                      </a:pPr>
                      <a:r>
                        <a:rPr lang="en-US" sz="1900" b="1" dirty="0">
                          <a:solidFill>
                            <a:srgbClr val="14284B"/>
                          </a:solidFill>
                          <a:latin typeface="Arial" pitchFamily="34" charset="0"/>
                          <a:ea typeface="Arial" pitchFamily="34" charset="-122"/>
                          <a:cs typeface="Arial" pitchFamily="34" charset="-120"/>
                        </a:rPr>
                        <a:t>pejabat fungsional Kurator Keperdataan</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gridSpan="3">
                  <a:txBody>
                    <a:bodyPr/>
                    <a:lstStyle/>
                    <a:p>
                      <a:pPr indent="0" marL="0">
                        <a:buNone/>
                      </a:pPr>
                      <a:r>
                        <a:rPr lang="en-US" sz="1800" b="1" i="1" dirty="0">
                          <a:solidFill>
                            <a:srgbClr val="14284B"/>
                          </a:solidFill>
                          <a:latin typeface="Arial" pitchFamily="34" charset="0"/>
                          <a:ea typeface="Arial" pitchFamily="34" charset="-122"/>
                          <a:cs typeface="Arial" pitchFamily="34" charset="-120"/>
                        </a:rPr>
                        <a:t>Analisis.</a:t>
                      </a:r>
                      <a:pPr indent="0" marL="0">
                        <a:buNone/>
                      </a:pPr>
                      <a:r>
                        <a:rPr lang="en-US" sz="1800" i="1" dirty="0">
                          <a:solidFill>
                            <a:srgbClr val="2D3748"/>
                          </a:solidFill>
                          <a:latin typeface="Arial" pitchFamily="34" charset="0"/>
                          <a:ea typeface="Arial" pitchFamily="34" charset="-122"/>
                          <a:cs typeface="Arial" pitchFamily="34" charset="-120"/>
                        </a:rPr>
                        <a:t> Pasal ini memastikan BHP masuk dalam sistem profesi kurator tanpa harus mengikuti aturan izin yang dirancang untuk orang perseorangan.</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21</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B</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Pembagian Peran</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3566160"/>
        </p:xfrm>
        <a:graphic>
          <a:graphicData uri="http://schemas.openxmlformats.org/drawingml/2006/table">
            <a:tbl>
              <a:tblPr/>
              <a:tblGrid>
                <a:gridCol w="731520"/>
                <a:gridCol w="594360"/>
                <a:gridCol w="9308592"/>
              </a:tblGrid>
              <a:tr h="384048">
                <a:tc gridSpan="3">
                  <a:txBody>
                    <a:bodyPr/>
                    <a:lstStyle/>
                    <a:p>
                      <a:pPr algn="ctr" indent="0" marL="0">
                        <a:buNone/>
                      </a:pPr>
                      <a:r>
                        <a:rPr lang="en-US" sz="1900" b="1" dirty="0">
                          <a:solidFill>
                            <a:srgbClr val="14284B"/>
                          </a:solidFill>
                          <a:latin typeface="Arial" pitchFamily="34" charset="0"/>
                          <a:ea typeface="Arial" pitchFamily="34" charset="-122"/>
                          <a:cs typeface="Arial" pitchFamily="34" charset="-120"/>
                        </a:rPr>
                        <a:t>Pasal B (Pembagian Peran)</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1207008">
                <a:tc>
                  <a:txBody>
                    <a:bodyPr/>
                    <a:lstStyle/>
                    <a:p>
                      <a:pPr indent="0" marL="0">
                        <a:buNone/>
                      </a:pPr>
                      <a:r>
                        <a:rPr lang="en-US" sz="1900" b="1" dirty="0">
                          <a:solidFill>
                            <a:srgbClr val="14284B"/>
                          </a:solidFill>
                          <a:latin typeface="Arial" pitchFamily="34" charset="0"/>
                          <a:ea typeface="Arial" pitchFamily="34" charset="-122"/>
                          <a:cs typeface="Arial" pitchFamily="34" charset="-120"/>
                        </a:rPr>
                        <a:t>(1)</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Balai Harta Peninggalan menjalankan tugas Kurator dan Pengurus pada perkara yang menyangkut </a:t>
                      </a:r>
                      <a:pPr indent="0" marL="0">
                        <a:buNone/>
                      </a:pPr>
                      <a:r>
                        <a:rPr lang="en-US" sz="1900" b="1" dirty="0">
                          <a:solidFill>
                            <a:srgbClr val="14284B"/>
                          </a:solidFill>
                          <a:latin typeface="Arial" pitchFamily="34" charset="0"/>
                          <a:ea typeface="Arial" pitchFamily="34" charset="-122"/>
                          <a:cs typeface="Arial" pitchFamily="34" charset="-120"/>
                        </a:rPr>
                        <a:t>kepentingan publik, hak pekerja, harta peninggalan yang tidak terurus, Debitor yang tidak diketahui keberadaannya, dan perkara dengan nilai harta kecil</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a:txBody>
                    <a:bodyPr/>
                    <a:lstStyle/>
                    <a:p>
                      <a:pPr indent="0" marL="0">
                        <a:buNone/>
                      </a:pPr>
                      <a:r>
                        <a:rPr lang="en-US" sz="1900" b="1" dirty="0">
                          <a:solidFill>
                            <a:srgbClr val="14284B"/>
                          </a:solidFill>
                          <a:latin typeface="Arial" pitchFamily="34" charset="0"/>
                          <a:ea typeface="Arial" pitchFamily="34" charset="-122"/>
                          <a:cs typeface="Arial" pitchFamily="34" charset="-120"/>
                        </a:rPr>
                        <a:t>(2)</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Di luar perkara sebagaimana dimaksud pada ayat (1), Kurator dan Pengurus diangkat </a:t>
                      </a:r>
                      <a:pPr indent="0" marL="0">
                        <a:buNone/>
                      </a:pPr>
                      <a:r>
                        <a:rPr lang="en-US" sz="1900" b="1" dirty="0">
                          <a:solidFill>
                            <a:srgbClr val="14284B"/>
                          </a:solidFill>
                          <a:latin typeface="Arial" pitchFamily="34" charset="0"/>
                          <a:ea typeface="Arial" pitchFamily="34" charset="-122"/>
                          <a:cs typeface="Arial" pitchFamily="34" charset="-120"/>
                        </a:rPr>
                        <a:t>berdasarkan usulan para pihak</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a:txBody>
                    <a:bodyPr/>
                    <a:lstStyle/>
                    <a:p>
                      <a:pPr indent="0" marL="0">
                        <a:buNone/>
                      </a:pPr>
                      <a:r>
                        <a:rPr lang="en-US" sz="1900" b="1" dirty="0">
                          <a:solidFill>
                            <a:srgbClr val="14284B"/>
                          </a:solidFill>
                          <a:latin typeface="Arial" pitchFamily="34" charset="0"/>
                          <a:ea typeface="Arial" pitchFamily="34" charset="-122"/>
                          <a:cs typeface="Arial" pitchFamily="34" charset="-120"/>
                        </a:rPr>
                        <a:t>(3)</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Kriteria dan tata cara penunjukan sebagaimana dimaksud pada ayat (1) diatur dalam undang-undang mengenai kepailitan dan penundaan kewajiban pembayaran utang.</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gridSpan="3">
                  <a:txBody>
                    <a:bodyPr/>
                    <a:lstStyle/>
                    <a:p>
                      <a:pPr indent="0" marL="0">
                        <a:buNone/>
                      </a:pPr>
                      <a:r>
                        <a:rPr lang="en-US" sz="1800" b="1" i="1" dirty="0">
                          <a:solidFill>
                            <a:srgbClr val="14284B"/>
                          </a:solidFill>
                          <a:latin typeface="Arial" pitchFamily="34" charset="0"/>
                          <a:ea typeface="Arial" pitchFamily="34" charset="-122"/>
                          <a:cs typeface="Arial" pitchFamily="34" charset="-120"/>
                        </a:rPr>
                        <a:t>Analisis.</a:t>
                      </a:r>
                      <a:pPr indent="0" marL="0">
                        <a:buNone/>
                      </a:pPr>
                      <a:r>
                        <a:rPr lang="en-US" sz="1800" i="1" dirty="0">
                          <a:solidFill>
                            <a:srgbClr val="2D3748"/>
                          </a:solidFill>
                          <a:latin typeface="Arial" pitchFamily="34" charset="0"/>
                          <a:ea typeface="Arial" pitchFamily="34" charset="-122"/>
                          <a:cs typeface="Arial" pitchFamily="34" charset="-120"/>
                        </a:rPr>
                        <a:t> Pasal ini memberi kepastian pembagian peran tanpa mengulang materi hukum acara kepailitan, sehingga RUU Profesi Kurator tetap selaras dengan RUU Kepailitan dan PKPU.</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22</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C</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Standar dan Pembinaan BHP</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2359152"/>
        </p:xfrm>
        <a:graphic>
          <a:graphicData uri="http://schemas.openxmlformats.org/drawingml/2006/table">
            <a:tbl>
              <a:tblPr/>
              <a:tblGrid>
                <a:gridCol w="731520"/>
                <a:gridCol w="594360"/>
                <a:gridCol w="9308592"/>
              </a:tblGrid>
              <a:tr h="384048">
                <a:tc gridSpan="3">
                  <a:txBody>
                    <a:bodyPr/>
                    <a:lstStyle/>
                    <a:p>
                      <a:pPr algn="ctr" indent="0" marL="0">
                        <a:buNone/>
                      </a:pPr>
                      <a:r>
                        <a:rPr lang="en-US" sz="1900" b="1" dirty="0">
                          <a:solidFill>
                            <a:srgbClr val="14284B"/>
                          </a:solidFill>
                          <a:latin typeface="Arial" pitchFamily="34" charset="0"/>
                          <a:ea typeface="Arial" pitchFamily="34" charset="-122"/>
                          <a:cs typeface="Arial" pitchFamily="34" charset="-120"/>
                        </a:rPr>
                        <a:t>Pasal C (Standar dan Pembinaan BHP)</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658368">
                <a:tc>
                  <a:txBody>
                    <a:bodyPr/>
                    <a:lstStyle/>
                    <a:p>
                      <a:pPr indent="0" marL="0">
                        <a:buNone/>
                      </a:pPr>
                      <a:r>
                        <a:rPr lang="en-US" sz="1900" b="1" dirty="0">
                          <a:solidFill>
                            <a:srgbClr val="14284B"/>
                          </a:solidFill>
                          <a:latin typeface="Arial" pitchFamily="34" charset="0"/>
                          <a:ea typeface="Arial" pitchFamily="34" charset="-122"/>
                          <a:cs typeface="Arial" pitchFamily="34" charset="-120"/>
                        </a:rPr>
                        <a:t>(1)</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Balai Harta Peninggalan tunduk pada </a:t>
                      </a:r>
                      <a:pPr indent="0" marL="0">
                        <a:buNone/>
                      </a:pPr>
                      <a:r>
                        <a:rPr lang="en-US" sz="1900" b="1" dirty="0">
                          <a:solidFill>
                            <a:srgbClr val="14284B"/>
                          </a:solidFill>
                          <a:latin typeface="Arial" pitchFamily="34" charset="0"/>
                          <a:ea typeface="Arial" pitchFamily="34" charset="-122"/>
                          <a:cs typeface="Arial" pitchFamily="34" charset="-120"/>
                        </a:rPr>
                        <a:t>standar profesi dan kode etik Kurator yang sama</a:t>
                      </a:r>
                      <a:pPr indent="0" marL="0">
                        <a:buNone/>
                      </a:pPr>
                      <a:r>
                        <a:rPr lang="en-US" sz="1900" dirty="0">
                          <a:solidFill>
                            <a:srgbClr val="1A1A1A"/>
                          </a:solidFill>
                          <a:latin typeface="Arial" pitchFamily="34" charset="0"/>
                          <a:ea typeface="Arial" pitchFamily="34" charset="-122"/>
                          <a:cs typeface="Arial" pitchFamily="34" charset="-120"/>
                        </a:rPr>
                        <a:t> dengan Kurator perseorangan.</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a:txBody>
                    <a:bodyPr/>
                    <a:lstStyle/>
                    <a:p>
                      <a:pPr indent="0" marL="0">
                        <a:buNone/>
                      </a:pPr>
                      <a:r>
                        <a:rPr lang="en-US" sz="1900" b="1" dirty="0">
                          <a:solidFill>
                            <a:srgbClr val="14284B"/>
                          </a:solidFill>
                          <a:latin typeface="Arial" pitchFamily="34" charset="0"/>
                          <a:ea typeface="Arial" pitchFamily="34" charset="-122"/>
                          <a:cs typeface="Arial" pitchFamily="34" charset="-120"/>
                        </a:rPr>
                        <a:t>(2)</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Pembinaan dan pengawasan terhadap Balai Harta Peninggalan dilakukan oleh </a:t>
                      </a:r>
                      <a:pPr indent="0" marL="0">
                        <a:buNone/>
                      </a:pPr>
                      <a:r>
                        <a:rPr lang="en-US" sz="1900" b="1" dirty="0">
                          <a:solidFill>
                            <a:srgbClr val="14284B"/>
                          </a:solidFill>
                          <a:latin typeface="Arial" pitchFamily="34" charset="0"/>
                          <a:ea typeface="Arial" pitchFamily="34" charset="-122"/>
                          <a:cs typeface="Arial" pitchFamily="34" charset="-120"/>
                        </a:rPr>
                        <a:t>Menteri</a:t>
                      </a:r>
                      <a:pPr indent="0" marL="0">
                        <a:buNone/>
                      </a:pPr>
                      <a:r>
                        <a:rPr lang="en-US" sz="1900" dirty="0">
                          <a:solidFill>
                            <a:srgbClr val="1A1A1A"/>
                          </a:solidFill>
                          <a:latin typeface="Arial" pitchFamily="34" charset="0"/>
                          <a:ea typeface="Arial" pitchFamily="34" charset="-122"/>
                          <a:cs typeface="Arial" pitchFamily="34" charset="-120"/>
                        </a:rPr>
                        <a:t> dengan melibatkan unsur lembaga pengawas profesi.</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gridSpan="3">
                  <a:txBody>
                    <a:bodyPr/>
                    <a:lstStyle/>
                    <a:p>
                      <a:pPr indent="0" marL="0">
                        <a:buNone/>
                      </a:pPr>
                      <a:r>
                        <a:rPr lang="en-US" sz="1800" b="1" i="1" dirty="0">
                          <a:solidFill>
                            <a:srgbClr val="14284B"/>
                          </a:solidFill>
                          <a:latin typeface="Arial" pitchFamily="34" charset="0"/>
                          <a:ea typeface="Arial" pitchFamily="34" charset="-122"/>
                          <a:cs typeface="Arial" pitchFamily="34" charset="-120"/>
                        </a:rPr>
                        <a:t>Analisis.</a:t>
                      </a:r>
                      <a:pPr indent="0" marL="0">
                        <a:buNone/>
                      </a:pPr>
                      <a:r>
                        <a:rPr lang="en-US" sz="1800" i="1" dirty="0">
                          <a:solidFill>
                            <a:srgbClr val="2D3748"/>
                          </a:solidFill>
                          <a:latin typeface="Arial" pitchFamily="34" charset="0"/>
                          <a:ea typeface="Arial" pitchFamily="34" charset="-122"/>
                          <a:cs typeface="Arial" pitchFamily="34" charset="-120"/>
                        </a:rPr>
                        <a:t> Status lembaga negara tidak boleh menjadi keistimewaan. Standarnya satu, hanya jalur pembinaannya yang menyesuaikan.</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23</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6ECF5"/>
        </a:solidFill>
      </p:bgPr>
    </p:bg>
    <p:spTree>
      <p:nvGrpSpPr>
        <p:cNvPr id="1" name=""/>
        <p:cNvGrpSpPr/>
        <p:nvPr/>
      </p:nvGrpSpPr>
      <p:grpSpPr>
        <a:xfrm>
          <a:off x="0" y="0"/>
          <a:ext cx="0" cy="0"/>
          <a:chOff x="0" y="0"/>
          <a:chExt cx="0" cy="0"/>
        </a:xfrm>
      </p:grpSpPr>
      <p:sp>
        <p:nvSpPr>
          <p:cNvPr id="2" name="Shape 0"/>
          <p:cNvSpPr/>
          <p:nvPr/>
        </p:nvSpPr>
        <p:spPr>
          <a:xfrm>
            <a:off x="548640" y="411480"/>
            <a:ext cx="960120" cy="960120"/>
          </a:xfrm>
          <a:prstGeom prst="roundRect">
            <a:avLst>
              <a:gd name="adj" fmla="val 14286"/>
            </a:avLst>
          </a:prstGeom>
          <a:solidFill>
            <a:srgbClr val="14284B"/>
          </a:solidFill>
          <a:ln w="12700">
            <a:solidFill>
              <a:srgbClr val="14284B"/>
            </a:solidFill>
            <a:prstDash val="solid"/>
          </a:ln>
        </p:spPr>
      </p:sp>
      <p:sp>
        <p:nvSpPr>
          <p:cNvPr id="3" name="Text 1"/>
          <p:cNvSpPr txBox="1"/>
          <p:nvPr/>
        </p:nvSpPr>
        <p:spPr>
          <a:xfrm>
            <a:off x="548640" y="411480"/>
            <a:ext cx="960120" cy="960120"/>
          </a:xfrm>
          <a:prstGeom prst="rect">
            <a:avLst/>
          </a:prstGeom>
          <a:noFill/>
          <a:ln/>
        </p:spPr>
        <p:txBody>
          <a:bodyPr wrap="square" lIns="0" tIns="0" rIns="0" bIns="0" rtlCol="0" anchor="ctr"/>
          <a:lstStyle/>
          <a:p>
            <a:pPr algn="ctr" indent="0" marL="0">
              <a:buNone/>
            </a:pPr>
            <a:r>
              <a:rPr lang="en-US" sz="4000" b="1" dirty="0">
                <a:solidFill>
                  <a:srgbClr val="E0A526"/>
                </a:solidFill>
                <a:latin typeface="Arial" pitchFamily="34" charset="0"/>
                <a:ea typeface="Arial" pitchFamily="34" charset="-122"/>
                <a:cs typeface="Arial" pitchFamily="34" charset="-120"/>
              </a:rPr>
              <a:t>D</a:t>
            </a:r>
            <a:endParaRPr lang="en-US" sz="4000" dirty="0"/>
          </a:p>
        </p:txBody>
      </p:sp>
      <p:sp>
        <p:nvSpPr>
          <p:cNvPr id="4" name="Text 2"/>
          <p:cNvSpPr txBox="1"/>
          <p:nvPr/>
        </p:nvSpPr>
        <p:spPr>
          <a:xfrm>
            <a:off x="1783080" y="384048"/>
            <a:ext cx="9875520" cy="384048"/>
          </a:xfrm>
          <a:prstGeom prst="rect">
            <a:avLst/>
          </a:prstGeom>
          <a:noFill/>
          <a:ln/>
        </p:spPr>
        <p:txBody>
          <a:bodyPr wrap="square" lIns="0" tIns="0" rIns="0" bIns="0" rtlCol="0" anchor="ctr"/>
          <a:lstStyle/>
          <a:p>
            <a:pPr indent="0" marL="0">
              <a:buNone/>
            </a:pPr>
            <a:r>
              <a:rPr lang="en-US" sz="1800" b="1" spc="200" kern="0" dirty="0">
                <a:solidFill>
                  <a:srgbClr val="8A6100"/>
                </a:solidFill>
                <a:latin typeface="Arial" pitchFamily="34" charset="0"/>
                <a:ea typeface="Arial" pitchFamily="34" charset="-122"/>
                <a:cs typeface="Arial" pitchFamily="34" charset="-120"/>
              </a:rPr>
              <a:t>BAGIAN IV · USULAN PASAL UNTUK RUU PROFESI KURATOR</a:t>
            </a:r>
            <a:endParaRPr lang="en-US" sz="1800" dirty="0"/>
          </a:p>
        </p:txBody>
      </p:sp>
      <p:sp>
        <p:nvSpPr>
          <p:cNvPr id="5" name="Text 3"/>
          <p:cNvSpPr txBox="1"/>
          <p:nvPr/>
        </p:nvSpPr>
        <p:spPr>
          <a:xfrm>
            <a:off x="1783080" y="768096"/>
            <a:ext cx="9875520" cy="603504"/>
          </a:xfrm>
          <a:prstGeom prst="rect">
            <a:avLst/>
          </a:prstGeom>
          <a:noFill/>
          <a:ln/>
        </p:spPr>
        <p:txBody>
          <a:bodyPr wrap="square" lIns="0" tIns="0" rIns="0" bIns="0" rtlCol="0" anchor="ctr"/>
          <a:lstStyle/>
          <a:p>
            <a:pPr indent="0" marL="0">
              <a:buNone/>
            </a:pPr>
            <a:r>
              <a:rPr lang="en-US" sz="3000" b="1" dirty="0">
                <a:solidFill>
                  <a:srgbClr val="14284B"/>
                </a:solidFill>
                <a:latin typeface="Arial" pitchFamily="34" charset="0"/>
                <a:ea typeface="Arial" pitchFamily="34" charset="-122"/>
                <a:cs typeface="Arial" pitchFamily="34" charset="-120"/>
              </a:rPr>
              <a:t>Koordinasi dan Penugasan Bersama</a:t>
            </a:r>
            <a:endParaRPr lang="en-US" sz="3000" dirty="0"/>
          </a:p>
        </p:txBody>
      </p:sp>
      <p:sp>
        <p:nvSpPr>
          <p:cNvPr id="6" name="Shape 4"/>
          <p:cNvSpPr/>
          <p:nvPr/>
        </p:nvSpPr>
        <p:spPr>
          <a:xfrm>
            <a:off x="548640" y="1554480"/>
            <a:ext cx="11091672" cy="4709160"/>
          </a:xfrm>
          <a:prstGeom prst="roundRect">
            <a:avLst>
              <a:gd name="adj" fmla="val 2330"/>
            </a:avLst>
          </a:prstGeom>
          <a:solidFill>
            <a:srgbClr val="FFFFFF"/>
          </a:solidFill>
          <a:ln w="12700">
            <a:solidFill>
              <a:srgbClr val="B8C4D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691640"/>
          <a:ext cx="10634472" cy="4498848"/>
        </p:xfrm>
        <a:graphic>
          <a:graphicData uri="http://schemas.openxmlformats.org/drawingml/2006/table">
            <a:tbl>
              <a:tblPr/>
              <a:tblGrid>
                <a:gridCol w="731520"/>
                <a:gridCol w="594360"/>
                <a:gridCol w="9308592"/>
              </a:tblGrid>
              <a:tr h="384048">
                <a:tc gridSpan="3">
                  <a:txBody>
                    <a:bodyPr/>
                    <a:lstStyle/>
                    <a:p>
                      <a:pPr algn="ctr" indent="0" marL="0">
                        <a:buNone/>
                      </a:pPr>
                      <a:r>
                        <a:rPr lang="en-US" sz="1900" b="1" dirty="0">
                          <a:solidFill>
                            <a:srgbClr val="14284B"/>
                          </a:solidFill>
                          <a:latin typeface="Arial" pitchFamily="34" charset="0"/>
                          <a:ea typeface="Arial" pitchFamily="34" charset="-122"/>
                          <a:cs typeface="Arial" pitchFamily="34" charset="-120"/>
                        </a:rPr>
                        <a:t>Pasal D (Koordinasi dan Penugasan Bersama)</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c hMerge="1">
                  <a:tcPr/>
                </a:tc>
              </a:tr>
              <a:tr h="932688">
                <a:tc>
                  <a:txBody>
                    <a:bodyPr/>
                    <a:lstStyle/>
                    <a:p>
                      <a:pPr indent="0" marL="0">
                        <a:buNone/>
                      </a:pPr>
                      <a:r>
                        <a:rPr lang="en-US" sz="1900" b="1" dirty="0">
                          <a:solidFill>
                            <a:srgbClr val="14284B"/>
                          </a:solidFill>
                          <a:latin typeface="Arial" pitchFamily="34" charset="0"/>
                          <a:ea typeface="Arial" pitchFamily="34" charset="-122"/>
                          <a:cs typeface="Arial" pitchFamily="34" charset="-120"/>
                        </a:rPr>
                        <a:t>(1)</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Dalam hal Balai Harta Peninggalan dan Kurator perseorangan ditunjuk dalam perkara yang sama, masing-masing bertanggung jawab atas tugas yang ditetapkan baginya, dan </a:t>
                      </a:r>
                      <a:pPr indent="0" marL="0">
                        <a:buNone/>
                      </a:pPr>
                      <a:r>
                        <a:rPr lang="en-US" sz="1900" b="1" dirty="0">
                          <a:solidFill>
                            <a:srgbClr val="14284B"/>
                          </a:solidFill>
                          <a:latin typeface="Arial" pitchFamily="34" charset="0"/>
                          <a:ea typeface="Arial" pitchFamily="34" charset="-122"/>
                          <a:cs typeface="Arial" pitchFamily="34" charset="-120"/>
                        </a:rPr>
                        <a:t>imbalan jasa dibagi sesuai porsi tugas</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a:txBody>
                    <a:bodyPr/>
                    <a:lstStyle/>
                    <a:p>
                      <a:pPr indent="0" marL="0">
                        <a:buNone/>
                      </a:pPr>
                      <a:r>
                        <a:rPr lang="en-US" sz="1900" b="1" dirty="0">
                          <a:solidFill>
                            <a:srgbClr val="14284B"/>
                          </a:solidFill>
                          <a:latin typeface="Arial" pitchFamily="34" charset="0"/>
                          <a:ea typeface="Arial" pitchFamily="34" charset="-122"/>
                          <a:cs typeface="Arial" pitchFamily="34" charset="-120"/>
                        </a:rPr>
                        <a:t>(2)</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Bagian imbalan jasa Balai Harta Peninggalan merupakan </a:t>
                      </a:r>
                      <a:pPr indent="0" marL="0">
                        <a:buNone/>
                      </a:pPr>
                      <a:r>
                        <a:rPr lang="en-US" sz="1900" b="1" dirty="0">
                          <a:solidFill>
                            <a:srgbClr val="14284B"/>
                          </a:solidFill>
                          <a:latin typeface="Arial" pitchFamily="34" charset="0"/>
                          <a:ea typeface="Arial" pitchFamily="34" charset="-122"/>
                          <a:cs typeface="Arial" pitchFamily="34" charset="-120"/>
                        </a:rPr>
                        <a:t>Penerimaan Negara Bukan Pajak</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a:txBody>
                    <a:bodyPr/>
                    <a:lstStyle/>
                    <a:p>
                      <a:pPr indent="0" marL="0">
                        <a:buNone/>
                      </a:pPr>
                      <a:r>
                        <a:rPr lang="en-US" sz="1900" b="1" dirty="0">
                          <a:solidFill>
                            <a:srgbClr val="14284B"/>
                          </a:solidFill>
                          <a:latin typeface="Arial" pitchFamily="34" charset="0"/>
                          <a:ea typeface="Arial" pitchFamily="34" charset="-122"/>
                          <a:cs typeface="Arial" pitchFamily="34" charset="-120"/>
                        </a:rPr>
                        <a:t>(3)</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Setiap Kurator </a:t>
                      </a:r>
                      <a:pPr indent="0" marL="0">
                        <a:buNone/>
                      </a:pPr>
                      <a:r>
                        <a:rPr lang="en-US" sz="1900" b="1" dirty="0">
                          <a:solidFill>
                            <a:srgbClr val="14284B"/>
                          </a:solidFill>
                          <a:latin typeface="Arial" pitchFamily="34" charset="0"/>
                          <a:ea typeface="Arial" pitchFamily="34" charset="-122"/>
                          <a:cs typeface="Arial" pitchFamily="34" charset="-120"/>
                        </a:rPr>
                        <a:t>wajib mengungkapkan hubungan yang dapat menimbulkan benturan kepentingan</a:t>
                      </a:r>
                      <a:pPr indent="0" marL="0">
                        <a:buNone/>
                      </a:pPr>
                      <a:r>
                        <a:rPr lang="en-US" sz="1900" dirty="0">
                          <a:solidFill>
                            <a:srgbClr val="1A1A1A"/>
                          </a:solidFill>
                          <a:latin typeface="Arial" pitchFamily="34" charset="0"/>
                          <a:ea typeface="Arial" pitchFamily="34" charset="-122"/>
                          <a:cs typeface="Arial" pitchFamily="34" charset="-120"/>
                        </a:rPr>
                        <a:t>.</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658368">
                <a:tc>
                  <a:txBody>
                    <a:bodyPr/>
                    <a:lstStyle/>
                    <a:p>
                      <a:pPr indent="0" marL="0">
                        <a:buNone/>
                      </a:pPr>
                      <a:r>
                        <a:rPr lang="en-US" sz="1900" b="1" dirty="0">
                          <a:solidFill>
                            <a:srgbClr val="14284B"/>
                          </a:solidFill>
                          <a:latin typeface="Arial" pitchFamily="34" charset="0"/>
                          <a:ea typeface="Arial" pitchFamily="34" charset="-122"/>
                          <a:cs typeface="Arial" pitchFamily="34" charset="-120"/>
                        </a:rPr>
                        <a:t>(4)</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gridSpan="2">
                  <a:txBody>
                    <a:bodyPr/>
                    <a:lstStyle/>
                    <a:p>
                      <a:pPr indent="0" marL="0">
                        <a:buNone/>
                      </a:pPr>
                      <a:r>
                        <a:rPr lang="en-US" sz="1900" dirty="0">
                          <a:solidFill>
                            <a:srgbClr val="1A1A1A"/>
                          </a:solidFill>
                          <a:latin typeface="Arial" pitchFamily="34" charset="0"/>
                          <a:ea typeface="Arial" pitchFamily="34" charset="-122"/>
                          <a:cs typeface="Arial" pitchFamily="34" charset="-120"/>
                        </a:rPr>
                        <a:t>Menteri menyelenggarakan data Kurator dan perkara yang terintegrasi, dan </a:t>
                      </a:r>
                      <a:pPr indent="0" marL="0">
                        <a:buNone/>
                      </a:pPr>
                      <a:r>
                        <a:rPr lang="en-US" sz="1900" b="1" dirty="0">
                          <a:solidFill>
                            <a:srgbClr val="14284B"/>
                          </a:solidFill>
                          <a:latin typeface="Arial" pitchFamily="34" charset="0"/>
                          <a:ea typeface="Arial" pitchFamily="34" charset="-122"/>
                          <a:cs typeface="Arial" pitchFamily="34" charset="-120"/>
                        </a:rPr>
                        <a:t>Balai Harta Peninggalan menjadi simpul data</a:t>
                      </a:r>
                      <a:pPr indent="0" marL="0">
                        <a:buNone/>
                      </a:pPr>
                      <a:r>
                        <a:rPr lang="en-US" sz="1900" dirty="0">
                          <a:solidFill>
                            <a:srgbClr val="1A1A1A"/>
                          </a:solidFill>
                          <a:latin typeface="Arial" pitchFamily="34" charset="0"/>
                          <a:ea typeface="Arial" pitchFamily="34" charset="-122"/>
                          <a:cs typeface="Arial" pitchFamily="34" charset="-120"/>
                        </a:rPr>
                        <a:t> di wilayah kerjanya.</a:t>
                      </a:r>
                      <a:endParaRPr lang="en-US" sz="19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tcPr>
                </a:tc>
                <a:tc hMerge="1">
                  <a:tcPr/>
                </a:tc>
              </a:tr>
              <a:tr h="1207008">
                <a:tc gridSpan="3">
                  <a:txBody>
                    <a:bodyPr/>
                    <a:lstStyle/>
                    <a:p>
                      <a:pPr indent="0" marL="0">
                        <a:buNone/>
                      </a:pPr>
                      <a:r>
                        <a:rPr lang="en-US" sz="1800" b="1" i="1" dirty="0">
                          <a:solidFill>
                            <a:srgbClr val="14284B"/>
                          </a:solidFill>
                          <a:latin typeface="Arial" pitchFamily="34" charset="0"/>
                          <a:ea typeface="Arial" pitchFamily="34" charset="-122"/>
                          <a:cs typeface="Arial" pitchFamily="34" charset="-120"/>
                        </a:rPr>
                        <a:t>Analisis.</a:t>
                      </a:r>
                      <a:pPr indent="0" marL="0">
                        <a:buNone/>
                      </a:pPr>
                      <a:r>
                        <a:rPr lang="en-US" sz="1800" i="1" dirty="0">
                          <a:solidFill>
                            <a:srgbClr val="2D3748"/>
                          </a:solidFill>
                          <a:latin typeface="Arial" pitchFamily="34" charset="0"/>
                          <a:ea typeface="Arial" pitchFamily="34" charset="-122"/>
                          <a:cs typeface="Arial" pitchFamily="34" charset="-120"/>
                        </a:rPr>
                        <a:t> Pada perkara PT Jasa Prima Mandiri, imbalan BHP dan kurator tambahan dihitung dengan aturan yang berbeda tanpa melihat porsi tugas. Pasal ini mencegah hal tersebut, menjaga independensi, dan menyediakan data yang saat ini belum ada, termasuk perbandingan perkara BHP dan kurator perorangan.</a:t>
                      </a:r>
                      <a:endParaRPr lang="en-US" sz="1800" dirty="0">
                        <a:latin typeface="Arial" charset="0"/>
                        <a:ea typeface="Arial" charset="0"/>
                        <a:cs typeface="Arial" charset="0"/>
                      </a:endParaRPr>
                    </a:p>
                  </a:txBody>
                  <a:tcPr marL="50800" marR="50800" marT="38100" marB="63500" anchor="t">
                    <a:lnL w="0" cap="flat" cmpd="sng" algn="ctr">
                      <a:noFill/>
                    </a:lnL>
                    <a:lnR w="0" cap="flat" cmpd="sng" algn="ctr">
                      <a:noFill/>
                    </a:lnR>
                    <a:lnT w="0" cap="flat" cmpd="sng" algn="ctr">
                      <a:noFill/>
                    </a:lnT>
                    <a:lnB w="0" cap="flat" cmpd="sng" algn="ctr">
                      <a:noFill/>
                    </a:lnB>
                    <a:solidFill>
                      <a:srgbClr val="F3F6FA"/>
                    </a:solidFill>
                  </a:tcPr>
                </a:tc>
                <a:tc hMerge="1">
                  <a:tcPr/>
                </a:tc>
                <a:tc hMerge="1">
                  <a:tcPr/>
                </a:tc>
              </a:tr>
            </a:tbl>
          </a:graphicData>
        </a:graphic>
      </p:graphicFrame>
      <p:sp>
        <p:nvSpPr>
          <p:cNvPr id="8" name="Text 5"/>
          <p:cNvSpPr txBox="1"/>
          <p:nvPr/>
        </p:nvSpPr>
        <p:spPr>
          <a:xfrm>
            <a:off x="548640" y="6382512"/>
            <a:ext cx="8229600" cy="320040"/>
          </a:xfrm>
          <a:prstGeom prst="rect">
            <a:avLst/>
          </a:prstGeom>
          <a:noFill/>
          <a:ln/>
        </p:spPr>
        <p:txBody>
          <a:bodyPr wrap="square" lIns="0" tIns="0" rIns="0" bIns="0" rtlCol="0" anchor="ctr"/>
          <a:lstStyle/>
          <a:p>
            <a:pPr indent="0" marL="0">
              <a:buNone/>
            </a:pPr>
            <a:r>
              <a:rPr lang="en-US" sz="1400" dirty="0">
                <a:solidFill>
                  <a:srgbClr val="4A5568"/>
                </a:solidFill>
                <a:latin typeface="Arial" pitchFamily="34" charset="0"/>
                <a:ea typeface="Arial" pitchFamily="34" charset="-122"/>
                <a:cs typeface="Arial" pitchFamily="34" charset="-120"/>
              </a:rPr>
              <a:t>BHP Medan · RDP Komisi XIII DPR RI · RUU tentang Profesi Kurator · Poin 1</a:t>
            </a:r>
            <a:endParaRPr lang="en-US" sz="1400" dirty="0"/>
          </a:p>
        </p:txBody>
      </p:sp>
      <p:sp>
        <p:nvSpPr>
          <p:cNvPr id="9" name="Text 6"/>
          <p:cNvSpPr txBox="1"/>
          <p:nvPr/>
        </p:nvSpPr>
        <p:spPr>
          <a:xfrm>
            <a:off x="10728655" y="6382512"/>
            <a:ext cx="914400" cy="320040"/>
          </a:xfrm>
          <a:prstGeom prst="rect">
            <a:avLst/>
          </a:prstGeom>
          <a:noFill/>
          <a:ln/>
        </p:spPr>
        <p:txBody>
          <a:bodyPr wrap="square" lIns="0" tIns="0" rIns="0" bIns="0" rtlCol="0" anchor="ctr"/>
          <a:lstStyle/>
          <a:p>
            <a:pPr algn="r" indent="0" marL="0">
              <a:buNone/>
            </a:pPr>
            <a:r>
              <a:rPr lang="en-US" sz="1400" dirty="0">
                <a:solidFill>
                  <a:srgbClr val="4A5568"/>
                </a:solidFill>
                <a:latin typeface="Arial" pitchFamily="34" charset="0"/>
                <a:ea typeface="Arial" pitchFamily="34" charset="-122"/>
                <a:cs typeface="Arial" pitchFamily="34" charset="-120"/>
              </a:rPr>
              <a:t>24</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284B"/>
        </a:solidFill>
      </p:bgPr>
    </p:bg>
    <p:spTree>
      <p:nvGrpSpPr>
        <p:cNvPr id="1" name=""/>
        <p:cNvGrpSpPr/>
        <p:nvPr/>
      </p:nvGrpSpPr>
      <p:grpSpPr>
        <a:xfrm>
          <a:off x="0" y="0"/>
          <a:ext cx="0" cy="0"/>
          <a:chOff x="0" y="0"/>
          <a:chExt cx="0" cy="0"/>
        </a:xfrm>
      </p:grpSpPr>
      <p:sp>
        <p:nvSpPr>
          <p:cNvPr id="2" name="Shape 0"/>
          <p:cNvSpPr/>
          <p:nvPr/>
        </p:nvSpPr>
        <p:spPr>
          <a:xfrm>
            <a:off x="731520" y="548640"/>
            <a:ext cx="2011680" cy="73152"/>
          </a:xfrm>
          <a:prstGeom prst="roundRect">
            <a:avLst>
              <a:gd name="adj" fmla="val 50000"/>
            </a:avLst>
          </a:prstGeom>
          <a:solidFill>
            <a:srgbClr val="8A7A4A"/>
          </a:solidFill>
          <a:ln w="12700">
            <a:solidFill>
              <a:srgbClr val="8A7A4A"/>
            </a:solidFill>
            <a:prstDash val="solid"/>
          </a:ln>
        </p:spPr>
      </p:sp>
      <p:sp>
        <p:nvSpPr>
          <p:cNvPr id="3" name="Shape 1"/>
          <p:cNvSpPr/>
          <p:nvPr/>
        </p:nvSpPr>
        <p:spPr>
          <a:xfrm>
            <a:off x="2907792" y="548640"/>
            <a:ext cx="2011680" cy="73152"/>
          </a:xfrm>
          <a:prstGeom prst="roundRect">
            <a:avLst>
              <a:gd name="adj" fmla="val 50000"/>
            </a:avLst>
          </a:prstGeom>
          <a:solidFill>
            <a:srgbClr val="8A7A4A"/>
          </a:solidFill>
          <a:ln w="12700">
            <a:solidFill>
              <a:srgbClr val="8A7A4A"/>
            </a:solidFill>
            <a:prstDash val="solid"/>
          </a:ln>
        </p:spPr>
      </p:sp>
      <p:sp>
        <p:nvSpPr>
          <p:cNvPr id="4" name="Shape 2"/>
          <p:cNvSpPr/>
          <p:nvPr/>
        </p:nvSpPr>
        <p:spPr>
          <a:xfrm>
            <a:off x="5084064" y="548640"/>
            <a:ext cx="2011680" cy="73152"/>
          </a:xfrm>
          <a:prstGeom prst="roundRect">
            <a:avLst>
              <a:gd name="adj" fmla="val 50000"/>
            </a:avLst>
          </a:prstGeom>
          <a:solidFill>
            <a:srgbClr val="8A7A4A"/>
          </a:solidFill>
          <a:ln w="12700">
            <a:solidFill>
              <a:srgbClr val="8A7A4A"/>
            </a:solidFill>
            <a:prstDash val="solid"/>
          </a:ln>
        </p:spPr>
      </p:sp>
      <p:sp>
        <p:nvSpPr>
          <p:cNvPr id="5" name="Shape 3"/>
          <p:cNvSpPr/>
          <p:nvPr/>
        </p:nvSpPr>
        <p:spPr>
          <a:xfrm>
            <a:off x="7260336" y="548640"/>
            <a:ext cx="2011680" cy="73152"/>
          </a:xfrm>
          <a:prstGeom prst="roundRect">
            <a:avLst>
              <a:gd name="adj" fmla="val 50000"/>
            </a:avLst>
          </a:prstGeom>
          <a:solidFill>
            <a:srgbClr val="8A7A4A"/>
          </a:solidFill>
          <a:ln w="12700">
            <a:solidFill>
              <a:srgbClr val="8A7A4A"/>
            </a:solidFill>
            <a:prstDash val="solid"/>
          </a:ln>
        </p:spPr>
      </p:sp>
      <p:sp>
        <p:nvSpPr>
          <p:cNvPr id="6" name="Shape 4"/>
          <p:cNvSpPr/>
          <p:nvPr/>
        </p:nvSpPr>
        <p:spPr>
          <a:xfrm>
            <a:off x="9436608" y="548640"/>
            <a:ext cx="2011680" cy="73152"/>
          </a:xfrm>
          <a:prstGeom prst="roundRect">
            <a:avLst>
              <a:gd name="adj" fmla="val 50000"/>
            </a:avLst>
          </a:prstGeom>
          <a:solidFill>
            <a:srgbClr val="E0A526"/>
          </a:solidFill>
          <a:ln w="12700">
            <a:solidFill>
              <a:srgbClr val="E0A526"/>
            </a:solidFill>
            <a:prstDash val="solid"/>
          </a:ln>
        </p:spPr>
      </p:sp>
      <p:sp>
        <p:nvSpPr>
          <p:cNvPr id="7" name="Text 5"/>
          <p:cNvSpPr txBox="1"/>
          <p:nvPr/>
        </p:nvSpPr>
        <p:spPr>
          <a:xfrm>
            <a:off x="731520" y="1051560"/>
            <a:ext cx="10698480" cy="457200"/>
          </a:xfrm>
          <a:prstGeom prst="rect">
            <a:avLst/>
          </a:prstGeom>
          <a:noFill/>
          <a:ln/>
        </p:spPr>
        <p:txBody>
          <a:bodyPr wrap="square" lIns="0" tIns="0" rIns="0" bIns="0" rtlCol="0" anchor="t"/>
          <a:lstStyle/>
          <a:p>
            <a:pPr indent="0" marL="0">
              <a:buNone/>
            </a:pPr>
            <a:r>
              <a:rPr lang="en-US" sz="1800" b="1" spc="300" kern="0" dirty="0">
                <a:solidFill>
                  <a:srgbClr val="E0A526"/>
                </a:solidFill>
                <a:latin typeface="Arial" pitchFamily="34" charset="0"/>
                <a:ea typeface="Arial" pitchFamily="34" charset="-122"/>
                <a:cs typeface="Arial" pitchFamily="34" charset="-120"/>
              </a:rPr>
              <a:t>BAGIAN V DARI V</a:t>
            </a:r>
            <a:endParaRPr lang="en-US" sz="1800" dirty="0"/>
          </a:p>
        </p:txBody>
      </p:sp>
      <p:sp>
        <p:nvSpPr>
          <p:cNvPr id="8" name="Text 6"/>
          <p:cNvSpPr txBox="1"/>
          <p:nvPr/>
        </p:nvSpPr>
        <p:spPr>
          <a:xfrm>
            <a:off x="731520" y="1554480"/>
            <a:ext cx="10698480" cy="100584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Catatan untuk RUU Kepailitan dan PKPU</a:t>
            </a:r>
            <a:endParaRPr lang="en-US" sz="3600" dirty="0"/>
          </a:p>
        </p:txBody>
      </p:sp>
      <p:sp>
        <p:nvSpPr>
          <p:cNvPr id="9" name="Text 7"/>
          <p:cNvSpPr txBox="1"/>
          <p:nvPr/>
        </p:nvSpPr>
        <p:spPr>
          <a:xfrm>
            <a:off x="731520" y="2697480"/>
            <a:ext cx="10241280" cy="1188720"/>
          </a:xfrm>
          <a:prstGeom prst="rect">
            <a:avLst/>
          </a:prstGeom>
          <a:noFill/>
          <a:ln/>
        </p:spPr>
        <p:txBody>
          <a:bodyPr wrap="square" lIns="0" tIns="0" rIns="0" bIns="0" rtlCol="0" anchor="t"/>
          <a:lstStyle/>
          <a:p>
            <a:pPr indent="0" marL="0">
              <a:buNone/>
            </a:pPr>
            <a:r>
              <a:rPr lang="en-US" sz="2200" dirty="0">
                <a:solidFill>
                  <a:srgbClr val="DCE4F2"/>
                </a:solidFill>
                <a:latin typeface="Arial" pitchFamily="34" charset="0"/>
                <a:ea typeface="Arial" pitchFamily="34" charset="-122"/>
                <a:cs typeface="Arial" pitchFamily="34" charset="-120"/>
              </a:rPr>
              <a:t>Beberapa hal lebih tepat diatur dalam RUU Kepailitan dan PKPU. Kedua RUU perlu disusun selaras sejak awal.</a:t>
            </a:r>
            <a:endParaRPr lang="en-US" sz="2200" dirty="0"/>
          </a:p>
        </p:txBody>
      </p:sp>
      <p:sp>
        <p:nvSpPr>
          <p:cNvPr id="10" name="Shape 8"/>
          <p:cNvSpPr/>
          <p:nvPr/>
        </p:nvSpPr>
        <p:spPr>
          <a:xfrm>
            <a:off x="731520" y="4160520"/>
            <a:ext cx="420624" cy="420624"/>
          </a:xfrm>
          <a:prstGeom prst="ellipse">
            <a:avLst/>
          </a:prstGeom>
          <a:solidFill>
            <a:srgbClr val="E0A526"/>
          </a:solidFill>
          <a:ln w="12700">
            <a:solidFill>
              <a:srgbClr val="E0A526"/>
            </a:solidFill>
            <a:prstDash val="solid"/>
          </a:ln>
        </p:spPr>
      </p:sp>
      <p:sp>
        <p:nvSpPr>
          <p:cNvPr id="11" name="Text 9"/>
          <p:cNvSpPr txBox="1"/>
          <p:nvPr/>
        </p:nvSpPr>
        <p:spPr>
          <a:xfrm>
            <a:off x="731520" y="4160520"/>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1</a:t>
            </a:r>
            <a:endParaRPr lang="en-US" sz="1500" dirty="0"/>
          </a:p>
        </p:txBody>
      </p:sp>
      <p:sp>
        <p:nvSpPr>
          <p:cNvPr id="12" name="Text 10"/>
          <p:cNvSpPr txBox="1"/>
          <p:nvPr/>
        </p:nvSpPr>
        <p:spPr>
          <a:xfrm>
            <a:off x="1325880" y="4160520"/>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Kewenangan BHP menjadi pengurus PKPU</a:t>
            </a:r>
            <a:endParaRPr lang="en-US" sz="1900" dirty="0"/>
          </a:p>
        </p:txBody>
      </p:sp>
      <p:sp>
        <p:nvSpPr>
          <p:cNvPr id="13" name="Shape 11"/>
          <p:cNvSpPr/>
          <p:nvPr/>
        </p:nvSpPr>
        <p:spPr>
          <a:xfrm>
            <a:off x="731520" y="4690872"/>
            <a:ext cx="420624" cy="420624"/>
          </a:xfrm>
          <a:prstGeom prst="ellipse">
            <a:avLst/>
          </a:prstGeom>
          <a:solidFill>
            <a:srgbClr val="E0A526"/>
          </a:solidFill>
          <a:ln w="12700">
            <a:solidFill>
              <a:srgbClr val="E0A526"/>
            </a:solidFill>
            <a:prstDash val="solid"/>
          </a:ln>
        </p:spPr>
      </p:sp>
      <p:sp>
        <p:nvSpPr>
          <p:cNvPr id="14" name="Text 12"/>
          <p:cNvSpPr txBox="1"/>
          <p:nvPr/>
        </p:nvSpPr>
        <p:spPr>
          <a:xfrm>
            <a:off x="731520" y="4690872"/>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2</a:t>
            </a:r>
            <a:endParaRPr lang="en-US" sz="1500" dirty="0"/>
          </a:p>
        </p:txBody>
      </p:sp>
      <p:sp>
        <p:nvSpPr>
          <p:cNvPr id="15" name="Text 13"/>
          <p:cNvSpPr txBox="1"/>
          <p:nvPr/>
        </p:nvSpPr>
        <p:spPr>
          <a:xfrm>
            <a:off x="1325880" y="4690872"/>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Kriteria dan tata cara penunjukan BHP pada perkara tertentu</a:t>
            </a:r>
            <a:endParaRPr lang="en-US" sz="1900" dirty="0"/>
          </a:p>
        </p:txBody>
      </p:sp>
      <p:sp>
        <p:nvSpPr>
          <p:cNvPr id="16" name="Shape 14"/>
          <p:cNvSpPr/>
          <p:nvPr/>
        </p:nvSpPr>
        <p:spPr>
          <a:xfrm>
            <a:off x="731520" y="5221224"/>
            <a:ext cx="420624" cy="420624"/>
          </a:xfrm>
          <a:prstGeom prst="ellipse">
            <a:avLst/>
          </a:prstGeom>
          <a:solidFill>
            <a:srgbClr val="E0A526"/>
          </a:solidFill>
          <a:ln w="12700">
            <a:solidFill>
              <a:srgbClr val="E0A526"/>
            </a:solidFill>
            <a:prstDash val="solid"/>
          </a:ln>
        </p:spPr>
      </p:sp>
      <p:sp>
        <p:nvSpPr>
          <p:cNvPr id="17" name="Text 15"/>
          <p:cNvSpPr txBox="1"/>
          <p:nvPr/>
        </p:nvSpPr>
        <p:spPr>
          <a:xfrm>
            <a:off x="731520" y="5221224"/>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1325880" y="5221224"/>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Kepailitan harta peninggalan tanpa ahli waris</a:t>
            </a:r>
            <a:endParaRPr lang="en-US" sz="1900" dirty="0"/>
          </a:p>
        </p:txBody>
      </p:sp>
      <p:sp>
        <p:nvSpPr>
          <p:cNvPr id="19" name="Shape 17"/>
          <p:cNvSpPr/>
          <p:nvPr/>
        </p:nvSpPr>
        <p:spPr>
          <a:xfrm>
            <a:off x="731520" y="5751576"/>
            <a:ext cx="420624" cy="420624"/>
          </a:xfrm>
          <a:prstGeom prst="ellipse">
            <a:avLst/>
          </a:prstGeom>
          <a:solidFill>
            <a:srgbClr val="E0A526"/>
          </a:solidFill>
          <a:ln w="12700">
            <a:solidFill>
              <a:srgbClr val="E0A526"/>
            </a:solidFill>
            <a:prstDash val="solid"/>
          </a:ln>
        </p:spPr>
      </p:sp>
      <p:sp>
        <p:nvSpPr>
          <p:cNvPr id="20" name="Text 18"/>
          <p:cNvSpPr txBox="1"/>
          <p:nvPr/>
        </p:nvSpPr>
        <p:spPr>
          <a:xfrm>
            <a:off x="731520" y="5751576"/>
            <a:ext cx="420624" cy="420624"/>
          </a:xfrm>
          <a:prstGeom prst="rect">
            <a:avLst/>
          </a:prstGeom>
          <a:noFill/>
          <a:ln/>
        </p:spPr>
        <p:txBody>
          <a:bodyPr wrap="square" lIns="0" tIns="0" rIns="0" bIns="0" rtlCol="0" anchor="ctr"/>
          <a:lstStyle/>
          <a:p>
            <a:pPr algn="ctr" indent="0" marL="0">
              <a:buNone/>
            </a:pPr>
            <a:r>
              <a:rPr lang="en-US" sz="1500" b="1" dirty="0">
                <a:solidFill>
                  <a:srgbClr val="14284B"/>
                </a:solidFill>
                <a:latin typeface="Arial" pitchFamily="34" charset="0"/>
                <a:ea typeface="Arial" pitchFamily="34" charset="-122"/>
                <a:cs typeface="Arial" pitchFamily="34" charset="-120"/>
              </a:rPr>
              <a:t>4</a:t>
            </a:r>
            <a:endParaRPr lang="en-US" sz="1500" dirty="0"/>
          </a:p>
        </p:txBody>
      </p:sp>
      <p:sp>
        <p:nvSpPr>
          <p:cNvPr id="21" name="Text 19"/>
          <p:cNvSpPr txBox="1"/>
          <p:nvPr/>
        </p:nvSpPr>
        <p:spPr>
          <a:xfrm>
            <a:off x="1325880" y="5751576"/>
            <a:ext cx="9601200" cy="420624"/>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Kelanjutan perkara apabila debitor menghilang</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284B"/>
        </a:solidFill>
      </p:bgPr>
    </p:bg>
    <p:spTree>
      <p:nvGrpSpPr>
        <p:cNvPr id="1" name=""/>
        <p:cNvGrpSpPr/>
        <p:nvPr/>
      </p:nvGrpSpPr>
      <p:grpSpPr>
        <a:xfrm>
          <a:off x="0" y="0"/>
          <a:ext cx="0" cy="0"/>
          <a:chOff x="0" y="0"/>
          <a:chExt cx="0" cy="0"/>
        </a:xfrm>
      </p:grpSpPr>
      <p:sp>
        <p:nvSpPr>
          <p:cNvPr id="2" name="Text 0"/>
          <p:cNvSpPr txBox="1"/>
          <p:nvPr/>
        </p:nvSpPr>
        <p:spPr>
          <a:xfrm>
            <a:off x="731520" y="457200"/>
            <a:ext cx="10698480" cy="777240"/>
          </a:xfrm>
          <a:prstGeom prst="rect">
            <a:avLst/>
          </a:prstGeom>
          <a:noFill/>
          <a:ln/>
        </p:spPr>
        <p:txBody>
          <a:bodyPr wrap="square" lIns="0" tIns="0" rIns="0" bIns="0" rtlCol="0" anchor="t"/>
          <a:lstStyle/>
          <a:p>
            <a:pPr indent="0" marL="0">
              <a:buNone/>
            </a:pPr>
            <a:r>
              <a:rPr lang="en-US" sz="4000" b="1" dirty="0">
                <a:solidFill>
                  <a:srgbClr val="E0A526"/>
                </a:solidFill>
                <a:latin typeface="Arial" pitchFamily="34" charset="0"/>
                <a:ea typeface="Arial" pitchFamily="34" charset="-122"/>
                <a:cs typeface="Arial" pitchFamily="34" charset="-120"/>
              </a:rPr>
              <a:t>Penutup</a:t>
            </a:r>
            <a:endParaRPr lang="en-US" sz="4000" dirty="0"/>
          </a:p>
        </p:txBody>
      </p:sp>
      <p:sp>
        <p:nvSpPr>
          <p:cNvPr id="3" name="Text 1"/>
          <p:cNvSpPr txBox="1"/>
          <p:nvPr/>
        </p:nvSpPr>
        <p:spPr>
          <a:xfrm>
            <a:off x="731520" y="1325880"/>
            <a:ext cx="10698480" cy="17373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BHP dimuat dalam RUU sebagai lembaga negara yang menjalankan tugas kurator, dengan satu standar profesi untuk semua kurator.</a:t>
            </a:r>
            <a:endParaRPr lang="en-US" sz="3200" dirty="0"/>
          </a:p>
        </p:txBody>
      </p:sp>
      <p:sp>
        <p:nvSpPr>
          <p:cNvPr id="4" name="Text 2"/>
          <p:cNvSpPr txBox="1"/>
          <p:nvPr/>
        </p:nvSpPr>
        <p:spPr>
          <a:xfrm>
            <a:off x="731520" y="4572000"/>
            <a:ext cx="10698480" cy="822960"/>
          </a:xfrm>
          <a:prstGeom prst="rect">
            <a:avLst/>
          </a:prstGeom>
          <a:noFill/>
          <a:ln/>
        </p:spPr>
        <p:txBody>
          <a:bodyPr wrap="square" lIns="0" tIns="0" rIns="0" bIns="0" rtlCol="0" anchor="t"/>
          <a:lstStyle/>
          <a:p>
            <a:pPr indent="0" marL="0">
              <a:buNone/>
            </a:pPr>
            <a:r>
              <a:rPr lang="en-US" sz="4400" b="1" dirty="0">
                <a:solidFill>
                  <a:srgbClr val="E0A526"/>
                </a:solidFill>
                <a:latin typeface="Arial" pitchFamily="34" charset="0"/>
                <a:ea typeface="Arial" pitchFamily="34" charset="-122"/>
                <a:cs typeface="Arial" pitchFamily="34" charset="-120"/>
              </a:rPr>
              <a:t>Terima kasih</a:t>
            </a:r>
            <a:endParaRPr lang="en-US" sz="4400" dirty="0"/>
          </a:p>
        </p:txBody>
      </p:sp>
      <p:sp>
        <p:nvSpPr>
          <p:cNvPr id="5" name="Text 3"/>
          <p:cNvSpPr txBox="1"/>
          <p:nvPr/>
        </p:nvSpPr>
        <p:spPr>
          <a:xfrm>
            <a:off x="731520" y="5440680"/>
            <a:ext cx="10698480" cy="54864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Syafriadi Lubis, M.H.</a:t>
            </a:r>
            <a:pPr indent="0" marL="0">
              <a:buNone/>
            </a:pPr>
            <a:r>
              <a:rPr lang="en-US" sz="2200" dirty="0">
                <a:solidFill>
                  <a:srgbClr val="FFFFFF"/>
                </a:solidFill>
                <a:latin typeface="Arial" pitchFamily="34" charset="0"/>
                <a:ea typeface="Arial" pitchFamily="34" charset="-122"/>
                <a:cs typeface="Arial" pitchFamily="34" charset="-120"/>
              </a:rPr>
              <a:t> · Kepala Balai Harta Peninggalan Medan</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Bahan Masukan BHP Medan: RUU tentang Profesi Kurator</dc:title>
  <dc:subject>PptxGenJS Presentation</dc:subject>
  <dc:creator>Balai Harta Peninggalan Medan</dc:creator>
  <cp:lastModifiedBy>Balai Harta Peninggalan Medan</cp:lastModifiedBy>
  <cp:revision>1</cp:revision>
  <dcterms:created xsi:type="dcterms:W3CDTF">2026-10-02T11:41:41Z</dcterms:created>
  <dcterms:modified xsi:type="dcterms:W3CDTF">2026-10-02T11:41:41Z</dcterms:modified>
</cp:coreProperties>
</file>