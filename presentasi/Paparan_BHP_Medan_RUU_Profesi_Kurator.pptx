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Salam pembuka.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pesan, lima bagian. Alurnya: masalah, sikap, bukti, jawaban, pasal, catatan.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 Pokok Sikap. Pesan utama: BHP dimuat dalam RUU sebagai lembaga negara yang menjalankan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ada dua: perseorangan dan BHP. Bila RUU hanya untuk perseorangan, tiga hal tentang BHP menjadi tidak jelas. Tiga hal inilah yang dijawab empat sikap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sikap. Setiap sikap menunjuk pasal yang merumuskannya.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1 dan 2 menjawab dua hal yang tidak jelas: BHP tidak perlu izin karena kewenangannya dari undang-undang, tetapi standarnya tetap sama. Bukan keistimewaan.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3. BHP mengisi perkara publik dan yang tidak diminati. Perkara bisnis tetap pilihan para pihak. Bagian II membuktikan pembagian ini dengan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Sikap 4. Empat lembaga, empat peran. Tekankan: BHP bukan pengawas kurator privat.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 Pengalaman BHP Medan. Pesan utama: Perkara yang jatuh ke BHP adalah perkara yang tidak diambil pihak lain. Pembagian peran itu nyata.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Sembilan perkara, seluruhnya datang karena pemohon tidak mengusulkan kurator. Inilah wajah pembagian peran di lapangan.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1. Empat perkara yang sudah dinilai: harta hanya 12 sampai 40 persen dari tagihan. Sumber: Buku Register Kepailitan BHP Medan, pemutakhiran Juni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2. Lama perkara sejak putusan sampai Oktober 2026 (PT Rata Makmur sejak PKPU). Sumber: Buku Register Kepailitan BHP Medan, diolah.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Temuan 3 dan 4: PT Rata Makmur dan CV Hitado. Keduanya masuk daftar perkara BHP pada Pasal B; kelanjutan perkara debitor hilang menjadi catatan untuk RUU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Perkara niaga naik, tetapi tidak ada data siapa kurator yang diangkat. Kekosongan data ini dijawab Pasal D ayat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III: tiga pertanyaan Klaster 1 dan jawaban singkatnya. Rinciannya di slide berikut.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1, bagian mekanisme. Alur kerja BHP dari penunjukan sampai laporan. Imbalannya masuk kas negara.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nyata kerja sama BHP dan kurator perorangan yang berjalan baik. Kendalanya satu: imbalan jasa.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yang diangkat lebih dahulu justru menerima lebih kecil, karena aturannya berbeda. Ini dijawab Pasal D ayat (1) dan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2. Tidak perlu memisahkan BHP dari tugas kurator. Yang diperlukan adalah pembagian peran yang jelas, karena tiga alasan. Luruskan istilah wali pengawas.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3. Setuju untuk lima jenis perkara. Di luar itu para pihak tetap bebas memilih. Dasarnya di Pasal B, kriterianya di RUU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IV: Usulan Pasal untuk RUU Profesi Kurator. Pesan utama: Setiap masalah yang disebut di awal punya rumusan pasalnya.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A menjawab Sikap 1 dan ketidakjelasan pertama: BHP masuk sistem profesi kurator tanpa harus mengikuti aturan izin untuk orang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B menjawab Sikap 3, temuan Bagian II, dan Pertanyaan 2 dan 3: kepastian pembagian peran tanpa mengulang hukum acara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C menjawab Sikap 2 dan ketidakjelasan kedua: status lembaga negara bukan keistimewaan. Standarnya satu, pembinaannya oleh Menteri.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D menjawab Sikap 4, kendala imbalan PT Jasa Prima Mandiri, dan kekosongan data perkara nasional.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V: Catatan untuk RUU Kepailitan dan PKPU. Pesan utama: Kedua RUU perlu disusun selaras sejak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Rekap satu halaman: tiap ketidakjelasan dijawab satu sikap, didukung bukti, dan dirumuskan dalam satu pasal.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penutup dan ucapan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800" b="1" dirty="0">
                <a:solidFill>
                  <a:srgbClr val="E0A526"/>
                </a:solidFill>
                <a:latin typeface="Arial" pitchFamily="34" charset="0"/>
                <a:ea typeface="Arial" pitchFamily="34" charset="-122"/>
                <a:cs typeface="Arial" pitchFamily="34" charset="-120"/>
              </a:rPr>
              <a:t>Poin 1: Kewenangan dan Pembagian Peran Kurator</a:t>
            </a:r>
            <a:endParaRPr lang="en-US" sz="28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Rapat Dengar Pendapat Komisi XIII DPR RI tentang Rancangan Undang-Undang tentang Profesi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POIN 1 · KEWENANGAN DAN PEMBAGIAN PERAN KURATOR</a:t>
            </a:r>
            <a:endParaRPr lang="en-US" sz="1500" dirty="0"/>
          </a:p>
        </p:txBody>
      </p:sp>
      <p:sp>
        <p:nvSpPr>
          <p:cNvPr id="3" name="Text 1"/>
          <p:cNvSpPr txBox="1"/>
          <p:nvPr/>
        </p:nvSpPr>
        <p:spPr>
          <a:xfrm>
            <a:off x="548640" y="731520"/>
            <a:ext cx="1109441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Alur Paparan</a:t>
            </a:r>
            <a:endParaRPr lang="en-US" sz="3200" dirty="0"/>
          </a:p>
        </p:txBody>
      </p:sp>
      <p:sp>
        <p:nvSpPr>
          <p:cNvPr id="4" name="Text 2"/>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Satu pesan: BHP dimuat dalam RUU sebagai lembaga negara yang menjalankan tugas kurator. Lima bagian berikut membangun pesan itu, dari masalah sampai rumusan pasal.</a:t>
            </a:r>
            <a:endParaRPr lang="en-US" sz="2000" dirty="0"/>
          </a:p>
        </p:txBody>
      </p:sp>
      <p:sp>
        <p:nvSpPr>
          <p:cNvPr id="5" name="Shape 3"/>
          <p:cNvSpPr/>
          <p:nvPr/>
        </p:nvSpPr>
        <p:spPr>
          <a:xfrm>
            <a:off x="548640" y="2377440"/>
            <a:ext cx="2057400" cy="3017520"/>
          </a:xfrm>
          <a:prstGeom prst="roundRect">
            <a:avLst>
              <a:gd name="adj" fmla="val 5333"/>
            </a:avLst>
          </a:prstGeom>
          <a:solidFill>
            <a:srgbClr val="EEF2F8"/>
          </a:solidFill>
          <a:ln w="12700">
            <a:solidFill>
              <a:srgbClr val="EEF2F8"/>
            </a:solidFill>
            <a:prstDash val="solid"/>
          </a:ln>
        </p:spPr>
      </p:sp>
      <p:sp>
        <p:nvSpPr>
          <p:cNvPr id="6" name="Shape 4"/>
          <p:cNvSpPr/>
          <p:nvPr/>
        </p:nvSpPr>
        <p:spPr>
          <a:xfrm>
            <a:off x="777240" y="2606040"/>
            <a:ext cx="548640" cy="548640"/>
          </a:xfrm>
          <a:prstGeom prst="ellipse">
            <a:avLst/>
          </a:prstGeom>
          <a:solidFill>
            <a:srgbClr val="14284B"/>
          </a:solidFill>
          <a:ln w="12700">
            <a:solidFill>
              <a:srgbClr val="14284B"/>
            </a:solidFill>
            <a:prstDash val="solid"/>
          </a:ln>
        </p:spPr>
      </p:sp>
      <p:sp>
        <p:nvSpPr>
          <p:cNvPr id="7" name="Text 5"/>
          <p:cNvSpPr txBox="1"/>
          <p:nvPr/>
        </p:nvSpPr>
        <p:spPr>
          <a:xfrm>
            <a:off x="77724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a:t>
            </a:r>
            <a:endParaRPr lang="en-US" sz="1800" dirty="0"/>
          </a:p>
        </p:txBody>
      </p:sp>
      <p:sp>
        <p:nvSpPr>
          <p:cNvPr id="8" name="Text 6"/>
          <p:cNvSpPr txBox="1"/>
          <p:nvPr/>
        </p:nvSpPr>
        <p:spPr>
          <a:xfrm>
            <a:off x="77724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Pokok Sikap</a:t>
            </a:r>
            <a:endParaRPr lang="en-US" sz="1900" dirty="0"/>
          </a:p>
        </p:txBody>
      </p:sp>
      <p:sp>
        <p:nvSpPr>
          <p:cNvPr id="9" name="Text 7"/>
          <p:cNvSpPr txBox="1"/>
          <p:nvPr/>
        </p:nvSpPr>
        <p:spPr>
          <a:xfrm>
            <a:off x="77724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Masalahnya apa, dan apa sikap BHP Medan</a:t>
            </a:r>
            <a:endParaRPr lang="en-US" sz="1300" dirty="0"/>
          </a:p>
        </p:txBody>
      </p:sp>
      <p:sp>
        <p:nvSpPr>
          <p:cNvPr id="10" name="Text 8"/>
          <p:cNvSpPr txBox="1"/>
          <p:nvPr/>
        </p:nvSpPr>
        <p:spPr>
          <a:xfrm>
            <a:off x="77724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1 masalah · 4 sikap</a:t>
            </a:r>
            <a:endParaRPr lang="en-US" sz="1300" dirty="0"/>
          </a:p>
        </p:txBody>
      </p:sp>
      <p:sp>
        <p:nvSpPr>
          <p:cNvPr id="11" name="Shape 9"/>
          <p:cNvSpPr/>
          <p:nvPr/>
        </p:nvSpPr>
        <p:spPr>
          <a:xfrm>
            <a:off x="2788920" y="2377440"/>
            <a:ext cx="2057400" cy="3017520"/>
          </a:xfrm>
          <a:prstGeom prst="roundRect">
            <a:avLst>
              <a:gd name="adj" fmla="val 5333"/>
            </a:avLst>
          </a:prstGeom>
          <a:solidFill>
            <a:srgbClr val="EEF2F8"/>
          </a:solidFill>
          <a:ln w="12700">
            <a:solidFill>
              <a:srgbClr val="EEF2F8"/>
            </a:solidFill>
            <a:prstDash val="solid"/>
          </a:ln>
        </p:spPr>
      </p:sp>
      <p:sp>
        <p:nvSpPr>
          <p:cNvPr id="12" name="Shape 10"/>
          <p:cNvSpPr/>
          <p:nvPr/>
        </p:nvSpPr>
        <p:spPr>
          <a:xfrm>
            <a:off x="3017520" y="2606040"/>
            <a:ext cx="548640" cy="548640"/>
          </a:xfrm>
          <a:prstGeom prst="ellipse">
            <a:avLst/>
          </a:prstGeom>
          <a:solidFill>
            <a:srgbClr val="14284B"/>
          </a:solidFill>
          <a:ln w="12700">
            <a:solidFill>
              <a:srgbClr val="14284B"/>
            </a:solidFill>
            <a:prstDash val="solid"/>
          </a:ln>
        </p:spPr>
      </p:sp>
      <p:sp>
        <p:nvSpPr>
          <p:cNvPr id="13" name="Text 11"/>
          <p:cNvSpPr txBox="1"/>
          <p:nvPr/>
        </p:nvSpPr>
        <p:spPr>
          <a:xfrm>
            <a:off x="301752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II</a:t>
            </a:r>
            <a:endParaRPr lang="en-US" sz="1800" dirty="0"/>
          </a:p>
        </p:txBody>
      </p:sp>
      <p:sp>
        <p:nvSpPr>
          <p:cNvPr id="14" name="Text 12"/>
          <p:cNvSpPr txBox="1"/>
          <p:nvPr/>
        </p:nvSpPr>
        <p:spPr>
          <a:xfrm>
            <a:off x="301752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Pengalaman BHP Medan</a:t>
            </a:r>
            <a:endParaRPr lang="en-US" sz="1900" dirty="0"/>
          </a:p>
        </p:txBody>
      </p:sp>
      <p:sp>
        <p:nvSpPr>
          <p:cNvPr id="15" name="Text 13"/>
          <p:cNvSpPr txBox="1"/>
          <p:nvPr/>
        </p:nvSpPr>
        <p:spPr>
          <a:xfrm>
            <a:off x="301752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Bukti dari perkara yang sedang berjalan</a:t>
            </a:r>
            <a:endParaRPr lang="en-US" sz="1300" dirty="0"/>
          </a:p>
        </p:txBody>
      </p:sp>
      <p:sp>
        <p:nvSpPr>
          <p:cNvPr id="16" name="Text 14"/>
          <p:cNvSpPr txBox="1"/>
          <p:nvPr/>
        </p:nvSpPr>
        <p:spPr>
          <a:xfrm>
            <a:off x="301752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9 perkara · 4 temuan</a:t>
            </a:r>
            <a:endParaRPr lang="en-US" sz="1300" dirty="0"/>
          </a:p>
        </p:txBody>
      </p:sp>
      <p:sp>
        <p:nvSpPr>
          <p:cNvPr id="17" name="Shape 15"/>
          <p:cNvSpPr/>
          <p:nvPr/>
        </p:nvSpPr>
        <p:spPr>
          <a:xfrm>
            <a:off x="5029200" y="2377440"/>
            <a:ext cx="2057400" cy="3017520"/>
          </a:xfrm>
          <a:prstGeom prst="roundRect">
            <a:avLst>
              <a:gd name="adj" fmla="val 5333"/>
            </a:avLst>
          </a:prstGeom>
          <a:solidFill>
            <a:srgbClr val="EEF2F8"/>
          </a:solidFill>
          <a:ln w="12700">
            <a:solidFill>
              <a:srgbClr val="EEF2F8"/>
            </a:solidFill>
            <a:prstDash val="solid"/>
          </a:ln>
        </p:spPr>
      </p:sp>
      <p:sp>
        <p:nvSpPr>
          <p:cNvPr id="18" name="Shape 16"/>
          <p:cNvSpPr/>
          <p:nvPr/>
        </p:nvSpPr>
        <p:spPr>
          <a:xfrm>
            <a:off x="5257800" y="2606040"/>
            <a:ext cx="548640" cy="548640"/>
          </a:xfrm>
          <a:prstGeom prst="ellipse">
            <a:avLst/>
          </a:prstGeom>
          <a:solidFill>
            <a:srgbClr val="14284B"/>
          </a:solidFill>
          <a:ln w="12700">
            <a:solidFill>
              <a:srgbClr val="14284B"/>
            </a:solidFill>
            <a:prstDash val="solid"/>
          </a:ln>
        </p:spPr>
      </p:sp>
      <p:sp>
        <p:nvSpPr>
          <p:cNvPr id="19" name="Text 17"/>
          <p:cNvSpPr txBox="1"/>
          <p:nvPr/>
        </p:nvSpPr>
        <p:spPr>
          <a:xfrm>
            <a:off x="525780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III</a:t>
            </a:r>
            <a:endParaRPr lang="en-US" sz="1800" dirty="0"/>
          </a:p>
        </p:txBody>
      </p:sp>
      <p:sp>
        <p:nvSpPr>
          <p:cNvPr id="20" name="Text 18"/>
          <p:cNvSpPr txBox="1"/>
          <p:nvPr/>
        </p:nvSpPr>
        <p:spPr>
          <a:xfrm>
            <a:off x="525780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Jawaban Klaster 1</a:t>
            </a:r>
            <a:endParaRPr lang="en-US" sz="1900" dirty="0"/>
          </a:p>
        </p:txBody>
      </p:sp>
      <p:sp>
        <p:nvSpPr>
          <p:cNvPr id="21" name="Text 19"/>
          <p:cNvSpPr txBox="1"/>
          <p:nvPr/>
        </p:nvSpPr>
        <p:spPr>
          <a:xfrm>
            <a:off x="525780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Tanggapan atas tiga pertanyaan Komisi</a:t>
            </a:r>
            <a:endParaRPr lang="en-US" sz="1300" dirty="0"/>
          </a:p>
        </p:txBody>
      </p:sp>
      <p:sp>
        <p:nvSpPr>
          <p:cNvPr id="22" name="Text 20"/>
          <p:cNvSpPr txBox="1"/>
          <p:nvPr/>
        </p:nvSpPr>
        <p:spPr>
          <a:xfrm>
            <a:off x="525780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3 pertanyaan</a:t>
            </a:r>
            <a:endParaRPr lang="en-US" sz="1300" dirty="0"/>
          </a:p>
        </p:txBody>
      </p:sp>
      <p:sp>
        <p:nvSpPr>
          <p:cNvPr id="23" name="Shape 21"/>
          <p:cNvSpPr/>
          <p:nvPr/>
        </p:nvSpPr>
        <p:spPr>
          <a:xfrm>
            <a:off x="7269480" y="2377440"/>
            <a:ext cx="2057400" cy="3017520"/>
          </a:xfrm>
          <a:prstGeom prst="roundRect">
            <a:avLst>
              <a:gd name="adj" fmla="val 5333"/>
            </a:avLst>
          </a:prstGeom>
          <a:solidFill>
            <a:srgbClr val="EEF2F8"/>
          </a:solidFill>
          <a:ln w="12700">
            <a:solidFill>
              <a:srgbClr val="EEF2F8"/>
            </a:solidFill>
            <a:prstDash val="solid"/>
          </a:ln>
        </p:spPr>
      </p:sp>
      <p:sp>
        <p:nvSpPr>
          <p:cNvPr id="24" name="Shape 22"/>
          <p:cNvSpPr/>
          <p:nvPr/>
        </p:nvSpPr>
        <p:spPr>
          <a:xfrm>
            <a:off x="7498080" y="2606040"/>
            <a:ext cx="548640" cy="548640"/>
          </a:xfrm>
          <a:prstGeom prst="ellipse">
            <a:avLst/>
          </a:prstGeom>
          <a:solidFill>
            <a:srgbClr val="14284B"/>
          </a:solidFill>
          <a:ln w="12700">
            <a:solidFill>
              <a:srgbClr val="14284B"/>
            </a:solidFill>
            <a:prstDash val="solid"/>
          </a:ln>
        </p:spPr>
      </p:sp>
      <p:sp>
        <p:nvSpPr>
          <p:cNvPr id="25" name="Text 23"/>
          <p:cNvSpPr txBox="1"/>
          <p:nvPr/>
        </p:nvSpPr>
        <p:spPr>
          <a:xfrm>
            <a:off x="749808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IV</a:t>
            </a:r>
            <a:endParaRPr lang="en-US" sz="1800" dirty="0"/>
          </a:p>
        </p:txBody>
      </p:sp>
      <p:sp>
        <p:nvSpPr>
          <p:cNvPr id="26" name="Text 24"/>
          <p:cNvSpPr txBox="1"/>
          <p:nvPr/>
        </p:nvSpPr>
        <p:spPr>
          <a:xfrm>
            <a:off x="749808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Usulan Pasal</a:t>
            </a:r>
            <a:endParaRPr lang="en-US" sz="1900" dirty="0"/>
          </a:p>
        </p:txBody>
      </p:sp>
      <p:sp>
        <p:nvSpPr>
          <p:cNvPr id="27" name="Text 25"/>
          <p:cNvSpPr txBox="1"/>
          <p:nvPr/>
        </p:nvSpPr>
        <p:spPr>
          <a:xfrm>
            <a:off x="749808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Rumusan yang siap dipakai dalam RUU Profesi Kurator</a:t>
            </a:r>
            <a:endParaRPr lang="en-US" sz="1300" dirty="0"/>
          </a:p>
        </p:txBody>
      </p:sp>
      <p:sp>
        <p:nvSpPr>
          <p:cNvPr id="28" name="Text 26"/>
          <p:cNvSpPr txBox="1"/>
          <p:nvPr/>
        </p:nvSpPr>
        <p:spPr>
          <a:xfrm>
            <a:off x="749808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Pasal A sampai D</a:t>
            </a:r>
            <a:endParaRPr lang="en-US" sz="1300" dirty="0"/>
          </a:p>
        </p:txBody>
      </p:sp>
      <p:sp>
        <p:nvSpPr>
          <p:cNvPr id="29" name="Shape 27"/>
          <p:cNvSpPr/>
          <p:nvPr/>
        </p:nvSpPr>
        <p:spPr>
          <a:xfrm>
            <a:off x="9509760" y="2377440"/>
            <a:ext cx="2057400" cy="3017520"/>
          </a:xfrm>
          <a:prstGeom prst="roundRect">
            <a:avLst>
              <a:gd name="adj" fmla="val 5333"/>
            </a:avLst>
          </a:prstGeom>
          <a:solidFill>
            <a:srgbClr val="EEF2F8"/>
          </a:solidFill>
          <a:ln w="12700">
            <a:solidFill>
              <a:srgbClr val="EEF2F8"/>
            </a:solidFill>
            <a:prstDash val="solid"/>
          </a:ln>
        </p:spPr>
      </p:sp>
      <p:sp>
        <p:nvSpPr>
          <p:cNvPr id="30" name="Shape 28"/>
          <p:cNvSpPr/>
          <p:nvPr/>
        </p:nvSpPr>
        <p:spPr>
          <a:xfrm>
            <a:off x="9738360" y="2606040"/>
            <a:ext cx="548640" cy="548640"/>
          </a:xfrm>
          <a:prstGeom prst="ellipse">
            <a:avLst/>
          </a:prstGeom>
          <a:solidFill>
            <a:srgbClr val="14284B"/>
          </a:solidFill>
          <a:ln w="12700">
            <a:solidFill>
              <a:srgbClr val="14284B"/>
            </a:solidFill>
            <a:prstDash val="solid"/>
          </a:ln>
        </p:spPr>
      </p:sp>
      <p:sp>
        <p:nvSpPr>
          <p:cNvPr id="31" name="Text 29"/>
          <p:cNvSpPr txBox="1"/>
          <p:nvPr/>
        </p:nvSpPr>
        <p:spPr>
          <a:xfrm>
            <a:off x="9738360" y="2606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a:t>
            </a:r>
            <a:endParaRPr lang="en-US" sz="1800" dirty="0"/>
          </a:p>
        </p:txBody>
      </p:sp>
      <p:sp>
        <p:nvSpPr>
          <p:cNvPr id="32" name="Text 30"/>
          <p:cNvSpPr txBox="1"/>
          <p:nvPr/>
        </p:nvSpPr>
        <p:spPr>
          <a:xfrm>
            <a:off x="9738360" y="3291840"/>
            <a:ext cx="1691640" cy="822960"/>
          </a:xfrm>
          <a:prstGeom prst="rect">
            <a:avLst/>
          </a:prstGeom>
          <a:noFill/>
          <a:ln/>
        </p:spPr>
        <p:txBody>
          <a:bodyPr wrap="square" lIns="0" tIns="0" rIns="0" bIns="0" rtlCol="0" anchor="t"/>
          <a:lstStyle/>
          <a:p>
            <a:pPr indent="0" marL="0">
              <a:buNone/>
            </a:pPr>
            <a:r>
              <a:rPr lang="en-US" sz="1900" b="1" dirty="0">
                <a:solidFill>
                  <a:srgbClr val="14284B"/>
                </a:solidFill>
                <a:latin typeface="Arial" pitchFamily="34" charset="0"/>
                <a:ea typeface="Arial" pitchFamily="34" charset="-122"/>
                <a:cs typeface="Arial" pitchFamily="34" charset="-120"/>
              </a:rPr>
              <a:t>Catatan</a:t>
            </a:r>
            <a:endParaRPr lang="en-US" sz="1900" dirty="0"/>
          </a:p>
        </p:txBody>
      </p:sp>
      <p:sp>
        <p:nvSpPr>
          <p:cNvPr id="33" name="Text 31"/>
          <p:cNvSpPr txBox="1"/>
          <p:nvPr/>
        </p:nvSpPr>
        <p:spPr>
          <a:xfrm>
            <a:off x="9738360" y="4114800"/>
            <a:ext cx="1691640" cy="822960"/>
          </a:xfrm>
          <a:prstGeom prst="rect">
            <a:avLst/>
          </a:prstGeom>
          <a:noFill/>
          <a:ln/>
        </p:spPr>
        <p:txBody>
          <a:bodyPr wrap="square" lIns="0" tIns="0" rIns="0" bIns="0" rtlCol="0" anchor="t"/>
          <a:lstStyle/>
          <a:p>
            <a:pPr indent="0" marL="0">
              <a:buNone/>
            </a:pPr>
            <a:r>
              <a:rPr lang="en-US" sz="1300" dirty="0">
                <a:solidFill>
                  <a:srgbClr val="4A5568"/>
                </a:solidFill>
                <a:latin typeface="Arial" pitchFamily="34" charset="0"/>
                <a:ea typeface="Arial" pitchFamily="34" charset="-122"/>
                <a:cs typeface="Arial" pitchFamily="34" charset="-120"/>
              </a:rPr>
              <a:t>Hal yang lebih tepat diatur dalam RUU Kepailitan dan PKPU</a:t>
            </a:r>
            <a:endParaRPr lang="en-US" sz="1300" dirty="0"/>
          </a:p>
        </p:txBody>
      </p:sp>
      <p:sp>
        <p:nvSpPr>
          <p:cNvPr id="34" name="Text 32"/>
          <p:cNvSpPr txBox="1"/>
          <p:nvPr/>
        </p:nvSpPr>
        <p:spPr>
          <a:xfrm>
            <a:off x="9738360" y="4937760"/>
            <a:ext cx="1691640" cy="365760"/>
          </a:xfrm>
          <a:prstGeom prst="rect">
            <a:avLst/>
          </a:prstGeom>
          <a:noFill/>
          <a:ln/>
        </p:spPr>
        <p:txBody>
          <a:bodyPr wrap="square" lIns="0" tIns="0" rIns="0" bIns="0" rtlCol="0" anchor="b"/>
          <a:lstStyle/>
          <a:p>
            <a:pPr indent="0" marL="0">
              <a:buNone/>
            </a:pPr>
            <a:r>
              <a:rPr lang="en-US" sz="1300" b="1" dirty="0">
                <a:solidFill>
                  <a:srgbClr val="8A6100"/>
                </a:solidFill>
                <a:latin typeface="Arial" pitchFamily="34" charset="0"/>
                <a:ea typeface="Arial" pitchFamily="34" charset="-122"/>
                <a:cs typeface="Arial" pitchFamily="34" charset="-120"/>
              </a:rPr>
              <a:t>4 hal</a:t>
            </a:r>
            <a:endParaRPr lang="en-US" sz="1300" dirty="0"/>
          </a:p>
        </p:txBody>
      </p:sp>
      <p:sp>
        <p:nvSpPr>
          <p:cNvPr id="35" name="Shape 33"/>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36" name="Shape 34"/>
          <p:cNvSpPr/>
          <p:nvPr/>
        </p:nvSpPr>
        <p:spPr>
          <a:xfrm>
            <a:off x="548640" y="5669280"/>
            <a:ext cx="91440" cy="621792"/>
          </a:xfrm>
          <a:prstGeom prst="rect">
            <a:avLst/>
          </a:prstGeom>
          <a:solidFill>
            <a:srgbClr val="E0A526"/>
          </a:solidFill>
          <a:ln w="12700">
            <a:solidFill>
              <a:srgbClr val="E0A526"/>
            </a:solidFill>
            <a:prstDash val="solid"/>
          </a:ln>
        </p:spPr>
      </p:sp>
      <p:sp>
        <p:nvSpPr>
          <p:cNvPr id="37" name="Text 35"/>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BENANG MERAH</a:t>
            </a:r>
            <a:endParaRPr lang="en-US" sz="1200" dirty="0"/>
          </a:p>
        </p:txBody>
      </p:sp>
      <p:sp>
        <p:nvSpPr>
          <p:cNvPr id="38" name="Text 36"/>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Masalah  ›  Sikap  ›  Bukti  ›  Jawaban  ›  </a:t>
            </a:r>
            <a:pPr indent="0" marL="0">
              <a:buNone/>
            </a:pPr>
            <a:r>
              <a:rPr lang="en-US" sz="1600" b="1" dirty="0">
                <a:solidFill>
                  <a:srgbClr val="E0A526"/>
                </a:solidFill>
                <a:latin typeface="Arial" pitchFamily="34" charset="0"/>
                <a:ea typeface="Arial" pitchFamily="34" charset="-122"/>
                <a:cs typeface="Arial" pitchFamily="34" charset="-120"/>
              </a:rPr>
              <a:t>Pasal</a:t>
            </a:r>
            <a:pPr indent="0" marL="0">
              <a:buNone/>
            </a:pPr>
            <a:r>
              <a:rPr lang="en-US" sz="1600" dirty="0">
                <a:solidFill>
                  <a:srgbClr val="FFFFFF"/>
                </a:solidFill>
                <a:latin typeface="Arial" pitchFamily="34" charset="0"/>
                <a:ea typeface="Arial" pitchFamily="34" charset="-122"/>
                <a:cs typeface="Arial" pitchFamily="34" charset="-120"/>
              </a:rPr>
              <a:t>  ›  Catatan</a:t>
            </a:r>
            <a:endParaRPr lang="en-US" sz="1600" dirty="0"/>
          </a:p>
        </p:txBody>
      </p:sp>
      <p:sp>
        <p:nvSpPr>
          <p:cNvPr id="39" name="Text 3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40" name="Text 3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E0A526"/>
          </a:solidFill>
          <a:ln w="12700">
            <a:solidFill>
              <a:srgbClr val="E0A526"/>
            </a:solidFill>
            <a:prstDash val="solid"/>
          </a:ln>
        </p:spPr>
      </p:sp>
      <p:sp>
        <p:nvSpPr>
          <p:cNvPr id="3" name="Shape 1"/>
          <p:cNvSpPr/>
          <p:nvPr/>
        </p:nvSpPr>
        <p:spPr>
          <a:xfrm>
            <a:off x="2907792" y="548640"/>
            <a:ext cx="2011680" cy="73152"/>
          </a:xfrm>
          <a:prstGeom prst="roundRect">
            <a:avLst>
              <a:gd name="adj" fmla="val 50000"/>
            </a:avLst>
          </a:prstGeom>
          <a:solidFill>
            <a:srgbClr val="34456A"/>
          </a:solidFill>
          <a:ln w="12700">
            <a:solidFill>
              <a:srgbClr val="34456A"/>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Pokok Sikap</a:t>
            </a:r>
            <a:endParaRPr lang="en-US" sz="48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RUU Profesi Kurator akan mengatur profesi kurator, padahal kurator tidak hanya orang perseorangan. BHP juga menjalankan tugas kurator berdasarkan undang-undang.</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BHP dimuat dalam RUU sebagai lembaga negara yang menjalankan tugas kurator.</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Masalah</a:t>
            </a:r>
            <a:endParaRPr lang="en-US" sz="1700" dirty="0"/>
          </a:p>
        </p:txBody>
      </p:sp>
      <p:sp>
        <p:nvSpPr>
          <p:cNvPr id="17" name="Shape 15"/>
          <p:cNvSpPr/>
          <p:nvPr/>
        </p:nvSpPr>
        <p:spPr>
          <a:xfrm>
            <a:off x="731520" y="5184648"/>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184648"/>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184648"/>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Empat sikap BHP Medan</a:t>
            </a:r>
            <a:endParaRPr lang="en-US" sz="1700" dirty="0"/>
          </a:p>
        </p:txBody>
      </p:sp>
      <p:sp>
        <p:nvSpPr>
          <p:cNvPr id="20" name="Shape 18"/>
          <p:cNvSpPr/>
          <p:nvPr/>
        </p:nvSpPr>
        <p:spPr>
          <a:xfrm>
            <a:off x="731520" y="5568696"/>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568696"/>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568696"/>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Lembaga negara, standar sama (Sikap 1 dan 2)</a:t>
            </a:r>
            <a:endParaRPr lang="en-US" sz="1700" dirty="0"/>
          </a:p>
        </p:txBody>
      </p:sp>
      <p:sp>
        <p:nvSpPr>
          <p:cNvPr id="23" name="Shape 21"/>
          <p:cNvSpPr/>
          <p:nvPr/>
        </p:nvSpPr>
        <p:spPr>
          <a:xfrm>
            <a:off x="731520" y="5952744"/>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5952744"/>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5952744"/>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Pembagian peran (Sikap 3)</a:t>
            </a:r>
            <a:endParaRPr lang="en-US" sz="1700" dirty="0"/>
          </a:p>
        </p:txBody>
      </p:sp>
      <p:sp>
        <p:nvSpPr>
          <p:cNvPr id="26" name="Shape 24"/>
          <p:cNvSpPr/>
          <p:nvPr/>
        </p:nvSpPr>
        <p:spPr>
          <a:xfrm>
            <a:off x="731520" y="6336792"/>
            <a:ext cx="329184" cy="329184"/>
          </a:xfrm>
          <a:prstGeom prst="ellipse">
            <a:avLst/>
          </a:prstGeom>
          <a:solidFill>
            <a:srgbClr val="E0A526"/>
          </a:solidFill>
          <a:ln w="12700">
            <a:solidFill>
              <a:srgbClr val="E0A526"/>
            </a:solidFill>
            <a:prstDash val="solid"/>
          </a:ln>
        </p:spPr>
      </p:sp>
      <p:sp>
        <p:nvSpPr>
          <p:cNvPr id="27" name="Text 25"/>
          <p:cNvSpPr txBox="1"/>
          <p:nvPr/>
        </p:nvSpPr>
        <p:spPr>
          <a:xfrm>
            <a:off x="731520" y="6336792"/>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8" name="Text 26"/>
          <p:cNvSpPr txBox="1"/>
          <p:nvPr/>
        </p:nvSpPr>
        <p:spPr>
          <a:xfrm>
            <a:off x="1188720" y="6336792"/>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Koordinasi antarlembaga (Sikap 4)</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MASALAH</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Kurator Tidak Hanya Orang Perseorangan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Apabila RUU hanya disusun untuk kurator perorangan, kedudukan BHP menjadi tidak jelas dalam tiga hal.</a:t>
            </a:r>
            <a:endParaRPr lang="en-US" sz="2000" dirty="0"/>
          </a:p>
        </p:txBody>
      </p:sp>
      <p:sp>
        <p:nvSpPr>
          <p:cNvPr id="7" name="Shape 5"/>
          <p:cNvSpPr/>
          <p:nvPr/>
        </p:nvSpPr>
        <p:spPr>
          <a:xfrm>
            <a:off x="548640" y="2331720"/>
            <a:ext cx="3514344" cy="2377440"/>
          </a:xfrm>
          <a:prstGeom prst="roundRect">
            <a:avLst>
              <a:gd name="adj" fmla="val 4615"/>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87752"/>
            <a:ext cx="502920" cy="502920"/>
          </a:xfrm>
          <a:prstGeom prst="rect">
            <a:avLst/>
          </a:prstGeom>
        </p:spPr>
      </p:pic>
      <p:sp>
        <p:nvSpPr>
          <p:cNvPr id="9" name="Text 6"/>
          <p:cNvSpPr txBox="1"/>
          <p:nvPr/>
        </p:nvSpPr>
        <p:spPr>
          <a:xfrm>
            <a:off x="822960"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1</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Apakah BHP ikut aturan izin dan sertifikasi profesi?</a:t>
            </a:r>
            <a:endParaRPr lang="en-US" sz="1300" dirty="0"/>
          </a:p>
        </p:txBody>
      </p:sp>
      <p:sp>
        <p:nvSpPr>
          <p:cNvPr id="10" name="Shape 7"/>
          <p:cNvSpPr/>
          <p:nvPr/>
        </p:nvSpPr>
        <p:spPr>
          <a:xfrm>
            <a:off x="4337304" y="2331720"/>
            <a:ext cx="3514344"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587752"/>
            <a:ext cx="502920" cy="502920"/>
          </a:xfrm>
          <a:prstGeom prst="rect">
            <a:avLst/>
          </a:prstGeom>
        </p:spPr>
      </p:pic>
      <p:sp>
        <p:nvSpPr>
          <p:cNvPr id="12" name="Text 8"/>
          <p:cNvSpPr txBox="1"/>
          <p:nvPr/>
        </p:nvSpPr>
        <p:spPr>
          <a:xfrm>
            <a:off x="4611624"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2</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Siapa yang membina dan mengawasinya?</a:t>
            </a:r>
            <a:endParaRPr lang="en-US" sz="1300" dirty="0"/>
          </a:p>
        </p:txBody>
      </p:sp>
      <p:sp>
        <p:nvSpPr>
          <p:cNvPr id="13" name="Shape 9"/>
          <p:cNvSpPr/>
          <p:nvPr/>
        </p:nvSpPr>
        <p:spPr>
          <a:xfrm>
            <a:off x="8125968" y="2331720"/>
            <a:ext cx="3514344" cy="2377440"/>
          </a:xfrm>
          <a:prstGeom prst="roundRect">
            <a:avLst>
              <a:gd name="adj" fmla="val 4615"/>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8400288" y="2587752"/>
            <a:ext cx="502920" cy="502920"/>
          </a:xfrm>
          <a:prstGeom prst="rect">
            <a:avLst/>
          </a:prstGeom>
        </p:spPr>
      </p:pic>
      <p:sp>
        <p:nvSpPr>
          <p:cNvPr id="15" name="Text 10"/>
          <p:cNvSpPr txBox="1"/>
          <p:nvPr/>
        </p:nvSpPr>
        <p:spPr>
          <a:xfrm>
            <a:off x="8400288" y="330098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3</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Bagaimana pembagian perannya dengan kurator privat?</a:t>
            </a:r>
            <a:endParaRPr lang="en-US" sz="1300" dirty="0"/>
          </a:p>
        </p:txBody>
      </p:sp>
      <p:sp>
        <p:nvSpPr>
          <p:cNvPr id="16" name="Text 11"/>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900" dirty="0">
                <a:solidFill>
                  <a:srgbClr val="1A1A1A"/>
                </a:solidFill>
                <a:latin typeface="Arial" pitchFamily="34" charset="0"/>
                <a:ea typeface="Arial" pitchFamily="34" charset="-122"/>
                <a:cs typeface="Arial" pitchFamily="34" charset="-120"/>
              </a:rPr>
              <a:t>Kurator = </a:t>
            </a:r>
            <a:pPr indent="0" marL="0">
              <a:buNone/>
            </a:pPr>
            <a:r>
              <a:rPr lang="en-US" sz="1900" b="1" dirty="0">
                <a:solidFill>
                  <a:srgbClr val="14284B"/>
                </a:solidFill>
                <a:latin typeface="Arial" pitchFamily="34" charset="0"/>
                <a:ea typeface="Arial" pitchFamily="34" charset="-122"/>
                <a:cs typeface="Arial" pitchFamily="34" charset="-120"/>
              </a:rPr>
              <a:t>kurator perorangan</a:t>
            </a:r>
            <a:pPr indent="0" marL="0">
              <a:buNone/>
            </a:pPr>
            <a:r>
              <a:rPr lang="en-US" sz="1900" dirty="0">
                <a:solidFill>
                  <a:srgbClr val="1A1A1A"/>
                </a:solidFill>
                <a:latin typeface="Arial" pitchFamily="34" charset="0"/>
                <a:ea typeface="Arial" pitchFamily="34" charset="-122"/>
                <a:cs typeface="Arial" pitchFamily="34" charset="-120"/>
              </a:rPr>
              <a:t> + </a:t>
            </a:r>
            <a:pPr indent="0" marL="0">
              <a:buNone/>
            </a:pPr>
            <a:r>
              <a:rPr lang="en-US" sz="1900" b="1" dirty="0">
                <a:solidFill>
                  <a:srgbClr val="14284B"/>
                </a:solidFill>
                <a:latin typeface="Arial" pitchFamily="34" charset="0"/>
                <a:ea typeface="Arial" pitchFamily="34" charset="-122"/>
                <a:cs typeface="Arial" pitchFamily="34" charset="-120"/>
              </a:rPr>
              <a:t>BHP, berdasarkan undang-undang</a:t>
            </a:r>
            <a:pPr indent="0" marL="0">
              <a:buNone/>
            </a:pPr>
            <a:r>
              <a:rPr lang="en-US" sz="1900" dirty="0">
                <a:solidFill>
                  <a:srgbClr val="1A1A1A"/>
                </a:solidFill>
                <a:latin typeface="Arial" pitchFamily="34" charset="0"/>
                <a:ea typeface="Arial" pitchFamily="34" charset="-122"/>
                <a:cs typeface="Arial" pitchFamily="34" charset="-120"/>
              </a:rPr>
              <a:t>. BHP juga menjalankan tugas kurator berdasarkan undang-undang.</a:t>
            </a:r>
            <a:endParaRPr lang="en-US" sz="1900" dirty="0"/>
          </a:p>
        </p:txBody>
      </p:sp>
      <p:sp>
        <p:nvSpPr>
          <p:cNvPr id="17"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8"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9"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JAWABANNYA</a:t>
            </a:r>
            <a:endParaRPr lang="en-US" sz="1200" dirty="0"/>
          </a:p>
        </p:txBody>
      </p:sp>
      <p:sp>
        <p:nvSpPr>
          <p:cNvPr id="20"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Empat sikap BHP Medan, masing-masing dirumuskan menjadi satu pasal.</a:t>
            </a:r>
            <a:endParaRPr lang="en-US" sz="1600" dirty="0"/>
          </a:p>
        </p:txBody>
      </p:sp>
      <p:sp>
        <p:nvSpPr>
          <p:cNvPr id="21"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2"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Empat Sikap BHP Medan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Keempatnya dijabarkan lebih lanjut dalam usulan Pasal A sampai Pasal D.</a:t>
            </a:r>
            <a:endParaRPr lang="en-US" sz="2000" dirty="0"/>
          </a:p>
        </p:txBody>
      </p:sp>
      <p:sp>
        <p:nvSpPr>
          <p:cNvPr id="7" name="Shape 5"/>
          <p:cNvSpPr/>
          <p:nvPr/>
        </p:nvSpPr>
        <p:spPr>
          <a:xfrm>
            <a:off x="548640" y="2286000"/>
            <a:ext cx="5408676" cy="1600200"/>
          </a:xfrm>
          <a:prstGeom prst="roundRect">
            <a:avLst>
              <a:gd name="adj" fmla="val 6857"/>
            </a:avLst>
          </a:prstGeom>
          <a:solidFill>
            <a:srgbClr val="EEF2F8"/>
          </a:solidFill>
          <a:ln w="12700">
            <a:solidFill>
              <a:srgbClr val="EEF2F8"/>
            </a:solidFill>
            <a:prstDash val="solid"/>
          </a:ln>
        </p:spPr>
      </p:sp>
      <p:sp>
        <p:nvSpPr>
          <p:cNvPr id="8" name="Text 6"/>
          <p:cNvSpPr txBox="1"/>
          <p:nvPr/>
        </p:nvSpPr>
        <p:spPr>
          <a:xfrm>
            <a:off x="822960" y="254203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1  ›  PASAL A</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BHP dimuat dalam RUU sebagai lembaga negara</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Tugasnya dijalankan oleh pejabat fungsional Kurator Keperdataan.</a:t>
            </a:r>
            <a:endParaRPr lang="en-US" sz="1300" dirty="0"/>
          </a:p>
        </p:txBody>
      </p:sp>
      <p:sp>
        <p:nvSpPr>
          <p:cNvPr id="9" name="Shape 7"/>
          <p:cNvSpPr/>
          <p:nvPr/>
        </p:nvSpPr>
        <p:spPr>
          <a:xfrm>
            <a:off x="6231636" y="2286000"/>
            <a:ext cx="5408676" cy="1600200"/>
          </a:xfrm>
          <a:prstGeom prst="roundRect">
            <a:avLst>
              <a:gd name="adj" fmla="val 6857"/>
            </a:avLst>
          </a:prstGeom>
          <a:solidFill>
            <a:srgbClr val="EEF2F8"/>
          </a:solidFill>
          <a:ln w="12700">
            <a:solidFill>
              <a:srgbClr val="EEF2F8"/>
            </a:solidFill>
            <a:prstDash val="solid"/>
          </a:ln>
        </p:spPr>
      </p:sp>
      <p:sp>
        <p:nvSpPr>
          <p:cNvPr id="10" name="Text 8"/>
          <p:cNvSpPr txBox="1"/>
          <p:nvPr/>
        </p:nvSpPr>
        <p:spPr>
          <a:xfrm>
            <a:off x="6505956" y="254203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2  ›  PASAL C</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Satu standar profesi untuk semua kurator</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Yang berbeda hanya pembinaannya, karena BHP adalah lembaga pemerintah.</a:t>
            </a:r>
            <a:endParaRPr lang="en-US" sz="1300" dirty="0"/>
          </a:p>
        </p:txBody>
      </p:sp>
      <p:sp>
        <p:nvSpPr>
          <p:cNvPr id="11" name="Shape 9"/>
          <p:cNvSpPr/>
          <p:nvPr/>
        </p:nvSpPr>
        <p:spPr>
          <a:xfrm>
            <a:off x="548640" y="4023360"/>
            <a:ext cx="5408676" cy="1600200"/>
          </a:xfrm>
          <a:prstGeom prst="roundRect">
            <a:avLst>
              <a:gd name="adj" fmla="val 6857"/>
            </a:avLst>
          </a:prstGeom>
          <a:solidFill>
            <a:srgbClr val="EEF2F8"/>
          </a:solidFill>
          <a:ln w="12700">
            <a:solidFill>
              <a:srgbClr val="EEF2F8"/>
            </a:solidFill>
            <a:prstDash val="solid"/>
          </a:ln>
        </p:spPr>
      </p:sp>
      <p:sp>
        <p:nvSpPr>
          <p:cNvPr id="12" name="Text 10"/>
          <p:cNvSpPr txBox="1"/>
          <p:nvPr/>
        </p:nvSpPr>
        <p:spPr>
          <a:xfrm>
            <a:off x="822960" y="427939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3  ›  PASAL B</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Pembagian peran BHP dan kurator perorangan ditegaskan</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RUU Profesi Kurator memuat prinsipnya, rinciannya di RUU Kepailitan dan PKPU.</a:t>
            </a:r>
            <a:endParaRPr lang="en-US" sz="1300" dirty="0"/>
          </a:p>
        </p:txBody>
      </p:sp>
      <p:sp>
        <p:nvSpPr>
          <p:cNvPr id="13" name="Shape 11"/>
          <p:cNvSpPr/>
          <p:nvPr/>
        </p:nvSpPr>
        <p:spPr>
          <a:xfrm>
            <a:off x="6231636" y="4023360"/>
            <a:ext cx="5408676" cy="1600200"/>
          </a:xfrm>
          <a:prstGeom prst="roundRect">
            <a:avLst>
              <a:gd name="adj" fmla="val 6857"/>
            </a:avLst>
          </a:prstGeom>
          <a:solidFill>
            <a:srgbClr val="EEF2F8"/>
          </a:solidFill>
          <a:ln w="12700">
            <a:solidFill>
              <a:srgbClr val="EEF2F8"/>
            </a:solidFill>
            <a:prstDash val="solid"/>
          </a:ln>
        </p:spPr>
      </p:sp>
      <p:sp>
        <p:nvSpPr>
          <p:cNvPr id="14" name="Text 12"/>
          <p:cNvSpPr txBox="1"/>
          <p:nvPr/>
        </p:nvSpPr>
        <p:spPr>
          <a:xfrm>
            <a:off x="6505956" y="4279392"/>
            <a:ext cx="4860036" cy="11612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4  ›  PASAL D</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Koordinasi antarlembaga diatur dengan jelas</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BHP sendiri adalah kurator, bukan pengawas kurator privat.</a:t>
            </a:r>
            <a:endParaRPr lang="en-US" sz="1300" dirty="0"/>
          </a:p>
        </p:txBody>
      </p:sp>
      <p:sp>
        <p:nvSpPr>
          <p:cNvPr id="15" name="Shape 13"/>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6" name="Shape 14"/>
          <p:cNvSpPr/>
          <p:nvPr/>
        </p:nvSpPr>
        <p:spPr>
          <a:xfrm>
            <a:off x="548640" y="5669280"/>
            <a:ext cx="91440" cy="621792"/>
          </a:xfrm>
          <a:prstGeom prst="rect">
            <a:avLst/>
          </a:prstGeom>
          <a:solidFill>
            <a:srgbClr val="E0A526"/>
          </a:solidFill>
          <a:ln w="12700">
            <a:solidFill>
              <a:srgbClr val="E0A526"/>
            </a:solidFill>
            <a:prstDash val="solid"/>
          </a:ln>
        </p:spPr>
      </p:sp>
      <p:sp>
        <p:nvSpPr>
          <p:cNvPr id="17" name="Text 15"/>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8" name="Text 16"/>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Satu sikap, satu pasal: Sikap 1 Pasal A, Sikap 2 Pasal C, Sikap 3 Pasal B, Sikap 4 Pasal D.</a:t>
            </a:r>
            <a:endParaRPr lang="en-US" sz="1600" dirty="0"/>
          </a:p>
        </p:txBody>
      </p:sp>
      <p:sp>
        <p:nvSpPr>
          <p:cNvPr id="19"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0"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1 DAN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Lembaga Negara, dengan Standar yang Sama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Kewenangan BHP berasal dari undang-undang, tetapi status lembaga negara tidak menjadi keistimewaan.</a:t>
            </a:r>
            <a:endParaRPr lang="en-US" sz="2000" dirty="0"/>
          </a:p>
        </p:txBody>
      </p:sp>
      <p:sp>
        <p:nvSpPr>
          <p:cNvPr id="7" name="Shape 5"/>
          <p:cNvSpPr/>
          <p:nvPr/>
        </p:nvSpPr>
        <p:spPr>
          <a:xfrm>
            <a:off x="548640" y="2286000"/>
            <a:ext cx="5408676" cy="3200400"/>
          </a:xfrm>
          <a:prstGeom prst="roundRect">
            <a:avLst>
              <a:gd name="adj" fmla="val 3429"/>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SIKAP 1 · KEDUDUKAN</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BHP tidak memerlukan izin atau pendaftaran seperti kurator perorangan</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Kewenangan BHP berasal dari undang-undang. Tugasnya dijalankan oleh pejabat fungsional Kurator Keperdataan.</a:t>
            </a:r>
            <a:endParaRPr lang="en-US" sz="1300" dirty="0"/>
          </a:p>
        </p:txBody>
      </p:sp>
      <p:sp>
        <p:nvSpPr>
          <p:cNvPr id="10" name="Shape 7"/>
          <p:cNvSpPr/>
          <p:nvPr/>
        </p:nvSpPr>
        <p:spPr>
          <a:xfrm>
            <a:off x="6231636" y="2286000"/>
            <a:ext cx="5408676" cy="3200400"/>
          </a:xfrm>
          <a:prstGeom prst="roundRect">
            <a:avLst>
              <a:gd name="adj" fmla="val 3429"/>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2 · STANDAR</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Kode etik dan standar profesi yang sama berlaku bagi BHP dan kurator perorangan</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Yang berbeda hanya pembinaannya, karena BHP adalah lembaga pemerintah.</a:t>
            </a:r>
            <a:endParaRPr lang="en-US" sz="1300" dirty="0"/>
          </a:p>
        </p:txBody>
      </p:sp>
      <p:sp>
        <p:nvSpPr>
          <p:cNvPr id="13" name="Shape 9"/>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4" name="Shape 10"/>
          <p:cNvSpPr/>
          <p:nvPr/>
        </p:nvSpPr>
        <p:spPr>
          <a:xfrm>
            <a:off x="548640" y="5669280"/>
            <a:ext cx="91440" cy="621792"/>
          </a:xfrm>
          <a:prstGeom prst="rect">
            <a:avLst/>
          </a:prstGeom>
          <a:solidFill>
            <a:srgbClr val="E0A526"/>
          </a:solidFill>
          <a:ln w="12700">
            <a:solidFill>
              <a:srgbClr val="E0A526"/>
            </a:solidFill>
            <a:prstDash val="solid"/>
          </a:ln>
        </p:spPr>
      </p:sp>
      <p:sp>
        <p:nvSpPr>
          <p:cNvPr id="15" name="Text 11"/>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6" name="Text 12"/>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A</a:t>
            </a:r>
            <a:pPr indent="0" marL="0">
              <a:buNone/>
            </a:pPr>
            <a:r>
              <a:rPr lang="en-US" sz="1600" dirty="0">
                <a:solidFill>
                  <a:srgbClr val="FFFFFF"/>
                </a:solidFill>
                <a:latin typeface="Arial" pitchFamily="34" charset="0"/>
                <a:ea typeface="Arial" pitchFamily="34" charset="-122"/>
                <a:cs typeface="Arial" pitchFamily="34" charset="-120"/>
              </a:rPr>
              <a:t> untuk kedudukan BHP, </a:t>
            </a:r>
            <a:pPr indent="0" marL="0">
              <a:buNone/>
            </a:pPr>
            <a:r>
              <a:rPr lang="en-US" sz="1600" b="1" dirty="0">
                <a:solidFill>
                  <a:srgbClr val="E0A526"/>
                </a:solidFill>
                <a:latin typeface="Arial" pitchFamily="34" charset="0"/>
                <a:ea typeface="Arial" pitchFamily="34" charset="-122"/>
                <a:cs typeface="Arial" pitchFamily="34" charset="-120"/>
              </a:rPr>
              <a:t>Pasal C</a:t>
            </a:r>
            <a:pPr indent="0" marL="0">
              <a:buNone/>
            </a:pPr>
            <a:r>
              <a:rPr lang="en-US" sz="1600" dirty="0">
                <a:solidFill>
                  <a:srgbClr val="FFFFFF"/>
                </a:solidFill>
                <a:latin typeface="Arial" pitchFamily="34" charset="0"/>
                <a:ea typeface="Arial" pitchFamily="34" charset="-122"/>
                <a:cs typeface="Arial" pitchFamily="34" charset="-120"/>
              </a:rPr>
              <a:t> untuk standar dan pembinaannya.</a:t>
            </a:r>
            <a:endParaRPr lang="en-US" sz="1600" dirty="0"/>
          </a:p>
        </p:txBody>
      </p:sp>
      <p:sp>
        <p:nvSpPr>
          <p:cNvPr id="17"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Pembagian Peran yang Tegas</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BHP dan kurator perorangan tidak berebut perkara. Masing-masing punya wilayahnya sendiri.</a:t>
            </a:r>
            <a:endParaRPr lang="en-US" sz="2000" dirty="0"/>
          </a:p>
        </p:txBody>
      </p:sp>
      <p:sp>
        <p:nvSpPr>
          <p:cNvPr id="7" name="Shape 5"/>
          <p:cNvSpPr/>
          <p:nvPr/>
        </p:nvSpPr>
        <p:spPr>
          <a:xfrm>
            <a:off x="548640" y="2286000"/>
            <a:ext cx="5408676" cy="2377440"/>
          </a:xfrm>
          <a:prstGeom prst="roundRect">
            <a:avLst>
              <a:gd name="adj" fmla="val 4615"/>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 MENANGANI</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Perkara yang menyangkut kepentingan publik atau tidak diminati</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seperti perkara pekerja dan perkara dengan harta kecil</a:t>
            </a:r>
            <a:endParaRPr lang="en-US" sz="1300" dirty="0"/>
          </a:p>
        </p:txBody>
      </p:sp>
      <p:sp>
        <p:nvSpPr>
          <p:cNvPr id="10" name="Shape 7"/>
          <p:cNvSpPr/>
          <p:nvPr/>
        </p:nvSpPr>
        <p:spPr>
          <a:xfrm>
            <a:off x="6231636" y="2286000"/>
            <a:ext cx="5408676"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KURATOR PERORANGAN MENANGANI</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Perkara bisnis atas pilihan para pihak</a:t>
            </a:r>
            <a:endParaRPr lang="en-US" sz="1300" dirty="0"/>
          </a:p>
        </p:txBody>
      </p:sp>
      <p:sp>
        <p:nvSpPr>
          <p:cNvPr id="13" name="Text 9"/>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RUU Profesi Kurator</a:t>
            </a:r>
            <a:pPr indent="0" marL="0">
              <a:buNone/>
            </a:pPr>
            <a:r>
              <a:rPr lang="en-US" sz="1900" dirty="0">
                <a:solidFill>
                  <a:srgbClr val="1A1A1A"/>
                </a:solidFill>
                <a:latin typeface="Arial" pitchFamily="34" charset="0"/>
                <a:ea typeface="Arial" pitchFamily="34" charset="-122"/>
                <a:cs typeface="Arial" pitchFamily="34" charset="-120"/>
              </a:rPr>
              <a:t> memuat prinsipnya, sedangkan rinciannya diatur dalam </a:t>
            </a:r>
            <a:pPr indent="0" marL="0">
              <a:buNone/>
            </a:pPr>
            <a:r>
              <a:rPr lang="en-US" sz="1900" b="1" dirty="0">
                <a:solidFill>
                  <a:srgbClr val="14284B"/>
                </a:solidFill>
                <a:latin typeface="Arial" pitchFamily="34" charset="0"/>
                <a:ea typeface="Arial" pitchFamily="34" charset="-122"/>
                <a:cs typeface="Arial" pitchFamily="34" charset="-120"/>
              </a:rPr>
              <a:t>RUU Kepailitan dan PKPU</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p>
        </p:txBody>
      </p:sp>
      <p:sp>
        <p:nvSpPr>
          <p:cNvPr id="14" name="Shape 10"/>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1"/>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2"/>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17" name="Text 13"/>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Buktinya ada pada perkara yang sedang ditangani BHP Medan di Bagian II.</a:t>
            </a:r>
            <a:endParaRPr lang="en-US" sz="1600" dirty="0"/>
          </a:p>
        </p:txBody>
      </p:sp>
      <p:sp>
        <p:nvSpPr>
          <p:cNvPr id="18"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Koordinasi Antarlembaga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Setiap lembaga punya peran yang jelas, sehingga tidak ada tumpang tindih.</a:t>
            </a:r>
            <a:endParaRPr lang="en-US" sz="2000" dirty="0"/>
          </a:p>
        </p:txBody>
      </p:sp>
      <p:sp>
        <p:nvSpPr>
          <p:cNvPr id="7" name="Shape 5"/>
          <p:cNvSpPr/>
          <p:nvPr/>
        </p:nvSpPr>
        <p:spPr>
          <a:xfrm>
            <a:off x="548640" y="2286000"/>
            <a:ext cx="2601468" cy="2377440"/>
          </a:xfrm>
          <a:prstGeom prst="roundRect">
            <a:avLst>
              <a:gd name="adj" fmla="val 4615"/>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KEMENTERIAN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Membina</a:t>
            </a:r>
            <a:endParaRPr lang="en-US" sz="1300" dirty="0"/>
          </a:p>
        </p:txBody>
      </p:sp>
      <p:sp>
        <p:nvSpPr>
          <p:cNvPr id="10" name="Shape 7"/>
          <p:cNvSpPr/>
          <p:nvPr/>
        </p:nvSpPr>
        <p:spPr>
          <a:xfrm>
            <a:off x="3378708" y="2286000"/>
            <a:ext cx="2601468" cy="2377440"/>
          </a:xfrm>
          <a:prstGeom prst="roundRect">
            <a:avLst>
              <a:gd name="adj" fmla="val 4615"/>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3653028" y="2542032"/>
            <a:ext cx="502920" cy="502920"/>
          </a:xfrm>
          <a:prstGeom prst="rect">
            <a:avLst/>
          </a:prstGeom>
        </p:spPr>
      </p:pic>
      <p:sp>
        <p:nvSpPr>
          <p:cNvPr id="12" name="Text 8"/>
          <p:cNvSpPr txBox="1"/>
          <p:nvPr/>
        </p:nvSpPr>
        <p:spPr>
          <a:xfrm>
            <a:off x="3653028"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HAKIM PENGAWAS</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Mengawasi perkara</a:t>
            </a:r>
            <a:endParaRPr lang="en-US" sz="1300" dirty="0"/>
          </a:p>
        </p:txBody>
      </p:sp>
      <p:sp>
        <p:nvSpPr>
          <p:cNvPr id="13" name="Shape 9"/>
          <p:cNvSpPr/>
          <p:nvPr/>
        </p:nvSpPr>
        <p:spPr>
          <a:xfrm>
            <a:off x="6208776" y="2286000"/>
            <a:ext cx="2601468" cy="2377440"/>
          </a:xfrm>
          <a:prstGeom prst="roundRect">
            <a:avLst>
              <a:gd name="adj" fmla="val 4615"/>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6483096" y="2542032"/>
            <a:ext cx="502920" cy="502920"/>
          </a:xfrm>
          <a:prstGeom prst="rect">
            <a:avLst/>
          </a:prstGeom>
        </p:spPr>
      </p:pic>
      <p:sp>
        <p:nvSpPr>
          <p:cNvPr id="15" name="Text 10"/>
          <p:cNvSpPr txBox="1"/>
          <p:nvPr/>
        </p:nvSpPr>
        <p:spPr>
          <a:xfrm>
            <a:off x="6483096"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ORGANISASI PROFESI</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Menegakkan etik kurator perorangan</a:t>
            </a:r>
            <a:endParaRPr lang="en-US" sz="1300" dirty="0"/>
          </a:p>
        </p:txBody>
      </p:sp>
      <p:sp>
        <p:nvSpPr>
          <p:cNvPr id="16" name="Shape 11"/>
          <p:cNvSpPr/>
          <p:nvPr/>
        </p:nvSpPr>
        <p:spPr>
          <a:xfrm>
            <a:off x="9038844" y="2286000"/>
            <a:ext cx="2601468" cy="2377440"/>
          </a:xfrm>
          <a:prstGeom prst="roundRect">
            <a:avLst>
              <a:gd name="adj" fmla="val 4615"/>
            </a:avLst>
          </a:prstGeom>
          <a:solidFill>
            <a:srgbClr val="14284B"/>
          </a:solidFill>
          <a:ln w="12700">
            <a:solidFill>
              <a:srgbClr val="14284B"/>
            </a:solidFill>
            <a:prstDash val="solid"/>
          </a:ln>
        </p:spPr>
      </p:sp>
      <p:pic>
        <p:nvPicPr>
          <p:cNvPr id="17" name="Image 3" descr="preencoded.png">    </p:cNvPr>
          <p:cNvPicPr>
            <a:picLocks noChangeAspect="1"/>
          </p:cNvPicPr>
          <p:nvPr/>
        </p:nvPicPr>
        <p:blipFill>
          <a:blip r:embed="rId4"/>
          <a:stretch>
            <a:fillRect/>
          </a:stretch>
        </p:blipFill>
        <p:spPr>
          <a:xfrm>
            <a:off x="9313164" y="2542032"/>
            <a:ext cx="502920" cy="502920"/>
          </a:xfrm>
          <a:prstGeom prst="rect">
            <a:avLst/>
          </a:prstGeom>
        </p:spPr>
      </p:pic>
      <p:sp>
        <p:nvSpPr>
          <p:cNvPr id="18" name="Text 12"/>
          <p:cNvSpPr txBox="1"/>
          <p:nvPr/>
        </p:nvSpPr>
        <p:spPr>
          <a:xfrm>
            <a:off x="9313164" y="3255264"/>
            <a:ext cx="2052828"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Simpul data di wilayahnya</a:t>
            </a:r>
            <a:endParaRPr lang="en-US" sz="1300" dirty="0"/>
          </a:p>
        </p:txBody>
      </p:sp>
      <p:sp>
        <p:nvSpPr>
          <p:cNvPr id="19" name="Text 13"/>
          <p:cNvSpPr txBox="1"/>
          <p:nvPr/>
        </p:nvSpPr>
        <p:spPr>
          <a:xfrm>
            <a:off x="548640" y="480060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tidak ditempatkan sebagai pengawas kurator privat, karena BHP sendiri adalah kurator.</a:t>
            </a:r>
            <a:endParaRPr lang="en-US" sz="2200" dirty="0"/>
          </a:p>
        </p:txBody>
      </p:sp>
      <p:sp>
        <p:nvSpPr>
          <p:cNvPr id="20" name="Shape 14"/>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1" name="Shape 15"/>
          <p:cNvSpPr/>
          <p:nvPr/>
        </p:nvSpPr>
        <p:spPr>
          <a:xfrm>
            <a:off x="548640" y="5669280"/>
            <a:ext cx="91440" cy="621792"/>
          </a:xfrm>
          <a:prstGeom prst="rect">
            <a:avLst/>
          </a:prstGeom>
          <a:solidFill>
            <a:srgbClr val="E0A526"/>
          </a:solidFill>
          <a:ln w="12700">
            <a:solidFill>
              <a:srgbClr val="E0A526"/>
            </a:solidFill>
            <a:prstDash val="solid"/>
          </a:ln>
        </p:spPr>
      </p:sp>
      <p:sp>
        <p:nvSpPr>
          <p:cNvPr id="22" name="Text 16"/>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23" name="Text 17"/>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a:t>
            </a:r>
            <a:pPr indent="0" marL="0">
              <a:buNone/>
            </a:pPr>
            <a:r>
              <a:rPr lang="en-US" sz="1600" dirty="0">
                <a:solidFill>
                  <a:srgbClr val="FFFFFF"/>
                </a:solidFill>
                <a:latin typeface="Arial" pitchFamily="34" charset="0"/>
                <a:ea typeface="Arial" pitchFamily="34" charset="-122"/>
                <a:cs typeface="Arial" pitchFamily="34" charset="-120"/>
              </a:rPr>
              <a:t>, termasuk data kurator dan perkara yang terintegrasi.</a:t>
            </a:r>
            <a:endParaRPr lang="en-US" sz="1600" dirty="0"/>
          </a:p>
        </p:txBody>
      </p:sp>
      <p:sp>
        <p:nvSpPr>
          <p:cNvPr id="24"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5"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E0A526"/>
          </a:solidFill>
          <a:ln w="12700">
            <a:solidFill>
              <a:srgbClr val="E0A526"/>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Pengalaman BHP Medan</a:t>
            </a:r>
            <a:endParaRPr lang="en-US" sz="48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BHP Medan saat ini menangani 9 perkara kepailitan yang masih berjalan dengan total tagihan sekitar Rp47,35 miliar. Seluruhnya jatuh ke BHP karena pemohon tidak mengusulkan kurator.</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Perkara yang jatuh ke BHP adalah perkara yang tidak diambil pihak lain. Pembagian peran itu nyata.</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Hartanya kecil</a:t>
            </a:r>
            <a:endParaRPr lang="en-US" sz="1700" dirty="0"/>
          </a:p>
        </p:txBody>
      </p:sp>
      <p:sp>
        <p:nvSpPr>
          <p:cNvPr id="17" name="Shape 15"/>
          <p:cNvSpPr/>
          <p:nvPr/>
        </p:nvSpPr>
        <p:spPr>
          <a:xfrm>
            <a:off x="731520" y="5184648"/>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184648"/>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184648"/>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Perkaranya panjang</a:t>
            </a:r>
            <a:endParaRPr lang="en-US" sz="1700" dirty="0"/>
          </a:p>
        </p:txBody>
      </p:sp>
      <p:sp>
        <p:nvSpPr>
          <p:cNvPr id="20" name="Shape 18"/>
          <p:cNvSpPr/>
          <p:nvPr/>
        </p:nvSpPr>
        <p:spPr>
          <a:xfrm>
            <a:off x="731520" y="5568696"/>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568696"/>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568696"/>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Menyangkut hak pekerja dan uang negara</a:t>
            </a:r>
            <a:endParaRPr lang="en-US" sz="1700" dirty="0"/>
          </a:p>
        </p:txBody>
      </p:sp>
      <p:sp>
        <p:nvSpPr>
          <p:cNvPr id="23" name="Shape 21"/>
          <p:cNvSpPr/>
          <p:nvPr/>
        </p:nvSpPr>
        <p:spPr>
          <a:xfrm>
            <a:off x="731520" y="5952744"/>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5952744"/>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5952744"/>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menghilang</a:t>
            </a:r>
            <a:endParaRPr lang="en-US" sz="1700" dirty="0"/>
          </a:p>
        </p:txBody>
      </p:sp>
      <p:sp>
        <p:nvSpPr>
          <p:cNvPr id="26" name="Shape 24"/>
          <p:cNvSpPr/>
          <p:nvPr/>
        </p:nvSpPr>
        <p:spPr>
          <a:xfrm>
            <a:off x="731520" y="6336792"/>
            <a:ext cx="329184" cy="329184"/>
          </a:xfrm>
          <a:prstGeom prst="ellipse">
            <a:avLst/>
          </a:prstGeom>
          <a:solidFill>
            <a:srgbClr val="E0A526"/>
          </a:solidFill>
          <a:ln w="12700">
            <a:solidFill>
              <a:srgbClr val="E0A526"/>
            </a:solidFill>
            <a:prstDash val="solid"/>
          </a:ln>
        </p:spPr>
      </p:sp>
      <p:sp>
        <p:nvSpPr>
          <p:cNvPr id="27" name="Text 25"/>
          <p:cNvSpPr txBox="1"/>
          <p:nvPr/>
        </p:nvSpPr>
        <p:spPr>
          <a:xfrm>
            <a:off x="731520" y="6336792"/>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8" name="Text 26"/>
          <p:cNvSpPr txBox="1"/>
          <p:nvPr/>
        </p:nvSpPr>
        <p:spPr>
          <a:xfrm>
            <a:off x="1188720" y="6336792"/>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 nasional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Sembilan Perkara, Semuanya Tanpa Kurator Usulan Pemohon</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Perkara yang sedang berjalan di BHP Medan hari ini.</a:t>
            </a:r>
            <a:endParaRPr lang="en-US" sz="2000" dirty="0"/>
          </a:p>
        </p:txBody>
      </p:sp>
      <p:sp>
        <p:nvSpPr>
          <p:cNvPr id="7" name="Shape 5"/>
          <p:cNvSpPr/>
          <p:nvPr/>
        </p:nvSpPr>
        <p:spPr>
          <a:xfrm>
            <a:off x="548640" y="2286000"/>
            <a:ext cx="3514344" cy="2377440"/>
          </a:xfrm>
          <a:prstGeom prst="roundRect">
            <a:avLst>
              <a:gd name="adj" fmla="val 4615"/>
            </a:avLst>
          </a:prstGeom>
          <a:solidFill>
            <a:srgbClr val="14284B"/>
          </a:solidFill>
          <a:ln w="12700">
            <a:solidFill>
              <a:srgbClr val="14284B"/>
            </a:solidFill>
            <a:prstDash val="solid"/>
          </a:ln>
        </p:spPr>
      </p:sp>
      <p:sp>
        <p:nvSpPr>
          <p:cNvPr id="8" name="Text 6"/>
          <p:cNvSpPr txBox="1"/>
          <p:nvPr/>
        </p:nvSpPr>
        <p:spPr>
          <a:xfrm>
            <a:off x="822960"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PERKARA KEPAILITAN</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a:t>
            </a:r>
            <a:endParaRPr lang="en-US" sz="13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yang masih berjalan</a:t>
            </a:r>
            <a:endParaRPr lang="en-US" sz="1300" dirty="0"/>
          </a:p>
        </p:txBody>
      </p:sp>
      <p:sp>
        <p:nvSpPr>
          <p:cNvPr id="9" name="Shape 7"/>
          <p:cNvSpPr/>
          <p:nvPr/>
        </p:nvSpPr>
        <p:spPr>
          <a:xfrm>
            <a:off x="4337304" y="2286000"/>
            <a:ext cx="3514344" cy="2377440"/>
          </a:xfrm>
          <a:prstGeom prst="roundRect">
            <a:avLst>
              <a:gd name="adj" fmla="val 4615"/>
            </a:avLst>
          </a:prstGeom>
          <a:solidFill>
            <a:srgbClr val="EEF2F8"/>
          </a:solidFill>
          <a:ln w="12700">
            <a:solidFill>
              <a:srgbClr val="EEF2F8"/>
            </a:solidFill>
            <a:prstDash val="solid"/>
          </a:ln>
        </p:spPr>
      </p:sp>
      <p:sp>
        <p:nvSpPr>
          <p:cNvPr id="10" name="Text 8"/>
          <p:cNvSpPr txBox="1"/>
          <p:nvPr/>
        </p:nvSpPr>
        <p:spPr>
          <a:xfrm>
            <a:off x="4611624"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TOTAL TAGIHAN</a:t>
            </a:r>
            <a:endParaRPr lang="en-US" sz="1300" dirty="0"/>
          </a:p>
          <a:p>
            <a:pPr indent="0" marL="0">
              <a:spcAft>
                <a:spcPts val="400"/>
              </a:spcAft>
              <a:buNone/>
            </a:pPr>
            <a:r>
              <a:rPr lang="en-US" sz="4000" b="1" dirty="0">
                <a:solidFill>
                  <a:srgbClr val="14284B"/>
                </a:solidFill>
                <a:latin typeface="Arial" pitchFamily="34" charset="0"/>
                <a:ea typeface="Arial" pitchFamily="34" charset="-122"/>
                <a:cs typeface="Arial" pitchFamily="34" charset="-120"/>
              </a:rPr>
              <a:t>Rp47,35 M</a:t>
            </a:r>
            <a:endParaRPr lang="en-US" sz="1300" dirty="0"/>
          </a:p>
          <a:p>
            <a:pPr indent="0" marL="0">
              <a:spcAft>
                <a:spcPts val="400"/>
              </a:spcAft>
              <a:buNone/>
            </a:pPr>
            <a:r>
              <a:rPr lang="en-US" sz="1800" dirty="0">
                <a:solidFill>
                  <a:srgbClr val="1A1A1A"/>
                </a:solidFill>
                <a:latin typeface="Arial" pitchFamily="34" charset="0"/>
                <a:ea typeface="Arial" pitchFamily="34" charset="-122"/>
                <a:cs typeface="Arial" pitchFamily="34" charset="-120"/>
              </a:rPr>
              <a:t>sekitar Rp47,35 miliar</a:t>
            </a:r>
            <a:endParaRPr lang="en-US" sz="1300" dirty="0"/>
          </a:p>
        </p:txBody>
      </p:sp>
      <p:sp>
        <p:nvSpPr>
          <p:cNvPr id="11" name="Shape 9"/>
          <p:cNvSpPr/>
          <p:nvPr/>
        </p:nvSpPr>
        <p:spPr>
          <a:xfrm>
            <a:off x="8125968" y="2286000"/>
            <a:ext cx="3514344" cy="2377440"/>
          </a:xfrm>
          <a:prstGeom prst="roundRect">
            <a:avLst>
              <a:gd name="adj" fmla="val 4615"/>
            </a:avLst>
          </a:prstGeom>
          <a:solidFill>
            <a:srgbClr val="EEF2F8"/>
          </a:solidFill>
          <a:ln w="12700">
            <a:solidFill>
              <a:srgbClr val="EEF2F8"/>
            </a:solidFill>
            <a:prstDash val="solid"/>
          </a:ln>
        </p:spPr>
      </p:sp>
      <p:pic>
        <p:nvPicPr>
          <p:cNvPr id="12" name="Image 0" descr="preencoded.png">    </p:cNvPr>
          <p:cNvPicPr>
            <a:picLocks noChangeAspect="1"/>
          </p:cNvPicPr>
          <p:nvPr/>
        </p:nvPicPr>
        <p:blipFill>
          <a:blip r:embed="rId1"/>
          <a:stretch>
            <a:fillRect/>
          </a:stretch>
        </p:blipFill>
        <p:spPr>
          <a:xfrm>
            <a:off x="8400288" y="2542032"/>
            <a:ext cx="502920" cy="502920"/>
          </a:xfrm>
          <a:prstGeom prst="rect">
            <a:avLst/>
          </a:prstGeom>
        </p:spPr>
      </p:pic>
      <p:sp>
        <p:nvSpPr>
          <p:cNvPr id="13" name="Text 10"/>
          <p:cNvSpPr txBox="1"/>
          <p:nvPr/>
        </p:nvSpPr>
        <p:spPr>
          <a:xfrm>
            <a:off x="8400288" y="3255264"/>
            <a:ext cx="2965704" cy="12252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ASAL PERKARA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Seluruhnya jatuh ke BHP</a:t>
            </a:r>
            <a:endParaRPr lang="en-US" sz="1300" dirty="0"/>
          </a:p>
          <a:p>
            <a:pPr indent="0" marL="0">
              <a:spcAft>
                <a:spcPts val="400"/>
              </a:spcAft>
              <a:buNone/>
            </a:pPr>
            <a:r>
              <a:rPr lang="en-US" sz="1800" dirty="0">
                <a:solidFill>
                  <a:srgbClr val="1A1A1A"/>
                </a:solidFill>
                <a:latin typeface="Arial" pitchFamily="34" charset="0"/>
                <a:ea typeface="Arial" pitchFamily="34" charset="-122"/>
                <a:cs typeface="Arial" pitchFamily="34" charset="-120"/>
              </a:rPr>
              <a:t>karena pemohon tidak mengusulkan kurator</a:t>
            </a:r>
            <a:endParaRPr lang="en-US" sz="1300" dirty="0"/>
          </a:p>
        </p:txBody>
      </p:sp>
      <p:sp>
        <p:nvSpPr>
          <p:cNvPr id="14" name="Text 11"/>
          <p:cNvSpPr txBox="1"/>
          <p:nvPr/>
        </p:nvSpPr>
        <p:spPr>
          <a:xfrm>
            <a:off x="548640" y="4846320"/>
            <a:ext cx="11091672" cy="685800"/>
          </a:xfrm>
          <a:prstGeom prst="rect">
            <a:avLst/>
          </a:prstGeom>
          <a:noFill/>
          <a:ln/>
        </p:spPr>
        <p:txBody>
          <a:bodyPr wrap="square" lIns="0" tIns="0" rIns="0" bIns="0" rtlCol="0" anchor="ctr"/>
          <a:lstStyle/>
          <a:p>
            <a:pPr indent="0" marL="0">
              <a:buNone/>
            </a:pPr>
            <a:r>
              <a:rPr lang="en-US" sz="1800" dirty="0">
                <a:solidFill>
                  <a:srgbClr val="1A1A1A"/>
                </a:solidFill>
                <a:latin typeface="Arial" pitchFamily="34" charset="0"/>
                <a:ea typeface="Arial" pitchFamily="34" charset="-122"/>
                <a:cs typeface="Arial" pitchFamily="34" charset="-120"/>
              </a:rPr>
              <a:t>Selain itu, BHP Medan telah menyelesaikan perkara lain, antara lain </a:t>
            </a:r>
            <a:pPr indent="0" marL="0">
              <a:buNone/>
            </a:pPr>
            <a:r>
              <a:rPr lang="en-US" sz="1800" b="1" dirty="0">
                <a:solidFill>
                  <a:srgbClr val="14284B"/>
                </a:solidFill>
                <a:latin typeface="Arial" pitchFamily="34" charset="0"/>
                <a:ea typeface="Arial" pitchFamily="34" charset="-122"/>
                <a:cs typeface="Arial" pitchFamily="34" charset="-120"/>
              </a:rPr>
              <a:t>PT Jasa Prima Mandiri</a:t>
            </a:r>
            <a:pPr indent="0" marL="0">
              <a:buNone/>
            </a:pPr>
            <a:r>
              <a:rPr lang="en-US" sz="1800" dirty="0">
                <a:solidFill>
                  <a:srgbClr val="1A1A1A"/>
                </a:solidFill>
                <a:latin typeface="Arial" pitchFamily="34" charset="0"/>
                <a:ea typeface="Arial" pitchFamily="34" charset="-122"/>
                <a:cs typeface="Arial" pitchFamily="34" charset="-120"/>
              </a:rPr>
              <a:t> yang ditangani bersama kurator perorangan.</a:t>
            </a:r>
            <a:endParaRPr lang="en-US" sz="1800" dirty="0"/>
          </a:p>
        </p:txBody>
      </p:sp>
      <p:sp>
        <p:nvSpPr>
          <p:cNvPr id="15"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6"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7"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18"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BHP mengisi perkara yang tidak diambil pihak lain. Empat temuan berikut menunjukkan mengapa.</a:t>
            </a:r>
            <a:endParaRPr lang="en-US" sz="1600" dirty="0"/>
          </a:p>
        </p:txBody>
      </p:sp>
      <p:sp>
        <p:nvSpPr>
          <p:cNvPr id="19"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0"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Hartanya Kecil</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Pada empat perkara yang sudah dinilai, harta pailit hanya 12% sampai 40% dari tagihan.</a:t>
            </a:r>
            <a:endParaRPr lang="en-US" sz="2000" dirty="0"/>
          </a:p>
        </p:txBody>
      </p:sp>
      <p:sp>
        <p:nvSpPr>
          <p:cNvPr id="7" name="Text 5"/>
          <p:cNvSpPr txBox="1"/>
          <p:nvPr/>
        </p:nvSpPr>
        <p:spPr>
          <a:xfrm>
            <a:off x="548640" y="2240280"/>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Badaruddin HSB</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Rp2,30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Rp0,93 miliar</a:t>
            </a:r>
            <a:endParaRPr lang="en-US" sz="1900" dirty="0"/>
          </a:p>
        </p:txBody>
      </p:sp>
      <p:sp>
        <p:nvSpPr>
          <p:cNvPr id="8" name="Shape 6"/>
          <p:cNvSpPr/>
          <p:nvPr/>
        </p:nvSpPr>
        <p:spPr>
          <a:xfrm>
            <a:off x="3749040" y="2414016"/>
            <a:ext cx="6400800" cy="365760"/>
          </a:xfrm>
          <a:prstGeom prst="roundRect">
            <a:avLst>
              <a:gd name="adj" fmla="val 20000"/>
            </a:avLst>
          </a:prstGeom>
          <a:solidFill>
            <a:srgbClr val="D5DDEA"/>
          </a:solidFill>
          <a:ln w="12700">
            <a:solidFill>
              <a:srgbClr val="D5DDEA"/>
            </a:solidFill>
            <a:prstDash val="solid"/>
          </a:ln>
        </p:spPr>
      </p:sp>
      <p:sp>
        <p:nvSpPr>
          <p:cNvPr id="9" name="Shape 7"/>
          <p:cNvSpPr/>
          <p:nvPr/>
        </p:nvSpPr>
        <p:spPr>
          <a:xfrm>
            <a:off x="3749040" y="2414016"/>
            <a:ext cx="2560320" cy="365760"/>
          </a:xfrm>
          <a:prstGeom prst="roundRect">
            <a:avLst>
              <a:gd name="adj" fmla="val 20000"/>
            </a:avLst>
          </a:prstGeom>
          <a:solidFill>
            <a:srgbClr val="14284B"/>
          </a:solidFill>
          <a:ln w="12700">
            <a:solidFill>
              <a:srgbClr val="14284B"/>
            </a:solidFill>
            <a:prstDash val="solid"/>
          </a:ln>
        </p:spPr>
      </p:sp>
      <p:sp>
        <p:nvSpPr>
          <p:cNvPr id="10" name="Text 8"/>
          <p:cNvSpPr txBox="1"/>
          <p:nvPr/>
        </p:nvSpPr>
        <p:spPr>
          <a:xfrm>
            <a:off x="10241280" y="2286000"/>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40%</a:t>
            </a:r>
            <a:endParaRPr lang="en-US" sz="3000" dirty="0"/>
          </a:p>
        </p:txBody>
      </p:sp>
      <p:sp>
        <p:nvSpPr>
          <p:cNvPr id="11" name="Text 9"/>
          <p:cNvSpPr txBox="1"/>
          <p:nvPr/>
        </p:nvSpPr>
        <p:spPr>
          <a:xfrm>
            <a:off x="548640" y="2953512"/>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Gwe Tjoen</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Rp25,66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Rp8,00 miliar</a:t>
            </a:r>
            <a:endParaRPr lang="en-US" sz="1900" dirty="0"/>
          </a:p>
        </p:txBody>
      </p:sp>
      <p:sp>
        <p:nvSpPr>
          <p:cNvPr id="12" name="Shape 10"/>
          <p:cNvSpPr/>
          <p:nvPr/>
        </p:nvSpPr>
        <p:spPr>
          <a:xfrm>
            <a:off x="3749040" y="3127248"/>
            <a:ext cx="6400800" cy="365760"/>
          </a:xfrm>
          <a:prstGeom prst="roundRect">
            <a:avLst>
              <a:gd name="adj" fmla="val 20000"/>
            </a:avLst>
          </a:prstGeom>
          <a:solidFill>
            <a:srgbClr val="D5DDEA"/>
          </a:solidFill>
          <a:ln w="12700">
            <a:solidFill>
              <a:srgbClr val="D5DDEA"/>
            </a:solidFill>
            <a:prstDash val="solid"/>
          </a:ln>
        </p:spPr>
      </p:sp>
      <p:sp>
        <p:nvSpPr>
          <p:cNvPr id="13" name="Shape 11"/>
          <p:cNvSpPr/>
          <p:nvPr/>
        </p:nvSpPr>
        <p:spPr>
          <a:xfrm>
            <a:off x="3749040" y="3127248"/>
            <a:ext cx="1984248" cy="365760"/>
          </a:xfrm>
          <a:prstGeom prst="roundRect">
            <a:avLst>
              <a:gd name="adj" fmla="val 20000"/>
            </a:avLst>
          </a:prstGeom>
          <a:solidFill>
            <a:srgbClr val="14284B"/>
          </a:solidFill>
          <a:ln w="12700">
            <a:solidFill>
              <a:srgbClr val="14284B"/>
            </a:solidFill>
            <a:prstDash val="solid"/>
          </a:ln>
        </p:spPr>
      </p:sp>
      <p:sp>
        <p:nvSpPr>
          <p:cNvPr id="14" name="Text 12"/>
          <p:cNvSpPr txBox="1"/>
          <p:nvPr/>
        </p:nvSpPr>
        <p:spPr>
          <a:xfrm>
            <a:off x="10241280" y="2999232"/>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31%</a:t>
            </a:r>
            <a:endParaRPr lang="en-US" sz="3000" dirty="0"/>
          </a:p>
        </p:txBody>
      </p:sp>
      <p:sp>
        <p:nvSpPr>
          <p:cNvPr id="15" name="Text 13"/>
          <p:cNvSpPr txBox="1"/>
          <p:nvPr/>
        </p:nvSpPr>
        <p:spPr>
          <a:xfrm>
            <a:off x="548640" y="3666744"/>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CV Hitado</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Rp1,94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Rp0,53 miliar</a:t>
            </a:r>
            <a:endParaRPr lang="en-US" sz="1900" dirty="0"/>
          </a:p>
        </p:txBody>
      </p:sp>
      <p:sp>
        <p:nvSpPr>
          <p:cNvPr id="16" name="Shape 14"/>
          <p:cNvSpPr/>
          <p:nvPr/>
        </p:nvSpPr>
        <p:spPr>
          <a:xfrm>
            <a:off x="3749040" y="3840480"/>
            <a:ext cx="6400800" cy="365760"/>
          </a:xfrm>
          <a:prstGeom prst="roundRect">
            <a:avLst>
              <a:gd name="adj" fmla="val 20000"/>
            </a:avLst>
          </a:prstGeom>
          <a:solidFill>
            <a:srgbClr val="D5DDEA"/>
          </a:solidFill>
          <a:ln w="12700">
            <a:solidFill>
              <a:srgbClr val="D5DDEA"/>
            </a:solidFill>
            <a:prstDash val="solid"/>
          </a:ln>
        </p:spPr>
      </p:sp>
      <p:sp>
        <p:nvSpPr>
          <p:cNvPr id="17" name="Shape 15"/>
          <p:cNvSpPr/>
          <p:nvPr/>
        </p:nvSpPr>
        <p:spPr>
          <a:xfrm>
            <a:off x="3749040" y="3840480"/>
            <a:ext cx="1728216" cy="365760"/>
          </a:xfrm>
          <a:prstGeom prst="roundRect">
            <a:avLst>
              <a:gd name="adj" fmla="val 20000"/>
            </a:avLst>
          </a:prstGeom>
          <a:solidFill>
            <a:srgbClr val="14284B"/>
          </a:solidFill>
          <a:ln w="12700">
            <a:solidFill>
              <a:srgbClr val="14284B"/>
            </a:solidFill>
            <a:prstDash val="solid"/>
          </a:ln>
        </p:spPr>
      </p:sp>
      <p:sp>
        <p:nvSpPr>
          <p:cNvPr id="18" name="Text 16"/>
          <p:cNvSpPr txBox="1"/>
          <p:nvPr/>
        </p:nvSpPr>
        <p:spPr>
          <a:xfrm>
            <a:off x="10241280" y="3712464"/>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27%</a:t>
            </a:r>
            <a:endParaRPr lang="en-US" sz="3000" dirty="0"/>
          </a:p>
        </p:txBody>
      </p:sp>
      <p:sp>
        <p:nvSpPr>
          <p:cNvPr id="19" name="Text 17"/>
          <p:cNvSpPr txBox="1"/>
          <p:nvPr/>
        </p:nvSpPr>
        <p:spPr>
          <a:xfrm>
            <a:off x="548640" y="4379976"/>
            <a:ext cx="3108960" cy="694944"/>
          </a:xfrm>
          <a:prstGeom prst="rect">
            <a:avLst/>
          </a:prstGeom>
          <a:noFill/>
          <a:ln/>
        </p:spPr>
        <p:txBody>
          <a:bodyPr wrap="square" lIns="0" tIns="0" rIns="0" bIns="0" rtlCol="0" anchor="ctr"/>
          <a:lstStyle/>
          <a:p>
            <a:pPr indent="0" marL="0">
              <a:buNone/>
            </a:pPr>
            <a:r>
              <a:rPr lang="en-US" sz="1900" b="1" dirty="0">
                <a:solidFill>
                  <a:srgbClr val="14284B"/>
                </a:solidFill>
                <a:latin typeface="Arial" pitchFamily="34" charset="0"/>
                <a:ea typeface="Arial" pitchFamily="34" charset="-122"/>
                <a:cs typeface="Arial" pitchFamily="34" charset="-120"/>
              </a:rPr>
              <a:t>PT Rata Makmur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Tagihan Rp1,43 miliar</a:t>
            </a:r>
            <a:endParaRPr lang="en-US" sz="1900" dirty="0"/>
          </a:p>
          <a:p>
            <a:pPr indent="0" marL="0">
              <a:buNone/>
            </a:pPr>
            <a:r>
              <a:rPr lang="en-US" sz="1200" dirty="0">
                <a:solidFill>
                  <a:srgbClr val="4A5568"/>
                </a:solidFill>
                <a:latin typeface="Arial" pitchFamily="34" charset="0"/>
                <a:ea typeface="Arial" pitchFamily="34" charset="-122"/>
                <a:cs typeface="Arial" pitchFamily="34" charset="-120"/>
              </a:rPr>
              <a:t>Harta Rp0,17 miliar</a:t>
            </a:r>
            <a:endParaRPr lang="en-US" sz="1900" dirty="0"/>
          </a:p>
        </p:txBody>
      </p:sp>
      <p:sp>
        <p:nvSpPr>
          <p:cNvPr id="20" name="Shape 18"/>
          <p:cNvSpPr/>
          <p:nvPr/>
        </p:nvSpPr>
        <p:spPr>
          <a:xfrm>
            <a:off x="3749040" y="4553712"/>
            <a:ext cx="6400800" cy="365760"/>
          </a:xfrm>
          <a:prstGeom prst="roundRect">
            <a:avLst>
              <a:gd name="adj" fmla="val 20000"/>
            </a:avLst>
          </a:prstGeom>
          <a:solidFill>
            <a:srgbClr val="D5DDEA"/>
          </a:solidFill>
          <a:ln w="12700">
            <a:solidFill>
              <a:srgbClr val="D5DDEA"/>
            </a:solidFill>
            <a:prstDash val="solid"/>
          </a:ln>
        </p:spPr>
      </p:sp>
      <p:sp>
        <p:nvSpPr>
          <p:cNvPr id="21" name="Shape 19"/>
          <p:cNvSpPr/>
          <p:nvPr/>
        </p:nvSpPr>
        <p:spPr>
          <a:xfrm>
            <a:off x="3749040" y="4553712"/>
            <a:ext cx="768096" cy="365760"/>
          </a:xfrm>
          <a:prstGeom prst="roundRect">
            <a:avLst>
              <a:gd name="adj" fmla="val 20000"/>
            </a:avLst>
          </a:prstGeom>
          <a:solidFill>
            <a:srgbClr val="14284B"/>
          </a:solidFill>
          <a:ln w="12700">
            <a:solidFill>
              <a:srgbClr val="14284B"/>
            </a:solidFill>
            <a:prstDash val="solid"/>
          </a:ln>
        </p:spPr>
      </p:sp>
      <p:sp>
        <p:nvSpPr>
          <p:cNvPr id="22" name="Text 20"/>
          <p:cNvSpPr txBox="1"/>
          <p:nvPr/>
        </p:nvSpPr>
        <p:spPr>
          <a:xfrm>
            <a:off x="10241280" y="4425696"/>
            <a:ext cx="1399032" cy="621792"/>
          </a:xfrm>
          <a:prstGeom prst="rect">
            <a:avLst/>
          </a:prstGeom>
          <a:noFill/>
          <a:ln/>
        </p:spPr>
        <p:txBody>
          <a:bodyPr wrap="square" lIns="0" tIns="0" rIns="0" bIns="0" rtlCol="0" anchor="ctr"/>
          <a:lstStyle/>
          <a:p>
            <a:pPr algn="r" indent="0" marL="0">
              <a:buNone/>
            </a:pPr>
            <a:r>
              <a:rPr lang="en-US" sz="3000" b="1" dirty="0">
                <a:solidFill>
                  <a:srgbClr val="14284B"/>
                </a:solidFill>
                <a:latin typeface="Arial" pitchFamily="34" charset="0"/>
                <a:ea typeface="Arial" pitchFamily="34" charset="-122"/>
                <a:cs typeface="Arial" pitchFamily="34" charset="-120"/>
              </a:rPr>
              <a:t>12%</a:t>
            </a:r>
            <a:endParaRPr lang="en-US" sz="3000" dirty="0"/>
          </a:p>
        </p:txBody>
      </p:sp>
      <p:sp>
        <p:nvSpPr>
          <p:cNvPr id="23" name="Text 21"/>
          <p:cNvSpPr txBox="1"/>
          <p:nvPr/>
        </p:nvSpPr>
        <p:spPr>
          <a:xfrm>
            <a:off x="3749040" y="5166360"/>
            <a:ext cx="7863840" cy="320040"/>
          </a:xfrm>
          <a:prstGeom prst="rect">
            <a:avLst/>
          </a:prstGeom>
          <a:noFill/>
          <a:ln/>
        </p:spPr>
        <p:txBody>
          <a:bodyPr wrap="square" lIns="0" tIns="0" rIns="0" bIns="0" rtlCol="0" anchor="t"/>
          <a:lstStyle/>
          <a:p>
            <a:pPr indent="0" marL="0">
              <a:buNone/>
            </a:pPr>
            <a:r>
              <a:rPr lang="en-US" sz="1200" dirty="0">
                <a:solidFill>
                  <a:srgbClr val="4A5568"/>
                </a:solidFill>
                <a:latin typeface="Arial" pitchFamily="34" charset="0"/>
                <a:ea typeface="Arial" pitchFamily="34" charset="-122"/>
                <a:cs typeface="Arial" pitchFamily="34" charset="-120"/>
              </a:rPr>
              <a:t>Batang abu-abu: tagihan (100%). Batang navy: nilai harta tercatat.</a:t>
            </a:r>
            <a:endParaRPr lang="en-US" sz="1200" dirty="0"/>
          </a:p>
        </p:txBody>
      </p:sp>
      <p:sp>
        <p:nvSpPr>
          <p:cNvPr id="24" name="Shape 2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5" name="Shape 23"/>
          <p:cNvSpPr/>
          <p:nvPr/>
        </p:nvSpPr>
        <p:spPr>
          <a:xfrm>
            <a:off x="548640" y="5669280"/>
            <a:ext cx="91440" cy="621792"/>
          </a:xfrm>
          <a:prstGeom prst="rect">
            <a:avLst/>
          </a:prstGeom>
          <a:solidFill>
            <a:srgbClr val="E0A526"/>
          </a:solidFill>
          <a:ln w="12700">
            <a:solidFill>
              <a:srgbClr val="E0A526"/>
            </a:solidFill>
            <a:prstDash val="solid"/>
          </a:ln>
        </p:spPr>
      </p:sp>
      <p:sp>
        <p:nvSpPr>
          <p:cNvPr id="26" name="Text 2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27" name="Text 2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Perkara seperti ini tidak menarik bagi kurator yang bekerja atas dasar imbalan. Lihat </a:t>
            </a:r>
            <a:pPr indent="0" marL="0">
              <a:buNone/>
            </a:pPr>
            <a:r>
              <a:rPr lang="en-US" sz="1600" b="1" dirty="0">
                <a:solidFill>
                  <a:srgbClr val="E0A526"/>
                </a:solidFill>
                <a:latin typeface="Arial" pitchFamily="34" charset="0"/>
                <a:ea typeface="Arial" pitchFamily="34" charset="-122"/>
                <a:cs typeface="Arial" pitchFamily="34" charset="-120"/>
              </a:rPr>
              <a:t>Pasal B ayat (1)</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28" name="Text 2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9" name="Text 2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Perkaranya Panjang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Enam dari sembilan perkara berjalan lebih dari lima tahun, yang terlama sejak 2016.</a:t>
            </a:r>
            <a:endParaRPr lang="en-US" sz="2000" dirty="0"/>
          </a:p>
        </p:txBody>
      </p:sp>
      <p:sp>
        <p:nvSpPr>
          <p:cNvPr id="7" name="Shape 5"/>
          <p:cNvSpPr/>
          <p:nvPr/>
        </p:nvSpPr>
        <p:spPr>
          <a:xfrm>
            <a:off x="4419600" y="2148840"/>
            <a:ext cx="0" cy="3337560"/>
          </a:xfrm>
          <a:prstGeom prst="line">
            <a:avLst/>
          </a:prstGeom>
          <a:noFill/>
          <a:ln w="19050">
            <a:solidFill>
              <a:srgbClr val="8A6100"/>
            </a:solidFill>
            <a:prstDash val="dash"/>
          </a:ln>
        </p:spPr>
      </p:sp>
      <p:sp>
        <p:nvSpPr>
          <p:cNvPr id="8" name="Text 6"/>
          <p:cNvSpPr txBox="1"/>
          <p:nvPr/>
        </p:nvSpPr>
        <p:spPr>
          <a:xfrm>
            <a:off x="4492752" y="2103120"/>
            <a:ext cx="1097280" cy="228600"/>
          </a:xfrm>
          <a:prstGeom prst="rect">
            <a:avLst/>
          </a:prstGeom>
          <a:noFill/>
          <a:ln/>
        </p:spPr>
        <p:txBody>
          <a:bodyPr wrap="square" lIns="0" tIns="0" rIns="0" bIns="0" rtlCol="0" anchor="t"/>
          <a:lstStyle/>
          <a:p>
            <a:pPr indent="0" marL="0">
              <a:buNone/>
            </a:pPr>
            <a:r>
              <a:rPr lang="en-US" sz="1200" b="1" dirty="0">
                <a:solidFill>
                  <a:srgbClr val="8A6100"/>
                </a:solidFill>
                <a:latin typeface="Arial" pitchFamily="34" charset="0"/>
                <a:ea typeface="Arial" pitchFamily="34" charset="-122"/>
                <a:cs typeface="Arial" pitchFamily="34" charset="-120"/>
              </a:rPr>
              <a:t>5 tahun</a:t>
            </a:r>
            <a:endParaRPr lang="en-US" sz="1200" dirty="0"/>
          </a:p>
        </p:txBody>
      </p:sp>
      <p:sp>
        <p:nvSpPr>
          <p:cNvPr id="9" name="Text 7"/>
          <p:cNvSpPr txBox="1"/>
          <p:nvPr/>
        </p:nvSpPr>
        <p:spPr>
          <a:xfrm>
            <a:off x="548640" y="2377440"/>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Gwe Tjoen</a:t>
            </a:r>
            <a:endParaRPr lang="en-US" sz="1300" dirty="0"/>
          </a:p>
        </p:txBody>
      </p:sp>
      <p:sp>
        <p:nvSpPr>
          <p:cNvPr id="10" name="Shape 8"/>
          <p:cNvSpPr/>
          <p:nvPr/>
        </p:nvSpPr>
        <p:spPr>
          <a:xfrm>
            <a:off x="2514600" y="2404872"/>
            <a:ext cx="4038600" cy="237744"/>
          </a:xfrm>
          <a:prstGeom prst="rect">
            <a:avLst/>
          </a:prstGeom>
          <a:solidFill>
            <a:srgbClr val="14284B"/>
          </a:solidFill>
          <a:ln w="12700">
            <a:solidFill>
              <a:srgbClr val="14284B"/>
            </a:solidFill>
            <a:prstDash val="solid"/>
          </a:ln>
        </p:spPr>
      </p:sp>
      <p:sp>
        <p:nvSpPr>
          <p:cNvPr id="11" name="Text 9"/>
          <p:cNvSpPr txBox="1"/>
          <p:nvPr/>
        </p:nvSpPr>
        <p:spPr>
          <a:xfrm>
            <a:off x="6626352" y="2377440"/>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10,6 tahun</a:t>
            </a:r>
            <a:endParaRPr lang="en-US" sz="1200" dirty="0"/>
          </a:p>
        </p:txBody>
      </p:sp>
      <p:sp>
        <p:nvSpPr>
          <p:cNvPr id="12" name="Text 10"/>
          <p:cNvSpPr txBox="1"/>
          <p:nvPr/>
        </p:nvSpPr>
        <p:spPr>
          <a:xfrm>
            <a:off x="548640" y="2724912"/>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CV Hitado</a:t>
            </a:r>
            <a:endParaRPr lang="en-US" sz="1300" dirty="0"/>
          </a:p>
        </p:txBody>
      </p:sp>
      <p:sp>
        <p:nvSpPr>
          <p:cNvPr id="13" name="Shape 11"/>
          <p:cNvSpPr/>
          <p:nvPr/>
        </p:nvSpPr>
        <p:spPr>
          <a:xfrm>
            <a:off x="2514600" y="2752344"/>
            <a:ext cx="3581400" cy="237744"/>
          </a:xfrm>
          <a:prstGeom prst="rect">
            <a:avLst/>
          </a:prstGeom>
          <a:solidFill>
            <a:srgbClr val="14284B"/>
          </a:solidFill>
          <a:ln w="12700">
            <a:solidFill>
              <a:srgbClr val="14284B"/>
            </a:solidFill>
            <a:prstDash val="solid"/>
          </a:ln>
        </p:spPr>
      </p:sp>
      <p:sp>
        <p:nvSpPr>
          <p:cNvPr id="14" name="Text 12"/>
          <p:cNvSpPr txBox="1"/>
          <p:nvPr/>
        </p:nvSpPr>
        <p:spPr>
          <a:xfrm>
            <a:off x="6169152" y="2724912"/>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9,4 tahun</a:t>
            </a:r>
            <a:endParaRPr lang="en-US" sz="1200" dirty="0"/>
          </a:p>
        </p:txBody>
      </p:sp>
      <p:sp>
        <p:nvSpPr>
          <p:cNvPr id="15" name="Text 13"/>
          <p:cNvSpPr txBox="1"/>
          <p:nvPr/>
        </p:nvSpPr>
        <p:spPr>
          <a:xfrm>
            <a:off x="548640" y="3072384"/>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PT Pro Mekanika</a:t>
            </a:r>
            <a:endParaRPr lang="en-US" sz="1300" dirty="0"/>
          </a:p>
        </p:txBody>
      </p:sp>
      <p:sp>
        <p:nvSpPr>
          <p:cNvPr id="16" name="Shape 14"/>
          <p:cNvSpPr/>
          <p:nvPr/>
        </p:nvSpPr>
        <p:spPr>
          <a:xfrm>
            <a:off x="2514600" y="3099816"/>
            <a:ext cx="3162300" cy="237744"/>
          </a:xfrm>
          <a:prstGeom prst="rect">
            <a:avLst/>
          </a:prstGeom>
          <a:solidFill>
            <a:srgbClr val="14284B"/>
          </a:solidFill>
          <a:ln w="12700">
            <a:solidFill>
              <a:srgbClr val="14284B"/>
            </a:solidFill>
            <a:prstDash val="solid"/>
          </a:ln>
        </p:spPr>
      </p:sp>
      <p:sp>
        <p:nvSpPr>
          <p:cNvPr id="17" name="Text 15"/>
          <p:cNvSpPr txBox="1"/>
          <p:nvPr/>
        </p:nvSpPr>
        <p:spPr>
          <a:xfrm>
            <a:off x="5750052" y="3072384"/>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8,3 tahun</a:t>
            </a:r>
            <a:endParaRPr lang="en-US" sz="1200" dirty="0"/>
          </a:p>
        </p:txBody>
      </p:sp>
      <p:sp>
        <p:nvSpPr>
          <p:cNvPr id="18" name="Text 16"/>
          <p:cNvSpPr txBox="1"/>
          <p:nvPr/>
        </p:nvSpPr>
        <p:spPr>
          <a:xfrm>
            <a:off x="548640" y="3419856"/>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Badaruddin HSB</a:t>
            </a:r>
            <a:endParaRPr lang="en-US" sz="1300" dirty="0"/>
          </a:p>
        </p:txBody>
      </p:sp>
      <p:sp>
        <p:nvSpPr>
          <p:cNvPr id="19" name="Shape 17"/>
          <p:cNvSpPr/>
          <p:nvPr/>
        </p:nvSpPr>
        <p:spPr>
          <a:xfrm>
            <a:off x="2514600" y="3447288"/>
            <a:ext cx="2971800" cy="237744"/>
          </a:xfrm>
          <a:prstGeom prst="rect">
            <a:avLst/>
          </a:prstGeom>
          <a:solidFill>
            <a:srgbClr val="14284B"/>
          </a:solidFill>
          <a:ln w="12700">
            <a:solidFill>
              <a:srgbClr val="14284B"/>
            </a:solidFill>
            <a:prstDash val="solid"/>
          </a:ln>
        </p:spPr>
      </p:sp>
      <p:sp>
        <p:nvSpPr>
          <p:cNvPr id="20" name="Text 18"/>
          <p:cNvSpPr txBox="1"/>
          <p:nvPr/>
        </p:nvSpPr>
        <p:spPr>
          <a:xfrm>
            <a:off x="5559552" y="3419856"/>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7,8 tahun</a:t>
            </a:r>
            <a:endParaRPr lang="en-US" sz="1200" dirty="0"/>
          </a:p>
        </p:txBody>
      </p:sp>
      <p:sp>
        <p:nvSpPr>
          <p:cNvPr id="21" name="Text 19"/>
          <p:cNvSpPr txBox="1"/>
          <p:nvPr/>
        </p:nvSpPr>
        <p:spPr>
          <a:xfrm>
            <a:off x="548640" y="3767328"/>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Suparjo Rustam</a:t>
            </a:r>
            <a:endParaRPr lang="en-US" sz="1300" dirty="0"/>
          </a:p>
        </p:txBody>
      </p:sp>
      <p:sp>
        <p:nvSpPr>
          <p:cNvPr id="22" name="Shape 20"/>
          <p:cNvSpPr/>
          <p:nvPr/>
        </p:nvSpPr>
        <p:spPr>
          <a:xfrm>
            <a:off x="2514600" y="3794760"/>
            <a:ext cx="2628900" cy="237744"/>
          </a:xfrm>
          <a:prstGeom prst="rect">
            <a:avLst/>
          </a:prstGeom>
          <a:solidFill>
            <a:srgbClr val="14284B"/>
          </a:solidFill>
          <a:ln w="12700">
            <a:solidFill>
              <a:srgbClr val="14284B"/>
            </a:solidFill>
            <a:prstDash val="solid"/>
          </a:ln>
        </p:spPr>
      </p:sp>
      <p:sp>
        <p:nvSpPr>
          <p:cNvPr id="23" name="Text 21"/>
          <p:cNvSpPr txBox="1"/>
          <p:nvPr/>
        </p:nvSpPr>
        <p:spPr>
          <a:xfrm>
            <a:off x="5216652" y="3767328"/>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6,9 tahun</a:t>
            </a:r>
            <a:endParaRPr lang="en-US" sz="1200" dirty="0"/>
          </a:p>
        </p:txBody>
      </p:sp>
      <p:sp>
        <p:nvSpPr>
          <p:cNvPr id="24" name="Text 22"/>
          <p:cNvSpPr txBox="1"/>
          <p:nvPr/>
        </p:nvSpPr>
        <p:spPr>
          <a:xfrm>
            <a:off x="548640" y="4114800"/>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Hermanto</a:t>
            </a:r>
            <a:endParaRPr lang="en-US" sz="1300" dirty="0"/>
          </a:p>
        </p:txBody>
      </p:sp>
      <p:sp>
        <p:nvSpPr>
          <p:cNvPr id="25" name="Shape 23"/>
          <p:cNvSpPr/>
          <p:nvPr/>
        </p:nvSpPr>
        <p:spPr>
          <a:xfrm>
            <a:off x="2514600" y="4142232"/>
            <a:ext cx="2514600" cy="237744"/>
          </a:xfrm>
          <a:prstGeom prst="rect">
            <a:avLst/>
          </a:prstGeom>
          <a:solidFill>
            <a:srgbClr val="14284B"/>
          </a:solidFill>
          <a:ln w="12700">
            <a:solidFill>
              <a:srgbClr val="14284B"/>
            </a:solidFill>
            <a:prstDash val="solid"/>
          </a:ln>
        </p:spPr>
      </p:sp>
      <p:sp>
        <p:nvSpPr>
          <p:cNvPr id="26" name="Text 24"/>
          <p:cNvSpPr txBox="1"/>
          <p:nvPr/>
        </p:nvSpPr>
        <p:spPr>
          <a:xfrm>
            <a:off x="5102352" y="4114800"/>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6,6 tahun</a:t>
            </a:r>
            <a:endParaRPr lang="en-US" sz="1200" dirty="0"/>
          </a:p>
        </p:txBody>
      </p:sp>
      <p:sp>
        <p:nvSpPr>
          <p:cNvPr id="27" name="Text 25"/>
          <p:cNvSpPr txBox="1"/>
          <p:nvPr/>
        </p:nvSpPr>
        <p:spPr>
          <a:xfrm>
            <a:off x="548640" y="4462272"/>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PT Rata Makmur</a:t>
            </a:r>
            <a:endParaRPr lang="en-US" sz="1300" dirty="0"/>
          </a:p>
        </p:txBody>
      </p:sp>
      <p:sp>
        <p:nvSpPr>
          <p:cNvPr id="28" name="Shape 26"/>
          <p:cNvSpPr/>
          <p:nvPr/>
        </p:nvSpPr>
        <p:spPr>
          <a:xfrm>
            <a:off x="2514600" y="4489704"/>
            <a:ext cx="1562100" cy="237744"/>
          </a:xfrm>
          <a:prstGeom prst="rect">
            <a:avLst/>
          </a:prstGeom>
          <a:solidFill>
            <a:srgbClr val="C3CEDF"/>
          </a:solidFill>
          <a:ln w="12700">
            <a:solidFill>
              <a:srgbClr val="C3CEDF"/>
            </a:solidFill>
            <a:prstDash val="solid"/>
          </a:ln>
        </p:spPr>
      </p:sp>
      <p:sp>
        <p:nvSpPr>
          <p:cNvPr id="29" name="Text 27"/>
          <p:cNvSpPr txBox="1"/>
          <p:nvPr/>
        </p:nvSpPr>
        <p:spPr>
          <a:xfrm>
            <a:off x="4149852" y="4462272"/>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4,1 tahun</a:t>
            </a:r>
            <a:endParaRPr lang="en-US" sz="1200" dirty="0"/>
          </a:p>
        </p:txBody>
      </p:sp>
      <p:sp>
        <p:nvSpPr>
          <p:cNvPr id="30" name="Text 28"/>
          <p:cNvSpPr txBox="1"/>
          <p:nvPr/>
        </p:nvSpPr>
        <p:spPr>
          <a:xfrm>
            <a:off x="548640" y="4809744"/>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KSO Maju Abadi</a:t>
            </a:r>
            <a:endParaRPr lang="en-US" sz="1300" dirty="0"/>
          </a:p>
        </p:txBody>
      </p:sp>
      <p:sp>
        <p:nvSpPr>
          <p:cNvPr id="31" name="Shape 29"/>
          <p:cNvSpPr/>
          <p:nvPr/>
        </p:nvSpPr>
        <p:spPr>
          <a:xfrm>
            <a:off x="2514600" y="4837176"/>
            <a:ext cx="1143000" cy="237744"/>
          </a:xfrm>
          <a:prstGeom prst="rect">
            <a:avLst/>
          </a:prstGeom>
          <a:solidFill>
            <a:srgbClr val="C3CEDF"/>
          </a:solidFill>
          <a:ln w="12700">
            <a:solidFill>
              <a:srgbClr val="C3CEDF"/>
            </a:solidFill>
            <a:prstDash val="solid"/>
          </a:ln>
        </p:spPr>
      </p:sp>
      <p:sp>
        <p:nvSpPr>
          <p:cNvPr id="32" name="Text 30"/>
          <p:cNvSpPr txBox="1"/>
          <p:nvPr/>
        </p:nvSpPr>
        <p:spPr>
          <a:xfrm>
            <a:off x="3730752" y="4809744"/>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3,0 tahun</a:t>
            </a:r>
            <a:endParaRPr lang="en-US" sz="1200" dirty="0"/>
          </a:p>
        </p:txBody>
      </p:sp>
      <p:sp>
        <p:nvSpPr>
          <p:cNvPr id="33" name="Text 31"/>
          <p:cNvSpPr txBox="1"/>
          <p:nvPr/>
        </p:nvSpPr>
        <p:spPr>
          <a:xfrm>
            <a:off x="548640" y="5157216"/>
            <a:ext cx="1828800" cy="292608"/>
          </a:xfrm>
          <a:prstGeom prst="rect">
            <a:avLst/>
          </a:prstGeom>
          <a:noFill/>
          <a:ln/>
        </p:spPr>
        <p:txBody>
          <a:bodyPr wrap="square" lIns="0" tIns="0" rIns="0" bIns="0" rtlCol="0" anchor="ctr"/>
          <a:lstStyle/>
          <a:p>
            <a:pPr algn="r" indent="0" marL="0">
              <a:buNone/>
            </a:pPr>
            <a:r>
              <a:rPr lang="en-US" sz="1300" dirty="0">
                <a:solidFill>
                  <a:srgbClr val="1A1A1A"/>
                </a:solidFill>
                <a:latin typeface="Arial" pitchFamily="34" charset="0"/>
                <a:ea typeface="Arial" pitchFamily="34" charset="-122"/>
                <a:cs typeface="Arial" pitchFamily="34" charset="-120"/>
              </a:rPr>
              <a:t>Frans Winner</a:t>
            </a:r>
            <a:endParaRPr lang="en-US" sz="1300" dirty="0"/>
          </a:p>
        </p:txBody>
      </p:sp>
      <p:sp>
        <p:nvSpPr>
          <p:cNvPr id="34" name="Shape 32"/>
          <p:cNvSpPr/>
          <p:nvPr/>
        </p:nvSpPr>
        <p:spPr>
          <a:xfrm>
            <a:off x="2514600" y="5184648"/>
            <a:ext cx="304800" cy="237744"/>
          </a:xfrm>
          <a:prstGeom prst="rect">
            <a:avLst/>
          </a:prstGeom>
          <a:solidFill>
            <a:srgbClr val="C3CEDF"/>
          </a:solidFill>
          <a:ln w="12700">
            <a:solidFill>
              <a:srgbClr val="C3CEDF"/>
            </a:solidFill>
            <a:prstDash val="solid"/>
          </a:ln>
        </p:spPr>
      </p:sp>
      <p:sp>
        <p:nvSpPr>
          <p:cNvPr id="35" name="Text 33"/>
          <p:cNvSpPr txBox="1"/>
          <p:nvPr/>
        </p:nvSpPr>
        <p:spPr>
          <a:xfrm>
            <a:off x="2892552" y="5157216"/>
            <a:ext cx="1188720" cy="292608"/>
          </a:xfrm>
          <a:prstGeom prst="rect">
            <a:avLst/>
          </a:prstGeom>
          <a:noFill/>
          <a:ln/>
        </p:spPr>
        <p:txBody>
          <a:bodyPr wrap="square" lIns="0" tIns="0" rIns="0" bIns="0" rtlCol="0" anchor="ctr"/>
          <a:lstStyle/>
          <a:p>
            <a:pPr indent="0" marL="0">
              <a:buNone/>
            </a:pPr>
            <a:r>
              <a:rPr lang="en-US" sz="1200" b="1" dirty="0">
                <a:solidFill>
                  <a:srgbClr val="14284B"/>
                </a:solidFill>
                <a:latin typeface="Arial" pitchFamily="34" charset="0"/>
                <a:ea typeface="Arial" pitchFamily="34" charset="-122"/>
                <a:cs typeface="Arial" pitchFamily="34" charset="-120"/>
              </a:rPr>
              <a:t>0,8 tahun</a:t>
            </a:r>
            <a:endParaRPr lang="en-US" sz="1200" dirty="0"/>
          </a:p>
        </p:txBody>
      </p:sp>
      <p:sp>
        <p:nvSpPr>
          <p:cNvPr id="36" name="Shape 34"/>
          <p:cNvSpPr/>
          <p:nvPr/>
        </p:nvSpPr>
        <p:spPr>
          <a:xfrm>
            <a:off x="8595360" y="2240280"/>
            <a:ext cx="3044952" cy="3246120"/>
          </a:xfrm>
          <a:prstGeom prst="roundRect">
            <a:avLst>
              <a:gd name="adj" fmla="val 3604"/>
            </a:avLst>
          </a:prstGeom>
          <a:solidFill>
            <a:srgbClr val="14284B"/>
          </a:solidFill>
          <a:ln w="12700">
            <a:solidFill>
              <a:srgbClr val="14284B"/>
            </a:solidFill>
            <a:prstDash val="solid"/>
          </a:ln>
        </p:spPr>
      </p:sp>
      <p:sp>
        <p:nvSpPr>
          <p:cNvPr id="37" name="Text 35"/>
          <p:cNvSpPr txBox="1"/>
          <p:nvPr/>
        </p:nvSpPr>
        <p:spPr>
          <a:xfrm>
            <a:off x="8869680" y="2496312"/>
            <a:ext cx="2496312" cy="280720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DARI 9 PERKARA</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6</a:t>
            </a:r>
            <a:endParaRPr lang="en-US" sz="13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berjalan lebih dari lima tahun</a:t>
            </a:r>
            <a:endParaRPr lang="en-US" sz="1300" dirty="0"/>
          </a:p>
        </p:txBody>
      </p:sp>
      <p:sp>
        <p:nvSpPr>
          <p:cNvPr id="38" name="Shape 36"/>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39" name="Shape 37"/>
          <p:cNvSpPr/>
          <p:nvPr/>
        </p:nvSpPr>
        <p:spPr>
          <a:xfrm>
            <a:off x="548640" y="5669280"/>
            <a:ext cx="91440" cy="621792"/>
          </a:xfrm>
          <a:prstGeom prst="rect">
            <a:avLst/>
          </a:prstGeom>
          <a:solidFill>
            <a:srgbClr val="E0A526"/>
          </a:solidFill>
          <a:ln w="12700">
            <a:solidFill>
              <a:srgbClr val="E0A526"/>
            </a:solidFill>
            <a:prstDash val="solid"/>
          </a:ln>
        </p:spPr>
      </p:sp>
      <p:sp>
        <p:nvSpPr>
          <p:cNvPr id="40" name="Text 38"/>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41" name="Text 39"/>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Kurator perorangan bisa berhenti atau meninggal dunia, sedangkan BHP tetap berjalan sebagai lembaga. Lihat </a:t>
            </a:r>
            <a:pPr indent="0" marL="0">
              <a:buNone/>
            </a:pPr>
            <a:r>
              <a:rPr lang="en-US" sz="1600" b="1" dirty="0">
                <a:solidFill>
                  <a:srgbClr val="E0A526"/>
                </a:solidFill>
                <a:latin typeface="Arial" pitchFamily="34" charset="0"/>
                <a:ea typeface="Arial" pitchFamily="34" charset="-122"/>
                <a:cs typeface="Arial" pitchFamily="34" charset="-120"/>
              </a:rPr>
              <a:t>Pasal A ayat (2)</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42" name="Text 4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43" name="Text 4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3 DAN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Hak Pekerja dan Debitor yang Menghilang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Perkara yang menyangkut kepentingan publik ditangani BHP sampai tuntas.</a:t>
            </a:r>
            <a:endParaRPr lang="en-US" sz="2000" dirty="0"/>
          </a:p>
        </p:txBody>
      </p:sp>
      <p:sp>
        <p:nvSpPr>
          <p:cNvPr id="7" name="Shape 5"/>
          <p:cNvSpPr/>
          <p:nvPr/>
        </p:nvSpPr>
        <p:spPr>
          <a:xfrm>
            <a:off x="548640" y="2286000"/>
            <a:ext cx="5408676" cy="3200400"/>
          </a:xfrm>
          <a:prstGeom prst="roundRect">
            <a:avLst>
              <a:gd name="adj" fmla="val 3429"/>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TEMUAN 3 · PT RATA MAKMUR</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Menyangkut hak pekerja dan uang negara</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Permohonan diajukan pekerja dan pengadilan menunjuk BHP Medan sebagai pengurus lalu kurator. Tagihan para pekerja pemohon sudah lunas, sisanya tagihan pajak.</a:t>
            </a:r>
            <a:endParaRPr lang="en-US" sz="1300" dirty="0"/>
          </a:p>
        </p:txBody>
      </p:sp>
      <p:sp>
        <p:nvSpPr>
          <p:cNvPr id="10" name="Shape 7"/>
          <p:cNvSpPr/>
          <p:nvPr/>
        </p:nvSpPr>
        <p:spPr>
          <a:xfrm>
            <a:off x="6231636" y="2286000"/>
            <a:ext cx="5408676" cy="3200400"/>
          </a:xfrm>
          <a:prstGeom prst="roundRect">
            <a:avLst>
              <a:gd name="adj" fmla="val 3429"/>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20482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TEMUAN 4 · CV HITADO</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Debitor menghilang</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Debitor tidak ditemukan sekitar lima tahun sehingga penyelesaian perkara tertahan.</a:t>
            </a:r>
            <a:endParaRPr lang="en-US" sz="1300" dirty="0"/>
          </a:p>
        </p:txBody>
      </p:sp>
      <p:sp>
        <p:nvSpPr>
          <p:cNvPr id="13" name="Shape 9"/>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4" name="Shape 10"/>
          <p:cNvSpPr/>
          <p:nvPr/>
        </p:nvSpPr>
        <p:spPr>
          <a:xfrm>
            <a:off x="548640" y="5669280"/>
            <a:ext cx="91440" cy="621792"/>
          </a:xfrm>
          <a:prstGeom prst="rect">
            <a:avLst/>
          </a:prstGeom>
          <a:solidFill>
            <a:srgbClr val="E0A526"/>
          </a:solidFill>
          <a:ln w="12700">
            <a:solidFill>
              <a:srgbClr val="E0A526"/>
            </a:solidFill>
            <a:prstDash val="solid"/>
          </a:ln>
        </p:spPr>
      </p:sp>
      <p:sp>
        <p:nvSpPr>
          <p:cNvPr id="15" name="Text 11"/>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ARTINYA</a:t>
            </a:r>
            <a:endParaRPr lang="en-US" sz="1200" dirty="0"/>
          </a:p>
        </p:txBody>
      </p:sp>
      <p:sp>
        <p:nvSpPr>
          <p:cNvPr id="16" name="Text 12"/>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Hak pekerja dan debitor yang tidak diketahui keberadaannya masuk daftar perkara BHP (</a:t>
            </a:r>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Kelanjutan perkara bila debitor menghilang perlu diatur RUU Kepailitan dan PKPU (</a:t>
            </a:r>
            <a:pPr indent="0" marL="0">
              <a:buNone/>
            </a:pPr>
            <a:r>
              <a:rPr lang="en-US" sz="1600" b="1" dirty="0">
                <a:solidFill>
                  <a:srgbClr val="E0A526"/>
                </a:solidFill>
                <a:latin typeface="Arial" pitchFamily="34" charset="0"/>
                <a:ea typeface="Arial" pitchFamily="34" charset="-122"/>
                <a:cs typeface="Arial" pitchFamily="34" charset="-120"/>
              </a:rPr>
              <a:t>Bagian V</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17"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SECARA NASIONAL</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 Naik, Datanya Belum Ada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Laporan Tahunan Mahkamah Agung 2025 mencatat perkara niaga naik 19,18%.</a:t>
            </a:r>
            <a:endParaRPr lang="en-US" sz="2000" dirty="0"/>
          </a:p>
        </p:txBody>
      </p:sp>
      <p:sp>
        <p:nvSpPr>
          <p:cNvPr id="7" name="Shape 5"/>
          <p:cNvSpPr/>
          <p:nvPr/>
        </p:nvSpPr>
        <p:spPr>
          <a:xfrm>
            <a:off x="548640" y="2286000"/>
            <a:ext cx="3514344" cy="2103120"/>
          </a:xfrm>
          <a:prstGeom prst="roundRect">
            <a:avLst>
              <a:gd name="adj" fmla="val 5217"/>
            </a:avLst>
          </a:prstGeom>
          <a:solidFill>
            <a:srgbClr val="EEF2F8"/>
          </a:solidFill>
          <a:ln w="12700">
            <a:solidFill>
              <a:srgbClr val="EEF2F8"/>
            </a:solidFill>
            <a:prstDash val="solid"/>
          </a:ln>
        </p:spPr>
      </p:sp>
      <p:sp>
        <p:nvSpPr>
          <p:cNvPr id="8" name="Text 6"/>
          <p:cNvSpPr txBox="1"/>
          <p:nvPr/>
        </p:nvSpPr>
        <p:spPr>
          <a:xfrm>
            <a:off x="822960"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DARI</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782</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perkara niaga</a:t>
            </a:r>
            <a:endParaRPr lang="en-US" sz="1300" dirty="0"/>
          </a:p>
        </p:txBody>
      </p:sp>
      <p:sp>
        <p:nvSpPr>
          <p:cNvPr id="9" name="Shape 7"/>
          <p:cNvSpPr/>
          <p:nvPr/>
        </p:nvSpPr>
        <p:spPr>
          <a:xfrm>
            <a:off x="4337304" y="2286000"/>
            <a:ext cx="3514344" cy="2103120"/>
          </a:xfrm>
          <a:prstGeom prst="roundRect">
            <a:avLst>
              <a:gd name="adj" fmla="val 5217"/>
            </a:avLst>
          </a:prstGeom>
          <a:solidFill>
            <a:srgbClr val="14284B"/>
          </a:solidFill>
          <a:ln w="12700">
            <a:solidFill>
              <a:srgbClr val="14284B"/>
            </a:solidFill>
            <a:prstDash val="solid"/>
          </a:ln>
        </p:spPr>
      </p:sp>
      <p:sp>
        <p:nvSpPr>
          <p:cNvPr id="10" name="Text 8"/>
          <p:cNvSpPr txBox="1"/>
          <p:nvPr/>
        </p:nvSpPr>
        <p:spPr>
          <a:xfrm>
            <a:off x="4611624"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MENJADI</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932</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perkara niaga</a:t>
            </a:r>
            <a:endParaRPr lang="en-US" sz="1300" dirty="0"/>
          </a:p>
        </p:txBody>
      </p:sp>
      <p:sp>
        <p:nvSpPr>
          <p:cNvPr id="11" name="Shape 9"/>
          <p:cNvSpPr/>
          <p:nvPr/>
        </p:nvSpPr>
        <p:spPr>
          <a:xfrm>
            <a:off x="8125968" y="2286000"/>
            <a:ext cx="3514344" cy="2103120"/>
          </a:xfrm>
          <a:prstGeom prst="roundRect">
            <a:avLst>
              <a:gd name="adj" fmla="val 5217"/>
            </a:avLst>
          </a:prstGeom>
          <a:solidFill>
            <a:srgbClr val="EEF2F8"/>
          </a:solidFill>
          <a:ln w="12700">
            <a:solidFill>
              <a:srgbClr val="EEF2F8"/>
            </a:solidFill>
            <a:prstDash val="solid"/>
          </a:ln>
        </p:spPr>
      </p:sp>
      <p:sp>
        <p:nvSpPr>
          <p:cNvPr id="12" name="Text 10"/>
          <p:cNvSpPr txBox="1"/>
          <p:nvPr/>
        </p:nvSpPr>
        <p:spPr>
          <a:xfrm>
            <a:off x="8400288" y="2542032"/>
            <a:ext cx="2965704" cy="166420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NAIK</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19,18%</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Laporan Tahunan Mahkamah Agung 2025</a:t>
            </a:r>
            <a:endParaRPr lang="en-US" sz="1300" dirty="0"/>
          </a:p>
        </p:txBody>
      </p:sp>
      <p:sp>
        <p:nvSpPr>
          <p:cNvPr id="13" name="Text 11"/>
          <p:cNvSpPr txBox="1"/>
          <p:nvPr/>
        </p:nvSpPr>
        <p:spPr>
          <a:xfrm>
            <a:off x="548640" y="4526280"/>
            <a:ext cx="11091672" cy="10515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Data perbandingan perkara BHP dan kurator privat belum tersedia, karena pengadilan tidak mencatat siapa kurator yang diangkat.</a:t>
            </a:r>
            <a:endParaRPr lang="en-US" sz="2200" dirty="0"/>
          </a:p>
        </p:txBody>
      </p:sp>
      <p:sp>
        <p:nvSpPr>
          <p:cNvPr id="14"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DIJAWAB OLEH</a:t>
            </a:r>
            <a:endParaRPr lang="en-US" sz="1200" dirty="0"/>
          </a:p>
        </p:txBody>
      </p:sp>
      <p:sp>
        <p:nvSpPr>
          <p:cNvPr id="17"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 ayat (4)</a:t>
            </a:r>
            <a:pPr indent="0" marL="0">
              <a:buNone/>
            </a:pPr>
            <a:r>
              <a:rPr lang="en-US" sz="1600" dirty="0">
                <a:solidFill>
                  <a:srgbClr val="FFFFFF"/>
                </a:solidFill>
                <a:latin typeface="Arial" pitchFamily="34" charset="0"/>
                <a:ea typeface="Arial" pitchFamily="34" charset="-122"/>
                <a:cs typeface="Arial" pitchFamily="34" charset="-120"/>
              </a:rPr>
              <a:t>: data Kurator dan perkara yang terintegrasi, BHP menjadi simpul data di wilayah kerjanya.</a:t>
            </a:r>
            <a:endParaRPr lang="en-US" sz="1600" dirty="0"/>
          </a:p>
        </p:txBody>
      </p:sp>
      <p:sp>
        <p:nvSpPr>
          <p:cNvPr id="18"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E0A526"/>
          </a:solidFill>
          <a:ln w="12700">
            <a:solidFill>
              <a:srgbClr val="E0A526"/>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III DARI V</a:t>
            </a:r>
            <a:endParaRPr lang="en-US" sz="1800" dirty="0"/>
          </a:p>
        </p:txBody>
      </p:sp>
      <p:sp>
        <p:nvSpPr>
          <p:cNvPr id="8" name="Text 6"/>
          <p:cNvSpPr txBox="1"/>
          <p:nvPr/>
        </p:nvSpPr>
        <p:spPr>
          <a:xfrm>
            <a:off x="731520" y="1554480"/>
            <a:ext cx="1069848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Jawaban Klaster 1</a:t>
            </a:r>
            <a:endParaRPr lang="en-US" sz="4800" dirty="0"/>
          </a:p>
        </p:txBody>
      </p:sp>
      <p:sp>
        <p:nvSpPr>
          <p:cNvPr id="9" name="Text 7"/>
          <p:cNvSpPr txBox="1"/>
          <p:nvPr/>
        </p:nvSpPr>
        <p:spPr>
          <a:xfrm>
            <a:off x="731520" y="2514600"/>
            <a:ext cx="10241280" cy="45720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Tiga pertanyaan Komisi, tiga jawaban singkat BHP Medan.</a:t>
            </a:r>
            <a:endParaRPr lang="en-US" sz="2100" dirty="0"/>
          </a:p>
        </p:txBody>
      </p:sp>
      <p:sp>
        <p:nvSpPr>
          <p:cNvPr id="10" name="Shape 8"/>
          <p:cNvSpPr/>
          <p:nvPr/>
        </p:nvSpPr>
        <p:spPr>
          <a:xfrm>
            <a:off x="731520" y="3154680"/>
            <a:ext cx="10698480" cy="914400"/>
          </a:xfrm>
          <a:prstGeom prst="roundRect">
            <a:avLst>
              <a:gd name="adj" fmla="val 10000"/>
            </a:avLst>
          </a:prstGeom>
          <a:solidFill>
            <a:srgbClr val="243A63"/>
          </a:solidFill>
          <a:ln w="12700">
            <a:solidFill>
              <a:srgbClr val="243A63"/>
            </a:solidFill>
            <a:prstDash val="solid"/>
          </a:ln>
        </p:spPr>
      </p:sp>
      <p:sp>
        <p:nvSpPr>
          <p:cNvPr id="11" name="Shape 9"/>
          <p:cNvSpPr/>
          <p:nvPr/>
        </p:nvSpPr>
        <p:spPr>
          <a:xfrm>
            <a:off x="914400" y="3410712"/>
            <a:ext cx="402336" cy="402336"/>
          </a:xfrm>
          <a:prstGeom prst="ellipse">
            <a:avLst/>
          </a:prstGeom>
          <a:solidFill>
            <a:srgbClr val="E0A526"/>
          </a:solidFill>
          <a:ln w="12700">
            <a:solidFill>
              <a:srgbClr val="E0A526"/>
            </a:solidFill>
            <a:prstDash val="solid"/>
          </a:ln>
        </p:spPr>
      </p:sp>
      <p:sp>
        <p:nvSpPr>
          <p:cNvPr id="12" name="Text 10"/>
          <p:cNvSpPr txBox="1"/>
          <p:nvPr/>
        </p:nvSpPr>
        <p:spPr>
          <a:xfrm>
            <a:off x="914400" y="3410712"/>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3" name="Text 11"/>
          <p:cNvSpPr txBox="1"/>
          <p:nvPr/>
        </p:nvSpPr>
        <p:spPr>
          <a:xfrm>
            <a:off x="1508760" y="3154680"/>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Bagaimana mekanisme BHP sebagai kurator, dan adakah kendala dengan kurator privat?</a:t>
            </a:r>
            <a:endParaRPr lang="en-US" sz="1500" dirty="0"/>
          </a:p>
        </p:txBody>
      </p:sp>
      <p:sp>
        <p:nvSpPr>
          <p:cNvPr id="14" name="Shape 12"/>
          <p:cNvSpPr/>
          <p:nvPr/>
        </p:nvSpPr>
        <p:spPr>
          <a:xfrm>
            <a:off x="6263640" y="3291840"/>
            <a:ext cx="36576" cy="640080"/>
          </a:xfrm>
          <a:prstGeom prst="rect">
            <a:avLst/>
          </a:prstGeom>
          <a:solidFill>
            <a:srgbClr val="E0A526"/>
          </a:solidFill>
          <a:ln w="12700">
            <a:solidFill>
              <a:srgbClr val="E0A526"/>
            </a:solidFill>
            <a:prstDash val="solid"/>
          </a:ln>
        </p:spPr>
      </p:sp>
      <p:sp>
        <p:nvSpPr>
          <p:cNvPr id="15" name="Text 13"/>
          <p:cNvSpPr txBox="1"/>
          <p:nvPr/>
        </p:nvSpPr>
        <p:spPr>
          <a:xfrm>
            <a:off x="6492240" y="3154680"/>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Mekanismenya jelas dan kerja sama berjalan baik. Kendalanya pada aturan imbalan jasa yang berbeda.</a:t>
            </a:r>
            <a:endParaRPr lang="en-US" sz="1600" dirty="0"/>
          </a:p>
        </p:txBody>
      </p:sp>
      <p:sp>
        <p:nvSpPr>
          <p:cNvPr id="16" name="Shape 14"/>
          <p:cNvSpPr/>
          <p:nvPr/>
        </p:nvSpPr>
        <p:spPr>
          <a:xfrm>
            <a:off x="731520" y="4178808"/>
            <a:ext cx="10698480" cy="914400"/>
          </a:xfrm>
          <a:prstGeom prst="roundRect">
            <a:avLst>
              <a:gd name="adj" fmla="val 10000"/>
            </a:avLst>
          </a:prstGeom>
          <a:solidFill>
            <a:srgbClr val="243A63"/>
          </a:solidFill>
          <a:ln w="12700">
            <a:solidFill>
              <a:srgbClr val="243A63"/>
            </a:solidFill>
            <a:prstDash val="solid"/>
          </a:ln>
        </p:spPr>
      </p:sp>
      <p:sp>
        <p:nvSpPr>
          <p:cNvPr id="17" name="Shape 15"/>
          <p:cNvSpPr/>
          <p:nvPr/>
        </p:nvSpPr>
        <p:spPr>
          <a:xfrm>
            <a:off x="914400" y="4434840"/>
            <a:ext cx="402336" cy="402336"/>
          </a:xfrm>
          <a:prstGeom prst="ellipse">
            <a:avLst/>
          </a:prstGeom>
          <a:solidFill>
            <a:srgbClr val="E0A526"/>
          </a:solidFill>
          <a:ln w="12700">
            <a:solidFill>
              <a:srgbClr val="E0A526"/>
            </a:solidFill>
            <a:prstDash val="solid"/>
          </a:ln>
        </p:spPr>
      </p:sp>
      <p:sp>
        <p:nvSpPr>
          <p:cNvPr id="18" name="Text 16"/>
          <p:cNvSpPr txBox="1"/>
          <p:nvPr/>
        </p:nvSpPr>
        <p:spPr>
          <a:xfrm>
            <a:off x="914400" y="4434840"/>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9" name="Text 17"/>
          <p:cNvSpPr txBox="1"/>
          <p:nvPr/>
        </p:nvSpPr>
        <p:spPr>
          <a:xfrm>
            <a:off x="1508760" y="4178808"/>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Perlukah pemisahan tegas peran BHP dengan peran kurator privat?</a:t>
            </a:r>
            <a:endParaRPr lang="en-US" sz="1500" dirty="0"/>
          </a:p>
        </p:txBody>
      </p:sp>
      <p:sp>
        <p:nvSpPr>
          <p:cNvPr id="20" name="Shape 18"/>
          <p:cNvSpPr/>
          <p:nvPr/>
        </p:nvSpPr>
        <p:spPr>
          <a:xfrm>
            <a:off x="6263640" y="4315968"/>
            <a:ext cx="36576" cy="640080"/>
          </a:xfrm>
          <a:prstGeom prst="rect">
            <a:avLst/>
          </a:prstGeom>
          <a:solidFill>
            <a:srgbClr val="E0A526"/>
          </a:solidFill>
          <a:ln w="12700">
            <a:solidFill>
              <a:srgbClr val="E0A526"/>
            </a:solidFill>
            <a:prstDash val="solid"/>
          </a:ln>
        </p:spPr>
      </p:sp>
      <p:sp>
        <p:nvSpPr>
          <p:cNvPr id="21" name="Text 19"/>
          <p:cNvSpPr txBox="1"/>
          <p:nvPr/>
        </p:nvSpPr>
        <p:spPr>
          <a:xfrm>
            <a:off x="6492240" y="4178808"/>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Tidak perlu dipisahkan. Yang diperlukan adalah pembagian peran yang jelas.</a:t>
            </a:r>
            <a:endParaRPr lang="en-US" sz="1600" dirty="0"/>
          </a:p>
        </p:txBody>
      </p:sp>
      <p:sp>
        <p:nvSpPr>
          <p:cNvPr id="22" name="Shape 20"/>
          <p:cNvSpPr/>
          <p:nvPr/>
        </p:nvSpPr>
        <p:spPr>
          <a:xfrm>
            <a:off x="731520" y="5202936"/>
            <a:ext cx="10698480" cy="914400"/>
          </a:xfrm>
          <a:prstGeom prst="roundRect">
            <a:avLst>
              <a:gd name="adj" fmla="val 10000"/>
            </a:avLst>
          </a:prstGeom>
          <a:solidFill>
            <a:srgbClr val="243A63"/>
          </a:solidFill>
          <a:ln w="12700">
            <a:solidFill>
              <a:srgbClr val="243A63"/>
            </a:solidFill>
            <a:prstDash val="solid"/>
          </a:ln>
        </p:spPr>
      </p:sp>
      <p:sp>
        <p:nvSpPr>
          <p:cNvPr id="23" name="Shape 21"/>
          <p:cNvSpPr/>
          <p:nvPr/>
        </p:nvSpPr>
        <p:spPr>
          <a:xfrm>
            <a:off x="914400" y="5458968"/>
            <a:ext cx="402336" cy="402336"/>
          </a:xfrm>
          <a:prstGeom prst="ellipse">
            <a:avLst/>
          </a:prstGeom>
          <a:solidFill>
            <a:srgbClr val="E0A526"/>
          </a:solidFill>
          <a:ln w="12700">
            <a:solidFill>
              <a:srgbClr val="E0A526"/>
            </a:solidFill>
            <a:prstDash val="solid"/>
          </a:ln>
        </p:spPr>
      </p:sp>
      <p:sp>
        <p:nvSpPr>
          <p:cNvPr id="24" name="Text 22"/>
          <p:cNvSpPr txBox="1"/>
          <p:nvPr/>
        </p:nvSpPr>
        <p:spPr>
          <a:xfrm>
            <a:off x="914400" y="5458968"/>
            <a:ext cx="402336" cy="402336"/>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25" name="Text 23"/>
          <p:cNvSpPr txBox="1"/>
          <p:nvPr/>
        </p:nvSpPr>
        <p:spPr>
          <a:xfrm>
            <a:off x="1508760" y="5202936"/>
            <a:ext cx="4572000" cy="914400"/>
          </a:xfrm>
          <a:prstGeom prst="rect">
            <a:avLst/>
          </a:prstGeom>
          <a:noFill/>
          <a:ln/>
        </p:spPr>
        <p:txBody>
          <a:bodyPr wrap="square" lIns="0" tIns="0" rIns="0" bIns="0" rtlCol="0" anchor="ctr"/>
          <a:lstStyle/>
          <a:p>
            <a:pPr indent="0" marL="0">
              <a:buNone/>
            </a:pPr>
            <a:r>
              <a:rPr lang="en-US" sz="1500" dirty="0">
                <a:solidFill>
                  <a:srgbClr val="DCE4F2"/>
                </a:solidFill>
                <a:latin typeface="Arial" pitchFamily="34" charset="0"/>
                <a:ea typeface="Arial" pitchFamily="34" charset="-122"/>
                <a:cs typeface="Arial" pitchFamily="34" charset="-120"/>
              </a:rPr>
              <a:t>Bagaimana pandangan BHP tentang kewajiban memakai BHP pada kasus tertentu?</a:t>
            </a:r>
            <a:endParaRPr lang="en-US" sz="1500" dirty="0"/>
          </a:p>
        </p:txBody>
      </p:sp>
      <p:sp>
        <p:nvSpPr>
          <p:cNvPr id="26" name="Shape 24"/>
          <p:cNvSpPr/>
          <p:nvPr/>
        </p:nvSpPr>
        <p:spPr>
          <a:xfrm>
            <a:off x="6263640" y="5340096"/>
            <a:ext cx="36576" cy="640080"/>
          </a:xfrm>
          <a:prstGeom prst="rect">
            <a:avLst/>
          </a:prstGeom>
          <a:solidFill>
            <a:srgbClr val="E0A526"/>
          </a:solidFill>
          <a:ln w="12700">
            <a:solidFill>
              <a:srgbClr val="E0A526"/>
            </a:solidFill>
            <a:prstDash val="solid"/>
          </a:ln>
        </p:spPr>
      </p:sp>
      <p:sp>
        <p:nvSpPr>
          <p:cNvPr id="27" name="Text 25"/>
          <p:cNvSpPr txBox="1"/>
          <p:nvPr/>
        </p:nvSpPr>
        <p:spPr>
          <a:xfrm>
            <a:off x="6492240" y="5202936"/>
            <a:ext cx="4754880" cy="9144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Setuju, untuk lima jenis perkara. Di luar itu para pihak tetap bebas memilih kurator.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MEKANISME</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Bagaimana BHP Bekerja sebagai Kurator</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Setelah ditunjuk pengadilan, tim Kurator Keperdataan bekerja di bawah pengawasan Hakim Pengawas.</a:t>
            </a:r>
            <a:endParaRPr lang="en-US" sz="2000" dirty="0"/>
          </a:p>
        </p:txBody>
      </p:sp>
      <p:sp>
        <p:nvSpPr>
          <p:cNvPr id="7" name="Shape 5"/>
          <p:cNvSpPr/>
          <p:nvPr/>
        </p:nvSpPr>
        <p:spPr>
          <a:xfrm>
            <a:off x="548640" y="2286000"/>
            <a:ext cx="2514600" cy="1280160"/>
          </a:xfrm>
          <a:prstGeom prst="roundRect">
            <a:avLst>
              <a:gd name="adj" fmla="val 8571"/>
            </a:avLst>
          </a:prstGeom>
          <a:solidFill>
            <a:srgbClr val="FFFFFF"/>
          </a:solidFill>
          <a:ln w="12700">
            <a:solidFill>
              <a:srgbClr val="B8C4D8"/>
            </a:solidFill>
            <a:prstDash val="solid"/>
          </a:ln>
        </p:spPr>
      </p:sp>
      <p:pic>
        <p:nvPicPr>
          <p:cNvPr id="8" name="Image 0" descr="preencoded.png">    </p:cNvPr>
          <p:cNvPicPr>
            <a:picLocks noChangeAspect="1"/>
          </p:cNvPicPr>
          <p:nvPr/>
        </p:nvPicPr>
        <p:blipFill>
          <a:blip r:embed="rId1"/>
          <a:stretch>
            <a:fillRect/>
          </a:stretch>
        </p:blipFill>
        <p:spPr>
          <a:xfrm>
            <a:off x="731520" y="2697480"/>
            <a:ext cx="457200" cy="457200"/>
          </a:xfrm>
          <a:prstGeom prst="rect">
            <a:avLst/>
          </a:prstGeom>
        </p:spPr>
      </p:pic>
      <p:sp>
        <p:nvSpPr>
          <p:cNvPr id="9" name="Text 6"/>
          <p:cNvSpPr txBox="1"/>
          <p:nvPr/>
        </p:nvSpPr>
        <p:spPr>
          <a:xfrm>
            <a:off x="132588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Ditunjuk pengadilan</a:t>
            </a:r>
            <a:endParaRPr lang="en-US" sz="1500" dirty="0"/>
          </a:p>
        </p:txBody>
      </p:sp>
      <p:pic>
        <p:nvPicPr>
          <p:cNvPr id="10" name="Image 1" descr="preencoded.png">    </p:cNvPr>
          <p:cNvPicPr>
            <a:picLocks noChangeAspect="1"/>
          </p:cNvPicPr>
          <p:nvPr/>
        </p:nvPicPr>
        <p:blipFill>
          <a:blip r:embed="rId2"/>
          <a:stretch>
            <a:fillRect/>
          </a:stretch>
        </p:blipFill>
        <p:spPr>
          <a:xfrm>
            <a:off x="3108960" y="2788920"/>
            <a:ext cx="228600" cy="274320"/>
          </a:xfrm>
          <a:prstGeom prst="rect">
            <a:avLst/>
          </a:prstGeom>
        </p:spPr>
      </p:pic>
      <p:sp>
        <p:nvSpPr>
          <p:cNvPr id="11" name="Shape 7"/>
          <p:cNvSpPr/>
          <p:nvPr/>
        </p:nvSpPr>
        <p:spPr>
          <a:xfrm>
            <a:off x="3383280" y="2286000"/>
            <a:ext cx="2514600" cy="1280160"/>
          </a:xfrm>
          <a:prstGeom prst="roundRect">
            <a:avLst>
              <a:gd name="adj" fmla="val 8571"/>
            </a:avLst>
          </a:prstGeom>
          <a:solidFill>
            <a:srgbClr val="FFFFFF"/>
          </a:solidFill>
          <a:ln w="12700">
            <a:solidFill>
              <a:srgbClr val="B8C4D8"/>
            </a:solidFill>
            <a:prstDash val="solid"/>
          </a:ln>
        </p:spPr>
      </p:sp>
      <p:pic>
        <p:nvPicPr>
          <p:cNvPr id="12" name="Image 2" descr="preencoded.png">    </p:cNvPr>
          <p:cNvPicPr>
            <a:picLocks noChangeAspect="1"/>
          </p:cNvPicPr>
          <p:nvPr/>
        </p:nvPicPr>
        <p:blipFill>
          <a:blip r:embed="rId3"/>
          <a:stretch>
            <a:fillRect/>
          </a:stretch>
        </p:blipFill>
        <p:spPr>
          <a:xfrm>
            <a:off x="3566160" y="2697480"/>
            <a:ext cx="457200" cy="457200"/>
          </a:xfrm>
          <a:prstGeom prst="rect">
            <a:avLst/>
          </a:prstGeom>
        </p:spPr>
      </p:pic>
      <p:sp>
        <p:nvSpPr>
          <p:cNvPr id="13" name="Text 8"/>
          <p:cNvSpPr txBox="1"/>
          <p:nvPr/>
        </p:nvSpPr>
        <p:spPr>
          <a:xfrm>
            <a:off x="416052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Kepala BHP menugaskan tim Kurator Keperdataan</a:t>
            </a:r>
            <a:endParaRPr lang="en-US" sz="1500" dirty="0"/>
          </a:p>
        </p:txBody>
      </p:sp>
      <p:pic>
        <p:nvPicPr>
          <p:cNvPr id="14" name="Image 3" descr="preencoded.png">    </p:cNvPr>
          <p:cNvPicPr>
            <a:picLocks noChangeAspect="1"/>
          </p:cNvPicPr>
          <p:nvPr/>
        </p:nvPicPr>
        <p:blipFill>
          <a:blip r:embed="rId4"/>
          <a:stretch>
            <a:fillRect/>
          </a:stretch>
        </p:blipFill>
        <p:spPr>
          <a:xfrm>
            <a:off x="5943600" y="2788920"/>
            <a:ext cx="228600" cy="274320"/>
          </a:xfrm>
          <a:prstGeom prst="rect">
            <a:avLst/>
          </a:prstGeom>
        </p:spPr>
      </p:pic>
      <p:sp>
        <p:nvSpPr>
          <p:cNvPr id="15" name="Shape 9"/>
          <p:cNvSpPr/>
          <p:nvPr/>
        </p:nvSpPr>
        <p:spPr>
          <a:xfrm>
            <a:off x="6217920" y="2286000"/>
            <a:ext cx="2514600" cy="1280160"/>
          </a:xfrm>
          <a:prstGeom prst="roundRect">
            <a:avLst>
              <a:gd name="adj" fmla="val 8571"/>
            </a:avLst>
          </a:prstGeom>
          <a:solidFill>
            <a:srgbClr val="FFFFFF"/>
          </a:solidFill>
          <a:ln w="12700">
            <a:solidFill>
              <a:srgbClr val="B8C4D8"/>
            </a:solidFill>
            <a:prstDash val="solid"/>
          </a:ln>
        </p:spPr>
      </p:sp>
      <p:pic>
        <p:nvPicPr>
          <p:cNvPr id="16" name="Image 4" descr="preencoded.png">    </p:cNvPr>
          <p:cNvPicPr>
            <a:picLocks noChangeAspect="1"/>
          </p:cNvPicPr>
          <p:nvPr/>
        </p:nvPicPr>
        <p:blipFill>
          <a:blip r:embed="rId5"/>
          <a:stretch>
            <a:fillRect/>
          </a:stretch>
        </p:blipFill>
        <p:spPr>
          <a:xfrm>
            <a:off x="6400800" y="2697480"/>
            <a:ext cx="457200" cy="457200"/>
          </a:xfrm>
          <a:prstGeom prst="rect">
            <a:avLst/>
          </a:prstGeom>
        </p:spPr>
      </p:pic>
      <p:sp>
        <p:nvSpPr>
          <p:cNvPr id="17" name="Text 10"/>
          <p:cNvSpPr txBox="1"/>
          <p:nvPr/>
        </p:nvSpPr>
        <p:spPr>
          <a:xfrm>
            <a:off x="699516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Tim mengurus, menilai, dan menjual harta</a:t>
            </a:r>
            <a:endParaRPr lang="en-US" sz="1500" dirty="0"/>
          </a:p>
        </p:txBody>
      </p:sp>
      <p:pic>
        <p:nvPicPr>
          <p:cNvPr id="18" name="Image 5" descr="preencoded.png">    </p:cNvPr>
          <p:cNvPicPr>
            <a:picLocks noChangeAspect="1"/>
          </p:cNvPicPr>
          <p:nvPr/>
        </p:nvPicPr>
        <p:blipFill>
          <a:blip r:embed="rId6"/>
          <a:stretch>
            <a:fillRect/>
          </a:stretch>
        </p:blipFill>
        <p:spPr>
          <a:xfrm>
            <a:off x="8778240" y="2788920"/>
            <a:ext cx="228600" cy="274320"/>
          </a:xfrm>
          <a:prstGeom prst="rect">
            <a:avLst/>
          </a:prstGeom>
        </p:spPr>
      </p:pic>
      <p:sp>
        <p:nvSpPr>
          <p:cNvPr id="19" name="Shape 11"/>
          <p:cNvSpPr/>
          <p:nvPr/>
        </p:nvSpPr>
        <p:spPr>
          <a:xfrm>
            <a:off x="9052560" y="2286000"/>
            <a:ext cx="2514600" cy="1280160"/>
          </a:xfrm>
          <a:prstGeom prst="roundRect">
            <a:avLst>
              <a:gd name="adj" fmla="val 8571"/>
            </a:avLst>
          </a:prstGeom>
          <a:solidFill>
            <a:srgbClr val="FFFFFF"/>
          </a:solidFill>
          <a:ln w="12700">
            <a:solidFill>
              <a:srgbClr val="B8C4D8"/>
            </a:solidFill>
            <a:prstDash val="solid"/>
          </a:ln>
        </p:spPr>
      </p:sp>
      <p:pic>
        <p:nvPicPr>
          <p:cNvPr id="20" name="Image 6" descr="preencoded.png">    </p:cNvPr>
          <p:cNvPicPr>
            <a:picLocks noChangeAspect="1"/>
          </p:cNvPicPr>
          <p:nvPr/>
        </p:nvPicPr>
        <p:blipFill>
          <a:blip r:embed="rId7"/>
          <a:stretch>
            <a:fillRect/>
          </a:stretch>
        </p:blipFill>
        <p:spPr>
          <a:xfrm>
            <a:off x="9235440" y="2697480"/>
            <a:ext cx="457200" cy="457200"/>
          </a:xfrm>
          <a:prstGeom prst="rect">
            <a:avLst/>
          </a:prstGeom>
        </p:spPr>
      </p:pic>
      <p:sp>
        <p:nvSpPr>
          <p:cNvPr id="21" name="Text 12"/>
          <p:cNvSpPr txBox="1"/>
          <p:nvPr/>
        </p:nvSpPr>
        <p:spPr>
          <a:xfrm>
            <a:off x="9829800" y="2286000"/>
            <a:ext cx="1645920" cy="1280160"/>
          </a:xfrm>
          <a:prstGeom prst="rect">
            <a:avLst/>
          </a:prstGeom>
          <a:noFill/>
          <a:ln/>
        </p:spPr>
        <p:txBody>
          <a:bodyPr wrap="square" lIns="0" tIns="0" rIns="0" bIns="0" rtlCol="0" anchor="ctr"/>
          <a:lstStyle/>
          <a:p>
            <a:pPr indent="0" marL="0">
              <a:buNone/>
            </a:pPr>
            <a:r>
              <a:rPr lang="en-US" sz="1500" b="1" dirty="0">
                <a:solidFill>
                  <a:srgbClr val="14284B"/>
                </a:solidFill>
                <a:latin typeface="Arial" pitchFamily="34" charset="0"/>
                <a:ea typeface="Arial" pitchFamily="34" charset="-122"/>
                <a:cs typeface="Arial" pitchFamily="34" charset="-120"/>
              </a:rPr>
              <a:t>Melapor secara berkala</a:t>
            </a:r>
            <a:endParaRPr lang="en-US" sz="1500" dirty="0"/>
          </a:p>
        </p:txBody>
      </p:sp>
      <p:sp>
        <p:nvSpPr>
          <p:cNvPr id="22" name="Shape 13"/>
          <p:cNvSpPr/>
          <p:nvPr/>
        </p:nvSpPr>
        <p:spPr>
          <a:xfrm>
            <a:off x="548640" y="3794760"/>
            <a:ext cx="5408676" cy="1737360"/>
          </a:xfrm>
          <a:prstGeom prst="roundRect">
            <a:avLst>
              <a:gd name="adj" fmla="val 6316"/>
            </a:avLst>
          </a:prstGeom>
          <a:solidFill>
            <a:srgbClr val="EEF2F8"/>
          </a:solidFill>
          <a:ln w="12700">
            <a:solidFill>
              <a:srgbClr val="EEF2F8"/>
            </a:solidFill>
            <a:prstDash val="solid"/>
          </a:ln>
        </p:spPr>
      </p:sp>
      <p:pic>
        <p:nvPicPr>
          <p:cNvPr id="23" name="Image 7" descr="preencoded.png">    </p:cNvPr>
          <p:cNvPicPr>
            <a:picLocks noChangeAspect="1"/>
          </p:cNvPicPr>
          <p:nvPr/>
        </p:nvPicPr>
        <p:blipFill>
          <a:blip r:embed="rId8"/>
          <a:stretch>
            <a:fillRect/>
          </a:stretch>
        </p:blipFill>
        <p:spPr>
          <a:xfrm>
            <a:off x="822960" y="4050792"/>
            <a:ext cx="502920" cy="502920"/>
          </a:xfrm>
          <a:prstGeom prst="rect">
            <a:avLst/>
          </a:prstGeom>
        </p:spPr>
      </p:pic>
      <p:sp>
        <p:nvSpPr>
          <p:cNvPr id="24" name="Text 14"/>
          <p:cNvSpPr txBox="1"/>
          <p:nvPr/>
        </p:nvSpPr>
        <p:spPr>
          <a:xfrm>
            <a:off x="822960" y="4764024"/>
            <a:ext cx="4860036" cy="5852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PENGAWASAN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Di bawah pengawasan Hakim Pengawas</a:t>
            </a:r>
            <a:endParaRPr lang="en-US" sz="1300" dirty="0"/>
          </a:p>
        </p:txBody>
      </p:sp>
      <p:sp>
        <p:nvSpPr>
          <p:cNvPr id="25" name="Shape 15"/>
          <p:cNvSpPr/>
          <p:nvPr/>
        </p:nvSpPr>
        <p:spPr>
          <a:xfrm>
            <a:off x="6231636" y="3794760"/>
            <a:ext cx="5408676" cy="1737360"/>
          </a:xfrm>
          <a:prstGeom prst="roundRect">
            <a:avLst>
              <a:gd name="adj" fmla="val 6316"/>
            </a:avLst>
          </a:prstGeom>
          <a:solidFill>
            <a:srgbClr val="14284B"/>
          </a:solidFill>
          <a:ln w="12700">
            <a:solidFill>
              <a:srgbClr val="14284B"/>
            </a:solidFill>
            <a:prstDash val="solid"/>
          </a:ln>
        </p:spPr>
      </p:sp>
      <p:pic>
        <p:nvPicPr>
          <p:cNvPr id="26" name="Image 8" descr="preencoded.png">    </p:cNvPr>
          <p:cNvPicPr>
            <a:picLocks noChangeAspect="1"/>
          </p:cNvPicPr>
          <p:nvPr/>
        </p:nvPicPr>
        <p:blipFill>
          <a:blip r:embed="rId9"/>
          <a:stretch>
            <a:fillRect/>
          </a:stretch>
        </p:blipFill>
        <p:spPr>
          <a:xfrm>
            <a:off x="6505956" y="4050792"/>
            <a:ext cx="502920" cy="502920"/>
          </a:xfrm>
          <a:prstGeom prst="rect">
            <a:avLst/>
          </a:prstGeom>
        </p:spPr>
      </p:pic>
      <p:sp>
        <p:nvSpPr>
          <p:cNvPr id="27" name="Text 16"/>
          <p:cNvSpPr txBox="1"/>
          <p:nvPr/>
        </p:nvSpPr>
        <p:spPr>
          <a:xfrm>
            <a:off x="6505956" y="4764024"/>
            <a:ext cx="4860036" cy="58521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IMBALAN JASA</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Imbalan jasa BHP disetor ke kas negara</a:t>
            </a:r>
            <a:endParaRPr lang="en-US" sz="1300" dirty="0"/>
          </a:p>
        </p:txBody>
      </p:sp>
      <p:sp>
        <p:nvSpPr>
          <p:cNvPr id="28" name="Shape 17"/>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9" name="Shape 18"/>
          <p:cNvSpPr/>
          <p:nvPr/>
        </p:nvSpPr>
        <p:spPr>
          <a:xfrm>
            <a:off x="548640" y="5669280"/>
            <a:ext cx="91440" cy="621792"/>
          </a:xfrm>
          <a:prstGeom prst="rect">
            <a:avLst/>
          </a:prstGeom>
          <a:solidFill>
            <a:srgbClr val="E0A526"/>
          </a:solidFill>
          <a:ln w="12700">
            <a:solidFill>
              <a:srgbClr val="E0A526"/>
            </a:solidFill>
            <a:prstDash val="solid"/>
          </a:ln>
        </p:spPr>
      </p:sp>
      <p:sp>
        <p:nvSpPr>
          <p:cNvPr id="30" name="Text 19"/>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BERIKUTNYA</a:t>
            </a:r>
            <a:endParaRPr lang="en-US" sz="1200" dirty="0"/>
          </a:p>
        </p:txBody>
      </p:sp>
      <p:sp>
        <p:nvSpPr>
          <p:cNvPr id="31" name="Text 20"/>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Adakah kendala dengan kurator privat? Contohnya pada PT Jasa Prima Mandiri.</a:t>
            </a:r>
            <a:endParaRPr lang="en-US" sz="1600" dirty="0"/>
          </a:p>
        </p:txBody>
      </p:sp>
      <p:sp>
        <p:nvSpPr>
          <p:cNvPr id="32" name="Text 21"/>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3" name="Text 22"/>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KENDALA</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Bersama Kurator Perorangan: PT Jasa Prima Mandiri</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Nomor 1/Pdt.Sus-Pailit/2015/PN Niaga Mdn. Kerja sama berjalan baik.</a:t>
            </a:r>
            <a:endParaRPr lang="en-US" sz="2000" dirty="0"/>
          </a:p>
        </p:txBody>
      </p:sp>
      <p:sp>
        <p:nvSpPr>
          <p:cNvPr id="7" name="Shape 5"/>
          <p:cNvSpPr/>
          <p:nvPr/>
        </p:nvSpPr>
        <p:spPr>
          <a:xfrm>
            <a:off x="548640" y="2286000"/>
            <a:ext cx="3514344" cy="1234440"/>
          </a:xfrm>
          <a:prstGeom prst="roundRect">
            <a:avLst>
              <a:gd name="adj" fmla="val 8889"/>
            </a:avLst>
          </a:prstGeom>
          <a:solidFill>
            <a:srgbClr val="EEF2F8"/>
          </a:solidFill>
          <a:ln w="12700">
            <a:solidFill>
              <a:srgbClr val="EEF2F8"/>
            </a:solidFill>
            <a:prstDash val="solid"/>
          </a:ln>
        </p:spPr>
      </p:sp>
      <p:sp>
        <p:nvSpPr>
          <p:cNvPr id="8" name="Text 6"/>
          <p:cNvSpPr txBox="1"/>
          <p:nvPr/>
        </p:nvSpPr>
        <p:spPr>
          <a:xfrm>
            <a:off x="822960"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PUTUSAN PAILIT</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BHP Medan diangkat sebagai kurator</a:t>
            </a:r>
            <a:endParaRPr lang="en-US" sz="1300" dirty="0"/>
          </a:p>
        </p:txBody>
      </p:sp>
      <p:sp>
        <p:nvSpPr>
          <p:cNvPr id="9" name="Shape 7"/>
          <p:cNvSpPr/>
          <p:nvPr/>
        </p:nvSpPr>
        <p:spPr>
          <a:xfrm>
            <a:off x="4337304" y="2286000"/>
            <a:ext cx="3514344" cy="1234440"/>
          </a:xfrm>
          <a:prstGeom prst="roundRect">
            <a:avLst>
              <a:gd name="adj" fmla="val 8889"/>
            </a:avLst>
          </a:prstGeom>
          <a:solidFill>
            <a:srgbClr val="EEF2F8"/>
          </a:solidFill>
          <a:ln w="12700">
            <a:solidFill>
              <a:srgbClr val="EEF2F8"/>
            </a:solidFill>
            <a:prstDash val="solid"/>
          </a:ln>
        </p:spPr>
      </p:sp>
      <p:sp>
        <p:nvSpPr>
          <p:cNvPr id="10" name="Text 8"/>
          <p:cNvSpPr txBox="1"/>
          <p:nvPr/>
        </p:nvSpPr>
        <p:spPr>
          <a:xfrm>
            <a:off x="4611624"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2015</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Kurator tambahan diangkat</a:t>
            </a:r>
            <a:endParaRPr lang="en-US" sz="1300" dirty="0"/>
          </a:p>
        </p:txBody>
      </p:sp>
      <p:sp>
        <p:nvSpPr>
          <p:cNvPr id="11" name="Shape 9"/>
          <p:cNvSpPr/>
          <p:nvPr/>
        </p:nvSpPr>
        <p:spPr>
          <a:xfrm>
            <a:off x="8125968" y="2286000"/>
            <a:ext cx="3514344" cy="1234440"/>
          </a:xfrm>
          <a:prstGeom prst="roundRect">
            <a:avLst>
              <a:gd name="adj" fmla="val 8889"/>
            </a:avLst>
          </a:prstGeom>
          <a:solidFill>
            <a:srgbClr val="EEF2F8"/>
          </a:solidFill>
          <a:ln w="12700">
            <a:solidFill>
              <a:srgbClr val="EEF2F8"/>
            </a:solidFill>
            <a:prstDash val="solid"/>
          </a:ln>
        </p:spPr>
      </p:sp>
      <p:sp>
        <p:nvSpPr>
          <p:cNvPr id="12" name="Text 10"/>
          <p:cNvSpPr txBox="1"/>
          <p:nvPr/>
        </p:nvSpPr>
        <p:spPr>
          <a:xfrm>
            <a:off x="8400288" y="2542032"/>
            <a:ext cx="2965704" cy="795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2019</a:t>
            </a:r>
            <a:endParaRPr lang="en-US" sz="1300" dirty="0"/>
          </a:p>
          <a:p>
            <a:pPr indent="0" marL="0">
              <a:spcAft>
                <a:spcPts val="400"/>
              </a:spcAft>
              <a:buNone/>
            </a:pPr>
            <a:r>
              <a:rPr lang="en-US" sz="1900" b="1" dirty="0">
                <a:solidFill>
                  <a:srgbClr val="14284B"/>
                </a:solidFill>
                <a:latin typeface="Arial" pitchFamily="34" charset="0"/>
                <a:ea typeface="Arial" pitchFamily="34" charset="-122"/>
                <a:cs typeface="Arial" pitchFamily="34" charset="-120"/>
              </a:rPr>
              <a:t>Kepailitan berakhir, sekitar empat tahun</a:t>
            </a:r>
            <a:endParaRPr lang="en-US" sz="1300" dirty="0"/>
          </a:p>
        </p:txBody>
      </p:sp>
      <p:sp>
        <p:nvSpPr>
          <p:cNvPr id="13" name="Shape 11"/>
          <p:cNvSpPr/>
          <p:nvPr/>
        </p:nvSpPr>
        <p:spPr>
          <a:xfrm>
            <a:off x="548640" y="3703320"/>
            <a:ext cx="5408676" cy="1828800"/>
          </a:xfrm>
          <a:prstGeom prst="roundRect">
            <a:avLst>
              <a:gd name="adj" fmla="val 6000"/>
            </a:avLst>
          </a:prstGeom>
          <a:solidFill>
            <a:srgbClr val="14284B"/>
          </a:solidFill>
          <a:ln w="12700">
            <a:solidFill>
              <a:srgbClr val="14284B"/>
            </a:solidFill>
            <a:prstDash val="solid"/>
          </a:ln>
        </p:spPr>
      </p:sp>
      <p:sp>
        <p:nvSpPr>
          <p:cNvPr id="14" name="Text 12"/>
          <p:cNvSpPr txBox="1"/>
          <p:nvPr/>
        </p:nvSpPr>
        <p:spPr>
          <a:xfrm>
            <a:off x="822960" y="3959352"/>
            <a:ext cx="4860036" cy="1389888"/>
          </a:xfrm>
          <a:prstGeom prst="rect">
            <a:avLst/>
          </a:prstGeom>
          <a:noFill/>
          <a:ln/>
        </p:spPr>
        <p:txBody>
          <a:bodyPr wrap="square" lIns="0" tIns="0" rIns="0" bIns="0" rtlCol="0" anchor="t"/>
          <a:lstStyle/>
          <a:p>
            <a:pPr indent="0" marL="0">
              <a:spcAft>
                <a:spcPts val="400"/>
              </a:spcAft>
              <a:buNone/>
            </a:pPr>
            <a:r>
              <a:rPr lang="en-US" sz="4000" b="1" dirty="0">
                <a:solidFill>
                  <a:srgbClr val="E0A526"/>
                </a:solidFill>
                <a:latin typeface="Arial" pitchFamily="34" charset="0"/>
                <a:ea typeface="Arial" pitchFamily="34" charset="-122"/>
                <a:cs typeface="Arial" pitchFamily="34" charset="-120"/>
              </a:rPr>
              <a:t>Rp12,85 M</a:t>
            </a:r>
            <a:endParaRPr lang="en-US" sz="4000" dirty="0"/>
          </a:p>
          <a:p>
            <a:pPr indent="0" marL="0">
              <a:spcAft>
                <a:spcPts val="400"/>
              </a:spcAft>
              <a:buNone/>
            </a:pPr>
            <a:r>
              <a:rPr lang="en-US" sz="1800" dirty="0">
                <a:solidFill>
                  <a:srgbClr val="DCE4F2"/>
                </a:solidFill>
                <a:latin typeface="Arial" pitchFamily="34" charset="0"/>
                <a:ea typeface="Arial" pitchFamily="34" charset="-122"/>
                <a:cs typeface="Arial" pitchFamily="34" charset="-120"/>
              </a:rPr>
              <a:t>harta berhasil dibereskan</a:t>
            </a:r>
            <a:endParaRPr lang="en-US" sz="4000" dirty="0"/>
          </a:p>
        </p:txBody>
      </p:sp>
      <p:sp>
        <p:nvSpPr>
          <p:cNvPr id="15" name="Shape 13"/>
          <p:cNvSpPr/>
          <p:nvPr/>
        </p:nvSpPr>
        <p:spPr>
          <a:xfrm>
            <a:off x="6231636" y="3703320"/>
            <a:ext cx="5408676" cy="1828800"/>
          </a:xfrm>
          <a:prstGeom prst="roundRect">
            <a:avLst>
              <a:gd name="adj" fmla="val 6000"/>
            </a:avLst>
          </a:prstGeom>
          <a:solidFill>
            <a:srgbClr val="EEF2F8"/>
          </a:solidFill>
          <a:ln w="12700">
            <a:solidFill>
              <a:srgbClr val="EEF2F8"/>
            </a:solidFill>
            <a:prstDash val="solid"/>
          </a:ln>
        </p:spPr>
      </p:sp>
      <p:pic>
        <p:nvPicPr>
          <p:cNvPr id="16" name="Image 0" descr="preencoded.png">    </p:cNvPr>
          <p:cNvPicPr>
            <a:picLocks noChangeAspect="1"/>
          </p:cNvPicPr>
          <p:nvPr/>
        </p:nvPicPr>
        <p:blipFill>
          <a:blip r:embed="rId1"/>
          <a:stretch>
            <a:fillRect/>
          </a:stretch>
        </p:blipFill>
        <p:spPr>
          <a:xfrm>
            <a:off x="6505956" y="3959352"/>
            <a:ext cx="502920" cy="502920"/>
          </a:xfrm>
          <a:prstGeom prst="rect">
            <a:avLst/>
          </a:prstGeom>
        </p:spPr>
      </p:pic>
      <p:sp>
        <p:nvSpPr>
          <p:cNvPr id="17" name="Text 14"/>
          <p:cNvSpPr txBox="1"/>
          <p:nvPr/>
        </p:nvSpPr>
        <p:spPr>
          <a:xfrm>
            <a:off x="6505956" y="4672584"/>
            <a:ext cx="4860036" cy="6766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HASILNYA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Kerja sama berjalan baik</a:t>
            </a:r>
            <a:endParaRPr lang="en-US" sz="1300" dirty="0"/>
          </a:p>
          <a:p>
            <a:pPr indent="0" marL="0">
              <a:spcAft>
                <a:spcPts val="400"/>
              </a:spcAft>
              <a:buNone/>
            </a:pPr>
            <a:r>
              <a:rPr lang="en-US" sz="1600" dirty="0">
                <a:solidFill>
                  <a:srgbClr val="1A1A1A"/>
                </a:solidFill>
                <a:latin typeface="Arial" pitchFamily="34" charset="0"/>
                <a:ea typeface="Arial" pitchFamily="34" charset="-122"/>
                <a:cs typeface="Arial" pitchFamily="34" charset="-120"/>
              </a:rPr>
              <a:t>BHP Medan dan kurator perorangan menangani perkara yang sama sampai selesai.</a:t>
            </a:r>
            <a:endParaRPr lang="en-US" sz="1300" dirty="0"/>
          </a:p>
        </p:txBody>
      </p:sp>
      <p:sp>
        <p:nvSpPr>
          <p:cNvPr id="18" name="Shape 15"/>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9" name="Shape 16"/>
          <p:cNvSpPr/>
          <p:nvPr/>
        </p:nvSpPr>
        <p:spPr>
          <a:xfrm>
            <a:off x="548640" y="5669280"/>
            <a:ext cx="91440" cy="621792"/>
          </a:xfrm>
          <a:prstGeom prst="rect">
            <a:avLst/>
          </a:prstGeom>
          <a:solidFill>
            <a:srgbClr val="E0A526"/>
          </a:solidFill>
          <a:ln w="12700">
            <a:solidFill>
              <a:srgbClr val="E0A526"/>
            </a:solidFill>
            <a:prstDash val="solid"/>
          </a:ln>
        </p:spPr>
      </p:sp>
      <p:sp>
        <p:nvSpPr>
          <p:cNvPr id="20" name="Text 17"/>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KENDALANYA</a:t>
            </a:r>
            <a:endParaRPr lang="en-US" sz="1200" dirty="0"/>
          </a:p>
        </p:txBody>
      </p:sp>
      <p:sp>
        <p:nvSpPr>
          <p:cNvPr id="21" name="Text 18"/>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Satu hal: imbalan jasa dihitung dengan aturan yang berbeda.</a:t>
            </a:r>
            <a:endParaRPr lang="en-US" sz="1600" dirty="0"/>
          </a:p>
        </p:txBody>
      </p:sp>
      <p:sp>
        <p:nvSpPr>
          <p:cNvPr id="22" name="Text 1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3" name="Text 2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 · KENDALA</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Kendalanya: Imbalan Jasa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Kurator tambahan memperoleh imbalan lebih besar daripada BHP sebagai kurator yang diangkat lebih dahulu.</a:t>
            </a:r>
            <a:endParaRPr lang="en-US" sz="2000" dirty="0"/>
          </a:p>
        </p:txBody>
      </p:sp>
      <p:sp>
        <p:nvSpPr>
          <p:cNvPr id="7" name="Text 5"/>
          <p:cNvSpPr txBox="1"/>
          <p:nvPr/>
        </p:nvSpPr>
        <p:spPr>
          <a:xfrm>
            <a:off x="548640" y="2331720"/>
            <a:ext cx="3017520" cy="82296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BHP Medan</a:t>
            </a:r>
            <a:endParaRPr lang="en-US" sz="2100" dirty="0"/>
          </a:p>
          <a:p>
            <a:pPr indent="0" marL="0">
              <a:buNone/>
            </a:pPr>
            <a:r>
              <a:rPr lang="en-US" sz="1400" dirty="0">
                <a:solidFill>
                  <a:srgbClr val="4A5568"/>
                </a:solidFill>
                <a:latin typeface="Arial" pitchFamily="34" charset="0"/>
                <a:ea typeface="Arial" pitchFamily="34" charset="-122"/>
                <a:cs typeface="Arial" pitchFamily="34" charset="-120"/>
              </a:rPr>
              <a:t>PNBP · 8% dari nilai bersih</a:t>
            </a:r>
            <a:endParaRPr lang="en-US" sz="2100" dirty="0"/>
          </a:p>
        </p:txBody>
      </p:sp>
      <p:sp>
        <p:nvSpPr>
          <p:cNvPr id="8" name="Shape 6"/>
          <p:cNvSpPr/>
          <p:nvPr/>
        </p:nvSpPr>
        <p:spPr>
          <a:xfrm>
            <a:off x="3657600" y="2468880"/>
            <a:ext cx="3242158" cy="548640"/>
          </a:xfrm>
          <a:prstGeom prst="roundRect">
            <a:avLst>
              <a:gd name="adj" fmla="val 16667"/>
            </a:avLst>
          </a:prstGeom>
          <a:solidFill>
            <a:srgbClr val="14284B"/>
          </a:solidFill>
          <a:ln w="12700">
            <a:solidFill>
              <a:srgbClr val="14284B"/>
            </a:solidFill>
            <a:prstDash val="solid"/>
          </a:ln>
        </p:spPr>
      </p:sp>
      <p:sp>
        <p:nvSpPr>
          <p:cNvPr id="9" name="Text 7"/>
          <p:cNvSpPr txBox="1"/>
          <p:nvPr/>
        </p:nvSpPr>
        <p:spPr>
          <a:xfrm>
            <a:off x="9326880" y="2331720"/>
            <a:ext cx="2313432" cy="822960"/>
          </a:xfrm>
          <a:prstGeom prst="rect">
            <a:avLst/>
          </a:prstGeom>
          <a:noFill/>
          <a:ln/>
        </p:spPr>
        <p:txBody>
          <a:bodyPr wrap="square" lIns="0" tIns="0" rIns="0" bIns="0" rtlCol="0" anchor="ctr"/>
          <a:lstStyle/>
          <a:p>
            <a:pPr algn="r" indent="0" marL="0">
              <a:buNone/>
            </a:pPr>
            <a:r>
              <a:rPr lang="en-US" sz="2400" b="1" dirty="0">
                <a:solidFill>
                  <a:srgbClr val="14284B"/>
                </a:solidFill>
                <a:latin typeface="Arial" pitchFamily="34" charset="0"/>
                <a:ea typeface="Arial" pitchFamily="34" charset="-122"/>
                <a:cs typeface="Arial" pitchFamily="34" charset="-120"/>
              </a:rPr>
              <a:t>Rp379,8 juta</a:t>
            </a:r>
            <a:endParaRPr lang="en-US" sz="2400" dirty="0"/>
          </a:p>
        </p:txBody>
      </p:sp>
      <p:sp>
        <p:nvSpPr>
          <p:cNvPr id="10" name="Text 8"/>
          <p:cNvSpPr txBox="1"/>
          <p:nvPr/>
        </p:nvSpPr>
        <p:spPr>
          <a:xfrm>
            <a:off x="548640" y="3337560"/>
            <a:ext cx="3017520" cy="82296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Kurator tambahan</a:t>
            </a:r>
            <a:endParaRPr lang="en-US" sz="2100" dirty="0"/>
          </a:p>
          <a:p>
            <a:pPr indent="0" marL="0">
              <a:buNone/>
            </a:pPr>
            <a:r>
              <a:rPr lang="en-US" sz="1400" dirty="0">
                <a:solidFill>
                  <a:srgbClr val="4A5568"/>
                </a:solidFill>
                <a:latin typeface="Arial" pitchFamily="34" charset="0"/>
                <a:ea typeface="Arial" pitchFamily="34" charset="-122"/>
                <a:cs typeface="Arial" pitchFamily="34" charset="-120"/>
              </a:rPr>
              <a:t>5% dari nilai kotor</a:t>
            </a:r>
            <a:endParaRPr lang="en-US" sz="2100" dirty="0"/>
          </a:p>
        </p:txBody>
      </p:sp>
      <p:sp>
        <p:nvSpPr>
          <p:cNvPr id="11" name="Shape 9"/>
          <p:cNvSpPr/>
          <p:nvPr/>
        </p:nvSpPr>
        <p:spPr>
          <a:xfrm>
            <a:off x="3657600" y="3474720"/>
            <a:ext cx="5486400" cy="548640"/>
          </a:xfrm>
          <a:prstGeom prst="roundRect">
            <a:avLst>
              <a:gd name="adj" fmla="val 16667"/>
            </a:avLst>
          </a:prstGeom>
          <a:solidFill>
            <a:srgbClr val="E0A526"/>
          </a:solidFill>
          <a:ln w="12700">
            <a:solidFill>
              <a:srgbClr val="E0A526"/>
            </a:solidFill>
            <a:prstDash val="solid"/>
          </a:ln>
        </p:spPr>
      </p:sp>
      <p:sp>
        <p:nvSpPr>
          <p:cNvPr id="12" name="Text 10"/>
          <p:cNvSpPr txBox="1"/>
          <p:nvPr/>
        </p:nvSpPr>
        <p:spPr>
          <a:xfrm>
            <a:off x="9326880" y="3337560"/>
            <a:ext cx="2313432" cy="822960"/>
          </a:xfrm>
          <a:prstGeom prst="rect">
            <a:avLst/>
          </a:prstGeom>
          <a:noFill/>
          <a:ln/>
        </p:spPr>
        <p:txBody>
          <a:bodyPr wrap="square" lIns="0" tIns="0" rIns="0" bIns="0" rtlCol="0" anchor="ctr"/>
          <a:lstStyle/>
          <a:p>
            <a:pPr algn="r" indent="0" marL="0">
              <a:buNone/>
            </a:pPr>
            <a:r>
              <a:rPr lang="en-US" sz="2400" b="1" dirty="0">
                <a:solidFill>
                  <a:srgbClr val="14284B"/>
                </a:solidFill>
                <a:latin typeface="Arial" pitchFamily="34" charset="0"/>
                <a:ea typeface="Arial" pitchFamily="34" charset="-122"/>
                <a:cs typeface="Arial" pitchFamily="34" charset="-120"/>
              </a:rPr>
              <a:t>Rp642,7 juta</a:t>
            </a:r>
            <a:endParaRPr lang="en-US" sz="2400" dirty="0"/>
          </a:p>
        </p:txBody>
      </p:sp>
      <p:sp>
        <p:nvSpPr>
          <p:cNvPr id="13" name="Text 11"/>
          <p:cNvSpPr txBox="1"/>
          <p:nvPr/>
        </p:nvSpPr>
        <p:spPr>
          <a:xfrm>
            <a:off x="548640" y="4434840"/>
            <a:ext cx="11091672" cy="109728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Tidak ada aturan pembagian imbalan berdasarkan porsi tugas. Aturan juga belum mengatur pembagian tugas dan tanggung jawab di antara keduanya.</a:t>
            </a:r>
            <a:endParaRPr lang="en-US" sz="2200" dirty="0"/>
          </a:p>
        </p:txBody>
      </p:sp>
      <p:sp>
        <p:nvSpPr>
          <p:cNvPr id="14"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5"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6"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DIJAWAB OLEH</a:t>
            </a:r>
            <a:endParaRPr lang="en-US" sz="1200" dirty="0"/>
          </a:p>
        </p:txBody>
      </p:sp>
      <p:sp>
        <p:nvSpPr>
          <p:cNvPr id="17"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D ayat (1) dan (2)</a:t>
            </a:r>
            <a:pPr indent="0" marL="0">
              <a:buNone/>
            </a:pPr>
            <a:r>
              <a:rPr lang="en-US" sz="1600" dirty="0">
                <a:solidFill>
                  <a:srgbClr val="FFFFFF"/>
                </a:solidFill>
                <a:latin typeface="Arial" pitchFamily="34" charset="0"/>
                <a:ea typeface="Arial" pitchFamily="34" charset="-122"/>
                <a:cs typeface="Arial" pitchFamily="34" charset="-120"/>
              </a:rPr>
              <a:t>: imbalan dibagi sesuai porsi tugas, bagian BHP merupakan PNBP.</a:t>
            </a:r>
            <a:endParaRPr lang="en-US" sz="1600" dirty="0"/>
          </a:p>
        </p:txBody>
      </p:sp>
      <p:sp>
        <p:nvSpPr>
          <p:cNvPr id="18"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Tidak Perlu Dipisahkan, Cukup Dibagi dengan Jelas</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Perlukah pemisahan tegas peran BHP sebagai balai harta atau wali pengawas dengan peran kurator privat? Tidak perlu, karena tiga alasan.</a:t>
            </a:r>
            <a:endParaRPr lang="en-US" sz="2000" dirty="0"/>
          </a:p>
        </p:txBody>
      </p:sp>
      <p:sp>
        <p:nvSpPr>
          <p:cNvPr id="7" name="Shape 5"/>
          <p:cNvSpPr/>
          <p:nvPr/>
        </p:nvSpPr>
        <p:spPr>
          <a:xfrm>
            <a:off x="548640" y="2377440"/>
            <a:ext cx="3514344" cy="2514600"/>
          </a:xfrm>
          <a:prstGeom prst="roundRect">
            <a:avLst>
              <a:gd name="adj" fmla="val 4364"/>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633472"/>
            <a:ext cx="502920" cy="502920"/>
          </a:xfrm>
          <a:prstGeom prst="rect">
            <a:avLst/>
          </a:prstGeom>
        </p:spPr>
      </p:pic>
      <p:sp>
        <p:nvSpPr>
          <p:cNvPr id="9" name="Text 6"/>
          <p:cNvSpPr txBox="1"/>
          <p:nvPr/>
        </p:nvSpPr>
        <p:spPr>
          <a:xfrm>
            <a:off x="822960"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A</a:t>
            </a:r>
            <a:endParaRPr lang="en-US" sz="1300" dirty="0"/>
          </a:p>
          <a:p>
            <a:pPr indent="0" marL="0">
              <a:spcAft>
                <a:spcPts val="400"/>
              </a:spcAft>
              <a:buNone/>
            </a:pPr>
            <a:r>
              <a:rPr lang="en-US" sz="1700" b="1" dirty="0">
                <a:solidFill>
                  <a:srgbClr val="14284B"/>
                </a:solidFill>
                <a:latin typeface="Arial" pitchFamily="34" charset="0"/>
                <a:ea typeface="Arial" pitchFamily="34" charset="-122"/>
                <a:cs typeface="Arial" pitchFamily="34" charset="-120"/>
              </a:rPr>
              <a:t>Tanpa BHP, perkara yang tidak diminati kurator privat tidak punya pelaksana.</a:t>
            </a:r>
            <a:endParaRPr lang="en-US" sz="1300" dirty="0"/>
          </a:p>
        </p:txBody>
      </p:sp>
      <p:sp>
        <p:nvSpPr>
          <p:cNvPr id="10" name="Shape 7"/>
          <p:cNvSpPr/>
          <p:nvPr/>
        </p:nvSpPr>
        <p:spPr>
          <a:xfrm>
            <a:off x="4337304" y="2377440"/>
            <a:ext cx="3514344" cy="2514600"/>
          </a:xfrm>
          <a:prstGeom prst="roundRect">
            <a:avLst>
              <a:gd name="adj" fmla="val 4364"/>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633472"/>
            <a:ext cx="502920" cy="502920"/>
          </a:xfrm>
          <a:prstGeom prst="rect">
            <a:avLst/>
          </a:prstGeom>
        </p:spPr>
      </p:pic>
      <p:sp>
        <p:nvSpPr>
          <p:cNvPr id="12" name="Text 8"/>
          <p:cNvSpPr txBox="1"/>
          <p:nvPr/>
        </p:nvSpPr>
        <p:spPr>
          <a:xfrm>
            <a:off x="4611624"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B</a:t>
            </a:r>
            <a:endParaRPr lang="en-US" sz="1300" dirty="0"/>
          </a:p>
          <a:p>
            <a:pPr indent="0" marL="0">
              <a:spcAft>
                <a:spcPts val="400"/>
              </a:spcAft>
              <a:buNone/>
            </a:pPr>
            <a:r>
              <a:rPr lang="en-US" sz="1700" b="1" dirty="0">
                <a:solidFill>
                  <a:srgbClr val="14284B"/>
                </a:solidFill>
                <a:latin typeface="Arial" pitchFamily="34" charset="0"/>
                <a:ea typeface="Arial" pitchFamily="34" charset="-122"/>
                <a:cs typeface="Arial" pitchFamily="34" charset="-120"/>
              </a:rPr>
              <a:t>BHP tidak berebut perkara dengan kurator privat.</a:t>
            </a:r>
            <a:endParaRPr lang="en-US" sz="1300" dirty="0"/>
          </a:p>
          <a:p>
            <a:pPr indent="0" marL="0">
              <a:spcAft>
                <a:spcPts val="400"/>
              </a:spcAft>
              <a:buNone/>
            </a:pPr>
            <a:r>
              <a:rPr lang="en-US" sz="1400" dirty="0">
                <a:solidFill>
                  <a:srgbClr val="1A1A1A"/>
                </a:solidFill>
                <a:latin typeface="Arial" pitchFamily="34" charset="0"/>
                <a:ea typeface="Arial" pitchFamily="34" charset="-122"/>
                <a:cs typeface="Arial" pitchFamily="34" charset="-120"/>
              </a:rPr>
              <a:t>Yang ditangani BHP adalah perkara yang tidak diambil pihak lain.</a:t>
            </a:r>
            <a:endParaRPr lang="en-US" sz="1300" dirty="0"/>
          </a:p>
        </p:txBody>
      </p:sp>
      <p:sp>
        <p:nvSpPr>
          <p:cNvPr id="13" name="Shape 9"/>
          <p:cNvSpPr/>
          <p:nvPr/>
        </p:nvSpPr>
        <p:spPr>
          <a:xfrm>
            <a:off x="8125968" y="2377440"/>
            <a:ext cx="3514344" cy="2514600"/>
          </a:xfrm>
          <a:prstGeom prst="roundRect">
            <a:avLst>
              <a:gd name="adj" fmla="val 4364"/>
            </a:avLst>
          </a:prstGeom>
          <a:solidFill>
            <a:srgbClr val="14284B"/>
          </a:solidFill>
          <a:ln w="12700">
            <a:solidFill>
              <a:srgbClr val="14284B"/>
            </a:solidFill>
            <a:prstDash val="solid"/>
          </a:ln>
        </p:spPr>
      </p:sp>
      <p:pic>
        <p:nvPicPr>
          <p:cNvPr id="14" name="Image 2" descr="preencoded.png">    </p:cNvPr>
          <p:cNvPicPr>
            <a:picLocks noChangeAspect="1"/>
          </p:cNvPicPr>
          <p:nvPr/>
        </p:nvPicPr>
        <p:blipFill>
          <a:blip r:embed="rId3"/>
          <a:stretch>
            <a:fillRect/>
          </a:stretch>
        </p:blipFill>
        <p:spPr>
          <a:xfrm>
            <a:off x="8400288" y="2633472"/>
            <a:ext cx="502920" cy="502920"/>
          </a:xfrm>
          <a:prstGeom prst="rect">
            <a:avLst/>
          </a:prstGeom>
        </p:spPr>
      </p:pic>
      <p:sp>
        <p:nvSpPr>
          <p:cNvPr id="15" name="Text 10"/>
          <p:cNvSpPr txBox="1"/>
          <p:nvPr/>
        </p:nvSpPr>
        <p:spPr>
          <a:xfrm>
            <a:off x="8400288" y="3346704"/>
            <a:ext cx="2965704" cy="136245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ALASAN C</a:t>
            </a:r>
            <a:endParaRPr lang="en-US" sz="1300" dirty="0"/>
          </a:p>
          <a:p>
            <a:pPr indent="0" marL="0">
              <a:spcAft>
                <a:spcPts val="400"/>
              </a:spcAft>
              <a:buNone/>
            </a:pPr>
            <a:r>
              <a:rPr lang="en-US" sz="1600" b="1" dirty="0">
                <a:solidFill>
                  <a:srgbClr val="FFFFFF"/>
                </a:solidFill>
                <a:latin typeface="Arial" pitchFamily="34" charset="0"/>
                <a:ea typeface="Arial" pitchFamily="34" charset="-122"/>
                <a:cs typeface="Arial" pitchFamily="34" charset="-120"/>
              </a:rPr>
              <a:t>Pengalaman BHP mengurus warisan, perwalian anak, dan harta orang yang menghilang</a:t>
            </a:r>
            <a:endParaRPr lang="en-US" sz="1300" dirty="0"/>
          </a:p>
          <a:p>
            <a:pPr indent="0" marL="0">
              <a:spcAft>
                <a:spcPts val="400"/>
              </a:spcAft>
              <a:buNone/>
            </a:pPr>
            <a:r>
              <a:rPr lang="en-US" sz="1400" dirty="0">
                <a:solidFill>
                  <a:srgbClr val="DCE4F2"/>
                </a:solidFill>
                <a:latin typeface="Arial" pitchFamily="34" charset="0"/>
                <a:ea typeface="Arial" pitchFamily="34" charset="-122"/>
                <a:cs typeface="Arial" pitchFamily="34" charset="-120"/>
              </a:rPr>
              <a:t>membuat BHP paling siap menangani perkara yang berkaitan dengan hal tersebut.</a:t>
            </a:r>
            <a:endParaRPr lang="en-US" sz="1300" dirty="0"/>
          </a:p>
        </p:txBody>
      </p:sp>
      <p:sp>
        <p:nvSpPr>
          <p:cNvPr id="16" name="Text 11"/>
          <p:cNvSpPr txBox="1"/>
          <p:nvPr/>
        </p:nvSpPr>
        <p:spPr>
          <a:xfrm>
            <a:off x="548640" y="4983480"/>
            <a:ext cx="11091672" cy="594360"/>
          </a:xfrm>
          <a:prstGeom prst="rect">
            <a:avLst/>
          </a:prstGeom>
          <a:noFill/>
          <a:ln/>
        </p:spPr>
        <p:txBody>
          <a:bodyPr wrap="square" lIns="0" tIns="0" rIns="0" bIns="0" rtlCol="0" anchor="ctr"/>
          <a:lstStyle/>
          <a:p>
            <a:pPr indent="0" marL="0">
              <a:buNone/>
            </a:pPr>
            <a:r>
              <a:rPr lang="en-US" sz="1700" dirty="0">
                <a:solidFill>
                  <a:srgbClr val="1A1A1A"/>
                </a:solidFill>
                <a:latin typeface="Arial" pitchFamily="34" charset="0"/>
                <a:ea typeface="Arial" pitchFamily="34" charset="-122"/>
                <a:cs typeface="Arial" pitchFamily="34" charset="-120"/>
              </a:rPr>
              <a:t>Perlu dicatat, </a:t>
            </a:r>
            <a:pPr indent="0" marL="0">
              <a:buNone/>
            </a:pPr>
            <a:r>
              <a:rPr lang="en-US" sz="1700" b="1" dirty="0">
                <a:solidFill>
                  <a:srgbClr val="14284B"/>
                </a:solidFill>
                <a:latin typeface="Arial" pitchFamily="34" charset="0"/>
                <a:ea typeface="Arial" pitchFamily="34" charset="-122"/>
                <a:cs typeface="Arial" pitchFamily="34" charset="-120"/>
              </a:rPr>
              <a:t>wali pengawas</a:t>
            </a:r>
            <a:pPr indent="0" marL="0">
              <a:buNone/>
            </a:pPr>
            <a:r>
              <a:rPr lang="en-US" sz="1700" dirty="0">
                <a:solidFill>
                  <a:srgbClr val="1A1A1A"/>
                </a:solidFill>
                <a:latin typeface="Arial" pitchFamily="34" charset="0"/>
                <a:ea typeface="Arial" pitchFamily="34" charset="-122"/>
                <a:cs typeface="Arial" pitchFamily="34" charset="-120"/>
              </a:rPr>
              <a:t> adalah tugas BHP dalam perwalian anak (Pasal 366 KUHPerdata), bukan pengawas kurator.</a:t>
            </a:r>
            <a:endParaRPr lang="en-US" sz="1700" dirty="0"/>
          </a:p>
        </p:txBody>
      </p:sp>
      <p:sp>
        <p:nvSpPr>
          <p:cNvPr id="17" name="Shape 12"/>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18" name="Shape 13"/>
          <p:cNvSpPr/>
          <p:nvPr/>
        </p:nvSpPr>
        <p:spPr>
          <a:xfrm>
            <a:off x="548640" y="5669280"/>
            <a:ext cx="91440" cy="621792"/>
          </a:xfrm>
          <a:prstGeom prst="rect">
            <a:avLst/>
          </a:prstGeom>
          <a:solidFill>
            <a:srgbClr val="E0A526"/>
          </a:solidFill>
          <a:ln w="12700">
            <a:solidFill>
              <a:srgbClr val="E0A526"/>
            </a:solidFill>
            <a:prstDash val="solid"/>
          </a:ln>
        </p:spPr>
      </p:sp>
      <p:sp>
        <p:nvSpPr>
          <p:cNvPr id="19" name="Text 14"/>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20" name="Text 15"/>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a:t>
            </a:r>
            <a:pPr indent="0" marL="0">
              <a:buNone/>
            </a:pPr>
            <a:r>
              <a:rPr lang="en-US" sz="1600" dirty="0">
                <a:solidFill>
                  <a:srgbClr val="FFFFFF"/>
                </a:solidFill>
                <a:latin typeface="Arial" pitchFamily="34" charset="0"/>
                <a:ea typeface="Arial" pitchFamily="34" charset="-122"/>
                <a:cs typeface="Arial" pitchFamily="34" charset="-120"/>
              </a:rPr>
              <a:t>: pembagian peran yang jelas, bukan pemisahan.</a:t>
            </a:r>
            <a:endParaRPr lang="en-US" sz="1600" dirty="0"/>
          </a:p>
        </p:txBody>
      </p:sp>
      <p:sp>
        <p:nvSpPr>
          <p:cNvPr id="21" name="Text 1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2" name="Text 1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Kewajiban Memakai BHP: Setuju</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Bagaimana pandangan BHP tentang kewajiban memakai BHP pada kasus tertentu?</a:t>
            </a:r>
            <a:endParaRPr lang="en-US" sz="2000" dirty="0"/>
          </a:p>
        </p:txBody>
      </p:sp>
      <p:sp>
        <p:nvSpPr>
          <p:cNvPr id="7" name="Shape 5"/>
          <p:cNvSpPr/>
          <p:nvPr/>
        </p:nvSpPr>
        <p:spPr>
          <a:xfrm>
            <a:off x="548640" y="2286000"/>
            <a:ext cx="6675120" cy="3246120"/>
          </a:xfrm>
          <a:prstGeom prst="roundRect">
            <a:avLst>
              <a:gd name="adj" fmla="val 3380"/>
            </a:avLst>
          </a:prstGeom>
          <a:solidFill>
            <a:srgbClr val="14284B"/>
          </a:solidFill>
          <a:ln w="12700">
            <a:solidFill>
              <a:srgbClr val="14284B"/>
            </a:solidFill>
            <a:prstDash val="solid"/>
          </a:ln>
        </p:spPr>
      </p:sp>
      <p:sp>
        <p:nvSpPr>
          <p:cNvPr id="8" name="Text 6"/>
          <p:cNvSpPr txBox="1"/>
          <p:nvPr/>
        </p:nvSpPr>
        <p:spPr>
          <a:xfrm>
            <a:off x="822960" y="2423160"/>
            <a:ext cx="6217920" cy="320040"/>
          </a:xfrm>
          <a:prstGeom prst="rect">
            <a:avLst/>
          </a:prstGeom>
          <a:noFill/>
          <a:ln/>
        </p:spPr>
        <p:txBody>
          <a:bodyPr wrap="square" lIns="0" tIns="0" rIns="0" bIns="0" rtlCol="0" anchor="t"/>
          <a:lstStyle/>
          <a:p>
            <a:pPr indent="0" marL="0">
              <a:buNone/>
            </a:pPr>
            <a:r>
              <a:rPr lang="en-US" sz="1300" b="1" spc="150" kern="0" dirty="0">
                <a:solidFill>
                  <a:srgbClr val="E0A526"/>
                </a:solidFill>
                <a:latin typeface="Arial" pitchFamily="34" charset="0"/>
                <a:ea typeface="Arial" pitchFamily="34" charset="-122"/>
                <a:cs typeface="Arial" pitchFamily="34" charset="-120"/>
              </a:rPr>
              <a:t>BHP MEDAN SETUJU, TERUTAMA UNTUK</a:t>
            </a:r>
            <a:endParaRPr lang="en-US" sz="1300" dirty="0"/>
          </a:p>
        </p:txBody>
      </p:sp>
      <p:sp>
        <p:nvSpPr>
          <p:cNvPr id="9" name="Shape 7"/>
          <p:cNvSpPr/>
          <p:nvPr/>
        </p:nvSpPr>
        <p:spPr>
          <a:xfrm>
            <a:off x="822960" y="2898648"/>
            <a:ext cx="347472" cy="347472"/>
          </a:xfrm>
          <a:prstGeom prst="ellipse">
            <a:avLst/>
          </a:prstGeom>
          <a:solidFill>
            <a:srgbClr val="E0A526"/>
          </a:solidFill>
          <a:ln w="12700">
            <a:solidFill>
              <a:srgbClr val="E0A526"/>
            </a:solidFill>
            <a:prstDash val="solid"/>
          </a:ln>
        </p:spPr>
      </p:sp>
      <p:sp>
        <p:nvSpPr>
          <p:cNvPr id="10" name="Text 8"/>
          <p:cNvSpPr txBox="1"/>
          <p:nvPr/>
        </p:nvSpPr>
        <p:spPr>
          <a:xfrm>
            <a:off x="822960" y="2898648"/>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25880" y="2834640"/>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yang meninggal tanpa ahli waris atau hartanya tidak terurus</a:t>
            </a:r>
            <a:endParaRPr lang="en-US" sz="1700" dirty="0"/>
          </a:p>
        </p:txBody>
      </p:sp>
      <p:sp>
        <p:nvSpPr>
          <p:cNvPr id="12" name="Shape 10"/>
          <p:cNvSpPr/>
          <p:nvPr/>
        </p:nvSpPr>
        <p:spPr>
          <a:xfrm>
            <a:off x="822960" y="3419856"/>
            <a:ext cx="347472" cy="347472"/>
          </a:xfrm>
          <a:prstGeom prst="ellipse">
            <a:avLst/>
          </a:prstGeom>
          <a:solidFill>
            <a:srgbClr val="E0A526"/>
          </a:solidFill>
          <a:ln w="12700">
            <a:solidFill>
              <a:srgbClr val="E0A526"/>
            </a:solidFill>
            <a:prstDash val="solid"/>
          </a:ln>
        </p:spPr>
      </p:sp>
      <p:sp>
        <p:nvSpPr>
          <p:cNvPr id="13" name="Text 11"/>
          <p:cNvSpPr txBox="1"/>
          <p:nvPr/>
        </p:nvSpPr>
        <p:spPr>
          <a:xfrm>
            <a:off x="822960" y="3419856"/>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1325880" y="3355848"/>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debitor yang tidak diketahui keberadaannya</a:t>
            </a:r>
            <a:endParaRPr lang="en-US" sz="1700" dirty="0"/>
          </a:p>
        </p:txBody>
      </p:sp>
      <p:sp>
        <p:nvSpPr>
          <p:cNvPr id="15" name="Shape 13"/>
          <p:cNvSpPr/>
          <p:nvPr/>
        </p:nvSpPr>
        <p:spPr>
          <a:xfrm>
            <a:off x="822960" y="3941064"/>
            <a:ext cx="347472" cy="347472"/>
          </a:xfrm>
          <a:prstGeom prst="ellipse">
            <a:avLst/>
          </a:prstGeom>
          <a:solidFill>
            <a:srgbClr val="E0A526"/>
          </a:solidFill>
          <a:ln w="12700">
            <a:solidFill>
              <a:srgbClr val="E0A526"/>
            </a:solidFill>
            <a:prstDash val="solid"/>
          </a:ln>
        </p:spPr>
      </p:sp>
      <p:sp>
        <p:nvSpPr>
          <p:cNvPr id="16" name="Text 14"/>
          <p:cNvSpPr txBox="1"/>
          <p:nvPr/>
        </p:nvSpPr>
        <p:spPr>
          <a:xfrm>
            <a:off x="822960" y="3941064"/>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17" name="Text 15"/>
          <p:cNvSpPr txBox="1"/>
          <p:nvPr/>
        </p:nvSpPr>
        <p:spPr>
          <a:xfrm>
            <a:off x="1325880" y="3877056"/>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pekerja</a:t>
            </a:r>
            <a:endParaRPr lang="en-US" sz="1700" dirty="0"/>
          </a:p>
        </p:txBody>
      </p:sp>
      <p:sp>
        <p:nvSpPr>
          <p:cNvPr id="18" name="Shape 16"/>
          <p:cNvSpPr/>
          <p:nvPr/>
        </p:nvSpPr>
        <p:spPr>
          <a:xfrm>
            <a:off x="822960" y="4462272"/>
            <a:ext cx="347472" cy="347472"/>
          </a:xfrm>
          <a:prstGeom prst="ellipse">
            <a:avLst/>
          </a:prstGeom>
          <a:solidFill>
            <a:srgbClr val="E0A526"/>
          </a:solidFill>
          <a:ln w="12700">
            <a:solidFill>
              <a:srgbClr val="E0A526"/>
            </a:solidFill>
            <a:prstDash val="solid"/>
          </a:ln>
        </p:spPr>
      </p:sp>
      <p:sp>
        <p:nvSpPr>
          <p:cNvPr id="19" name="Text 17"/>
          <p:cNvSpPr txBox="1"/>
          <p:nvPr/>
        </p:nvSpPr>
        <p:spPr>
          <a:xfrm>
            <a:off x="822960" y="4462272"/>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1325880" y="4398264"/>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dengan harta kecil</a:t>
            </a:r>
            <a:endParaRPr lang="en-US" sz="1700" dirty="0"/>
          </a:p>
        </p:txBody>
      </p:sp>
      <p:sp>
        <p:nvSpPr>
          <p:cNvPr id="21" name="Shape 19"/>
          <p:cNvSpPr/>
          <p:nvPr/>
        </p:nvSpPr>
        <p:spPr>
          <a:xfrm>
            <a:off x="822960" y="4983480"/>
            <a:ext cx="347472" cy="347472"/>
          </a:xfrm>
          <a:prstGeom prst="ellipse">
            <a:avLst/>
          </a:prstGeom>
          <a:solidFill>
            <a:srgbClr val="E0A526"/>
          </a:solidFill>
          <a:ln w="12700">
            <a:solidFill>
              <a:srgbClr val="E0A526"/>
            </a:solidFill>
            <a:prstDash val="solid"/>
          </a:ln>
        </p:spPr>
      </p:sp>
      <p:sp>
        <p:nvSpPr>
          <p:cNvPr id="22" name="Text 20"/>
          <p:cNvSpPr txBox="1"/>
          <p:nvPr/>
        </p:nvSpPr>
        <p:spPr>
          <a:xfrm>
            <a:off x="822960" y="4983480"/>
            <a:ext cx="347472" cy="347472"/>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1325880" y="4919472"/>
            <a:ext cx="5760720" cy="47548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perkara yang kehilangan kurator</a:t>
            </a:r>
            <a:endParaRPr lang="en-US" sz="1700" dirty="0"/>
          </a:p>
        </p:txBody>
      </p:sp>
      <p:sp>
        <p:nvSpPr>
          <p:cNvPr id="24" name="Shape 22"/>
          <p:cNvSpPr/>
          <p:nvPr/>
        </p:nvSpPr>
        <p:spPr>
          <a:xfrm>
            <a:off x="7498080" y="2286000"/>
            <a:ext cx="4142232" cy="3246120"/>
          </a:xfrm>
          <a:prstGeom prst="roundRect">
            <a:avLst>
              <a:gd name="adj" fmla="val 3380"/>
            </a:avLst>
          </a:prstGeom>
          <a:solidFill>
            <a:srgbClr val="EEF2F8"/>
          </a:solidFill>
          <a:ln w="12700">
            <a:solidFill>
              <a:srgbClr val="EEF2F8"/>
            </a:solidFill>
            <a:prstDash val="solid"/>
          </a:ln>
        </p:spPr>
      </p:sp>
      <p:pic>
        <p:nvPicPr>
          <p:cNvPr id="25" name="Image 0" descr="preencoded.png">    </p:cNvPr>
          <p:cNvPicPr>
            <a:picLocks noChangeAspect="1"/>
          </p:cNvPicPr>
          <p:nvPr/>
        </p:nvPicPr>
        <p:blipFill>
          <a:blip r:embed="rId1"/>
          <a:stretch>
            <a:fillRect/>
          </a:stretch>
        </p:blipFill>
        <p:spPr>
          <a:xfrm>
            <a:off x="7772400" y="2542032"/>
            <a:ext cx="502920" cy="502920"/>
          </a:xfrm>
          <a:prstGeom prst="rect">
            <a:avLst/>
          </a:prstGeom>
        </p:spPr>
      </p:pic>
      <p:sp>
        <p:nvSpPr>
          <p:cNvPr id="26" name="Text 23"/>
          <p:cNvSpPr txBox="1"/>
          <p:nvPr/>
        </p:nvSpPr>
        <p:spPr>
          <a:xfrm>
            <a:off x="7772400" y="3255264"/>
            <a:ext cx="3593592" cy="209397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DI LUAR ITU</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Para pihak tetap bebas memilih kurator</a:t>
            </a:r>
            <a:endParaRPr lang="en-US" sz="1300" dirty="0"/>
          </a:p>
          <a:p>
            <a:pPr indent="0" marL="0">
              <a:spcAft>
                <a:spcPts val="400"/>
              </a:spcAft>
              <a:buNone/>
            </a:pPr>
            <a:r>
              <a:rPr lang="en-US" sz="1600" dirty="0">
                <a:solidFill>
                  <a:srgbClr val="1A1A1A"/>
                </a:solidFill>
                <a:latin typeface="Arial" pitchFamily="34" charset="0"/>
                <a:ea typeface="Arial" pitchFamily="34" charset="-122"/>
                <a:cs typeface="Arial" pitchFamily="34" charset="-120"/>
              </a:rPr>
              <a:t>RUU Profesi Kurator cukup memuat dasar penugasan ini, sedangkan kriteria dan tata cara penunjukannya diatur dalam RUU Kepailitan dan PKPU.</a:t>
            </a:r>
            <a:endParaRPr lang="en-US" sz="1300" dirty="0"/>
          </a:p>
        </p:txBody>
      </p:sp>
      <p:sp>
        <p:nvSpPr>
          <p:cNvPr id="27" name="Shape 24"/>
          <p:cNvSpPr/>
          <p:nvPr/>
        </p:nvSpPr>
        <p:spPr>
          <a:xfrm>
            <a:off x="548640" y="5669280"/>
            <a:ext cx="11091672" cy="621792"/>
          </a:xfrm>
          <a:prstGeom prst="roundRect">
            <a:avLst>
              <a:gd name="adj" fmla="val 11765"/>
            </a:avLst>
          </a:prstGeom>
          <a:solidFill>
            <a:srgbClr val="14284B"/>
          </a:solidFill>
          <a:ln w="12700">
            <a:solidFill>
              <a:srgbClr val="14284B"/>
            </a:solidFill>
            <a:prstDash val="solid"/>
          </a:ln>
        </p:spPr>
      </p:sp>
      <p:sp>
        <p:nvSpPr>
          <p:cNvPr id="28" name="Shape 25"/>
          <p:cNvSpPr/>
          <p:nvPr/>
        </p:nvSpPr>
        <p:spPr>
          <a:xfrm>
            <a:off x="548640" y="5669280"/>
            <a:ext cx="91440" cy="621792"/>
          </a:xfrm>
          <a:prstGeom prst="rect">
            <a:avLst/>
          </a:prstGeom>
          <a:solidFill>
            <a:srgbClr val="E0A526"/>
          </a:solidFill>
          <a:ln w="12700">
            <a:solidFill>
              <a:srgbClr val="E0A526"/>
            </a:solidFill>
            <a:prstDash val="solid"/>
          </a:ln>
        </p:spPr>
      </p:sp>
      <p:sp>
        <p:nvSpPr>
          <p:cNvPr id="29" name="Text 26"/>
          <p:cNvSpPr txBox="1"/>
          <p:nvPr/>
        </p:nvSpPr>
        <p:spPr>
          <a:xfrm>
            <a:off x="822960" y="5669280"/>
            <a:ext cx="1920240" cy="62179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DIRUMUSKAN DALAM</a:t>
            </a:r>
            <a:endParaRPr lang="en-US" sz="1200" dirty="0"/>
          </a:p>
        </p:txBody>
      </p:sp>
      <p:sp>
        <p:nvSpPr>
          <p:cNvPr id="30" name="Text 27"/>
          <p:cNvSpPr txBox="1"/>
          <p:nvPr/>
        </p:nvSpPr>
        <p:spPr>
          <a:xfrm>
            <a:off x="2743200" y="5669280"/>
            <a:ext cx="8686800" cy="62179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Pasal B ayat (1)</a:t>
            </a:r>
            <a:pPr indent="0" marL="0">
              <a:buNone/>
            </a:pPr>
            <a:r>
              <a:rPr lang="en-US" sz="1600" dirty="0">
                <a:solidFill>
                  <a:srgbClr val="FFFFFF"/>
                </a:solidFill>
                <a:latin typeface="Arial" pitchFamily="34" charset="0"/>
                <a:ea typeface="Arial" pitchFamily="34" charset="-122"/>
                <a:cs typeface="Arial" pitchFamily="34" charset="-120"/>
              </a:rPr>
              <a:t> memuat dasarnya; kriteria dan tata cara penunjukan diatur RUU Kepailitan dan PKPU (</a:t>
            </a:r>
            <a:pPr indent="0" marL="0">
              <a:buNone/>
            </a:pPr>
            <a:r>
              <a:rPr lang="en-US" sz="1600" b="1" dirty="0">
                <a:solidFill>
                  <a:srgbClr val="E0A526"/>
                </a:solidFill>
                <a:latin typeface="Arial" pitchFamily="34" charset="0"/>
                <a:ea typeface="Arial" pitchFamily="34" charset="-122"/>
                <a:cs typeface="Arial" pitchFamily="34" charset="-120"/>
              </a:rPr>
              <a:t>Bagian V</a:t>
            </a:r>
            <a:pPr indent="0" marL="0">
              <a:buNone/>
            </a:pPr>
            <a:r>
              <a:rPr lang="en-US" sz="1600" dirty="0">
                <a:solidFill>
                  <a:srgbClr val="FFFFFF"/>
                </a:solidFill>
                <a:latin typeface="Arial" pitchFamily="34" charset="0"/>
                <a:ea typeface="Arial" pitchFamily="34" charset="-122"/>
                <a:cs typeface="Arial" pitchFamily="34" charset="-120"/>
              </a:rPr>
              <a:t>).</a:t>
            </a:r>
            <a:endParaRPr lang="en-US" sz="1600" dirty="0"/>
          </a:p>
        </p:txBody>
      </p:sp>
      <p:sp>
        <p:nvSpPr>
          <p:cNvPr id="31" name="Text 2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2" name="Text 2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E0A526"/>
          </a:solidFill>
          <a:ln w="12700">
            <a:solidFill>
              <a:srgbClr val="E0A526"/>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Usulan Pasal untuk RUU Profesi Kurator</a:t>
            </a:r>
            <a:endParaRPr lang="en-US" sz="36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Empat pasal yang dapat langsung dipakai, satu untuk setiap sikap, masing-masing disertai analisisnya.</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Setiap masalah yang disebut di awal punya rumusan pasalnya.</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A</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Kedudukan BHP · Sikap 1</a:t>
            </a:r>
            <a:endParaRPr lang="en-US" sz="1700" dirty="0"/>
          </a:p>
        </p:txBody>
      </p:sp>
      <p:sp>
        <p:nvSpPr>
          <p:cNvPr id="17" name="Shape 15"/>
          <p:cNvSpPr/>
          <p:nvPr/>
        </p:nvSpPr>
        <p:spPr>
          <a:xfrm>
            <a:off x="731520" y="5257800"/>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2578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B</a:t>
            </a:r>
            <a:endParaRPr lang="en-US" sz="1300" dirty="0"/>
          </a:p>
        </p:txBody>
      </p:sp>
      <p:sp>
        <p:nvSpPr>
          <p:cNvPr id="19" name="Text 17"/>
          <p:cNvSpPr txBox="1"/>
          <p:nvPr/>
        </p:nvSpPr>
        <p:spPr>
          <a:xfrm>
            <a:off x="1188720" y="52578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Pembagian Peran · Sikap 3</a:t>
            </a:r>
            <a:endParaRPr lang="en-US" sz="1700" dirty="0"/>
          </a:p>
        </p:txBody>
      </p:sp>
      <p:sp>
        <p:nvSpPr>
          <p:cNvPr id="20" name="Shape 18"/>
          <p:cNvSpPr/>
          <p:nvPr/>
        </p:nvSpPr>
        <p:spPr>
          <a:xfrm>
            <a:off x="731520" y="5715000"/>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C</a:t>
            </a:r>
            <a:endParaRPr lang="en-US" sz="1300" dirty="0"/>
          </a:p>
        </p:txBody>
      </p:sp>
      <p:sp>
        <p:nvSpPr>
          <p:cNvPr id="22" name="Text 20"/>
          <p:cNvSpPr txBox="1"/>
          <p:nvPr/>
        </p:nvSpPr>
        <p:spPr>
          <a:xfrm>
            <a:off x="1188720" y="57150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Standar dan Pembinaan BHP · Sikap 2</a:t>
            </a:r>
            <a:endParaRPr lang="en-US" sz="1700" dirty="0"/>
          </a:p>
        </p:txBody>
      </p:sp>
      <p:sp>
        <p:nvSpPr>
          <p:cNvPr id="23" name="Shape 21"/>
          <p:cNvSpPr/>
          <p:nvPr/>
        </p:nvSpPr>
        <p:spPr>
          <a:xfrm>
            <a:off x="731520" y="6172200"/>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61722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D</a:t>
            </a:r>
            <a:endParaRPr lang="en-US" sz="1300" dirty="0"/>
          </a:p>
        </p:txBody>
      </p:sp>
      <p:sp>
        <p:nvSpPr>
          <p:cNvPr id="25" name="Text 23"/>
          <p:cNvSpPr txBox="1"/>
          <p:nvPr/>
        </p:nvSpPr>
        <p:spPr>
          <a:xfrm>
            <a:off x="1188720" y="61722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Koordinasi dan Penugasan Bersama · Sikap 4</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A</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Kedudukan BHP</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2633472"/>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A (Kedudukan BHP)</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370332">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Kurator terdiri atas </a:t>
                      </a:r>
                      <a:pPr indent="0" marL="0">
                        <a:buNone/>
                      </a:pPr>
                      <a:r>
                        <a:rPr lang="en-US" sz="1800" b="1" dirty="0">
                          <a:solidFill>
                            <a:srgbClr val="14284B"/>
                          </a:solidFill>
                          <a:latin typeface="Arial" pitchFamily="34" charset="0"/>
                          <a:ea typeface="Arial" pitchFamily="34" charset="-122"/>
                          <a:cs typeface="Arial" pitchFamily="34" charset="-120"/>
                        </a:rPr>
                        <a:t>Balai Harta Peninggalan</a:t>
                      </a:r>
                      <a:pPr indent="0" marL="0">
                        <a:buNone/>
                      </a:pPr>
                      <a:r>
                        <a:rPr lang="en-US" sz="1800" dirty="0">
                          <a:solidFill>
                            <a:srgbClr val="1A1A1A"/>
                          </a:solidFill>
                          <a:latin typeface="Arial" pitchFamily="34" charset="0"/>
                          <a:ea typeface="Arial" pitchFamily="34" charset="-122"/>
                          <a:cs typeface="Arial" pitchFamily="34" charset="-120"/>
                        </a:rPr>
                        <a:t> dan </a:t>
                      </a:r>
                      <a:pPr indent="0" marL="0">
                        <a:buNone/>
                      </a:pPr>
                      <a:r>
                        <a:rPr lang="en-US" sz="1800" b="1" dirty="0">
                          <a:solidFill>
                            <a:srgbClr val="14284B"/>
                          </a:solidFill>
                          <a:latin typeface="Arial" pitchFamily="34" charset="0"/>
                          <a:ea typeface="Arial" pitchFamily="34" charset="-122"/>
                          <a:cs typeface="Arial" pitchFamily="34" charset="-120"/>
                        </a:rPr>
                        <a:t>Kurator perseorangan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merupakan lembaga negara yang menjalankan tugas Kurator dan Pengurus berdasarkan undang-undang, dan </a:t>
                      </a:r>
                      <a:pPr indent="0" marL="0">
                        <a:buNone/>
                      </a:pPr>
                      <a:r>
                        <a:rPr lang="en-US" sz="1800" b="1" dirty="0">
                          <a:solidFill>
                            <a:srgbClr val="14284B"/>
                          </a:solidFill>
                          <a:latin typeface="Arial" pitchFamily="34" charset="0"/>
                          <a:ea typeface="Arial" pitchFamily="34" charset="-122"/>
                          <a:cs typeface="Arial" pitchFamily="34" charset="-120"/>
                        </a:rPr>
                        <a:t>tidak memerlukan izin atau pendaftaran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Tugas Kurator dan Pengurus pada Balai Harta Peninggalan dilaksanakan oleh </a:t>
                      </a:r>
                      <a:pPr indent="0" marL="0">
                        <a:buNone/>
                      </a:pPr>
                      <a:r>
                        <a:rPr lang="en-US" sz="1800" b="1" dirty="0">
                          <a:solidFill>
                            <a:srgbClr val="14284B"/>
                          </a:solidFill>
                          <a:latin typeface="Arial" pitchFamily="34" charset="0"/>
                          <a:ea typeface="Arial" pitchFamily="34" charset="-122"/>
                          <a:cs typeface="Arial" pitchFamily="34" charset="-120"/>
                        </a:rPr>
                        <a:t>pejabat fungsional Kurator Keperdataan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Pasal ini memastikan BHP masuk dalam sistem profesi kurator tanpa harus mengikuti aturan izin yang dirancang untuk orang perseorangan.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1</a:t>
            </a:r>
            <a:pPr indent="0" marL="0">
              <a:buNone/>
            </a:pPr>
            <a:r>
              <a:rPr lang="en-US" sz="1600" dirty="0">
                <a:solidFill>
                  <a:srgbClr val="FFFFFF"/>
                </a:solidFill>
                <a:latin typeface="Arial" pitchFamily="34" charset="0"/>
                <a:ea typeface="Arial" pitchFamily="34" charset="-122"/>
                <a:cs typeface="Arial" pitchFamily="34" charset="-120"/>
              </a:rPr>
              <a:t> dan pertanyaan apakah BHP ikut aturan izin dan sertifikasi profesi.</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B</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Peran</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315468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B (Pembagian Peran)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891540">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menjalankan tugas Kurator dan Pengurus pada perkara yang menyangkut </a:t>
                      </a:r>
                      <a:pPr indent="0" marL="0">
                        <a:buNone/>
                      </a:pPr>
                      <a:r>
                        <a:rPr lang="en-US" sz="1800" b="1" dirty="0">
                          <a:solidFill>
                            <a:srgbClr val="14284B"/>
                          </a:solidFill>
                          <a:latin typeface="Arial" pitchFamily="34" charset="0"/>
                          <a:ea typeface="Arial" pitchFamily="34" charset="-122"/>
                          <a:cs typeface="Arial" pitchFamily="34" charset="-120"/>
                        </a:rPr>
                        <a:t>kepentingan publik, hak pekerja, harta peninggalan yang tidak terurus, Debitor yang tidak diketahui keberadaannya, dan perkara dengan nilai harta kecil</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Di luar perkara sebagaimana dimaksud pada ayat (1), Kurator dan Pengurus diangkat </a:t>
                      </a:r>
                      <a:pPr indent="0" marL="0">
                        <a:buNone/>
                      </a:pPr>
                      <a:r>
                        <a:rPr lang="en-US" sz="1800" b="1" dirty="0">
                          <a:solidFill>
                            <a:srgbClr val="14284B"/>
                          </a:solidFill>
                          <a:latin typeface="Arial" pitchFamily="34" charset="0"/>
                          <a:ea typeface="Arial" pitchFamily="34" charset="-122"/>
                          <a:cs typeface="Arial" pitchFamily="34" charset="-120"/>
                        </a:rPr>
                        <a:t>berdasarkan usulan para pihak</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Kriteria dan tata cara penunjukan sebagaimana dimaksud pada ayat (1) diatur dalam undang-undang mengenai kepailitan dan penundaan kewajiban pembayaran utang.</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Pasal ini memberi kepastian pembagian peran tanpa mengulang materi hukum acara kepailitan, sehingga RUU Profesi Kurator tetap selaras dengan RUU Kepailitan dan PKPU.</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3</a:t>
            </a:r>
            <a:pPr indent="0" marL="0">
              <a:buNone/>
            </a:pPr>
            <a:r>
              <a:rPr lang="en-US" sz="1600" dirty="0">
                <a:solidFill>
                  <a:srgbClr val="FFFFFF"/>
                </a:solidFill>
                <a:latin typeface="Arial" pitchFamily="34" charset="0"/>
                <a:ea typeface="Arial" pitchFamily="34" charset="-122"/>
                <a:cs typeface="Arial" pitchFamily="34" charset="-120"/>
              </a:rPr>
              <a:t>, keempat temuan BHP Medan, serta Pertanyaan 2 dan 3 Klaster 1.</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C</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dan Pembinaan BHP</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226314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C (Standar dan Pembinaan BHP)</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Balai Harta Peninggalan tunduk pada </a:t>
                      </a:r>
                      <a:pPr indent="0" marL="0">
                        <a:buNone/>
                      </a:pPr>
                      <a:r>
                        <a:rPr lang="en-US" sz="1800" b="1" dirty="0">
                          <a:solidFill>
                            <a:srgbClr val="14284B"/>
                          </a:solidFill>
                          <a:latin typeface="Arial" pitchFamily="34" charset="0"/>
                          <a:ea typeface="Arial" pitchFamily="34" charset="-122"/>
                          <a:cs typeface="Arial" pitchFamily="34" charset="-120"/>
                        </a:rPr>
                        <a:t>standar profesi dan kode etik Kurator yang sama</a:t>
                      </a:r>
                      <a:pPr indent="0" marL="0">
                        <a:buNone/>
                      </a:pPr>
                      <a:r>
                        <a:rPr lang="en-US" sz="1800" dirty="0">
                          <a:solidFill>
                            <a:srgbClr val="1A1A1A"/>
                          </a:solidFill>
                          <a:latin typeface="Arial" pitchFamily="34" charset="0"/>
                          <a:ea typeface="Arial" pitchFamily="34" charset="-122"/>
                          <a:cs typeface="Arial" pitchFamily="34" charset="-120"/>
                        </a:rPr>
                        <a:t> dengan Kurator perseorangan.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Pembinaan dan pengawasan terhadap Balai Harta Peninggalan dilakukan oleh </a:t>
                      </a:r>
                      <a:pPr indent="0" marL="0">
                        <a:buNone/>
                      </a:pPr>
                      <a:r>
                        <a:rPr lang="en-US" sz="1800" b="1" dirty="0">
                          <a:solidFill>
                            <a:srgbClr val="14284B"/>
                          </a:solidFill>
                          <a:latin typeface="Arial" pitchFamily="34" charset="0"/>
                          <a:ea typeface="Arial" pitchFamily="34" charset="-122"/>
                          <a:cs typeface="Arial" pitchFamily="34" charset="-120"/>
                        </a:rPr>
                        <a:t>Menteri</a:t>
                      </a:r>
                      <a:pPr indent="0" marL="0">
                        <a:buNone/>
                      </a:pPr>
                      <a:r>
                        <a:rPr lang="en-US" sz="1800" dirty="0">
                          <a:solidFill>
                            <a:srgbClr val="1A1A1A"/>
                          </a:solidFill>
                          <a:latin typeface="Arial" pitchFamily="34" charset="0"/>
                          <a:ea typeface="Arial" pitchFamily="34" charset="-122"/>
                          <a:cs typeface="Arial" pitchFamily="34" charset="-120"/>
                        </a:rPr>
                        <a:t> dengan melibatkan unsur lembaga pengawas profesi.</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Status lembaga negara tidak boleh menjadi keistimewaan. Standarnya satu, hanya jalur pembinaannya yang menyesuaikan.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2</a:t>
            </a:r>
            <a:pPr indent="0" marL="0">
              <a:buNone/>
            </a:pPr>
            <a:r>
              <a:rPr lang="en-US" sz="1600" dirty="0">
                <a:solidFill>
                  <a:srgbClr val="FFFFFF"/>
                </a:solidFill>
                <a:latin typeface="Arial" pitchFamily="34" charset="0"/>
                <a:ea typeface="Arial" pitchFamily="34" charset="-122"/>
                <a:cs typeface="Arial" pitchFamily="34" charset="-120"/>
              </a:rPr>
              <a:t> dan pertanyaan siapa yang membina dan mengawasi BHP.</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D</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Koordinasi dan Penugasan Bersama</a:t>
            </a:r>
            <a:endParaRPr lang="en-US" sz="3000" dirty="0"/>
          </a:p>
        </p:txBody>
      </p:sp>
      <p:sp>
        <p:nvSpPr>
          <p:cNvPr id="6" name="Shape 4"/>
          <p:cNvSpPr/>
          <p:nvPr/>
        </p:nvSpPr>
        <p:spPr>
          <a:xfrm>
            <a:off x="548640" y="1463040"/>
            <a:ext cx="11091672" cy="4206240"/>
          </a:xfrm>
          <a:prstGeom prst="roundRect">
            <a:avLst>
              <a:gd name="adj" fmla="val 2609"/>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572768"/>
          <a:ext cx="10634472" cy="4046220"/>
        </p:xfrm>
        <a:graphic>
          <a:graphicData uri="http://schemas.openxmlformats.org/drawingml/2006/table">
            <a:tbl>
              <a:tblPr/>
              <a:tblGrid>
                <a:gridCol w="731520"/>
                <a:gridCol w="594360"/>
                <a:gridCol w="9308592"/>
              </a:tblGrid>
              <a:tr h="370332">
                <a:tc gridSpan="3">
                  <a:txBody>
                    <a:bodyPr/>
                    <a:lstStyle/>
                    <a:p>
                      <a:pPr algn="ctr" indent="0" marL="0">
                        <a:buNone/>
                      </a:pPr>
                      <a:r>
                        <a:rPr lang="en-US" sz="1800" b="1" dirty="0">
                          <a:solidFill>
                            <a:srgbClr val="14284B"/>
                          </a:solidFill>
                          <a:latin typeface="Arial" pitchFamily="34" charset="0"/>
                          <a:ea typeface="Arial" pitchFamily="34" charset="-122"/>
                          <a:cs typeface="Arial" pitchFamily="34" charset="-120"/>
                        </a:rPr>
                        <a:t>Pasal D (Koordinasi dan Penugasan Bersama)</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891540">
                <a:tc>
                  <a:txBody>
                    <a:bodyPr/>
                    <a:lstStyle/>
                    <a:p>
                      <a:pPr indent="0" marL="0">
                        <a:buNone/>
                      </a:pPr>
                      <a:r>
                        <a:rPr lang="en-US" sz="1800" b="1" dirty="0">
                          <a:solidFill>
                            <a:srgbClr val="14284B"/>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Dalam hal Balai Harta Peninggalan dan Kurator perseorangan ditunjuk dalam perkara yang sama, masing-masing bertanggung jawab atas tugas yang ditetapkan baginya, dan </a:t>
                      </a:r>
                      <a:pPr indent="0" marL="0">
                        <a:buNone/>
                      </a:pPr>
                      <a:r>
                        <a:rPr lang="en-US" sz="1800" b="1" dirty="0">
                          <a:solidFill>
                            <a:srgbClr val="14284B"/>
                          </a:solidFill>
                          <a:latin typeface="Arial" pitchFamily="34" charset="0"/>
                          <a:ea typeface="Arial" pitchFamily="34" charset="-122"/>
                          <a:cs typeface="Arial" pitchFamily="34" charset="-120"/>
                        </a:rPr>
                        <a:t>imbalan jasa dibagi sesuai porsi tugas</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370332">
                <a:tc>
                  <a:txBody>
                    <a:bodyPr/>
                    <a:lstStyle/>
                    <a:p>
                      <a:pPr indent="0" marL="0">
                        <a:buNone/>
                      </a:pPr>
                      <a:r>
                        <a:rPr lang="en-US" sz="1800" b="1" dirty="0">
                          <a:solidFill>
                            <a:srgbClr val="14284B"/>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Bagian imbalan jasa Balai Harta Peninggalan merupakan </a:t>
                      </a:r>
                      <a:pPr indent="0" marL="0">
                        <a:buNone/>
                      </a:pPr>
                      <a:r>
                        <a:rPr lang="en-US" sz="1800" b="1" dirty="0">
                          <a:solidFill>
                            <a:srgbClr val="14284B"/>
                          </a:solidFill>
                          <a:latin typeface="Arial" pitchFamily="34" charset="0"/>
                          <a:ea typeface="Arial" pitchFamily="34" charset="-122"/>
                          <a:cs typeface="Arial" pitchFamily="34" charset="-120"/>
                        </a:rPr>
                        <a:t>Penerimaan Negara Bukan Pajak</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Setiap Kurator </a:t>
                      </a:r>
                      <a:pPr indent="0" marL="0">
                        <a:buNone/>
                      </a:pPr>
                      <a:r>
                        <a:rPr lang="en-US" sz="1800" b="1" dirty="0">
                          <a:solidFill>
                            <a:srgbClr val="14284B"/>
                          </a:solidFill>
                          <a:latin typeface="Arial" pitchFamily="34" charset="0"/>
                          <a:ea typeface="Arial" pitchFamily="34" charset="-122"/>
                          <a:cs typeface="Arial" pitchFamily="34" charset="-120"/>
                        </a:rPr>
                        <a:t>wajib mengungkapkan hubungan yang dapat menimbulkan benturan kepentingan</a:t>
                      </a:r>
                      <a:pPr indent="0" marL="0">
                        <a:buNone/>
                      </a:pPr>
                      <a:r>
                        <a:rPr lang="en-US" sz="1800" dirty="0">
                          <a:solidFill>
                            <a:srgbClr val="1A1A1A"/>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30936">
                <a:tc>
                  <a:txBody>
                    <a:bodyPr/>
                    <a:lstStyle/>
                    <a:p>
                      <a:pPr indent="0" marL="0">
                        <a:buNone/>
                      </a:pPr>
                      <a:r>
                        <a:rPr lang="en-US" sz="1800" b="1" dirty="0">
                          <a:solidFill>
                            <a:srgbClr val="14284B"/>
                          </a:solidFill>
                          <a:latin typeface="Arial" pitchFamily="34" charset="0"/>
                          <a:ea typeface="Arial" pitchFamily="34" charset="-122"/>
                          <a:cs typeface="Arial" pitchFamily="34" charset="-120"/>
                        </a:rPr>
                        <a:t>(4)</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800" dirty="0">
                          <a:solidFill>
                            <a:srgbClr val="1A1A1A"/>
                          </a:solidFill>
                          <a:latin typeface="Arial" pitchFamily="34" charset="0"/>
                          <a:ea typeface="Arial" pitchFamily="34" charset="-122"/>
                          <a:cs typeface="Arial" pitchFamily="34" charset="-120"/>
                        </a:rPr>
                        <a:t>Menteri menyelenggarakan data Kurator dan perkara yang terintegrasi, dan </a:t>
                      </a:r>
                      <a:pPr indent="0" marL="0">
                        <a:buNone/>
                      </a:pPr>
                      <a:r>
                        <a:rPr lang="en-US" sz="1800" b="1" dirty="0">
                          <a:solidFill>
                            <a:srgbClr val="14284B"/>
                          </a:solidFill>
                          <a:latin typeface="Arial" pitchFamily="34" charset="0"/>
                          <a:ea typeface="Arial" pitchFamily="34" charset="-122"/>
                          <a:cs typeface="Arial" pitchFamily="34" charset="-120"/>
                        </a:rPr>
                        <a:t>Balai Harta Peninggalan menjadi simpul data</a:t>
                      </a:r>
                      <a:pPr indent="0" marL="0">
                        <a:buNone/>
                      </a:pPr>
                      <a:r>
                        <a:rPr lang="en-US" sz="1800" dirty="0">
                          <a:solidFill>
                            <a:srgbClr val="1A1A1A"/>
                          </a:solidFill>
                          <a:latin typeface="Arial" pitchFamily="34" charset="0"/>
                          <a:ea typeface="Arial" pitchFamily="34" charset="-122"/>
                          <a:cs typeface="Arial" pitchFamily="34" charset="-120"/>
                        </a:rPr>
                        <a:t> di wilayah kerjanya.</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152144">
                <a:tc gridSpan="3">
                  <a:txBody>
                    <a:bodyPr/>
                    <a:lstStyle/>
                    <a:p>
                      <a:pPr indent="0" marL="0">
                        <a:buNone/>
                      </a:pPr>
                      <a:r>
                        <a:rPr lang="en-US" sz="1700" b="1" i="1" dirty="0">
                          <a:solidFill>
                            <a:srgbClr val="14284B"/>
                          </a:solidFill>
                          <a:latin typeface="Arial" pitchFamily="34" charset="0"/>
                          <a:ea typeface="Arial" pitchFamily="34" charset="-122"/>
                          <a:cs typeface="Arial" pitchFamily="34" charset="-120"/>
                        </a:rPr>
                        <a:t>Analisis.</a:t>
                      </a:r>
                      <a:pPr indent="0" marL="0">
                        <a:buNone/>
                      </a:pPr>
                      <a:r>
                        <a:rPr lang="en-US" sz="1700" i="1" dirty="0">
                          <a:solidFill>
                            <a:srgbClr val="2D3748"/>
                          </a:solidFill>
                          <a:latin typeface="Arial" pitchFamily="34" charset="0"/>
                          <a:ea typeface="Arial" pitchFamily="34" charset="-122"/>
                          <a:cs typeface="Arial" pitchFamily="34" charset="-120"/>
                        </a:rPr>
                        <a:t> Pada perkara PT Jasa Prima Mandiri, imbalan BHP dan kurator tambahan dihitung dengan aturan yang berbeda tanpa melihat porsi tugas. Pasal ini mencegah hal tersebut, menjaga independensi, dan menyediakan data yang saat ini belum ada, termasuk perbandingan perkara BHP dan kurator perorangan.</a:t>
                      </a:r>
                      <a:endParaRPr lang="en-US" sz="17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Shape 5"/>
          <p:cNvSpPr/>
          <p:nvPr/>
        </p:nvSpPr>
        <p:spPr>
          <a:xfrm>
            <a:off x="548640" y="5760720"/>
            <a:ext cx="11091672" cy="530352"/>
          </a:xfrm>
          <a:prstGeom prst="roundRect">
            <a:avLst>
              <a:gd name="adj" fmla="val 13793"/>
            </a:avLst>
          </a:prstGeom>
          <a:solidFill>
            <a:srgbClr val="14284B"/>
          </a:solidFill>
          <a:ln w="12700">
            <a:solidFill>
              <a:srgbClr val="14284B"/>
            </a:solidFill>
            <a:prstDash val="solid"/>
          </a:ln>
        </p:spPr>
      </p:sp>
      <p:sp>
        <p:nvSpPr>
          <p:cNvPr id="9" name="Shape 6"/>
          <p:cNvSpPr/>
          <p:nvPr/>
        </p:nvSpPr>
        <p:spPr>
          <a:xfrm>
            <a:off x="548640" y="5760720"/>
            <a:ext cx="91440" cy="530352"/>
          </a:xfrm>
          <a:prstGeom prst="rect">
            <a:avLst/>
          </a:prstGeom>
          <a:solidFill>
            <a:srgbClr val="E0A526"/>
          </a:solidFill>
          <a:ln w="12700">
            <a:solidFill>
              <a:srgbClr val="E0A526"/>
            </a:solidFill>
            <a:prstDash val="solid"/>
          </a:ln>
        </p:spPr>
      </p:sp>
      <p:sp>
        <p:nvSpPr>
          <p:cNvPr id="10" name="Text 7"/>
          <p:cNvSpPr txBox="1"/>
          <p:nvPr/>
        </p:nvSpPr>
        <p:spPr>
          <a:xfrm>
            <a:off x="822960" y="5760720"/>
            <a:ext cx="1920240" cy="530352"/>
          </a:xfrm>
          <a:prstGeom prst="rect">
            <a:avLst/>
          </a:prstGeom>
          <a:noFill/>
          <a:ln/>
        </p:spPr>
        <p:txBody>
          <a:bodyPr wrap="square" lIns="0" tIns="0" rIns="0" bIns="0" rtlCol="0" anchor="ctr"/>
          <a:lstStyle/>
          <a:p>
            <a:pPr indent="0" marL="0">
              <a:buNone/>
            </a:pPr>
            <a:r>
              <a:rPr lang="en-US" sz="1200" b="1" spc="200" kern="0" dirty="0">
                <a:solidFill>
                  <a:srgbClr val="E0A526"/>
                </a:solidFill>
                <a:latin typeface="Arial" pitchFamily="34" charset="0"/>
                <a:ea typeface="Arial" pitchFamily="34" charset="-122"/>
                <a:cs typeface="Arial" pitchFamily="34" charset="-120"/>
              </a:rPr>
              <a:t>MENJAWAB</a:t>
            </a:r>
            <a:endParaRPr lang="en-US" sz="1200" dirty="0"/>
          </a:p>
        </p:txBody>
      </p:sp>
      <p:sp>
        <p:nvSpPr>
          <p:cNvPr id="11" name="Text 8"/>
          <p:cNvSpPr txBox="1"/>
          <p:nvPr/>
        </p:nvSpPr>
        <p:spPr>
          <a:xfrm>
            <a:off x="2743200" y="5760720"/>
            <a:ext cx="8686800" cy="530352"/>
          </a:xfrm>
          <a:prstGeom prst="rect">
            <a:avLst/>
          </a:prstGeom>
          <a:noFill/>
          <a:ln/>
        </p:spPr>
        <p:txBody>
          <a:bodyPr wrap="square" lIns="0" tIns="0" rIns="0" bIns="0" rtlCol="0" anchor="ctr"/>
          <a:lstStyle/>
          <a:p>
            <a:pPr indent="0" marL="0">
              <a:buNone/>
            </a:pPr>
            <a:r>
              <a:rPr lang="en-US" sz="1600" b="1" dirty="0">
                <a:solidFill>
                  <a:srgbClr val="E0A526"/>
                </a:solidFill>
                <a:latin typeface="Arial" pitchFamily="34" charset="0"/>
                <a:ea typeface="Arial" pitchFamily="34" charset="-122"/>
                <a:cs typeface="Arial" pitchFamily="34" charset="-120"/>
              </a:rPr>
              <a:t>Sikap 4</a:t>
            </a:r>
            <a:pPr indent="0" marL="0">
              <a:buNone/>
            </a:pPr>
            <a:r>
              <a:rPr lang="en-US" sz="1600" dirty="0">
                <a:solidFill>
                  <a:srgbClr val="FFFFFF"/>
                </a:solidFill>
                <a:latin typeface="Arial" pitchFamily="34" charset="0"/>
                <a:ea typeface="Arial" pitchFamily="34" charset="-122"/>
                <a:cs typeface="Arial" pitchFamily="34" charset="-120"/>
              </a:rPr>
              <a:t>, kendala imbalan pada PT Jasa Prima Mandiri, dan data perkara yang belum ada.</a:t>
            </a:r>
            <a:endParaRPr lang="en-US" sz="1600" dirty="0"/>
          </a:p>
        </p:txBody>
      </p:sp>
      <p:sp>
        <p:nvSpPr>
          <p:cNvPr id="12"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3"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8A7A4A"/>
          </a:solidFill>
          <a:ln w="12700">
            <a:solidFill>
              <a:srgbClr val="8A7A4A"/>
            </a:solidFill>
            <a:prstDash val="solid"/>
          </a:ln>
        </p:spPr>
      </p:sp>
      <p:sp>
        <p:nvSpPr>
          <p:cNvPr id="6" name="Shape 4"/>
          <p:cNvSpPr/>
          <p:nvPr/>
        </p:nvSpPr>
        <p:spPr>
          <a:xfrm>
            <a:off x="9436608" y="548640"/>
            <a:ext cx="2011680" cy="73152"/>
          </a:xfrm>
          <a:prstGeom prst="roundRect">
            <a:avLst>
              <a:gd name="adj" fmla="val 50000"/>
            </a:avLst>
          </a:prstGeom>
          <a:solidFill>
            <a:srgbClr val="E0A526"/>
          </a:solidFill>
          <a:ln w="12700">
            <a:solidFill>
              <a:srgbClr val="E0A526"/>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Catatan untuk RUU Kepailitan dan PKPU</a:t>
            </a:r>
            <a:endParaRPr lang="en-US" sz="3600" dirty="0"/>
          </a:p>
        </p:txBody>
      </p:sp>
      <p:sp>
        <p:nvSpPr>
          <p:cNvPr id="9" name="Text 7"/>
          <p:cNvSpPr txBox="1"/>
          <p:nvPr/>
        </p:nvSpPr>
        <p:spPr>
          <a:xfrm>
            <a:off x="731520" y="2697480"/>
            <a:ext cx="10241280" cy="1005840"/>
          </a:xfrm>
          <a:prstGeom prst="rect">
            <a:avLst/>
          </a:prstGeom>
          <a:noFill/>
          <a:ln/>
        </p:spPr>
        <p:txBody>
          <a:bodyPr wrap="square" lIns="0" tIns="0" rIns="0" bIns="0" rtlCol="0" anchor="t"/>
          <a:lstStyle/>
          <a:p>
            <a:pPr indent="0" marL="0">
              <a:buNone/>
            </a:pPr>
            <a:r>
              <a:rPr lang="en-US" sz="2100" dirty="0">
                <a:solidFill>
                  <a:srgbClr val="DCE4F2"/>
                </a:solidFill>
                <a:latin typeface="Arial" pitchFamily="34" charset="0"/>
                <a:ea typeface="Arial" pitchFamily="34" charset="-122"/>
                <a:cs typeface="Arial" pitchFamily="34" charset="-120"/>
              </a:rPr>
              <a:t>Beberapa hal lebih tepat diatur dalam RUU Kepailitan dan PKPU, termasuk yang muncul dari temuan BHP Medan: debitor menghilang dan kriteria penunjukan BHP.</a:t>
            </a:r>
            <a:endParaRPr lang="en-US" sz="2100" dirty="0"/>
          </a:p>
        </p:txBody>
      </p:sp>
      <p:sp>
        <p:nvSpPr>
          <p:cNvPr id="10" name="Shape 8"/>
          <p:cNvSpPr/>
          <p:nvPr/>
        </p:nvSpPr>
        <p:spPr>
          <a:xfrm>
            <a:off x="731520" y="3749040"/>
            <a:ext cx="10698480" cy="868680"/>
          </a:xfrm>
          <a:prstGeom prst="roundRect">
            <a:avLst>
              <a:gd name="adj" fmla="val 8421"/>
            </a:avLst>
          </a:prstGeom>
          <a:solidFill>
            <a:srgbClr val="243A63"/>
          </a:solidFill>
          <a:ln w="12700">
            <a:solidFill>
              <a:srgbClr val="243A63"/>
            </a:solidFill>
            <a:prstDash val="solid"/>
          </a:ln>
        </p:spPr>
      </p:sp>
      <p:sp>
        <p:nvSpPr>
          <p:cNvPr id="11" name="Shape 9"/>
          <p:cNvSpPr/>
          <p:nvPr/>
        </p:nvSpPr>
        <p:spPr>
          <a:xfrm>
            <a:off x="731520" y="3749040"/>
            <a:ext cx="82296" cy="868680"/>
          </a:xfrm>
          <a:prstGeom prst="rect">
            <a:avLst/>
          </a:prstGeom>
          <a:solidFill>
            <a:srgbClr val="E0A526"/>
          </a:solidFill>
          <a:ln w="12700">
            <a:solidFill>
              <a:srgbClr val="E0A526"/>
            </a:solidFill>
            <a:prstDash val="solid"/>
          </a:ln>
        </p:spPr>
      </p:sp>
      <p:sp>
        <p:nvSpPr>
          <p:cNvPr id="12" name="Text 10"/>
          <p:cNvSpPr txBox="1"/>
          <p:nvPr/>
        </p:nvSpPr>
        <p:spPr>
          <a:xfrm>
            <a:off x="1005840" y="3749040"/>
            <a:ext cx="1737360" cy="868680"/>
          </a:xfrm>
          <a:prstGeom prst="rect">
            <a:avLst/>
          </a:prstGeom>
          <a:noFill/>
          <a:ln/>
        </p:spPr>
        <p:txBody>
          <a:bodyPr wrap="square" lIns="0" tIns="0" rIns="0" bIns="0" rtlCol="0" anchor="ctr"/>
          <a:lstStyle/>
          <a:p>
            <a:pPr indent="0" marL="0">
              <a:buNone/>
            </a:pPr>
            <a:r>
              <a:rPr lang="en-US" sz="1300" b="1" spc="200" kern="0" dirty="0">
                <a:solidFill>
                  <a:srgbClr val="E0A526"/>
                </a:solidFill>
                <a:latin typeface="Arial" pitchFamily="34" charset="0"/>
                <a:ea typeface="Arial" pitchFamily="34" charset="-122"/>
                <a:cs typeface="Arial" pitchFamily="34" charset="-120"/>
              </a:rPr>
              <a:t>PESAN UTAMA</a:t>
            </a:r>
            <a:endParaRPr lang="en-US" sz="1300" dirty="0"/>
          </a:p>
        </p:txBody>
      </p:sp>
      <p:sp>
        <p:nvSpPr>
          <p:cNvPr id="13" name="Text 11"/>
          <p:cNvSpPr txBox="1"/>
          <p:nvPr/>
        </p:nvSpPr>
        <p:spPr>
          <a:xfrm>
            <a:off x="2743200" y="3749040"/>
            <a:ext cx="8503920" cy="86868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Kedua RUU perlu disusun selaras sejak awal.</a:t>
            </a:r>
            <a:endParaRPr lang="en-US" sz="2100" dirty="0"/>
          </a:p>
        </p:txBody>
      </p:sp>
      <p:sp>
        <p:nvSpPr>
          <p:cNvPr id="14" name="Shape 12"/>
          <p:cNvSpPr/>
          <p:nvPr/>
        </p:nvSpPr>
        <p:spPr>
          <a:xfrm>
            <a:off x="731520" y="4800600"/>
            <a:ext cx="329184" cy="329184"/>
          </a:xfrm>
          <a:prstGeom prst="ellipse">
            <a:avLst/>
          </a:prstGeom>
          <a:solidFill>
            <a:srgbClr val="E0A526"/>
          </a:solidFill>
          <a:ln w="12700">
            <a:solidFill>
              <a:srgbClr val="E0A526"/>
            </a:solidFill>
            <a:prstDash val="solid"/>
          </a:ln>
        </p:spPr>
      </p:sp>
      <p:sp>
        <p:nvSpPr>
          <p:cNvPr id="15" name="Text 13"/>
          <p:cNvSpPr txBox="1"/>
          <p:nvPr/>
        </p:nvSpPr>
        <p:spPr>
          <a:xfrm>
            <a:off x="731520" y="48006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1</a:t>
            </a:r>
            <a:endParaRPr lang="en-US" sz="1300" dirty="0"/>
          </a:p>
        </p:txBody>
      </p:sp>
      <p:sp>
        <p:nvSpPr>
          <p:cNvPr id="16" name="Text 14"/>
          <p:cNvSpPr txBox="1"/>
          <p:nvPr/>
        </p:nvSpPr>
        <p:spPr>
          <a:xfrm>
            <a:off x="1188720" y="48006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Kewenangan BHP menjadi pengurus PKPU</a:t>
            </a:r>
            <a:endParaRPr lang="en-US" sz="1700" dirty="0"/>
          </a:p>
        </p:txBody>
      </p:sp>
      <p:sp>
        <p:nvSpPr>
          <p:cNvPr id="17" name="Shape 15"/>
          <p:cNvSpPr/>
          <p:nvPr/>
        </p:nvSpPr>
        <p:spPr>
          <a:xfrm>
            <a:off x="731520" y="5257800"/>
            <a:ext cx="329184" cy="329184"/>
          </a:xfrm>
          <a:prstGeom prst="ellipse">
            <a:avLst/>
          </a:prstGeom>
          <a:solidFill>
            <a:srgbClr val="E0A526"/>
          </a:solidFill>
          <a:ln w="12700">
            <a:solidFill>
              <a:srgbClr val="E0A526"/>
            </a:solidFill>
            <a:prstDash val="solid"/>
          </a:ln>
        </p:spPr>
      </p:sp>
      <p:sp>
        <p:nvSpPr>
          <p:cNvPr id="18" name="Text 16"/>
          <p:cNvSpPr txBox="1"/>
          <p:nvPr/>
        </p:nvSpPr>
        <p:spPr>
          <a:xfrm>
            <a:off x="731520" y="52578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1188720" y="52578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Kriteria dan tata cara penunjukan BHP pada perkara tertentu</a:t>
            </a:r>
            <a:endParaRPr lang="en-US" sz="1700" dirty="0"/>
          </a:p>
        </p:txBody>
      </p:sp>
      <p:sp>
        <p:nvSpPr>
          <p:cNvPr id="20" name="Shape 18"/>
          <p:cNvSpPr/>
          <p:nvPr/>
        </p:nvSpPr>
        <p:spPr>
          <a:xfrm>
            <a:off x="731520" y="5715000"/>
            <a:ext cx="329184" cy="329184"/>
          </a:xfrm>
          <a:prstGeom prst="ellipse">
            <a:avLst/>
          </a:prstGeom>
          <a:solidFill>
            <a:srgbClr val="E0A526"/>
          </a:solidFill>
          <a:ln w="12700">
            <a:solidFill>
              <a:srgbClr val="E0A526"/>
            </a:solidFill>
            <a:prstDash val="solid"/>
          </a:ln>
        </p:spPr>
      </p:sp>
      <p:sp>
        <p:nvSpPr>
          <p:cNvPr id="21" name="Text 19"/>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3</a:t>
            </a:r>
            <a:endParaRPr lang="en-US" sz="1300" dirty="0"/>
          </a:p>
        </p:txBody>
      </p:sp>
      <p:sp>
        <p:nvSpPr>
          <p:cNvPr id="22" name="Text 20"/>
          <p:cNvSpPr txBox="1"/>
          <p:nvPr/>
        </p:nvSpPr>
        <p:spPr>
          <a:xfrm>
            <a:off x="1188720" y="57150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Kepailitan harta peninggalan tanpa ahli waris</a:t>
            </a:r>
            <a:endParaRPr lang="en-US" sz="1700" dirty="0"/>
          </a:p>
        </p:txBody>
      </p:sp>
      <p:sp>
        <p:nvSpPr>
          <p:cNvPr id="23" name="Shape 21"/>
          <p:cNvSpPr/>
          <p:nvPr/>
        </p:nvSpPr>
        <p:spPr>
          <a:xfrm>
            <a:off x="731520" y="6172200"/>
            <a:ext cx="329184" cy="329184"/>
          </a:xfrm>
          <a:prstGeom prst="ellipse">
            <a:avLst/>
          </a:prstGeom>
          <a:solidFill>
            <a:srgbClr val="E0A526"/>
          </a:solidFill>
          <a:ln w="12700">
            <a:solidFill>
              <a:srgbClr val="E0A526"/>
            </a:solidFill>
            <a:prstDash val="solid"/>
          </a:ln>
        </p:spPr>
      </p:sp>
      <p:sp>
        <p:nvSpPr>
          <p:cNvPr id="24" name="Text 22"/>
          <p:cNvSpPr txBox="1"/>
          <p:nvPr/>
        </p:nvSpPr>
        <p:spPr>
          <a:xfrm>
            <a:off x="731520" y="6172200"/>
            <a:ext cx="329184" cy="329184"/>
          </a:xfrm>
          <a:prstGeom prst="rect">
            <a:avLst/>
          </a:prstGeom>
          <a:noFill/>
          <a:ln/>
        </p:spPr>
        <p:txBody>
          <a:bodyPr wrap="square" lIns="0" tIns="0" rIns="0" bIns="0" rtlCol="0" anchor="ctr"/>
          <a:lstStyle/>
          <a:p>
            <a:pPr algn="ctr" indent="0" marL="0">
              <a:buNone/>
            </a:pPr>
            <a:r>
              <a:rPr lang="en-US" sz="1300" b="1" dirty="0">
                <a:solidFill>
                  <a:srgbClr val="14284B"/>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1188720" y="6172200"/>
            <a:ext cx="987552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Kelanjutan perkara apabila debitor menghilang</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1109441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RANGKUMAN</a:t>
            </a:r>
            <a:endParaRPr lang="en-US" sz="1500" dirty="0"/>
          </a:p>
        </p:txBody>
      </p:sp>
      <p:sp>
        <p:nvSpPr>
          <p:cNvPr id="3" name="Text 1"/>
          <p:cNvSpPr txBox="1"/>
          <p:nvPr/>
        </p:nvSpPr>
        <p:spPr>
          <a:xfrm>
            <a:off x="548640" y="731520"/>
            <a:ext cx="1109441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Benang Merah Paparan</a:t>
            </a:r>
            <a:endParaRPr lang="en-US" sz="3200" dirty="0"/>
          </a:p>
        </p:txBody>
      </p:sp>
      <p:sp>
        <p:nvSpPr>
          <p:cNvPr id="4" name="Text 2"/>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Setiap hal yang tidak jelas dijawab satu sikap, didukung bukti BHP Medan, dan dirumuskan dalam satu pasal.</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2651760"/>
                <a:gridCol w="2926080"/>
                <a:gridCol w="3017520"/>
                <a:gridCol w="2496312"/>
              </a:tblGrid>
              <a:tr h="320040">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TIDAK JELAS</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SIKAP BHP MEDAN</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BUKTI</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150" kern="0" dirty="0">
                          <a:solidFill>
                            <a:srgbClr val="8A6100"/>
                          </a:solidFill>
                          <a:latin typeface="Arial" pitchFamily="34" charset="0"/>
                          <a:ea typeface="Arial" pitchFamily="34" charset="-122"/>
                          <a:cs typeface="Arial" pitchFamily="34" charset="-120"/>
                        </a:rPr>
                        <a:t>USULAN PASAL</a:t>
                      </a:r>
                      <a:endParaRPr lang="en-US" sz="11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Apakah BHP ikut aturan izin dan sertifikasi profesi?</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1 · BHP dimuat dalam RUU sebagai lembaga negara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Perkara panjang: BHP tetap berjalan sebagai lembaga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A · Kedudukan BHP</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Siapa yang membina dan mengawasinya?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2 · Satu standar profesi untuk semua kurator</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Status lembaga negara bukan keistimewaan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C · Standar dan Pembinaan BHP</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Bagaimana pembagian perannya dengan kurator privat?</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3 · Pembagian peran ditegaskan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 perkara jatuh ke BHP: harta kecil, pekerja, debitor hilang</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B · Pembagian Peran</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r h="868680">
                <a:tc>
                  <a:txBody>
                    <a:bodyPr/>
                    <a:lstStyle/>
                    <a:p>
                      <a:pPr indent="0" marL="0">
                        <a:buNone/>
                      </a:pPr>
                      <a:r>
                        <a:rPr lang="en-US" sz="1400" dirty="0">
                          <a:solidFill>
                            <a:srgbClr val="1A1A1A"/>
                          </a:solidFill>
                          <a:latin typeface="Arial" pitchFamily="34" charset="0"/>
                          <a:ea typeface="Arial" pitchFamily="34" charset="-122"/>
                          <a:cs typeface="Arial" pitchFamily="34" charset="-120"/>
                        </a:rPr>
                        <a:t>Siapa mengawasi, siapa membina, siapa memegang data?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4B"/>
                          </a:solidFill>
                          <a:latin typeface="Arial" pitchFamily="34" charset="0"/>
                          <a:ea typeface="Arial" pitchFamily="34" charset="-122"/>
                          <a:cs typeface="Arial" pitchFamily="34" charset="-120"/>
                        </a:rPr>
                        <a:t>Sikap 4 · Koordinasi antarlembaga diatur</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Imbalan tak seimbang pada PT Jasa Prima Mandiri; data perkara belum ada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EF2F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Pasal D · Koordinasi dan Penugasan Bersama</a:t>
                      </a:r>
                      <a:endParaRPr lang="en-US" sz="1400" dirty="0">
                        <a:latin typeface="Arial" charset="0"/>
                        <a:ea typeface="Arial" charset="0"/>
                        <a:cs typeface="Arial" charset="0"/>
                      </a:endParaRPr>
                    </a:p>
                  </a:txBody>
                  <a:tcPr marL="76200" marR="76200" marT="50800" marB="5080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4284B"/>
                    </a:solidFill>
                  </a:tcPr>
                </a:tc>
              </a:tr>
            </a:tbl>
          </a:graphicData>
        </a:graphic>
      </p:graphicFrame>
      <p:sp>
        <p:nvSpPr>
          <p:cNvPr id="6" name="Text 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7" name="Text 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21945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BHP dimuat dalam RUU sebagai lembaga negara yang menjalankan tugas kurator, dengan satu standar profesi untuk semua kurator, pembagian peran yang jelas, dan koordinasi antarlembaga yang tegas.</a:t>
            </a:r>
            <a:endParaRPr lang="en-US" sz="3000" dirty="0"/>
          </a:p>
        </p:txBody>
      </p:sp>
      <p:sp>
        <p:nvSpPr>
          <p:cNvPr id="4" name="Text 2"/>
          <p:cNvSpPr txBox="1"/>
          <p:nvPr/>
        </p:nvSpPr>
        <p:spPr>
          <a:xfrm>
            <a:off x="731520" y="457200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
        <p:nvSpPr>
          <p:cNvPr id="5" name="Text 3"/>
          <p:cNvSpPr txBox="1"/>
          <p:nvPr/>
        </p:nvSpPr>
        <p:spPr>
          <a:xfrm>
            <a:off x="731520" y="5440680"/>
            <a:ext cx="10698480" cy="54864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pPr indent="0" marL="0">
              <a:buNone/>
            </a:pPr>
            <a:r>
              <a:rPr lang="en-US" sz="2200" dirty="0">
                <a:solidFill>
                  <a:srgbClr val="FFFFFF"/>
                </a:solidFill>
                <a:latin typeface="Arial" pitchFamily="34" charset="0"/>
                <a:ea typeface="Arial" pitchFamily="34" charset="-122"/>
                <a:cs typeface="Arial" pitchFamily="34" charset="-120"/>
              </a:rPr>
              <a:t> · Kepala Balai Harta Peninggalan Medan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2026-10-03T08:34:09Z</dcterms:created>
  <dcterms:modified xsi:type="dcterms:W3CDTF">2026-10-03T08:34:09Z</dcterms:modified>
</cp:coreProperties>
</file>