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Salam hormat kepada Pimpinan dan Anggota Komisi XIII DPR RI. BHP Medan menyampaikan bahan masukan penyusunan RUU tentang Profesi Kurator, difokuskan pada peran BHP dalam pelaksanaan tugas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merupakan kurator dari unsur pemerintah berdasarkan Pasal 70 ayat (1) UU Kepailitan dan PKPU, sekaligus kurator yang ditunjuk oleh undang-undang berdasarkan Pasal 15 ayat (2). Oleh karena itu, kedudukan BHP perlu diatur secara khusus dalam RUU. Dalam bahan ini, BHP disebut Kurator Negara dan kurator perseorangan disebut Kurator Swasta. Setiap masukan disertai usulan rumusan pasal.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Medan menyampaikan 12 masukan: 2 masukan terkait peran BHP sesuai agenda rapat dalam surat undangan (masukan 1 dan 2), dan 10 masukan yang menjawab 10 isu strategis dalam matriks permasalahan Term of Reference Kunjungan Kerja Komisi XIII DPR RI (masukan 3 sampai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1 dan 2 (dicetak tebal) adalah fokus utama sesuai agenda rapat: peran BHP. Masukan 3 sampai 12 menjawab isu strategis dalam 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Dalam kepailitan, UU menyebut BHP sebagai kurator (Pasal 70 ayat 1) dan kurator yang ditunjuk UU (Pasal 15 ayat 2). Dalam PKPU, Pasal 234 ayat (3) hanya menyebut orang perseorangan. Ketentuan itu tidak melarang BHP, hanya tidak menyebut. Padahal kepailitan dan PKPU satu sistem: satu undang-undang, Pengadilan Niaga yang sama, Hakim Pengawas, pedoman imbalan jasa yang sama, dan satu Permenkumham 37/2018. Pasal 225 ayat (2) dan (3) mewajibkan PKPU sementara dikabulkan paling lambat 3 hari (permohonan Debitor) dan 20 hari (permohonan Kreditor), dengan mengangkat pengurus. Namun tidak diatur siapa pengurusnya bila tidak diusulkan atau yang diusulkan tidak memenuhi syarat Pasal 234 ayat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alasan: (1) Celah tertutup dengan pola yang sudah dikenal dan teruji dalam Pasal 15 ayat (2) — tidak memperkenalkan konsep baru. (2) Argumentum a maiore ad minus: kewenangan kurator (mengambil alih dan membereskan seluruh harta, Pasal 24 dan 69) jauh lebih luas dari pengurus (memberi persetujuan, Pasal 240 ayat 1). (3) Imbalan jasa BHP disetor ke kas negara sebagai PNBP (UU 9/2018); pejabat tidak memperoleh keuntungan pribadi, sehingga BHP pilihan netral terutama dalam PKPU yang diajukan Kreditor. (4) Bila PKPU berakhir pailit (Pasal 230 ayat 1, Pasal 289), data harta dan hasil pencocokan tagihan tetap di lembaga yang sama. (5) Bagi perseorangan, yang tidak dilarang boleh; bagi badan pemerintahan, yang tidak diberi kewenangan tidak boleh (Pasal 11 dan 12 ayat 1 UU 30/2014). Karena itu harus ditegaskan dalam UU.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Usulan rumusan pasal: Kurator terdiri atas Kurator Negara dan Kurator Swasta. Pengurus terdiri atas Balai Harta Peninggalan dan Pengurus Swasta. Dalam hal Debitor atau Kreditor pemohon PKPU tidak mengusulkan pengurus, atau pengurus yang diusulkan tidak memenuhi persyaratan, BHP diangkat selaku Pengurus sepanjang masih memiliki Tim Kurator Keperdataan yang belum mencapai batas jumlah perkara. Dalam hal seluruh tim telah penuh, Pengadilan mengangkat Pengurus Swasta. Tugas dilaksanakan oleh pejabat Kurator Keperdataan.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Pasal 15 ayat (3) membatasi kurator maksimal 3 perkara, tetapi belum jelas apakah dihitung untuk BHP sebagai lembaga atau per pejabat; sementara kewajiban menerima penunjukan Pasal 15 ayat (2) membuat perkara BHP bertambah tanpa batas. Alasan batas berlaku bagi BHP: menjaga kapasitas agar pengurusan cermat dan tepat waktu; tanpa batas mutu menurun, perkara tertunda merugikan Kreditor dan pekerja, dan pejabat menanggung risiko tanggung jawab (Pasal 72); perlakuan sama memperkuat kepercayaan. Dihitung per tim karena Pengadilan mengangkat BHP sebagai lembaga dan pekerjaan dilaksanakan secara 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ketentuan peralihan ada tiga risiko: BHP langsung dianggap melanggar batas, keabsahan tindakan dalam perkara berjalan dapat dipersoalkan, dan BHP tidak dapat menerima penunjukan baru padahal diwajibkan UU. Usulan: perkara berjalan tetap dilaksanakan BHP; kelebihan dialihkan paling lama 6 bulan; terlebih dahulu ke tim lain cukup dengan surat tugas Kepala BHP karena Pengadilan mengangkat BHP sebagai lembaga; bila tidak tertampung, mohon penggantian kurator ke Pengadilan berdasarkan Pasal 71. Enam bulan cukup untuk membentuk tim dan mengajukan penggantian, tetapi tidak terlalu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Pendidikan, sertifikasi, registrasi, kode etik, disiplin, asuransi, dan perlindungan hukum dibedakan sesuai jenis kurator. Kurator Swasta oleh organisasi profesi; Kurator Negara oleh Kementerian Hukum karena pejabat Kurator Keperdataan adalah ASN dalam jabatan fungsional. Majelis Pengawas Kurator mengawasi seluruh kurator, menerima pengaduan, menjatuhkan sanksi administratif kepada Kurator Swasta atau merekomendasikan kepada Menteri untuk pejabat Kurator Keperdataan. Standar profesi nasional paling sedikit meliputi kurikulum, materi dan tata cara ujian, kode etik, standar pelaksanaan tugas, serta jenis dan tata cara sanksi.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Penyidik, penuntut umum, atau hakim dengan persetujuan Majelis Kehormatan Kurator berwenang memanggil Kurator atau Pengurus terkait tindakan dalam pelaksanaan tugasnya. Majelis wajib menjawab paling lama 30 hari kerja; bila tidak menjawab dianggap menerima, agar mekanisme ini tidak menjadi imunitas yang menghambat proses hukum. Majelis terdiri atas unsur pemerintah, organisasi profesi, dan akademisi. Model ini sejalan dengan saran ToR untuk mempertimbangkan praktik Majelis Kehormatan Notaris.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Untuk mengatasi penolakan akses, penyembunyian aset dan dokumen, perlawanan pihak ketiga, dan tidak tersedianya pengamanan: Polri wajib memberikan pendampingan dan pengamanan atas permintaan Kurator, Pengurus, atau Hakim Pengawas, diajukan tertulis dengan melampirkan salinan putusan atau penetapan. Debitor Pailit dan pihak yang menguasai harta pailit wajib memberikan akses, keterangan, dan dokumen. Setiap orang yang dengan sengaja menghalangi Kurator atau Pengurus dipidana penjara paling lama 2 tahun atau denda paling banyak kategori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Kurator wajib menyimpan seluruh uang harta pailit dalam satu rekening kepailitan untuk setiap perkara; setiap penerimaan dan pengeluaran dicatat, didukung bukti, dan dilaporkan ke Hakim Pengawas. Bagi Kurator Negara, rekening ditatausahakan sesuai ketentuan penatausahaan uang pihak ketiga pada BHP. Urutan pembayaran memperhatikan Putusan MK 67/PUU-XI/2013: upah pekerja di atas semua jenis tagihan termasuk kreditor separatis, dan hak pekerja lainnya di atas tagihan negara kecuali kreditor pemegang jaminan kebendaan.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Pembagian pengawasan ditegaskan agar hubungan kewenangan Hakim Pengawas, Kementerian Hukum, Komite Bersama, dan organisasi profesi tidak menimbulkan celah atau tumpang tindih. Tata cara pengawasan diatur lebih lanjut dengan Peraturan Pemerintah.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9: kementerian, lembaga, pemerintah daerah, dan badan hukum yang menyimpan data harta Debitor Pailit wajib memberikan data atas permintaan Kurator paling lama 14 hari kerja, dengan melampirkan salinan putusan pailit dan bukti pengangkatan. Rahasia bank tidak berlaku. Menteri menyelenggarakan sistem informasi kurator yang terintegrasi, sesuai UU 27/2022 tentang Pelindungan Data Pribadi. Masukan 10: menurut BHP Medan, imbalan dan risiko profesi bukan masalah pokok; imbalan jasa telah diatur pedoman Menteri (Pasal 75 dan 234 ayat 5; Permenkum 20/2025). RUU cukup menegaskan dasar hukumnya dan bahwa imbalan BHP adalah PNBP.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Masukan 11: kurator wajib mematuhi hukum internasional dan perjanjian internasional yang mengikat Indonesia; Pengadilan dan Kurator dapat bekerja sama dengan pengadilan dan wakil kepailitan di negara lain; wakil kepailitan asing hanya dapat bertindak atas harta di Indonesia bersama Kurator terdaftar di Indonesia; diatur lebih lanjut dengan PP. Masukan 12: kepentingan Debitor, Kreditor, pekerja, negara, konsumen, dan pihak ketiga diakomodasi melalui Majelis Pengawas Kurator dan Majelis Kehormatan Kurator; pengaduan diperiksa dan diputus paling lama 60 hari, tanpa menghentikan pengurusan dan pemberesan.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Medan berharap RUU memperkuat kedudukan BHP sebagai Kurator Negara: kewenangan sebagai pengurus PKPU untuk menutup celah hukum, tetap tunduk pada batas jumlah perkara per tim, dengan masa peralihan untuk mengalihkan kelebihan perkara. Demikian bahan masukan ini disampaikan. Atas perhatian Pimpinan dan Anggota Komisi XIII DPR RI, kami ucapkan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914400"/>
          </a:xfrm>
          <a:prstGeom prst="rect">
            <a:avLst/>
          </a:prstGeom>
          <a:noFill/>
          <a:ln/>
        </p:spPr>
        <p:txBody>
          <a:bodyPr wrap="square" lIns="0" tIns="0" rIns="0" bIns="0" rtlCol="0" anchor="t"/>
          <a:lstStyle/>
          <a:p>
            <a:pPr indent="0" marL="0">
              <a:buNone/>
            </a:pPr>
            <a:r>
              <a:rPr lang="en-US" sz="2000" b="1" dirty="0">
                <a:solidFill>
                  <a:srgbClr val="E0A526"/>
                </a:solidFill>
                <a:latin typeface="Arial" pitchFamily="34" charset="0"/>
                <a:ea typeface="Arial" pitchFamily="34" charset="-122"/>
                <a:cs typeface="Arial" pitchFamily="34" charset="-120"/>
              </a:rPr>
              <a:t>KEMENTERIAN HUKUM REPUBLIK INDONESIA</a:t>
            </a:r>
            <a:endParaRPr lang="en-US" sz="2000" dirty="0"/>
          </a:p>
          <a:p>
            <a:pPr indent="0" marL="0">
              <a:buNone/>
            </a:pPr>
            <a:r>
              <a:rPr lang="en-US" sz="2000" b="1" dirty="0">
                <a:solidFill>
                  <a:srgbClr val="E0A526"/>
                </a:solidFill>
                <a:latin typeface="Arial" pitchFamily="34" charset="0"/>
                <a:ea typeface="Arial" pitchFamily="34" charset="-122"/>
                <a:cs typeface="Arial" pitchFamily="34" charset="-120"/>
              </a:rPr>
              <a:t>BALAI HARTA PENINGGALAN MEDAN</a:t>
            </a:r>
            <a:endParaRPr lang="en-US" sz="2000" dirty="0"/>
          </a:p>
        </p:txBody>
      </p:sp>
      <p:sp>
        <p:nvSpPr>
          <p:cNvPr id="3" name="Text 1"/>
          <p:cNvSpPr txBox="1"/>
          <p:nvPr/>
        </p:nvSpPr>
        <p:spPr>
          <a:xfrm>
            <a:off x="731520" y="1783080"/>
            <a:ext cx="10698480" cy="1005840"/>
          </a:xfrm>
          <a:prstGeom prst="rect">
            <a:avLst/>
          </a:prstGeom>
          <a:noFill/>
          <a:ln/>
        </p:spPr>
        <p:txBody>
          <a:bodyPr wrap="square" lIns="0" tIns="0" rIns="0" bIns="0" rtlCol="0" anchor="t"/>
          <a:lstStyle/>
          <a:p>
            <a:pPr indent="0" marL="0">
              <a:buNone/>
            </a:pPr>
            <a:r>
              <a:rPr lang="en-US" sz="5400" b="1" dirty="0">
                <a:solidFill>
                  <a:srgbClr val="FFFFFF"/>
                </a:solidFill>
                <a:latin typeface="Arial" pitchFamily="34" charset="0"/>
                <a:ea typeface="Arial" pitchFamily="34" charset="-122"/>
                <a:cs typeface="Arial" pitchFamily="34" charset="-120"/>
              </a:rPr>
              <a:t>Bahan Masukan BHP Medan</a:t>
            </a:r>
            <a:endParaRPr lang="en-US" sz="5400" dirty="0"/>
          </a:p>
        </p:txBody>
      </p:sp>
      <p:sp>
        <p:nvSpPr>
          <p:cNvPr id="4" name="Text 2"/>
          <p:cNvSpPr txBox="1"/>
          <p:nvPr/>
        </p:nvSpPr>
        <p:spPr>
          <a:xfrm>
            <a:off x="731520" y="2788920"/>
            <a:ext cx="10698480" cy="82296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RUU tentang Profesi Kurator</a:t>
            </a:r>
            <a:endParaRPr lang="en-US" sz="4000" dirty="0"/>
          </a:p>
        </p:txBody>
      </p:sp>
      <p:sp>
        <p:nvSpPr>
          <p:cNvPr id="5" name="Text 3"/>
          <p:cNvSpPr txBox="1"/>
          <p:nvPr/>
        </p:nvSpPr>
        <p:spPr>
          <a:xfrm>
            <a:off x="731520" y="3749040"/>
            <a:ext cx="10698480" cy="109728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Peran Balai Harta Peninggalan dalam Pelaksanaan Tugas Kurator</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Rapat Dengar Pendapat dengan Komisi XIII DPR RI</a:t>
            </a:r>
            <a:endParaRPr lang="en-US" sz="2400" dirty="0"/>
          </a:p>
        </p:txBody>
      </p:sp>
      <p:sp>
        <p:nvSpPr>
          <p:cNvPr id="6" name="Text 4"/>
          <p:cNvSpPr txBox="1"/>
          <p:nvPr/>
        </p:nvSpPr>
        <p:spPr>
          <a:xfrm>
            <a:off x="731520" y="5257800"/>
            <a:ext cx="10698480" cy="9144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BHP Medan · Medan, 1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Pendahuluan</a:t>
            </a:r>
            <a:endParaRPr lang="en-US" sz="3600" dirty="0"/>
          </a:p>
        </p:txBody>
      </p:sp>
      <p:sp>
        <p:nvSpPr>
          <p:cNvPr id="3" name="Shape 1"/>
          <p:cNvSpPr/>
          <p:nvPr/>
        </p:nvSpPr>
        <p:spPr>
          <a:xfrm>
            <a:off x="548640" y="1645920"/>
            <a:ext cx="5120640" cy="3017520"/>
          </a:xfrm>
          <a:prstGeom prst="roundRect">
            <a:avLst>
              <a:gd name="adj" fmla="val 3636"/>
            </a:avLst>
          </a:prstGeom>
          <a:solidFill>
            <a:srgbClr val="14284B"/>
          </a:solidFill>
          <a:ln w="12700">
            <a:solidFill>
              <a:srgbClr val="14284B"/>
            </a:solidFill>
            <a:prstDash val="solid"/>
          </a:ln>
        </p:spPr>
      </p:sp>
      <p:sp>
        <p:nvSpPr>
          <p:cNvPr id="4" name="Text 2"/>
          <p:cNvSpPr txBox="1"/>
          <p:nvPr/>
        </p:nvSpPr>
        <p:spPr>
          <a:xfrm>
            <a:off x="868680" y="1874520"/>
            <a:ext cx="4480560" cy="25603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BHP Medan mendukung penuh pembentukan RUU tentang Profesi Kurator</a:t>
            </a:r>
            <a:endParaRPr lang="en-US" sz="3000" dirty="0"/>
          </a:p>
        </p:txBody>
      </p:sp>
      <p:sp>
        <p:nvSpPr>
          <p:cNvPr id="5" name="Shape 3"/>
          <p:cNvSpPr/>
          <p:nvPr/>
        </p:nvSpPr>
        <p:spPr>
          <a:xfrm>
            <a:off x="6035040" y="1645920"/>
            <a:ext cx="5577840" cy="1371600"/>
          </a:xfrm>
          <a:prstGeom prst="roundRect">
            <a:avLst>
              <a:gd name="adj" fmla="val 80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6263640" y="2011680"/>
            <a:ext cx="640080" cy="640080"/>
          </a:xfrm>
          <a:prstGeom prst="rect">
            <a:avLst/>
          </a:prstGeom>
        </p:spPr>
      </p:pic>
      <p:sp>
        <p:nvSpPr>
          <p:cNvPr id="7" name="Text 4"/>
          <p:cNvSpPr txBox="1"/>
          <p:nvPr/>
        </p:nvSpPr>
        <p:spPr>
          <a:xfrm>
            <a:off x="7132320" y="1783080"/>
            <a:ext cx="4343400" cy="10972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dari unsur pemerintah</a:t>
            </a:r>
            <a:endParaRPr lang="en-US" sz="2400" dirty="0"/>
          </a:p>
          <a:p>
            <a:pPr indent="0" marL="0">
              <a:buNone/>
            </a:pPr>
            <a:r>
              <a:rPr lang="en-US" sz="2200" dirty="0">
                <a:solidFill>
                  <a:srgbClr val="14284B"/>
                </a:solidFill>
                <a:latin typeface="Arial" pitchFamily="34" charset="0"/>
                <a:ea typeface="Arial" pitchFamily="34" charset="-122"/>
                <a:cs typeface="Arial" pitchFamily="34" charset="-120"/>
              </a:rPr>
              <a:t>Pasal 70 ayat (1) UU 37/2004</a:t>
            </a:r>
            <a:endParaRPr lang="en-US" sz="2400" dirty="0"/>
          </a:p>
        </p:txBody>
      </p:sp>
      <p:sp>
        <p:nvSpPr>
          <p:cNvPr id="8" name="Shape 5"/>
          <p:cNvSpPr/>
          <p:nvPr/>
        </p:nvSpPr>
        <p:spPr>
          <a:xfrm>
            <a:off x="6035040" y="3200400"/>
            <a:ext cx="5577840" cy="1371600"/>
          </a:xfrm>
          <a:prstGeom prst="roundRect">
            <a:avLst>
              <a:gd name="adj" fmla="val 8000"/>
            </a:avLst>
          </a:prstGeom>
          <a:solidFill>
            <a:srgbClr val="EEF2F8"/>
          </a:solidFill>
          <a:ln w="12700">
            <a:solidFill>
              <a:srgbClr val="EEF2F8"/>
            </a:solidFill>
            <a:prstDash val="solid"/>
          </a:ln>
        </p:spPr>
      </p:sp>
      <p:pic>
        <p:nvPicPr>
          <p:cNvPr id="9" name="Image 1" descr="preencoded.png">    </p:cNvPr>
          <p:cNvPicPr>
            <a:picLocks noChangeAspect="1"/>
          </p:cNvPicPr>
          <p:nvPr/>
        </p:nvPicPr>
        <p:blipFill>
          <a:blip r:embed="rId2"/>
          <a:stretch>
            <a:fillRect/>
          </a:stretch>
        </p:blipFill>
        <p:spPr>
          <a:xfrm>
            <a:off x="6263640" y="3566160"/>
            <a:ext cx="640080" cy="640080"/>
          </a:xfrm>
          <a:prstGeom prst="rect">
            <a:avLst/>
          </a:prstGeom>
        </p:spPr>
      </p:pic>
      <p:sp>
        <p:nvSpPr>
          <p:cNvPr id="10" name="Text 6"/>
          <p:cNvSpPr txBox="1"/>
          <p:nvPr/>
        </p:nvSpPr>
        <p:spPr>
          <a:xfrm>
            <a:off x="7132320" y="3337560"/>
            <a:ext cx="4343400" cy="10972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Kurator yang ditunjuk undang-undang</a:t>
            </a:r>
            <a:endParaRPr lang="en-US" sz="2400" dirty="0"/>
          </a:p>
          <a:p>
            <a:pPr indent="0" marL="0">
              <a:buNone/>
            </a:pPr>
            <a:r>
              <a:rPr lang="en-US" sz="2200" dirty="0">
                <a:solidFill>
                  <a:srgbClr val="14284B"/>
                </a:solidFill>
                <a:latin typeface="Arial" pitchFamily="34" charset="0"/>
                <a:ea typeface="Arial" pitchFamily="34" charset="-122"/>
                <a:cs typeface="Arial" pitchFamily="34" charset="-120"/>
              </a:rPr>
              <a:t>Pasal 15 ayat (2) UU 37/2004</a:t>
            </a:r>
            <a:endParaRPr lang="en-US" sz="2400" dirty="0"/>
          </a:p>
        </p:txBody>
      </p:sp>
      <p:sp>
        <p:nvSpPr>
          <p:cNvPr id="11" name="Text 7"/>
          <p:cNvSpPr txBox="1"/>
          <p:nvPr/>
        </p:nvSpPr>
        <p:spPr>
          <a:xfrm>
            <a:off x="548640" y="4983480"/>
            <a:ext cx="11064240" cy="82296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Istilah:  </a:t>
            </a:r>
            <a:pPr indent="0" marL="0">
              <a:buNone/>
            </a:pPr>
            <a:r>
              <a:rPr lang="en-US" sz="2400" dirty="0">
                <a:solidFill>
                  <a:srgbClr val="1A1A1A"/>
                </a:solidFill>
                <a:latin typeface="Arial" pitchFamily="34" charset="0"/>
                <a:ea typeface="Arial" pitchFamily="34" charset="-122"/>
                <a:cs typeface="Arial" pitchFamily="34" charset="-120"/>
              </a:rPr>
              <a:t>BHP = Kurator Negara   ·   kurator perseorangan = Kurator Swasta</a:t>
            </a:r>
            <a:endParaRPr lang="en-US" sz="2400" dirty="0"/>
          </a:p>
        </p:txBody>
      </p:sp>
      <p:sp>
        <p:nvSpPr>
          <p:cNvPr id="12" name="Text 8"/>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3" name="Text 9"/>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12 Masukan BHP Medan</a:t>
            </a:r>
            <a:endParaRPr lang="en-US" sz="3600" dirty="0"/>
          </a:p>
        </p:txBody>
      </p:sp>
      <p:sp>
        <p:nvSpPr>
          <p:cNvPr id="3" name="Shape 1"/>
          <p:cNvSpPr/>
          <p:nvPr/>
        </p:nvSpPr>
        <p:spPr>
          <a:xfrm>
            <a:off x="548640" y="1645920"/>
            <a:ext cx="5349240" cy="4023360"/>
          </a:xfrm>
          <a:prstGeom prst="roundRect">
            <a:avLst>
              <a:gd name="adj" fmla="val 2727"/>
            </a:avLst>
          </a:prstGeom>
          <a:solidFill>
            <a:srgbClr val="EEF2F8"/>
          </a:solidFill>
          <a:ln w="12700">
            <a:solidFill>
              <a:srgbClr val="EEF2F8"/>
            </a:solidFill>
            <a:prstDash val="solid"/>
          </a:ln>
        </p:spPr>
      </p:sp>
      <p:sp>
        <p:nvSpPr>
          <p:cNvPr id="4" name="Text 2"/>
          <p:cNvSpPr txBox="1"/>
          <p:nvPr/>
        </p:nvSpPr>
        <p:spPr>
          <a:xfrm>
            <a:off x="548640" y="1828800"/>
            <a:ext cx="5349240" cy="1554480"/>
          </a:xfrm>
          <a:prstGeom prst="rect">
            <a:avLst/>
          </a:prstGeom>
          <a:noFill/>
          <a:ln/>
        </p:spPr>
        <p:txBody>
          <a:bodyPr wrap="square" lIns="0" tIns="0" rIns="0" bIns="0" rtlCol="0" anchor="ctr"/>
          <a:lstStyle/>
          <a:p>
            <a:pPr algn="ctr" indent="0" marL="0">
              <a:buNone/>
            </a:pPr>
            <a:r>
              <a:rPr lang="en-US" sz="11000" b="1" dirty="0">
                <a:solidFill>
                  <a:srgbClr val="14284B"/>
                </a:solidFill>
                <a:latin typeface="Arial" pitchFamily="34" charset="0"/>
                <a:ea typeface="Arial" pitchFamily="34" charset="-122"/>
                <a:cs typeface="Arial" pitchFamily="34" charset="-120"/>
              </a:rPr>
              <a:t>2</a:t>
            </a:r>
            <a:endParaRPr lang="en-US" sz="11000" dirty="0"/>
          </a:p>
        </p:txBody>
      </p:sp>
      <p:sp>
        <p:nvSpPr>
          <p:cNvPr id="5" name="Text 3"/>
          <p:cNvSpPr txBox="1"/>
          <p:nvPr/>
        </p:nvSpPr>
        <p:spPr>
          <a:xfrm>
            <a:off x="548640" y="3383280"/>
            <a:ext cx="5349240" cy="457200"/>
          </a:xfrm>
          <a:prstGeom prst="rect">
            <a:avLst/>
          </a:prstGeom>
          <a:noFill/>
          <a:ln/>
        </p:spPr>
        <p:txBody>
          <a:bodyPr wrap="square" lIns="0" tIns="0" rIns="0" bIns="0" rtlCol="0" anchor="t"/>
          <a:lstStyle/>
          <a:p>
            <a:pPr algn="ctr" indent="0" marL="0">
              <a:buNone/>
            </a:pPr>
            <a:r>
              <a:rPr lang="en-US" sz="2400" b="1" dirty="0">
                <a:solidFill>
                  <a:srgbClr val="14284B"/>
                </a:solidFill>
                <a:latin typeface="Arial" pitchFamily="34" charset="0"/>
                <a:ea typeface="Arial" pitchFamily="34" charset="-122"/>
                <a:cs typeface="Arial" pitchFamily="34" charset="-120"/>
              </a:rPr>
              <a:t>Masukan</a:t>
            </a:r>
            <a:endParaRPr lang="en-US" sz="2400" dirty="0"/>
          </a:p>
        </p:txBody>
      </p:sp>
      <p:sp>
        <p:nvSpPr>
          <p:cNvPr id="6" name="Text 4"/>
          <p:cNvSpPr txBox="1"/>
          <p:nvPr/>
        </p:nvSpPr>
        <p:spPr>
          <a:xfrm>
            <a:off x="822960" y="3977640"/>
            <a:ext cx="4800600" cy="1463040"/>
          </a:xfrm>
          <a:prstGeom prst="rect">
            <a:avLst/>
          </a:prstGeom>
          <a:noFill/>
          <a:ln/>
        </p:spPr>
        <p:txBody>
          <a:bodyPr wrap="square" lIns="0" tIns="0" rIns="0" bIns="0" rtlCol="0" anchor="t"/>
          <a:lstStyle/>
          <a:p>
            <a:pPr algn="ctr" indent="0" marL="0">
              <a:buNone/>
            </a:pPr>
            <a:r>
              <a:rPr lang="en-US" sz="2400" dirty="0">
                <a:solidFill>
                  <a:srgbClr val="1A1A1A"/>
                </a:solidFill>
                <a:latin typeface="Arial" pitchFamily="34" charset="0"/>
                <a:ea typeface="Arial" pitchFamily="34" charset="-122"/>
                <a:cs typeface="Arial" pitchFamily="34" charset="-120"/>
              </a:rPr>
              <a:t>Peran BHP dalam tugas kurator</a:t>
            </a:r>
            <a:endParaRPr lang="en-US" sz="2400" dirty="0"/>
          </a:p>
          <a:p>
            <a:pPr algn="ctr" indent="0" marL="0">
              <a:buNone/>
            </a:pPr>
            <a:r>
              <a:rPr lang="en-US" sz="2000" dirty="0">
                <a:solidFill>
                  <a:srgbClr val="4A5568"/>
                </a:solidFill>
                <a:latin typeface="Arial" pitchFamily="34" charset="0"/>
                <a:ea typeface="Arial" pitchFamily="34" charset="-122"/>
                <a:cs typeface="Arial" pitchFamily="34" charset="-120"/>
              </a:rPr>
              <a:t>Agenda rapat · Masukan 1–2</a:t>
            </a:r>
            <a:endParaRPr lang="en-US" sz="2400" dirty="0"/>
          </a:p>
        </p:txBody>
      </p:sp>
      <p:sp>
        <p:nvSpPr>
          <p:cNvPr id="7" name="Shape 5"/>
          <p:cNvSpPr/>
          <p:nvPr/>
        </p:nvSpPr>
        <p:spPr>
          <a:xfrm>
            <a:off x="6263640" y="1645920"/>
            <a:ext cx="5349240" cy="4023360"/>
          </a:xfrm>
          <a:prstGeom prst="roundRect">
            <a:avLst>
              <a:gd name="adj" fmla="val 2727"/>
            </a:avLst>
          </a:prstGeom>
          <a:solidFill>
            <a:srgbClr val="EEF2F8"/>
          </a:solidFill>
          <a:ln w="12700">
            <a:solidFill>
              <a:srgbClr val="EEF2F8"/>
            </a:solidFill>
            <a:prstDash val="solid"/>
          </a:ln>
        </p:spPr>
      </p:sp>
      <p:sp>
        <p:nvSpPr>
          <p:cNvPr id="8" name="Text 6"/>
          <p:cNvSpPr txBox="1"/>
          <p:nvPr/>
        </p:nvSpPr>
        <p:spPr>
          <a:xfrm>
            <a:off x="6263640" y="1828800"/>
            <a:ext cx="5349240" cy="1554480"/>
          </a:xfrm>
          <a:prstGeom prst="rect">
            <a:avLst/>
          </a:prstGeom>
          <a:noFill/>
          <a:ln/>
        </p:spPr>
        <p:txBody>
          <a:bodyPr wrap="square" lIns="0" tIns="0" rIns="0" bIns="0" rtlCol="0" anchor="ctr"/>
          <a:lstStyle/>
          <a:p>
            <a:pPr algn="ctr" indent="0" marL="0">
              <a:buNone/>
            </a:pPr>
            <a:r>
              <a:rPr lang="en-US" sz="11000" b="1" dirty="0">
                <a:solidFill>
                  <a:srgbClr val="14284B"/>
                </a:solidFill>
                <a:latin typeface="Arial" pitchFamily="34" charset="0"/>
                <a:ea typeface="Arial" pitchFamily="34" charset="-122"/>
                <a:cs typeface="Arial" pitchFamily="34" charset="-120"/>
              </a:rPr>
              <a:t>10</a:t>
            </a:r>
            <a:endParaRPr lang="en-US" sz="11000" dirty="0"/>
          </a:p>
        </p:txBody>
      </p:sp>
      <p:sp>
        <p:nvSpPr>
          <p:cNvPr id="9" name="Text 7"/>
          <p:cNvSpPr txBox="1"/>
          <p:nvPr/>
        </p:nvSpPr>
        <p:spPr>
          <a:xfrm>
            <a:off x="6263640" y="3383280"/>
            <a:ext cx="5349240" cy="457200"/>
          </a:xfrm>
          <a:prstGeom prst="rect">
            <a:avLst/>
          </a:prstGeom>
          <a:noFill/>
          <a:ln/>
        </p:spPr>
        <p:txBody>
          <a:bodyPr wrap="square" lIns="0" tIns="0" rIns="0" bIns="0" rtlCol="0" anchor="t"/>
          <a:lstStyle/>
          <a:p>
            <a:pPr algn="ctr" indent="0" marL="0">
              <a:buNone/>
            </a:pPr>
            <a:r>
              <a:rPr lang="en-US" sz="2400" b="1" dirty="0">
                <a:solidFill>
                  <a:srgbClr val="14284B"/>
                </a:solidFill>
                <a:latin typeface="Arial" pitchFamily="34" charset="0"/>
                <a:ea typeface="Arial" pitchFamily="34" charset="-122"/>
                <a:cs typeface="Arial" pitchFamily="34" charset="-120"/>
              </a:rPr>
              <a:t>Masukan</a:t>
            </a:r>
            <a:endParaRPr lang="en-US" sz="2400" dirty="0"/>
          </a:p>
        </p:txBody>
      </p:sp>
      <p:sp>
        <p:nvSpPr>
          <p:cNvPr id="10" name="Text 8"/>
          <p:cNvSpPr txBox="1"/>
          <p:nvPr/>
        </p:nvSpPr>
        <p:spPr>
          <a:xfrm>
            <a:off x="6537960" y="3977640"/>
            <a:ext cx="4800600" cy="1463040"/>
          </a:xfrm>
          <a:prstGeom prst="rect">
            <a:avLst/>
          </a:prstGeom>
          <a:noFill/>
          <a:ln/>
        </p:spPr>
        <p:txBody>
          <a:bodyPr wrap="square" lIns="0" tIns="0" rIns="0" bIns="0" rtlCol="0" anchor="t"/>
          <a:lstStyle/>
          <a:p>
            <a:pPr algn="ctr" indent="0" marL="0">
              <a:buNone/>
            </a:pPr>
            <a:r>
              <a:rPr lang="en-US" sz="2400" dirty="0">
                <a:solidFill>
                  <a:srgbClr val="1A1A1A"/>
                </a:solidFill>
                <a:latin typeface="Arial" pitchFamily="34" charset="0"/>
                <a:ea typeface="Arial" pitchFamily="34" charset="-122"/>
                <a:cs typeface="Arial" pitchFamily="34" charset="-120"/>
              </a:rPr>
              <a:t>Isu strategis dalam ToR Komisi XIII DPR RI</a:t>
            </a:r>
            <a:endParaRPr lang="en-US" sz="2400" dirty="0"/>
          </a:p>
          <a:p>
            <a:pPr algn="ctr" indent="0" marL="0">
              <a:buNone/>
            </a:pPr>
            <a:r>
              <a:rPr lang="en-US" sz="2000" dirty="0">
                <a:solidFill>
                  <a:srgbClr val="4A5568"/>
                </a:solidFill>
                <a:latin typeface="Arial" pitchFamily="34" charset="0"/>
                <a:ea typeface="Arial" pitchFamily="34" charset="-122"/>
                <a:cs typeface="Arial" pitchFamily="34" charset="-120"/>
              </a:rPr>
              <a:t>Masukan 3–12</a:t>
            </a:r>
            <a:endParaRPr lang="en-US" sz="2400" dirty="0"/>
          </a:p>
        </p:txBody>
      </p:sp>
      <p:sp>
        <p:nvSpPr>
          <p:cNvPr id="11" name="Text 9"/>
          <p:cNvSpPr txBox="1"/>
          <p:nvPr/>
        </p:nvSpPr>
        <p:spPr>
          <a:xfrm>
            <a:off x="548640" y="5760720"/>
            <a:ext cx="11064240" cy="502920"/>
          </a:xfrm>
          <a:prstGeom prst="rect">
            <a:avLst/>
          </a:prstGeom>
          <a:noFill/>
          <a:ln/>
        </p:spPr>
        <p:txBody>
          <a:bodyPr wrap="square" lIns="0" tIns="0" rIns="0" bIns="0" rtlCol="0" anchor="t"/>
          <a:lstStyle/>
          <a:p>
            <a:pPr algn="ctr" indent="0" marL="0">
              <a:buNone/>
            </a:pPr>
            <a:r>
              <a:rPr lang="en-US" sz="2200" b="1" dirty="0">
                <a:solidFill>
                  <a:srgbClr val="14284B"/>
                </a:solidFill>
                <a:latin typeface="Arial" pitchFamily="34" charset="0"/>
                <a:ea typeface="Arial" pitchFamily="34" charset="-122"/>
                <a:cs typeface="Arial" pitchFamily="34" charset="-120"/>
              </a:rPr>
              <a:t>Setiap masukan disertai usulan rumusan pasal</a:t>
            </a:r>
            <a:endParaRPr lang="en-US" sz="2200" dirty="0"/>
          </a:p>
        </p:txBody>
      </p:sp>
      <p:sp>
        <p:nvSpPr>
          <p:cNvPr id="12" name="Text 10"/>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3" name="Text 11"/>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3</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109441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Daftar Masukan</a:t>
            </a:r>
            <a:endParaRPr lang="en-US" sz="3600" dirty="0"/>
          </a:p>
        </p:txBody>
      </p:sp>
      <p:sp>
        <p:nvSpPr>
          <p:cNvPr id="3" name="Shape 1"/>
          <p:cNvSpPr/>
          <p:nvPr/>
        </p:nvSpPr>
        <p:spPr>
          <a:xfrm>
            <a:off x="548640" y="1600200"/>
            <a:ext cx="566928" cy="566928"/>
          </a:xfrm>
          <a:prstGeom prst="ellipse">
            <a:avLst/>
          </a:prstGeom>
          <a:solidFill>
            <a:srgbClr val="14284B"/>
          </a:solidFill>
          <a:ln w="12700">
            <a:solidFill>
              <a:srgbClr val="14284B"/>
            </a:solidFill>
            <a:prstDash val="solid"/>
          </a:ln>
        </p:spPr>
      </p:sp>
      <p:sp>
        <p:nvSpPr>
          <p:cNvPr id="4" name="Text 2"/>
          <p:cNvSpPr txBox="1"/>
          <p:nvPr/>
        </p:nvSpPr>
        <p:spPr>
          <a:xfrm>
            <a:off x="548640" y="16002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5" name="Text 3"/>
          <p:cNvSpPr txBox="1"/>
          <p:nvPr/>
        </p:nvSpPr>
        <p:spPr>
          <a:xfrm>
            <a:off x="1325880" y="1600200"/>
            <a:ext cx="4846320" cy="566928"/>
          </a:xfrm>
          <a:prstGeom prst="rect">
            <a:avLst/>
          </a:prstGeom>
          <a:noFill/>
          <a:ln/>
        </p:spPr>
        <p:txBody>
          <a:bodyPr wrap="square" lIns="0" tIns="0" rIns="0" bIns="0" rtlCol="0" anchor="ctr"/>
          <a:lstStyle/>
          <a:p>
            <a:pPr indent="0" marL="0">
              <a:buNone/>
            </a:pPr>
            <a:r>
              <a:rPr lang="en-US" sz="2300" b="1" dirty="0">
                <a:solidFill>
                  <a:srgbClr val="14284B"/>
                </a:solidFill>
                <a:latin typeface="Arial" pitchFamily="34" charset="0"/>
                <a:ea typeface="Arial" pitchFamily="34" charset="-122"/>
                <a:cs typeface="Arial" pitchFamily="34" charset="-120"/>
              </a:rPr>
              <a:t>BHP sebagai Pengurus PKPU</a:t>
            </a:r>
            <a:endParaRPr lang="en-US" sz="2300" dirty="0"/>
          </a:p>
        </p:txBody>
      </p:sp>
      <p:sp>
        <p:nvSpPr>
          <p:cNvPr id="6" name="Shape 4"/>
          <p:cNvSpPr/>
          <p:nvPr/>
        </p:nvSpPr>
        <p:spPr>
          <a:xfrm>
            <a:off x="548640" y="2350008"/>
            <a:ext cx="566928" cy="566928"/>
          </a:xfrm>
          <a:prstGeom prst="ellipse">
            <a:avLst/>
          </a:prstGeom>
          <a:solidFill>
            <a:srgbClr val="14284B"/>
          </a:solidFill>
          <a:ln w="12700">
            <a:solidFill>
              <a:srgbClr val="14284B"/>
            </a:solidFill>
            <a:prstDash val="solid"/>
          </a:ln>
        </p:spPr>
      </p:sp>
      <p:sp>
        <p:nvSpPr>
          <p:cNvPr id="7" name="Text 5"/>
          <p:cNvSpPr txBox="1"/>
          <p:nvPr/>
        </p:nvSpPr>
        <p:spPr>
          <a:xfrm>
            <a:off x="548640" y="235000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8" name="Text 6"/>
          <p:cNvSpPr txBox="1"/>
          <p:nvPr/>
        </p:nvSpPr>
        <p:spPr>
          <a:xfrm>
            <a:off x="1325880" y="2350008"/>
            <a:ext cx="4846320" cy="566928"/>
          </a:xfrm>
          <a:prstGeom prst="rect">
            <a:avLst/>
          </a:prstGeom>
          <a:noFill/>
          <a:ln/>
        </p:spPr>
        <p:txBody>
          <a:bodyPr wrap="square" lIns="0" tIns="0" rIns="0" bIns="0" rtlCol="0" anchor="ctr"/>
          <a:lstStyle/>
          <a:p>
            <a:pPr indent="0" marL="0">
              <a:buNone/>
            </a:pPr>
            <a:r>
              <a:rPr lang="en-US" sz="2300" b="1" dirty="0">
                <a:solidFill>
                  <a:srgbClr val="14284B"/>
                </a:solidFill>
                <a:latin typeface="Arial" pitchFamily="34" charset="0"/>
                <a:ea typeface="Arial" pitchFamily="34" charset="-122"/>
                <a:cs typeface="Arial" pitchFamily="34" charset="-120"/>
              </a:rPr>
              <a:t>Batas Jumlah Perkara BHP</a:t>
            </a:r>
            <a:endParaRPr lang="en-US" sz="2300" dirty="0"/>
          </a:p>
        </p:txBody>
      </p:sp>
      <p:sp>
        <p:nvSpPr>
          <p:cNvPr id="9" name="Shape 7"/>
          <p:cNvSpPr/>
          <p:nvPr/>
        </p:nvSpPr>
        <p:spPr>
          <a:xfrm>
            <a:off x="548640" y="3099816"/>
            <a:ext cx="566928" cy="566928"/>
          </a:xfrm>
          <a:prstGeom prst="ellipse">
            <a:avLst/>
          </a:prstGeom>
          <a:solidFill>
            <a:srgbClr val="14284B"/>
          </a:solidFill>
          <a:ln w="12700">
            <a:solidFill>
              <a:srgbClr val="14284B"/>
            </a:solidFill>
            <a:prstDash val="solid"/>
          </a:ln>
        </p:spPr>
      </p:sp>
      <p:sp>
        <p:nvSpPr>
          <p:cNvPr id="10" name="Text 8"/>
          <p:cNvSpPr txBox="1"/>
          <p:nvPr/>
        </p:nvSpPr>
        <p:spPr>
          <a:xfrm>
            <a:off x="548640" y="30998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1" name="Text 9"/>
          <p:cNvSpPr txBox="1"/>
          <p:nvPr/>
        </p:nvSpPr>
        <p:spPr>
          <a:xfrm>
            <a:off x="1325880" y="3099816"/>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Kekosongan Rezim Profesi</a:t>
            </a:r>
            <a:endParaRPr lang="en-US" sz="2300" dirty="0"/>
          </a:p>
        </p:txBody>
      </p:sp>
      <p:sp>
        <p:nvSpPr>
          <p:cNvPr id="12" name="Shape 10"/>
          <p:cNvSpPr/>
          <p:nvPr/>
        </p:nvSpPr>
        <p:spPr>
          <a:xfrm>
            <a:off x="548640" y="3849624"/>
            <a:ext cx="566928" cy="566928"/>
          </a:xfrm>
          <a:prstGeom prst="ellipse">
            <a:avLst/>
          </a:prstGeom>
          <a:solidFill>
            <a:srgbClr val="14284B"/>
          </a:solidFill>
          <a:ln w="12700">
            <a:solidFill>
              <a:srgbClr val="14284B"/>
            </a:solidFill>
            <a:prstDash val="solid"/>
          </a:ln>
        </p:spPr>
      </p:sp>
      <p:sp>
        <p:nvSpPr>
          <p:cNvPr id="13" name="Text 11"/>
          <p:cNvSpPr txBox="1"/>
          <p:nvPr/>
        </p:nvSpPr>
        <p:spPr>
          <a:xfrm>
            <a:off x="548640" y="384962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14" name="Text 12"/>
          <p:cNvSpPr txBox="1"/>
          <p:nvPr/>
        </p:nvSpPr>
        <p:spPr>
          <a:xfrm>
            <a:off x="1325880" y="3849624"/>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Standar yang Terfragmentasi</a:t>
            </a:r>
            <a:endParaRPr lang="en-US" sz="2300" dirty="0"/>
          </a:p>
        </p:txBody>
      </p:sp>
      <p:sp>
        <p:nvSpPr>
          <p:cNvPr id="15" name="Shape 13"/>
          <p:cNvSpPr/>
          <p:nvPr/>
        </p:nvSpPr>
        <p:spPr>
          <a:xfrm>
            <a:off x="548640" y="4599432"/>
            <a:ext cx="566928" cy="566928"/>
          </a:xfrm>
          <a:prstGeom prst="ellipse">
            <a:avLst/>
          </a:prstGeom>
          <a:solidFill>
            <a:srgbClr val="14284B"/>
          </a:solidFill>
          <a:ln w="12700">
            <a:solidFill>
              <a:srgbClr val="14284B"/>
            </a:solidFill>
            <a:prstDash val="solid"/>
          </a:ln>
        </p:spPr>
      </p:sp>
      <p:sp>
        <p:nvSpPr>
          <p:cNvPr id="16" name="Text 14"/>
          <p:cNvSpPr txBox="1"/>
          <p:nvPr/>
        </p:nvSpPr>
        <p:spPr>
          <a:xfrm>
            <a:off x="548640" y="4599432"/>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17" name="Text 15"/>
          <p:cNvSpPr txBox="1"/>
          <p:nvPr/>
        </p:nvSpPr>
        <p:spPr>
          <a:xfrm>
            <a:off x="1325880" y="4599432"/>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Batas Perlindungan &amp; Tanggung Jawab</a:t>
            </a:r>
            <a:endParaRPr lang="en-US" sz="2300" dirty="0"/>
          </a:p>
        </p:txBody>
      </p:sp>
      <p:sp>
        <p:nvSpPr>
          <p:cNvPr id="18" name="Shape 16"/>
          <p:cNvSpPr/>
          <p:nvPr/>
        </p:nvSpPr>
        <p:spPr>
          <a:xfrm>
            <a:off x="548640" y="5349240"/>
            <a:ext cx="566928" cy="566928"/>
          </a:xfrm>
          <a:prstGeom prst="ellipse">
            <a:avLst/>
          </a:prstGeom>
          <a:solidFill>
            <a:srgbClr val="14284B"/>
          </a:solidFill>
          <a:ln w="12700">
            <a:solidFill>
              <a:srgbClr val="14284B"/>
            </a:solidFill>
            <a:prstDash val="solid"/>
          </a:ln>
        </p:spPr>
      </p:sp>
      <p:sp>
        <p:nvSpPr>
          <p:cNvPr id="19" name="Text 17"/>
          <p:cNvSpPr txBox="1"/>
          <p:nvPr/>
        </p:nvSpPr>
        <p:spPr>
          <a:xfrm>
            <a:off x="548640" y="534924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6</a:t>
            </a:r>
            <a:endParaRPr lang="en-US" sz="2200" dirty="0"/>
          </a:p>
        </p:txBody>
      </p:sp>
      <p:sp>
        <p:nvSpPr>
          <p:cNvPr id="20" name="Text 18"/>
          <p:cNvSpPr txBox="1"/>
          <p:nvPr/>
        </p:nvSpPr>
        <p:spPr>
          <a:xfrm>
            <a:off x="1325880" y="5349240"/>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Hambatan Pelaksanaan Tugas</a:t>
            </a:r>
            <a:endParaRPr lang="en-US" sz="2300" dirty="0"/>
          </a:p>
        </p:txBody>
      </p:sp>
      <p:sp>
        <p:nvSpPr>
          <p:cNvPr id="21" name="Shape 19"/>
          <p:cNvSpPr/>
          <p:nvPr/>
        </p:nvSpPr>
        <p:spPr>
          <a:xfrm>
            <a:off x="6263640" y="1600200"/>
            <a:ext cx="566928" cy="566928"/>
          </a:xfrm>
          <a:prstGeom prst="ellipse">
            <a:avLst/>
          </a:prstGeom>
          <a:solidFill>
            <a:srgbClr val="14284B"/>
          </a:solidFill>
          <a:ln w="12700">
            <a:solidFill>
              <a:srgbClr val="14284B"/>
            </a:solidFill>
            <a:prstDash val="solid"/>
          </a:ln>
        </p:spPr>
      </p:sp>
      <p:sp>
        <p:nvSpPr>
          <p:cNvPr id="22" name="Text 20"/>
          <p:cNvSpPr txBox="1"/>
          <p:nvPr/>
        </p:nvSpPr>
        <p:spPr>
          <a:xfrm>
            <a:off x="6263640" y="160020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7</a:t>
            </a:r>
            <a:endParaRPr lang="en-US" sz="2200" dirty="0"/>
          </a:p>
        </p:txBody>
      </p:sp>
      <p:sp>
        <p:nvSpPr>
          <p:cNvPr id="23" name="Text 21"/>
          <p:cNvSpPr txBox="1"/>
          <p:nvPr/>
        </p:nvSpPr>
        <p:spPr>
          <a:xfrm>
            <a:off x="7040880" y="1600200"/>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Akuntabilitas Pengelolaan Boedel</a:t>
            </a:r>
            <a:endParaRPr lang="en-US" sz="2300" dirty="0"/>
          </a:p>
        </p:txBody>
      </p:sp>
      <p:sp>
        <p:nvSpPr>
          <p:cNvPr id="24" name="Shape 22"/>
          <p:cNvSpPr/>
          <p:nvPr/>
        </p:nvSpPr>
        <p:spPr>
          <a:xfrm>
            <a:off x="6263640" y="2350008"/>
            <a:ext cx="566928" cy="566928"/>
          </a:xfrm>
          <a:prstGeom prst="ellipse">
            <a:avLst/>
          </a:prstGeom>
          <a:solidFill>
            <a:srgbClr val="14284B"/>
          </a:solidFill>
          <a:ln w="12700">
            <a:solidFill>
              <a:srgbClr val="14284B"/>
            </a:solidFill>
            <a:prstDash val="solid"/>
          </a:ln>
        </p:spPr>
      </p:sp>
      <p:sp>
        <p:nvSpPr>
          <p:cNvPr id="25" name="Text 23"/>
          <p:cNvSpPr txBox="1"/>
          <p:nvPr/>
        </p:nvSpPr>
        <p:spPr>
          <a:xfrm>
            <a:off x="6263640" y="235000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8</a:t>
            </a:r>
            <a:endParaRPr lang="en-US" sz="2200" dirty="0"/>
          </a:p>
        </p:txBody>
      </p:sp>
      <p:sp>
        <p:nvSpPr>
          <p:cNvPr id="26" name="Text 24"/>
          <p:cNvSpPr txBox="1"/>
          <p:nvPr/>
        </p:nvSpPr>
        <p:spPr>
          <a:xfrm>
            <a:off x="7040880" y="2350008"/>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Pengawasan yang Belum Terpadu</a:t>
            </a:r>
            <a:endParaRPr lang="en-US" sz="2300" dirty="0"/>
          </a:p>
        </p:txBody>
      </p:sp>
      <p:sp>
        <p:nvSpPr>
          <p:cNvPr id="27" name="Shape 25"/>
          <p:cNvSpPr/>
          <p:nvPr/>
        </p:nvSpPr>
        <p:spPr>
          <a:xfrm>
            <a:off x="6263640" y="3099816"/>
            <a:ext cx="566928" cy="566928"/>
          </a:xfrm>
          <a:prstGeom prst="ellipse">
            <a:avLst/>
          </a:prstGeom>
          <a:solidFill>
            <a:srgbClr val="14284B"/>
          </a:solidFill>
          <a:ln w="12700">
            <a:solidFill>
              <a:srgbClr val="14284B"/>
            </a:solidFill>
            <a:prstDash val="solid"/>
          </a:ln>
        </p:spPr>
      </p:sp>
      <p:sp>
        <p:nvSpPr>
          <p:cNvPr id="28" name="Text 26"/>
          <p:cNvSpPr txBox="1"/>
          <p:nvPr/>
        </p:nvSpPr>
        <p:spPr>
          <a:xfrm>
            <a:off x="6263640" y="3099816"/>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9</a:t>
            </a:r>
            <a:endParaRPr lang="en-US" sz="2200" dirty="0"/>
          </a:p>
        </p:txBody>
      </p:sp>
      <p:sp>
        <p:nvSpPr>
          <p:cNvPr id="29" name="Text 27"/>
          <p:cNvSpPr txBox="1"/>
          <p:nvPr/>
        </p:nvSpPr>
        <p:spPr>
          <a:xfrm>
            <a:off x="7040880" y="3099816"/>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Data yang Belum Optimal</a:t>
            </a:r>
            <a:endParaRPr lang="en-US" sz="2300" dirty="0"/>
          </a:p>
        </p:txBody>
      </p:sp>
      <p:sp>
        <p:nvSpPr>
          <p:cNvPr id="30" name="Shape 28"/>
          <p:cNvSpPr/>
          <p:nvPr/>
        </p:nvSpPr>
        <p:spPr>
          <a:xfrm>
            <a:off x="6263640" y="3849624"/>
            <a:ext cx="566928" cy="566928"/>
          </a:xfrm>
          <a:prstGeom prst="ellipse">
            <a:avLst/>
          </a:prstGeom>
          <a:solidFill>
            <a:srgbClr val="14284B"/>
          </a:solidFill>
          <a:ln w="12700">
            <a:solidFill>
              <a:srgbClr val="14284B"/>
            </a:solidFill>
            <a:prstDash val="solid"/>
          </a:ln>
        </p:spPr>
      </p:sp>
      <p:sp>
        <p:nvSpPr>
          <p:cNvPr id="31" name="Text 29"/>
          <p:cNvSpPr txBox="1"/>
          <p:nvPr/>
        </p:nvSpPr>
        <p:spPr>
          <a:xfrm>
            <a:off x="6263640" y="384962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10</a:t>
            </a:r>
            <a:endParaRPr lang="en-US" sz="2200" dirty="0"/>
          </a:p>
        </p:txBody>
      </p:sp>
      <p:sp>
        <p:nvSpPr>
          <p:cNvPr id="32" name="Text 30"/>
          <p:cNvSpPr txBox="1"/>
          <p:nvPr/>
        </p:nvSpPr>
        <p:spPr>
          <a:xfrm>
            <a:off x="7040880" y="3849624"/>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Imbalan dan Risiko Profesi</a:t>
            </a:r>
            <a:endParaRPr lang="en-US" sz="2300" dirty="0"/>
          </a:p>
        </p:txBody>
      </p:sp>
      <p:sp>
        <p:nvSpPr>
          <p:cNvPr id="33" name="Shape 31"/>
          <p:cNvSpPr/>
          <p:nvPr/>
        </p:nvSpPr>
        <p:spPr>
          <a:xfrm>
            <a:off x="6263640" y="4599432"/>
            <a:ext cx="566928" cy="566928"/>
          </a:xfrm>
          <a:prstGeom prst="ellipse">
            <a:avLst/>
          </a:prstGeom>
          <a:solidFill>
            <a:srgbClr val="14284B"/>
          </a:solidFill>
          <a:ln w="12700">
            <a:solidFill>
              <a:srgbClr val="14284B"/>
            </a:solidFill>
            <a:prstDash val="solid"/>
          </a:ln>
        </p:spPr>
      </p:sp>
      <p:sp>
        <p:nvSpPr>
          <p:cNvPr id="34" name="Text 32"/>
          <p:cNvSpPr txBox="1"/>
          <p:nvPr/>
        </p:nvSpPr>
        <p:spPr>
          <a:xfrm>
            <a:off x="6263640" y="4599432"/>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11</a:t>
            </a:r>
            <a:endParaRPr lang="en-US" sz="2200" dirty="0"/>
          </a:p>
        </p:txBody>
      </p:sp>
      <p:sp>
        <p:nvSpPr>
          <p:cNvPr id="35" name="Text 33"/>
          <p:cNvSpPr txBox="1"/>
          <p:nvPr/>
        </p:nvSpPr>
        <p:spPr>
          <a:xfrm>
            <a:off x="7040880" y="4599432"/>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Kepailitan Lintas Batas</a:t>
            </a:r>
            <a:endParaRPr lang="en-US" sz="2300" dirty="0"/>
          </a:p>
        </p:txBody>
      </p:sp>
      <p:sp>
        <p:nvSpPr>
          <p:cNvPr id="36" name="Shape 34"/>
          <p:cNvSpPr/>
          <p:nvPr/>
        </p:nvSpPr>
        <p:spPr>
          <a:xfrm>
            <a:off x="6263640" y="5349240"/>
            <a:ext cx="566928" cy="566928"/>
          </a:xfrm>
          <a:prstGeom prst="ellipse">
            <a:avLst/>
          </a:prstGeom>
          <a:solidFill>
            <a:srgbClr val="14284B"/>
          </a:solidFill>
          <a:ln w="12700">
            <a:solidFill>
              <a:srgbClr val="14284B"/>
            </a:solidFill>
            <a:prstDash val="solid"/>
          </a:ln>
        </p:spPr>
      </p:sp>
      <p:sp>
        <p:nvSpPr>
          <p:cNvPr id="37" name="Text 35"/>
          <p:cNvSpPr txBox="1"/>
          <p:nvPr/>
        </p:nvSpPr>
        <p:spPr>
          <a:xfrm>
            <a:off x="6263640" y="534924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12</a:t>
            </a:r>
            <a:endParaRPr lang="en-US" sz="2200" dirty="0"/>
          </a:p>
        </p:txBody>
      </p:sp>
      <p:sp>
        <p:nvSpPr>
          <p:cNvPr id="38" name="Text 36"/>
          <p:cNvSpPr txBox="1"/>
          <p:nvPr/>
        </p:nvSpPr>
        <p:spPr>
          <a:xfrm>
            <a:off x="7040880" y="5349240"/>
            <a:ext cx="4846320" cy="566928"/>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Perlindungan Pihak Terdampak</a:t>
            </a:r>
            <a:endParaRPr lang="en-US" sz="2300" dirty="0"/>
          </a:p>
        </p:txBody>
      </p:sp>
      <p:sp>
        <p:nvSpPr>
          <p:cNvPr id="39" name="Text 37"/>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40" name="Text 38"/>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BHP sebagai Pengurus PKPU: Masalahnya</a:t>
            </a:r>
            <a:endParaRPr lang="en-US" sz="3600" dirty="0"/>
          </a:p>
        </p:txBody>
      </p:sp>
      <p:sp>
        <p:nvSpPr>
          <p:cNvPr id="5" name="Shape 3"/>
          <p:cNvSpPr/>
          <p:nvPr/>
        </p:nvSpPr>
        <p:spPr>
          <a:xfrm>
            <a:off x="548640" y="1645920"/>
            <a:ext cx="5349240" cy="3200400"/>
          </a:xfrm>
          <a:prstGeom prst="roundRect">
            <a:avLst>
              <a:gd name="adj" fmla="val 3429"/>
            </a:avLst>
          </a:prstGeom>
          <a:solidFill>
            <a:srgbClr val="14284B"/>
          </a:solidFill>
          <a:ln w="12700">
            <a:solidFill>
              <a:srgbClr val="14284B"/>
            </a:solidFill>
            <a:prstDash val="solid"/>
          </a:ln>
        </p:spPr>
      </p:sp>
      <p:sp>
        <p:nvSpPr>
          <p:cNvPr id="6" name="Text 4"/>
          <p:cNvSpPr txBox="1"/>
          <p:nvPr/>
        </p:nvSpPr>
        <p:spPr>
          <a:xfrm>
            <a:off x="868680" y="1783080"/>
            <a:ext cx="4754880" cy="594360"/>
          </a:xfrm>
          <a:prstGeom prst="rect">
            <a:avLst/>
          </a:prstGeom>
          <a:noFill/>
          <a:ln/>
        </p:spPr>
        <p:txBody>
          <a:bodyPr wrap="square" lIns="0" tIns="0" rIns="0" bIns="0" rtlCol="0" anchor="t"/>
          <a:lstStyle/>
          <a:p>
            <a:pPr indent="0" marL="0">
              <a:buNone/>
            </a:pPr>
            <a:r>
              <a:rPr lang="en-US" sz="2800" b="1" dirty="0">
                <a:solidFill>
                  <a:srgbClr val="E0A526"/>
                </a:solidFill>
                <a:latin typeface="Arial" pitchFamily="34" charset="0"/>
                <a:ea typeface="Arial" pitchFamily="34" charset="-122"/>
                <a:cs typeface="Arial" pitchFamily="34" charset="-120"/>
              </a:rPr>
              <a:t>KEPAILITAN</a:t>
            </a:r>
            <a:endParaRPr lang="en-US" sz="2800" dirty="0"/>
          </a:p>
        </p:txBody>
      </p:sp>
      <p:sp>
        <p:nvSpPr>
          <p:cNvPr id="7" name="Text 5"/>
          <p:cNvSpPr txBox="1"/>
          <p:nvPr/>
        </p:nvSpPr>
        <p:spPr>
          <a:xfrm>
            <a:off x="868680" y="2468880"/>
            <a:ext cx="4754880" cy="2286000"/>
          </a:xfrm>
          <a:prstGeom prst="rect">
            <a:avLst/>
          </a:prstGeom>
          <a:noFill/>
          <a:ln/>
        </p:spPr>
        <p:txBody>
          <a:bodyPr wrap="square" lIns="0" tIns="0" rIns="0" bIns="0" rtlCol="0" anchor="t"/>
          <a:lstStyle/>
          <a:p>
            <a:pPr marL="381000" indent="-381000">
              <a:spcAft>
                <a:spcPts val="1400"/>
              </a:spcAft>
              <a:buSzPct val="100000"/>
              <a:buChar char="•"/>
            </a:pPr>
            <a:r>
              <a:rPr lang="en-US" sz="2400" dirty="0">
                <a:solidFill>
                  <a:srgbClr val="FFFFFF"/>
                </a:solidFill>
                <a:latin typeface="Arial" pitchFamily="34" charset="0"/>
                <a:ea typeface="Arial" pitchFamily="34" charset="-122"/>
                <a:cs typeface="Arial" pitchFamily="34" charset="-120"/>
              </a:rPr>
              <a:t>BHP disebut tegas sebagai kurator</a:t>
            </a:r>
            <a:endParaRPr lang="en-US" sz="2400" dirty="0"/>
          </a:p>
          <a:p>
            <a:pPr marL="381000" indent="-381000">
              <a:spcAft>
                <a:spcPts val="1400"/>
              </a:spcAft>
              <a:buSzPct val="100000"/>
              <a:buChar char="•"/>
            </a:pPr>
            <a:r>
              <a:rPr lang="en-US" sz="2400" dirty="0">
                <a:solidFill>
                  <a:srgbClr val="FFFFFF"/>
                </a:solidFill>
                <a:latin typeface="Arial" pitchFamily="34" charset="0"/>
                <a:ea typeface="Arial" pitchFamily="34" charset="-122"/>
                <a:cs typeface="Arial" pitchFamily="34" charset="-120"/>
              </a:rPr>
              <a:t>BHP ditunjuk UU bila tidak ada usul kurator</a:t>
            </a:r>
            <a:endParaRPr lang="en-US" sz="2400" dirty="0"/>
          </a:p>
        </p:txBody>
      </p:sp>
      <p:sp>
        <p:nvSpPr>
          <p:cNvPr id="8" name="Shape 6"/>
          <p:cNvSpPr/>
          <p:nvPr/>
        </p:nvSpPr>
        <p:spPr>
          <a:xfrm>
            <a:off x="6263640" y="1645920"/>
            <a:ext cx="5349240" cy="3200400"/>
          </a:xfrm>
          <a:prstGeom prst="roundRect">
            <a:avLst>
              <a:gd name="adj" fmla="val 3429"/>
            </a:avLst>
          </a:prstGeom>
          <a:solidFill>
            <a:srgbClr val="EEF2F8"/>
          </a:solidFill>
          <a:ln w="12700">
            <a:solidFill>
              <a:srgbClr val="EEF2F8"/>
            </a:solidFill>
            <a:prstDash val="solid"/>
          </a:ln>
        </p:spPr>
      </p:sp>
      <p:sp>
        <p:nvSpPr>
          <p:cNvPr id="9" name="Text 7"/>
          <p:cNvSpPr txBox="1"/>
          <p:nvPr/>
        </p:nvSpPr>
        <p:spPr>
          <a:xfrm>
            <a:off x="6583680" y="1783080"/>
            <a:ext cx="4754880" cy="594360"/>
          </a:xfrm>
          <a:prstGeom prst="rect">
            <a:avLst/>
          </a:prstGeom>
          <a:noFill/>
          <a:ln/>
        </p:spPr>
        <p:txBody>
          <a:bodyPr wrap="square" lIns="0" tIns="0" rIns="0" bIns="0" rtlCol="0" anchor="t"/>
          <a:lstStyle/>
          <a:p>
            <a:pPr indent="0" marL="0">
              <a:buNone/>
            </a:pPr>
            <a:r>
              <a:rPr lang="en-US" sz="2800" b="1" dirty="0">
                <a:solidFill>
                  <a:srgbClr val="14284B"/>
                </a:solidFill>
                <a:latin typeface="Arial" pitchFamily="34" charset="0"/>
                <a:ea typeface="Arial" pitchFamily="34" charset="-122"/>
                <a:cs typeface="Arial" pitchFamily="34" charset="-120"/>
              </a:rPr>
              <a:t>PKPU</a:t>
            </a:r>
            <a:endParaRPr lang="en-US" sz="2800" dirty="0"/>
          </a:p>
        </p:txBody>
      </p:sp>
      <p:sp>
        <p:nvSpPr>
          <p:cNvPr id="10" name="Text 8"/>
          <p:cNvSpPr txBox="1"/>
          <p:nvPr/>
        </p:nvSpPr>
        <p:spPr>
          <a:xfrm>
            <a:off x="6583680" y="2468880"/>
            <a:ext cx="4754880" cy="2286000"/>
          </a:xfrm>
          <a:prstGeom prst="rect">
            <a:avLst/>
          </a:prstGeom>
          <a:noFill/>
          <a:ln/>
        </p:spPr>
        <p:txBody>
          <a:bodyPr wrap="square" lIns="0" tIns="0" rIns="0" bIns="0" rtlCol="0" anchor="t"/>
          <a:lstStyle/>
          <a:p>
            <a:pPr marL="381000" indent="-381000">
              <a:spcAft>
                <a:spcPts val="1400"/>
              </a:spcAft>
              <a:buSzPct val="100000"/>
              <a:buChar char="•"/>
            </a:pPr>
            <a:r>
              <a:rPr lang="en-US" sz="2400" dirty="0">
                <a:solidFill>
                  <a:srgbClr val="14284B"/>
                </a:solidFill>
                <a:latin typeface="Arial" pitchFamily="34" charset="0"/>
                <a:ea typeface="Arial" pitchFamily="34" charset="-122"/>
                <a:cs typeface="Arial" pitchFamily="34" charset="-120"/>
              </a:rPr>
              <a:t>Pasal 234 ayat (3) hanya menyebut orang perseorangan</a:t>
            </a:r>
            <a:endParaRPr lang="en-US" sz="2400" dirty="0"/>
          </a:p>
          <a:p>
            <a:pPr marL="381000" indent="-381000">
              <a:spcAft>
                <a:spcPts val="1400"/>
              </a:spcAft>
              <a:buSzPct val="100000"/>
              <a:buChar char="•"/>
            </a:pPr>
            <a:r>
              <a:rPr lang="en-US" sz="2400" dirty="0">
                <a:solidFill>
                  <a:srgbClr val="14284B"/>
                </a:solidFill>
                <a:latin typeface="Arial" pitchFamily="34" charset="0"/>
                <a:ea typeface="Arial" pitchFamily="34" charset="-122"/>
                <a:cs typeface="Arial" pitchFamily="34" charset="-120"/>
              </a:rPr>
              <a:t>Tidak ada pengurus yang ditunjuk UU</a:t>
            </a:r>
            <a:endParaRPr lang="en-US" sz="2400" dirty="0"/>
          </a:p>
        </p:txBody>
      </p:sp>
      <p:sp>
        <p:nvSpPr>
          <p:cNvPr id="11" name="Text 9"/>
          <p:cNvSpPr txBox="1"/>
          <p:nvPr/>
        </p:nvSpPr>
        <p:spPr>
          <a:xfrm>
            <a:off x="548640" y="5029200"/>
            <a:ext cx="11064240" cy="118872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Celah hukum: </a:t>
            </a:r>
            <a:pPr indent="0" marL="0">
              <a:buNone/>
            </a:pPr>
            <a:r>
              <a:rPr lang="en-US" sz="2200" dirty="0">
                <a:solidFill>
                  <a:srgbClr val="1A1A1A"/>
                </a:solidFill>
                <a:latin typeface="Arial" pitchFamily="34" charset="0"/>
                <a:ea typeface="Arial" pitchFamily="34" charset="-122"/>
                <a:cs typeface="Arial" pitchFamily="34" charset="-120"/>
              </a:rPr>
              <a:t>PKPU sementara wajib dikabulkan dalam 3 hari (Debitor) / 20 hari (Kreditor) dan pengurus harus diangkat — tetapi UU tidak mengatur siapa pengurusnya bila tidak ada usul.</a:t>
            </a:r>
            <a:endParaRPr lang="en-US" sz="2200" dirty="0"/>
          </a:p>
        </p:txBody>
      </p:sp>
      <p:sp>
        <p:nvSpPr>
          <p:cNvPr id="12" name="Text 10"/>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3" name="Text 11"/>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Mengapa BHP Layak Menjadi Pengurus</a:t>
            </a:r>
            <a:endParaRPr lang="en-US" sz="3600" dirty="0"/>
          </a:p>
        </p:txBody>
      </p:sp>
      <p:sp>
        <p:nvSpPr>
          <p:cNvPr id="5" name="Shape 3"/>
          <p:cNvSpPr/>
          <p:nvPr/>
        </p:nvSpPr>
        <p:spPr>
          <a:xfrm>
            <a:off x="548640" y="1709928"/>
            <a:ext cx="566928" cy="566928"/>
          </a:xfrm>
          <a:prstGeom prst="ellipse">
            <a:avLst/>
          </a:prstGeom>
          <a:solidFill>
            <a:srgbClr val="14284B"/>
          </a:solidFill>
          <a:ln w="12700">
            <a:solidFill>
              <a:srgbClr val="14284B"/>
            </a:solidFill>
            <a:prstDash val="solid"/>
          </a:ln>
        </p:spPr>
      </p:sp>
      <p:sp>
        <p:nvSpPr>
          <p:cNvPr id="6" name="Text 4"/>
          <p:cNvSpPr txBox="1"/>
          <p:nvPr/>
        </p:nvSpPr>
        <p:spPr>
          <a:xfrm>
            <a:off x="548640" y="170992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7" name="Text 5"/>
          <p:cNvSpPr txBox="1"/>
          <p:nvPr/>
        </p:nvSpPr>
        <p:spPr>
          <a:xfrm>
            <a:off x="1325880" y="1600200"/>
            <a:ext cx="10332720" cy="78638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Menutup celah hukum</a:t>
            </a:r>
            <a:pPr indent="0" marL="0">
              <a:buNone/>
            </a:pPr>
            <a:r>
              <a:rPr lang="en-US" sz="2400" dirty="0">
                <a:solidFill>
                  <a:srgbClr val="1A1A1A"/>
                </a:solidFill>
                <a:latin typeface="Arial" pitchFamily="34" charset="0"/>
                <a:ea typeface="Arial" pitchFamily="34" charset="-122"/>
                <a:cs typeface="Arial" pitchFamily="34" charset="-120"/>
              </a:rPr>
              <a:t>  —  pola Pasal 15 ayat (2) yang sudah teruji</a:t>
            </a:r>
            <a:endParaRPr lang="en-US" sz="2400" dirty="0"/>
          </a:p>
        </p:txBody>
      </p:sp>
      <p:sp>
        <p:nvSpPr>
          <p:cNvPr id="8" name="Shape 6"/>
          <p:cNvSpPr/>
          <p:nvPr/>
        </p:nvSpPr>
        <p:spPr>
          <a:xfrm>
            <a:off x="548640" y="2624328"/>
            <a:ext cx="566928" cy="566928"/>
          </a:xfrm>
          <a:prstGeom prst="ellipse">
            <a:avLst/>
          </a:prstGeom>
          <a:solidFill>
            <a:srgbClr val="14284B"/>
          </a:solidFill>
          <a:ln w="12700">
            <a:solidFill>
              <a:srgbClr val="14284B"/>
            </a:solidFill>
            <a:prstDash val="solid"/>
          </a:ln>
        </p:spPr>
      </p:sp>
      <p:sp>
        <p:nvSpPr>
          <p:cNvPr id="9" name="Text 7"/>
          <p:cNvSpPr txBox="1"/>
          <p:nvPr/>
        </p:nvSpPr>
        <p:spPr>
          <a:xfrm>
            <a:off x="548640" y="262432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0" name="Text 8"/>
          <p:cNvSpPr txBox="1"/>
          <p:nvPr/>
        </p:nvSpPr>
        <p:spPr>
          <a:xfrm>
            <a:off x="1325880" y="2514600"/>
            <a:ext cx="10332720" cy="78638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Mampu tugas berat, pasti mampu tugas ringan</a:t>
            </a:r>
            <a:pPr indent="0" marL="0">
              <a:buNone/>
            </a:pPr>
            <a:r>
              <a:rPr lang="en-US" sz="2400" dirty="0">
                <a:solidFill>
                  <a:srgbClr val="1A1A1A"/>
                </a:solidFill>
                <a:latin typeface="Arial" pitchFamily="34" charset="0"/>
                <a:ea typeface="Arial" pitchFamily="34" charset="-122"/>
                <a:cs typeface="Arial" pitchFamily="34" charset="-120"/>
              </a:rPr>
              <a:t>  —  kurator lebih luas dari pengurus</a:t>
            </a:r>
            <a:endParaRPr lang="en-US" sz="2400" dirty="0"/>
          </a:p>
        </p:txBody>
      </p:sp>
      <p:sp>
        <p:nvSpPr>
          <p:cNvPr id="11" name="Shape 9"/>
          <p:cNvSpPr/>
          <p:nvPr/>
        </p:nvSpPr>
        <p:spPr>
          <a:xfrm>
            <a:off x="548640" y="3538728"/>
            <a:ext cx="566928" cy="566928"/>
          </a:xfrm>
          <a:prstGeom prst="ellipse">
            <a:avLst/>
          </a:prstGeom>
          <a:solidFill>
            <a:srgbClr val="14284B"/>
          </a:solidFill>
          <a:ln w="12700">
            <a:solidFill>
              <a:srgbClr val="14284B"/>
            </a:solidFill>
            <a:prstDash val="solid"/>
          </a:ln>
        </p:spPr>
      </p:sp>
      <p:sp>
        <p:nvSpPr>
          <p:cNvPr id="12" name="Text 10"/>
          <p:cNvSpPr txBox="1"/>
          <p:nvPr/>
        </p:nvSpPr>
        <p:spPr>
          <a:xfrm>
            <a:off x="548640" y="353872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3" name="Text 11"/>
          <p:cNvSpPr txBox="1"/>
          <p:nvPr/>
        </p:nvSpPr>
        <p:spPr>
          <a:xfrm>
            <a:off x="1325880" y="3429000"/>
            <a:ext cx="10332720" cy="78638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Netral dan independen</a:t>
            </a:r>
            <a:pPr indent="0" marL="0">
              <a:buNone/>
            </a:pPr>
            <a:r>
              <a:rPr lang="en-US" sz="2400" dirty="0">
                <a:solidFill>
                  <a:srgbClr val="1A1A1A"/>
                </a:solidFill>
                <a:latin typeface="Arial" pitchFamily="34" charset="0"/>
                <a:ea typeface="Arial" pitchFamily="34" charset="-122"/>
                <a:cs typeface="Arial" pitchFamily="34" charset="-120"/>
              </a:rPr>
              <a:t>  —  imbalan BHP masuk kas negara (PNBP)</a:t>
            </a:r>
            <a:endParaRPr lang="en-US" sz="2400" dirty="0"/>
          </a:p>
        </p:txBody>
      </p:sp>
      <p:sp>
        <p:nvSpPr>
          <p:cNvPr id="14" name="Shape 12"/>
          <p:cNvSpPr/>
          <p:nvPr/>
        </p:nvSpPr>
        <p:spPr>
          <a:xfrm>
            <a:off x="548640" y="4453128"/>
            <a:ext cx="566928" cy="566928"/>
          </a:xfrm>
          <a:prstGeom prst="ellipse">
            <a:avLst/>
          </a:prstGeom>
          <a:solidFill>
            <a:srgbClr val="14284B"/>
          </a:solidFill>
          <a:ln w="12700">
            <a:solidFill>
              <a:srgbClr val="14284B"/>
            </a:solidFill>
            <a:prstDash val="solid"/>
          </a:ln>
        </p:spPr>
      </p:sp>
      <p:sp>
        <p:nvSpPr>
          <p:cNvPr id="15" name="Text 13"/>
          <p:cNvSpPr txBox="1"/>
          <p:nvPr/>
        </p:nvSpPr>
        <p:spPr>
          <a:xfrm>
            <a:off x="548640" y="445312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16" name="Text 14"/>
          <p:cNvSpPr txBox="1"/>
          <p:nvPr/>
        </p:nvSpPr>
        <p:spPr>
          <a:xfrm>
            <a:off x="1325880" y="4343400"/>
            <a:ext cx="10332720" cy="78638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Berkesinambungan</a:t>
            </a:r>
            <a:pPr indent="0" marL="0">
              <a:buNone/>
            </a:pPr>
            <a:r>
              <a:rPr lang="en-US" sz="2400" dirty="0">
                <a:solidFill>
                  <a:srgbClr val="1A1A1A"/>
                </a:solidFill>
                <a:latin typeface="Arial" pitchFamily="34" charset="0"/>
                <a:ea typeface="Arial" pitchFamily="34" charset="-122"/>
                <a:cs typeface="Arial" pitchFamily="34" charset="-120"/>
              </a:rPr>
              <a:t>  —  dari PKPU ke pailit: lebih cepat, lebih hemat</a:t>
            </a:r>
            <a:endParaRPr lang="en-US" sz="2400" dirty="0"/>
          </a:p>
        </p:txBody>
      </p:sp>
      <p:sp>
        <p:nvSpPr>
          <p:cNvPr id="17" name="Shape 15"/>
          <p:cNvSpPr/>
          <p:nvPr/>
        </p:nvSpPr>
        <p:spPr>
          <a:xfrm>
            <a:off x="548640" y="5367528"/>
            <a:ext cx="566928" cy="566928"/>
          </a:xfrm>
          <a:prstGeom prst="ellipse">
            <a:avLst/>
          </a:prstGeom>
          <a:solidFill>
            <a:srgbClr val="14284B"/>
          </a:solidFill>
          <a:ln w="12700">
            <a:solidFill>
              <a:srgbClr val="14284B"/>
            </a:solidFill>
            <a:prstDash val="solid"/>
          </a:ln>
        </p:spPr>
      </p:sp>
      <p:sp>
        <p:nvSpPr>
          <p:cNvPr id="18" name="Text 16"/>
          <p:cNvSpPr txBox="1"/>
          <p:nvPr/>
        </p:nvSpPr>
        <p:spPr>
          <a:xfrm>
            <a:off x="548640" y="5367528"/>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19" name="Text 17"/>
          <p:cNvSpPr txBox="1"/>
          <p:nvPr/>
        </p:nvSpPr>
        <p:spPr>
          <a:xfrm>
            <a:off x="1325880" y="5257800"/>
            <a:ext cx="10332720" cy="786384"/>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Kewenangan harus tegas dalam UU</a:t>
            </a:r>
            <a:pPr indent="0" marL="0">
              <a:buNone/>
            </a:pPr>
            <a:r>
              <a:rPr lang="en-US" sz="2400" dirty="0">
                <a:solidFill>
                  <a:srgbClr val="1A1A1A"/>
                </a:solidFill>
                <a:latin typeface="Arial" pitchFamily="34" charset="0"/>
                <a:ea typeface="Arial" pitchFamily="34" charset="-122"/>
                <a:cs typeface="Arial" pitchFamily="34" charset="-120"/>
              </a:rPr>
              <a:t>  —  badan pemerintah butuh atribusi (UU 30/2014)</a:t>
            </a:r>
            <a:endParaRPr lang="en-US" sz="2400" dirty="0"/>
          </a:p>
        </p:txBody>
      </p:sp>
      <p:sp>
        <p:nvSpPr>
          <p:cNvPr id="20" name="Text 18"/>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21" name="Text 19"/>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Usulan Pengaturan</a:t>
            </a:r>
            <a:endParaRPr lang="en-US" sz="3600" dirty="0"/>
          </a:p>
        </p:txBody>
      </p:sp>
      <p:sp>
        <p:nvSpPr>
          <p:cNvPr id="5" name="Shape 3"/>
          <p:cNvSpPr/>
          <p:nvPr/>
        </p:nvSpPr>
        <p:spPr>
          <a:xfrm>
            <a:off x="548640" y="1645920"/>
            <a:ext cx="11064240" cy="1234440"/>
          </a:xfrm>
          <a:prstGeom prst="roundRect">
            <a:avLst>
              <a:gd name="adj" fmla="val 8889"/>
            </a:avLst>
          </a:prstGeom>
          <a:solidFill>
            <a:srgbClr val="14284B"/>
          </a:solidFill>
          <a:ln w="12700">
            <a:solidFill>
              <a:srgbClr val="14284B"/>
            </a:solidFill>
            <a:prstDash val="solid"/>
          </a:ln>
        </p:spPr>
      </p:sp>
      <p:sp>
        <p:nvSpPr>
          <p:cNvPr id="6" name="Text 4"/>
          <p:cNvSpPr txBox="1"/>
          <p:nvPr/>
        </p:nvSpPr>
        <p:spPr>
          <a:xfrm>
            <a:off x="868680" y="1645920"/>
            <a:ext cx="10424160" cy="12344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Pengurus PKPU terdiri atas:  </a:t>
            </a:r>
            <a:pPr indent="0" marL="0">
              <a:buNone/>
            </a:pPr>
            <a:r>
              <a:rPr lang="en-US" sz="3000" b="1" dirty="0">
                <a:solidFill>
                  <a:srgbClr val="E0A526"/>
                </a:solidFill>
                <a:latin typeface="Arial" pitchFamily="34" charset="0"/>
                <a:ea typeface="Arial" pitchFamily="34" charset="-122"/>
                <a:cs typeface="Arial" pitchFamily="34" charset="-120"/>
              </a:rPr>
              <a:t>BHP  dan  Pengurus Swasta</a:t>
            </a:r>
            <a:endParaRPr lang="en-US" sz="3000" dirty="0"/>
          </a:p>
        </p:txBody>
      </p:sp>
      <p:sp>
        <p:nvSpPr>
          <p:cNvPr id="7" name="Text 5"/>
          <p:cNvSpPr txBox="1"/>
          <p:nvPr/>
        </p:nvSpPr>
        <p:spPr>
          <a:xfrm>
            <a:off x="548640" y="3154680"/>
            <a:ext cx="11064240" cy="3017520"/>
          </a:xfrm>
          <a:prstGeom prst="rect">
            <a:avLst/>
          </a:prstGeom>
          <a:noFill/>
          <a:ln/>
        </p:spPr>
        <p:txBody>
          <a:bodyPr wrap="square" lIns="0" tIns="0" rIns="0" bIns="0" rtlCol="0" anchor="t"/>
          <a:lstStyle/>
          <a:p>
            <a:pPr marL="381000" indent="-381000">
              <a:spcAft>
                <a:spcPts val="1400"/>
              </a:spcAft>
              <a:buSzPct val="100000"/>
              <a:buChar char="•"/>
            </a:pPr>
            <a:r>
              <a:rPr lang="en-US" sz="2600" dirty="0">
                <a:solidFill>
                  <a:srgbClr val="1A1A1A"/>
                </a:solidFill>
                <a:latin typeface="Arial" pitchFamily="34" charset="0"/>
                <a:ea typeface="Arial" pitchFamily="34" charset="-122"/>
                <a:cs typeface="Arial" pitchFamily="34" charset="-120"/>
              </a:rPr>
              <a:t>BHP diangkat bila tidak ada usul pengurus, atau pengurus yang diusulkan tidak memenuhi syarat</a:t>
            </a:r>
            <a:endParaRPr lang="en-US" sz="2600" dirty="0"/>
          </a:p>
          <a:p>
            <a:pPr marL="381000" indent="-381000">
              <a:spcAft>
                <a:spcPts val="1400"/>
              </a:spcAft>
              <a:buSzPct val="100000"/>
              <a:buChar char="•"/>
            </a:pPr>
            <a:r>
              <a:rPr lang="en-US" sz="2600" dirty="0">
                <a:solidFill>
                  <a:srgbClr val="1A1A1A"/>
                </a:solidFill>
                <a:latin typeface="Arial" pitchFamily="34" charset="0"/>
                <a:ea typeface="Arial" pitchFamily="34" charset="-122"/>
                <a:cs typeface="Arial" pitchFamily="34" charset="-120"/>
              </a:rPr>
              <a:t>Berlaku sepanjang BHP masih punya tim yang belum penuh</a:t>
            </a:r>
            <a:endParaRPr lang="en-US" sz="2600" dirty="0"/>
          </a:p>
          <a:p>
            <a:pPr marL="381000" indent="-381000">
              <a:spcAft>
                <a:spcPts val="1400"/>
              </a:spcAft>
              <a:buSzPct val="100000"/>
              <a:buChar char="•"/>
            </a:pPr>
            <a:r>
              <a:rPr lang="en-US" sz="2600" dirty="0">
                <a:solidFill>
                  <a:srgbClr val="1A1A1A"/>
                </a:solidFill>
                <a:latin typeface="Arial" pitchFamily="34" charset="0"/>
                <a:ea typeface="Arial" pitchFamily="34" charset="-122"/>
                <a:cs typeface="Arial" pitchFamily="34" charset="-120"/>
              </a:rPr>
              <a:t>Bila semua tim penuh, Pengadilan mengangkat Pengurus Swasta</a:t>
            </a:r>
            <a:endParaRPr lang="en-US" sz="2600" dirty="0"/>
          </a:p>
          <a:p>
            <a:pPr marL="381000" indent="-381000">
              <a:spcAft>
                <a:spcPts val="1400"/>
              </a:spcAft>
              <a:buSzPct val="100000"/>
              <a:buChar char="•"/>
            </a:pPr>
            <a:r>
              <a:rPr lang="en-US" sz="2600" dirty="0">
                <a:solidFill>
                  <a:srgbClr val="1A1A1A"/>
                </a:solidFill>
                <a:latin typeface="Arial" pitchFamily="34" charset="0"/>
                <a:ea typeface="Arial" pitchFamily="34" charset="-122"/>
                <a:cs typeface="Arial" pitchFamily="34" charset="-120"/>
              </a:rPr>
              <a:t>Perkara PKPU dihitung dalam batas jumlah perkara BHP</a:t>
            </a:r>
            <a:endParaRPr lang="en-US" sz="2600" dirty="0"/>
          </a:p>
        </p:txBody>
      </p:sp>
      <p:sp>
        <p:nvSpPr>
          <p:cNvPr id="8" name="Text 6"/>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9" name="Text 7"/>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Batas Jumlah Perkara Berlaku bagi BHP</a:t>
            </a:r>
            <a:endParaRPr lang="en-US" sz="3600" dirty="0"/>
          </a:p>
        </p:txBody>
      </p:sp>
      <p:sp>
        <p:nvSpPr>
          <p:cNvPr id="5" name="Shape 3"/>
          <p:cNvSpPr/>
          <p:nvPr/>
        </p:nvSpPr>
        <p:spPr>
          <a:xfrm>
            <a:off x="548640" y="1645920"/>
            <a:ext cx="3474720" cy="2651760"/>
          </a:xfrm>
          <a:prstGeom prst="roundRect">
            <a:avLst>
              <a:gd name="adj" fmla="val 4138"/>
            </a:avLst>
          </a:prstGeom>
          <a:solidFill>
            <a:srgbClr val="EEF2F8"/>
          </a:solidFill>
          <a:ln w="12700">
            <a:solidFill>
              <a:srgbClr val="EEF2F8"/>
            </a:solidFill>
            <a:prstDash val="solid"/>
          </a:ln>
        </p:spPr>
      </p:sp>
      <p:sp>
        <p:nvSpPr>
          <p:cNvPr id="6" name="Text 4"/>
          <p:cNvSpPr txBox="1"/>
          <p:nvPr/>
        </p:nvSpPr>
        <p:spPr>
          <a:xfrm>
            <a:off x="548640" y="1737360"/>
            <a:ext cx="3474720" cy="128016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7" name="Text 5"/>
          <p:cNvSpPr txBox="1"/>
          <p:nvPr/>
        </p:nvSpPr>
        <p:spPr>
          <a:xfrm>
            <a:off x="731520" y="3063240"/>
            <a:ext cx="3108960" cy="109728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pejabat Kurator Keperdataan</a:t>
            </a:r>
            <a:endParaRPr lang="en-US" sz="2200" dirty="0"/>
          </a:p>
          <a:p>
            <a:pPr algn="ctr" indent="0" marL="0">
              <a:buNone/>
            </a:pPr>
            <a:r>
              <a:rPr lang="en-US" sz="2200" dirty="0">
                <a:solidFill>
                  <a:srgbClr val="1A1A1A"/>
                </a:solidFill>
                <a:latin typeface="Arial" pitchFamily="34" charset="0"/>
                <a:ea typeface="Arial" pitchFamily="34" charset="-122"/>
                <a:cs typeface="Arial" pitchFamily="34" charset="-120"/>
              </a:rPr>
              <a:t>dalam 1 tim</a:t>
            </a:r>
            <a:endParaRPr lang="en-US" sz="2200" dirty="0"/>
          </a:p>
        </p:txBody>
      </p:sp>
      <p:sp>
        <p:nvSpPr>
          <p:cNvPr id="8" name="Shape 6"/>
          <p:cNvSpPr/>
          <p:nvPr/>
        </p:nvSpPr>
        <p:spPr>
          <a:xfrm>
            <a:off x="4297680" y="1645920"/>
            <a:ext cx="3474720" cy="2651760"/>
          </a:xfrm>
          <a:prstGeom prst="roundRect">
            <a:avLst>
              <a:gd name="adj" fmla="val 4138"/>
            </a:avLst>
          </a:prstGeom>
          <a:solidFill>
            <a:srgbClr val="EEF2F8"/>
          </a:solidFill>
          <a:ln w="12700">
            <a:solidFill>
              <a:srgbClr val="EEF2F8"/>
            </a:solidFill>
            <a:prstDash val="solid"/>
          </a:ln>
        </p:spPr>
      </p:sp>
      <p:sp>
        <p:nvSpPr>
          <p:cNvPr id="9" name="Text 7"/>
          <p:cNvSpPr txBox="1"/>
          <p:nvPr/>
        </p:nvSpPr>
        <p:spPr>
          <a:xfrm>
            <a:off x="4297680" y="1737360"/>
            <a:ext cx="3474720" cy="1280160"/>
          </a:xfrm>
          <a:prstGeom prst="rect">
            <a:avLst/>
          </a:prstGeom>
          <a:noFill/>
          <a:ln/>
        </p:spPr>
        <p:txBody>
          <a:bodyPr wrap="square" lIns="0" tIns="0" rIns="0" bIns="0" rtlCol="0" anchor="ctr"/>
          <a:lstStyle/>
          <a:p>
            <a:pPr algn="ctr" indent="0" marL="0">
              <a:buNone/>
            </a:pPr>
            <a:r>
              <a:rPr lang="en-US" sz="8000" b="1" dirty="0">
                <a:solidFill>
                  <a:srgbClr val="14284B"/>
                </a:solidFill>
                <a:latin typeface="Arial" pitchFamily="34" charset="0"/>
                <a:ea typeface="Arial" pitchFamily="34" charset="-122"/>
                <a:cs typeface="Arial" pitchFamily="34" charset="-120"/>
              </a:rPr>
              <a:t>3</a:t>
            </a:r>
            <a:endParaRPr lang="en-US" sz="8000" dirty="0"/>
          </a:p>
        </p:txBody>
      </p:sp>
      <p:sp>
        <p:nvSpPr>
          <p:cNvPr id="10" name="Text 8"/>
          <p:cNvSpPr txBox="1"/>
          <p:nvPr/>
        </p:nvSpPr>
        <p:spPr>
          <a:xfrm>
            <a:off x="4480560" y="3063240"/>
            <a:ext cx="3108960" cy="109728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perkara maksimal</a:t>
            </a:r>
            <a:endParaRPr lang="en-US" sz="2200" dirty="0"/>
          </a:p>
          <a:p>
            <a:pPr algn="ctr" indent="0" marL="0">
              <a:buNone/>
            </a:pPr>
            <a:r>
              <a:rPr lang="en-US" sz="2200" dirty="0">
                <a:solidFill>
                  <a:srgbClr val="1A1A1A"/>
                </a:solidFill>
                <a:latin typeface="Arial" pitchFamily="34" charset="0"/>
                <a:ea typeface="Arial" pitchFamily="34" charset="-122"/>
                <a:cs typeface="Arial" pitchFamily="34" charset="-120"/>
              </a:rPr>
              <a:t>per tim pada waktu sama</a:t>
            </a:r>
            <a:endParaRPr lang="en-US" sz="2200" dirty="0"/>
          </a:p>
        </p:txBody>
      </p:sp>
      <p:sp>
        <p:nvSpPr>
          <p:cNvPr id="11" name="Shape 9"/>
          <p:cNvSpPr/>
          <p:nvPr/>
        </p:nvSpPr>
        <p:spPr>
          <a:xfrm>
            <a:off x="8046720" y="1645920"/>
            <a:ext cx="3474720" cy="2651760"/>
          </a:xfrm>
          <a:prstGeom prst="roundRect">
            <a:avLst>
              <a:gd name="adj" fmla="val 4138"/>
            </a:avLst>
          </a:prstGeom>
          <a:solidFill>
            <a:srgbClr val="EEF2F8"/>
          </a:solidFill>
          <a:ln w="12700">
            <a:solidFill>
              <a:srgbClr val="EEF2F8"/>
            </a:solidFill>
            <a:prstDash val="solid"/>
          </a:ln>
        </p:spPr>
      </p:sp>
      <p:sp>
        <p:nvSpPr>
          <p:cNvPr id="12" name="Text 10"/>
          <p:cNvSpPr txBox="1"/>
          <p:nvPr/>
        </p:nvSpPr>
        <p:spPr>
          <a:xfrm>
            <a:off x="8046720" y="1737360"/>
            <a:ext cx="3474720" cy="1280160"/>
          </a:xfrm>
          <a:prstGeom prst="rect">
            <a:avLst/>
          </a:prstGeom>
          <a:noFill/>
          <a:ln/>
        </p:spPr>
        <p:txBody>
          <a:bodyPr wrap="square" lIns="0" tIns="0" rIns="0" bIns="0" rtlCol="0" anchor="ctr"/>
          <a:lstStyle/>
          <a:p>
            <a:pPr algn="ctr" indent="0" marL="0">
              <a:buNone/>
            </a:pPr>
            <a:r>
              <a:rPr lang="en-US" sz="5400" b="1" dirty="0">
                <a:solidFill>
                  <a:srgbClr val="14284B"/>
                </a:solidFill>
                <a:latin typeface="Arial" pitchFamily="34" charset="0"/>
                <a:ea typeface="Arial" pitchFamily="34" charset="-122"/>
                <a:cs typeface="Arial" pitchFamily="34" charset="-120"/>
              </a:rPr>
              <a:t>Tim × 3</a:t>
            </a:r>
            <a:endParaRPr lang="en-US" sz="5400" dirty="0"/>
          </a:p>
        </p:txBody>
      </p:sp>
      <p:sp>
        <p:nvSpPr>
          <p:cNvPr id="13" name="Text 11"/>
          <p:cNvSpPr txBox="1"/>
          <p:nvPr/>
        </p:nvSpPr>
        <p:spPr>
          <a:xfrm>
            <a:off x="8229600" y="3063240"/>
            <a:ext cx="3108960" cy="109728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kapasitas BHP</a:t>
            </a:r>
            <a:endParaRPr lang="en-US" sz="2200" dirty="0"/>
          </a:p>
          <a:p>
            <a:pPr algn="ctr" indent="0" marL="0">
              <a:buNone/>
            </a:pPr>
            <a:r>
              <a:rPr lang="en-US" sz="2200" dirty="0">
                <a:solidFill>
                  <a:srgbClr val="1A1A1A"/>
                </a:solidFill>
                <a:latin typeface="Arial" pitchFamily="34" charset="0"/>
                <a:ea typeface="Arial" pitchFamily="34" charset="-122"/>
                <a:cs typeface="Arial" pitchFamily="34" charset="-120"/>
              </a:rPr>
              <a:t>terukur &amp; terencana</a:t>
            </a:r>
            <a:endParaRPr lang="en-US" sz="2200" dirty="0"/>
          </a:p>
        </p:txBody>
      </p:sp>
      <p:sp>
        <p:nvSpPr>
          <p:cNvPr id="14" name="Text 12"/>
          <p:cNvSpPr txBox="1"/>
          <p:nvPr/>
        </p:nvSpPr>
        <p:spPr>
          <a:xfrm>
            <a:off x="548640" y="4572000"/>
            <a:ext cx="11064240" cy="1645920"/>
          </a:xfrm>
          <a:prstGeom prst="rect">
            <a:avLst/>
          </a:prstGeom>
          <a:noFill/>
          <a:ln/>
        </p:spPr>
        <p:txBody>
          <a:bodyPr wrap="square" lIns="0" tIns="0" rIns="0" bIns="0" rtlCol="0" anchor="t"/>
          <a:lstStyle/>
          <a:p>
            <a:pPr marL="381000" indent="-381000">
              <a:spcAft>
                <a:spcPts val="1400"/>
              </a:spcAft>
              <a:buSzPct val="100000"/>
              <a:buChar char="•"/>
            </a:pPr>
            <a:r>
              <a:rPr lang="en-US" sz="2400" dirty="0">
                <a:solidFill>
                  <a:srgbClr val="1A1A1A"/>
                </a:solidFill>
                <a:latin typeface="Arial" pitchFamily="34" charset="0"/>
                <a:ea typeface="Arial" pitchFamily="34" charset="-122"/>
                <a:cs typeface="Arial" pitchFamily="34" charset="-120"/>
              </a:rPr>
              <a:t>PKPU yang berlanjut pailit dan tetap di BHP dihitung 1 perkara</a:t>
            </a:r>
            <a:endParaRPr lang="en-US" sz="2400" dirty="0"/>
          </a:p>
          <a:p>
            <a:pPr marL="381000" indent="-381000">
              <a:spcAft>
                <a:spcPts val="1400"/>
              </a:spcAft>
              <a:buSzPct val="100000"/>
              <a:buChar char="•"/>
            </a:pPr>
            <a:r>
              <a:rPr lang="en-US" sz="2400" dirty="0">
                <a:solidFill>
                  <a:srgbClr val="1A1A1A"/>
                </a:solidFill>
                <a:latin typeface="Arial" pitchFamily="34" charset="0"/>
                <a:ea typeface="Arial" pitchFamily="34" charset="-122"/>
                <a:cs typeface="Arial" pitchFamily="34" charset="-120"/>
              </a:rPr>
              <a:t>Semua tim penuh: Kepala BHP memberi tahu Pengadilan secara tertulis</a:t>
            </a:r>
            <a:endParaRPr lang="en-US" sz="2400" dirty="0"/>
          </a:p>
        </p:txBody>
      </p:sp>
      <p:sp>
        <p:nvSpPr>
          <p:cNvPr id="15" name="Text 13"/>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6" name="Text 14"/>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8</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Masa Peralihan 6 Bulan</a:t>
            </a:r>
            <a:endParaRPr lang="en-US" sz="3600" dirty="0"/>
          </a:p>
        </p:txBody>
      </p:sp>
      <p:sp>
        <p:nvSpPr>
          <p:cNvPr id="5" name="Shape 3"/>
          <p:cNvSpPr/>
          <p:nvPr/>
        </p:nvSpPr>
        <p:spPr>
          <a:xfrm>
            <a:off x="548640" y="1691640"/>
            <a:ext cx="3291840" cy="2377440"/>
          </a:xfrm>
          <a:prstGeom prst="roundRect">
            <a:avLst>
              <a:gd name="adj" fmla="val 4615"/>
            </a:avLst>
          </a:prstGeom>
          <a:solidFill>
            <a:srgbClr val="EEF2F8"/>
          </a:solidFill>
          <a:ln w="12700">
            <a:solidFill>
              <a:srgbClr val="EEF2F8"/>
            </a:solidFill>
            <a:prstDash val="solid"/>
          </a:ln>
        </p:spPr>
      </p:sp>
      <p:sp>
        <p:nvSpPr>
          <p:cNvPr id="6" name="Shape 4"/>
          <p:cNvSpPr/>
          <p:nvPr/>
        </p:nvSpPr>
        <p:spPr>
          <a:xfrm>
            <a:off x="822960" y="1874520"/>
            <a:ext cx="566928" cy="566928"/>
          </a:xfrm>
          <a:prstGeom prst="ellipse">
            <a:avLst/>
          </a:prstGeom>
          <a:solidFill>
            <a:srgbClr val="14284B"/>
          </a:solidFill>
          <a:ln w="12700">
            <a:solidFill>
              <a:srgbClr val="14284B"/>
            </a:solidFill>
            <a:prstDash val="solid"/>
          </a:ln>
        </p:spPr>
      </p:sp>
      <p:sp>
        <p:nvSpPr>
          <p:cNvPr id="7" name="Text 5"/>
          <p:cNvSpPr txBox="1"/>
          <p:nvPr/>
        </p:nvSpPr>
        <p:spPr>
          <a:xfrm>
            <a:off x="822960" y="18745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8" name="Text 6"/>
          <p:cNvSpPr txBox="1"/>
          <p:nvPr/>
        </p:nvSpPr>
        <p:spPr>
          <a:xfrm>
            <a:off x="822960" y="2560320"/>
            <a:ext cx="2788920" cy="1417320"/>
          </a:xfrm>
          <a:prstGeom prst="rect">
            <a:avLst/>
          </a:prstGeom>
          <a:noFill/>
          <a:ln/>
        </p:spPr>
        <p:txBody>
          <a:bodyPr wrap="square" lIns="0" tIns="0" rIns="0" bIns="0" rtlCol="0" anchor="t"/>
          <a:lstStyle/>
          <a:p>
            <a:pPr indent="0" marL="0">
              <a:buNone/>
            </a:pPr>
            <a:r>
              <a:rPr lang="en-US" sz="2200" b="1" dirty="0">
                <a:solidFill>
                  <a:srgbClr val="14284B"/>
                </a:solidFill>
                <a:latin typeface="Arial" pitchFamily="34" charset="0"/>
                <a:ea typeface="Arial" pitchFamily="34" charset="-122"/>
                <a:cs typeface="Arial" pitchFamily="34" charset="-120"/>
              </a:rPr>
              <a:t>Perkara berjalan tetap ditangani BHP</a:t>
            </a:r>
            <a:endParaRPr lang="en-US" sz="2200" dirty="0"/>
          </a:p>
        </p:txBody>
      </p:sp>
      <p:pic>
        <p:nvPicPr>
          <p:cNvPr id="9" name="Image 0" descr="preencoded.png">    </p:cNvPr>
          <p:cNvPicPr>
            <a:picLocks noChangeAspect="1"/>
          </p:cNvPicPr>
          <p:nvPr/>
        </p:nvPicPr>
        <p:blipFill>
          <a:blip r:embed="rId1"/>
          <a:stretch>
            <a:fillRect/>
          </a:stretch>
        </p:blipFill>
        <p:spPr>
          <a:xfrm>
            <a:off x="3931920" y="2697480"/>
            <a:ext cx="365760" cy="365760"/>
          </a:xfrm>
          <a:prstGeom prst="rect">
            <a:avLst/>
          </a:prstGeom>
        </p:spPr>
      </p:pic>
      <p:sp>
        <p:nvSpPr>
          <p:cNvPr id="10" name="Shape 7"/>
          <p:cNvSpPr/>
          <p:nvPr/>
        </p:nvSpPr>
        <p:spPr>
          <a:xfrm>
            <a:off x="4343400" y="1691640"/>
            <a:ext cx="3291840" cy="2377440"/>
          </a:xfrm>
          <a:prstGeom prst="roundRect">
            <a:avLst>
              <a:gd name="adj" fmla="val 4615"/>
            </a:avLst>
          </a:prstGeom>
          <a:solidFill>
            <a:srgbClr val="EEF2F8"/>
          </a:solidFill>
          <a:ln w="12700">
            <a:solidFill>
              <a:srgbClr val="EEF2F8"/>
            </a:solidFill>
            <a:prstDash val="solid"/>
          </a:ln>
        </p:spPr>
      </p:sp>
      <p:sp>
        <p:nvSpPr>
          <p:cNvPr id="11" name="Shape 8"/>
          <p:cNvSpPr/>
          <p:nvPr/>
        </p:nvSpPr>
        <p:spPr>
          <a:xfrm>
            <a:off x="4617720" y="1874520"/>
            <a:ext cx="566928" cy="566928"/>
          </a:xfrm>
          <a:prstGeom prst="ellipse">
            <a:avLst/>
          </a:prstGeom>
          <a:solidFill>
            <a:srgbClr val="14284B"/>
          </a:solidFill>
          <a:ln w="12700">
            <a:solidFill>
              <a:srgbClr val="14284B"/>
            </a:solidFill>
            <a:prstDash val="solid"/>
          </a:ln>
        </p:spPr>
      </p:sp>
      <p:sp>
        <p:nvSpPr>
          <p:cNvPr id="12" name="Text 9"/>
          <p:cNvSpPr txBox="1"/>
          <p:nvPr/>
        </p:nvSpPr>
        <p:spPr>
          <a:xfrm>
            <a:off x="4617720" y="18745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3" name="Text 10"/>
          <p:cNvSpPr txBox="1"/>
          <p:nvPr/>
        </p:nvSpPr>
        <p:spPr>
          <a:xfrm>
            <a:off x="4617720" y="2560320"/>
            <a:ext cx="2788920" cy="1417320"/>
          </a:xfrm>
          <a:prstGeom prst="rect">
            <a:avLst/>
          </a:prstGeom>
          <a:noFill/>
          <a:ln/>
        </p:spPr>
        <p:txBody>
          <a:bodyPr wrap="square" lIns="0" tIns="0" rIns="0" bIns="0" rtlCol="0" anchor="t"/>
          <a:lstStyle/>
          <a:p>
            <a:pPr indent="0" marL="0">
              <a:buNone/>
            </a:pPr>
            <a:r>
              <a:rPr lang="en-US" sz="2200" b="1" dirty="0">
                <a:solidFill>
                  <a:srgbClr val="14284B"/>
                </a:solidFill>
                <a:latin typeface="Arial" pitchFamily="34" charset="0"/>
                <a:ea typeface="Arial" pitchFamily="34" charset="-122"/>
                <a:cs typeface="Arial" pitchFamily="34" charset="-120"/>
              </a:rPr>
              <a:t>Alihkan ke tim lain (surat tugas Kepala BHP)</a:t>
            </a:r>
            <a:endParaRPr lang="en-US" sz="2200" dirty="0"/>
          </a:p>
        </p:txBody>
      </p:sp>
      <p:pic>
        <p:nvPicPr>
          <p:cNvPr id="14" name="Image 1" descr="preencoded.png">    </p:cNvPr>
          <p:cNvPicPr>
            <a:picLocks noChangeAspect="1"/>
          </p:cNvPicPr>
          <p:nvPr/>
        </p:nvPicPr>
        <p:blipFill>
          <a:blip r:embed="rId2"/>
          <a:stretch>
            <a:fillRect/>
          </a:stretch>
        </p:blipFill>
        <p:spPr>
          <a:xfrm>
            <a:off x="7726680" y="2697480"/>
            <a:ext cx="365760" cy="365760"/>
          </a:xfrm>
          <a:prstGeom prst="rect">
            <a:avLst/>
          </a:prstGeom>
        </p:spPr>
      </p:pic>
      <p:sp>
        <p:nvSpPr>
          <p:cNvPr id="15" name="Shape 11"/>
          <p:cNvSpPr/>
          <p:nvPr/>
        </p:nvSpPr>
        <p:spPr>
          <a:xfrm>
            <a:off x="8138160" y="1691640"/>
            <a:ext cx="3291840" cy="2377440"/>
          </a:xfrm>
          <a:prstGeom prst="roundRect">
            <a:avLst>
              <a:gd name="adj" fmla="val 4615"/>
            </a:avLst>
          </a:prstGeom>
          <a:solidFill>
            <a:srgbClr val="EEF2F8"/>
          </a:solidFill>
          <a:ln w="12700">
            <a:solidFill>
              <a:srgbClr val="EEF2F8"/>
            </a:solidFill>
            <a:prstDash val="solid"/>
          </a:ln>
        </p:spPr>
      </p:sp>
      <p:sp>
        <p:nvSpPr>
          <p:cNvPr id="16" name="Shape 12"/>
          <p:cNvSpPr/>
          <p:nvPr/>
        </p:nvSpPr>
        <p:spPr>
          <a:xfrm>
            <a:off x="8412480" y="1874520"/>
            <a:ext cx="566928" cy="566928"/>
          </a:xfrm>
          <a:prstGeom prst="ellipse">
            <a:avLst/>
          </a:prstGeom>
          <a:solidFill>
            <a:srgbClr val="14284B"/>
          </a:solidFill>
          <a:ln w="12700">
            <a:solidFill>
              <a:srgbClr val="14284B"/>
            </a:solidFill>
            <a:prstDash val="solid"/>
          </a:ln>
        </p:spPr>
      </p:sp>
      <p:sp>
        <p:nvSpPr>
          <p:cNvPr id="17" name="Text 13"/>
          <p:cNvSpPr txBox="1"/>
          <p:nvPr/>
        </p:nvSpPr>
        <p:spPr>
          <a:xfrm>
            <a:off x="8412480" y="187452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8" name="Text 14"/>
          <p:cNvSpPr txBox="1"/>
          <p:nvPr/>
        </p:nvSpPr>
        <p:spPr>
          <a:xfrm>
            <a:off x="8412480" y="2560320"/>
            <a:ext cx="2788920" cy="1417320"/>
          </a:xfrm>
          <a:prstGeom prst="rect">
            <a:avLst/>
          </a:prstGeom>
          <a:noFill/>
          <a:ln/>
        </p:spPr>
        <p:txBody>
          <a:bodyPr wrap="square" lIns="0" tIns="0" rIns="0" bIns="0" rtlCol="0" anchor="t"/>
          <a:lstStyle/>
          <a:p>
            <a:pPr indent="0" marL="0">
              <a:buNone/>
            </a:pPr>
            <a:r>
              <a:rPr lang="en-US" sz="2200" b="1" dirty="0">
                <a:solidFill>
                  <a:srgbClr val="14284B"/>
                </a:solidFill>
                <a:latin typeface="Arial" pitchFamily="34" charset="0"/>
                <a:ea typeface="Arial" pitchFamily="34" charset="-122"/>
                <a:cs typeface="Arial" pitchFamily="34" charset="-120"/>
              </a:rPr>
              <a:t>Bila tak tertampung: mohon penggantian kurator (Pasal 71)</a:t>
            </a:r>
            <a:endParaRPr lang="en-US" sz="2200" dirty="0"/>
          </a:p>
        </p:txBody>
      </p:sp>
      <p:sp>
        <p:nvSpPr>
          <p:cNvPr id="19" name="Shape 15"/>
          <p:cNvSpPr/>
          <p:nvPr/>
        </p:nvSpPr>
        <p:spPr>
          <a:xfrm>
            <a:off x="548640" y="4343400"/>
            <a:ext cx="11064240" cy="1783080"/>
          </a:xfrm>
          <a:prstGeom prst="roundRect">
            <a:avLst>
              <a:gd name="adj" fmla="val 6154"/>
            </a:avLst>
          </a:prstGeom>
          <a:solidFill>
            <a:srgbClr val="14284B"/>
          </a:solidFill>
          <a:ln w="12700">
            <a:solidFill>
              <a:srgbClr val="14284B"/>
            </a:solidFill>
            <a:prstDash val="solid"/>
          </a:ln>
        </p:spPr>
      </p:sp>
      <p:sp>
        <p:nvSpPr>
          <p:cNvPr id="20" name="Text 16"/>
          <p:cNvSpPr txBox="1"/>
          <p:nvPr/>
        </p:nvSpPr>
        <p:spPr>
          <a:xfrm>
            <a:off x="822960" y="4343400"/>
            <a:ext cx="3291840" cy="1783080"/>
          </a:xfrm>
          <a:prstGeom prst="rect">
            <a:avLst/>
          </a:prstGeom>
          <a:noFill/>
          <a:ln/>
        </p:spPr>
        <p:txBody>
          <a:bodyPr wrap="square" lIns="0" tIns="0" rIns="0" bIns="0" rtlCol="0" anchor="ctr"/>
          <a:lstStyle/>
          <a:p>
            <a:pPr indent="0" marL="0">
              <a:buNone/>
            </a:pPr>
            <a:r>
              <a:rPr lang="en-US" sz="4800" b="1" dirty="0">
                <a:solidFill>
                  <a:srgbClr val="E0A526"/>
                </a:solidFill>
                <a:latin typeface="Arial" pitchFamily="34" charset="0"/>
                <a:ea typeface="Arial" pitchFamily="34" charset="-122"/>
                <a:cs typeface="Arial" pitchFamily="34" charset="-120"/>
              </a:rPr>
              <a:t>6 BULAN</a:t>
            </a:r>
            <a:endParaRPr lang="en-US" sz="4800" dirty="0"/>
          </a:p>
        </p:txBody>
      </p:sp>
      <p:sp>
        <p:nvSpPr>
          <p:cNvPr id="21" name="Text 17"/>
          <p:cNvSpPr txBox="1"/>
          <p:nvPr/>
        </p:nvSpPr>
        <p:spPr>
          <a:xfrm>
            <a:off x="4114800" y="4343400"/>
            <a:ext cx="7223760" cy="178308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batas waktu pengalihan sejak UU diundangkan — selama masa ini kelebihan perkara tidak dianggap pelanggaran</a:t>
            </a:r>
            <a:endParaRPr lang="en-US" sz="2400" dirty="0"/>
          </a:p>
        </p:txBody>
      </p:sp>
      <p:sp>
        <p:nvSpPr>
          <p:cNvPr id="22" name="Text 18"/>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23" name="Text 19"/>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600" b="1" dirty="0">
                <a:solidFill>
                  <a:srgbClr val="E0A526"/>
                </a:solidFill>
                <a:latin typeface="Arial" pitchFamily="34" charset="0"/>
                <a:ea typeface="Arial" pitchFamily="34" charset="-122"/>
                <a:cs typeface="Arial" pitchFamily="34" charset="-120"/>
              </a:rPr>
              <a:t>3–4</a:t>
            </a:r>
            <a:endParaRPr lang="en-US" sz="26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Rezim Profesi dan Standar Nasional</a:t>
            </a:r>
            <a:endParaRPr lang="en-US" sz="3600" dirty="0"/>
          </a:p>
        </p:txBody>
      </p:sp>
      <p:sp>
        <p:nvSpPr>
          <p:cNvPr id="5" name="Shape 3"/>
          <p:cNvSpPr/>
          <p:nvPr/>
        </p:nvSpPr>
        <p:spPr>
          <a:xfrm>
            <a:off x="548640" y="1645920"/>
            <a:ext cx="5349240" cy="1828800"/>
          </a:xfrm>
          <a:prstGeom prst="roundRect">
            <a:avLst>
              <a:gd name="adj" fmla="val 6000"/>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2240280"/>
            <a:ext cx="640080" cy="640080"/>
          </a:xfrm>
          <a:prstGeom prst="rect">
            <a:avLst/>
          </a:prstGeom>
        </p:spPr>
      </p:pic>
      <p:sp>
        <p:nvSpPr>
          <p:cNvPr id="7" name="Text 4"/>
          <p:cNvSpPr txBox="1"/>
          <p:nvPr/>
        </p:nvSpPr>
        <p:spPr>
          <a:xfrm>
            <a:off x="1691640" y="1783080"/>
            <a:ext cx="4023360" cy="155448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Kurator Swasta</a:t>
            </a:r>
            <a:endParaRPr lang="en-US" sz="2600" dirty="0"/>
          </a:p>
          <a:p>
            <a:pPr indent="0" marL="0">
              <a:buNone/>
            </a:pPr>
            <a:r>
              <a:rPr lang="en-US" sz="2200" dirty="0">
                <a:solidFill>
                  <a:srgbClr val="1A1A1A"/>
                </a:solidFill>
                <a:latin typeface="Arial" pitchFamily="34" charset="0"/>
                <a:ea typeface="Arial" pitchFamily="34" charset="-122"/>
                <a:cs typeface="Arial" pitchFamily="34" charset="-120"/>
              </a:rPr>
              <a:t>dibina oleh Organisasi Profesi</a:t>
            </a:r>
            <a:endParaRPr lang="en-US" sz="2600" dirty="0"/>
          </a:p>
        </p:txBody>
      </p:sp>
      <p:sp>
        <p:nvSpPr>
          <p:cNvPr id="8" name="Shape 5"/>
          <p:cNvSpPr/>
          <p:nvPr/>
        </p:nvSpPr>
        <p:spPr>
          <a:xfrm>
            <a:off x="6263640" y="1645920"/>
            <a:ext cx="5349240" cy="1828800"/>
          </a:xfrm>
          <a:prstGeom prst="roundRect">
            <a:avLst>
              <a:gd name="adj" fmla="val 6000"/>
            </a:avLst>
          </a:prstGeom>
          <a:solidFill>
            <a:srgbClr val="EEF2F8"/>
          </a:solidFill>
          <a:ln w="12700">
            <a:solidFill>
              <a:srgbClr val="EEF2F8"/>
            </a:solidFill>
            <a:prstDash val="solid"/>
          </a:ln>
        </p:spPr>
      </p:sp>
      <p:pic>
        <p:nvPicPr>
          <p:cNvPr id="9" name="Image 1" descr="preencoded.png">    </p:cNvPr>
          <p:cNvPicPr>
            <a:picLocks noChangeAspect="1"/>
          </p:cNvPicPr>
          <p:nvPr/>
        </p:nvPicPr>
        <p:blipFill>
          <a:blip r:embed="rId2"/>
          <a:stretch>
            <a:fillRect/>
          </a:stretch>
        </p:blipFill>
        <p:spPr>
          <a:xfrm>
            <a:off x="6537960" y="2240280"/>
            <a:ext cx="640080" cy="640080"/>
          </a:xfrm>
          <a:prstGeom prst="rect">
            <a:avLst/>
          </a:prstGeom>
        </p:spPr>
      </p:pic>
      <p:sp>
        <p:nvSpPr>
          <p:cNvPr id="10" name="Text 6"/>
          <p:cNvSpPr txBox="1"/>
          <p:nvPr/>
        </p:nvSpPr>
        <p:spPr>
          <a:xfrm>
            <a:off x="7406640" y="1783080"/>
            <a:ext cx="4023360" cy="155448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Kurator Negara (BHP)</a:t>
            </a:r>
            <a:endParaRPr lang="en-US" sz="2600" dirty="0"/>
          </a:p>
          <a:p>
            <a:pPr indent="0" marL="0">
              <a:buNone/>
            </a:pPr>
            <a:r>
              <a:rPr lang="en-US" sz="2200" dirty="0">
                <a:solidFill>
                  <a:srgbClr val="1A1A1A"/>
                </a:solidFill>
                <a:latin typeface="Arial" pitchFamily="34" charset="0"/>
                <a:ea typeface="Arial" pitchFamily="34" charset="-122"/>
                <a:cs typeface="Arial" pitchFamily="34" charset="-120"/>
              </a:rPr>
              <a:t>dibina oleh Kementerian Hukum sebagai ASN (UU 20/2023)</a:t>
            </a:r>
            <a:endParaRPr lang="en-US" sz="2600" dirty="0"/>
          </a:p>
        </p:txBody>
      </p:sp>
      <p:sp>
        <p:nvSpPr>
          <p:cNvPr id="11" name="Text 7"/>
          <p:cNvSpPr txBox="1"/>
          <p:nvPr/>
        </p:nvSpPr>
        <p:spPr>
          <a:xfrm>
            <a:off x="548640" y="3794760"/>
            <a:ext cx="11064240" cy="2377440"/>
          </a:xfrm>
          <a:prstGeom prst="rect">
            <a:avLst/>
          </a:prstGeom>
          <a:noFill/>
          <a:ln/>
        </p:spPr>
        <p:txBody>
          <a:bodyPr wrap="square" lIns="0" tIns="0" rIns="0" bIns="0" rtlCol="0" anchor="t"/>
          <a:lstStyle/>
          <a:p>
            <a:pPr marL="381000" indent="-381000">
              <a:spcAft>
                <a:spcPts val="1400"/>
              </a:spcAft>
              <a:buSzPct val="100000"/>
              <a:buChar char="•"/>
            </a:pPr>
            <a:r>
              <a:rPr lang="en-US" sz="2600" dirty="0">
                <a:solidFill>
                  <a:srgbClr val="1A1A1A"/>
                </a:solidFill>
                <a:latin typeface="Arial" pitchFamily="34" charset="0"/>
                <a:ea typeface="Arial" pitchFamily="34" charset="-122"/>
                <a:cs typeface="Arial" pitchFamily="34" charset="-120"/>
              </a:rPr>
              <a:t>Majelis Pengawas Kurator: unsur pemerintah, organisasi profesi, dan akademisi</a:t>
            </a:r>
            <a:endParaRPr lang="en-US" sz="2600" dirty="0"/>
          </a:p>
          <a:p>
            <a:pPr marL="381000" indent="-381000">
              <a:spcAft>
                <a:spcPts val="1400"/>
              </a:spcAft>
              <a:buSzPct val="100000"/>
              <a:buChar char="•"/>
            </a:pPr>
            <a:r>
              <a:rPr lang="en-US" sz="2600" dirty="0">
                <a:solidFill>
                  <a:srgbClr val="1A1A1A"/>
                </a:solidFill>
                <a:latin typeface="Arial" pitchFamily="34" charset="0"/>
                <a:ea typeface="Arial" pitchFamily="34" charset="-122"/>
                <a:cs typeface="Arial" pitchFamily="34" charset="-120"/>
              </a:rPr>
              <a:t>Satu standar profesi nasional ditetapkan Menteri — tanpa melebur organisasi profesi</a:t>
            </a:r>
            <a:endParaRPr lang="en-US" sz="2600" dirty="0"/>
          </a:p>
        </p:txBody>
      </p:sp>
      <p:sp>
        <p:nvSpPr>
          <p:cNvPr id="12" name="Text 8"/>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3" name="Text 9"/>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5</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Majelis Kehormatan Kurator</a:t>
            </a:r>
            <a:endParaRPr lang="en-US" sz="3600" dirty="0"/>
          </a:p>
        </p:txBody>
      </p:sp>
      <p:sp>
        <p:nvSpPr>
          <p:cNvPr id="5" name="Text 3"/>
          <p:cNvSpPr txBox="1"/>
          <p:nvPr/>
        </p:nvSpPr>
        <p:spPr>
          <a:xfrm>
            <a:off x="548640" y="1600200"/>
            <a:ext cx="6583680" cy="1097280"/>
          </a:xfrm>
          <a:prstGeom prst="rect">
            <a:avLst/>
          </a:prstGeom>
          <a:noFill/>
          <a:ln/>
        </p:spPr>
        <p:txBody>
          <a:bodyPr wrap="square" lIns="0" tIns="0" rIns="0" bIns="0" rtlCol="0" anchor="t"/>
          <a:lstStyle/>
          <a:p>
            <a:pPr indent="0" marL="0">
              <a:buNone/>
            </a:pPr>
            <a:r>
              <a:rPr lang="en-US" sz="2400" dirty="0">
                <a:solidFill>
                  <a:srgbClr val="1A1A1A"/>
                </a:solidFill>
                <a:latin typeface="Arial" pitchFamily="34" charset="0"/>
                <a:ea typeface="Arial" pitchFamily="34" charset="-122"/>
                <a:cs typeface="Arial" pitchFamily="34" charset="-120"/>
              </a:rPr>
              <a:t>Memeriksa laporan lebih dulu sebelum kurator dipanggil aparat penegak hukum, lalu memilah:</a:t>
            </a:r>
            <a:endParaRPr lang="en-US" sz="2400" dirty="0"/>
          </a:p>
        </p:txBody>
      </p:sp>
      <p:sp>
        <p:nvSpPr>
          <p:cNvPr id="6" name="Shape 4"/>
          <p:cNvSpPr/>
          <p:nvPr/>
        </p:nvSpPr>
        <p:spPr>
          <a:xfrm>
            <a:off x="548640" y="2743200"/>
            <a:ext cx="6400800" cy="566928"/>
          </a:xfrm>
          <a:prstGeom prst="roundRect">
            <a:avLst>
              <a:gd name="adj" fmla="val 19355"/>
            </a:avLst>
          </a:prstGeom>
          <a:solidFill>
            <a:srgbClr val="EEF2F8"/>
          </a:solidFill>
          <a:ln w="12700">
            <a:solidFill>
              <a:srgbClr val="EEF2F8"/>
            </a:solidFill>
            <a:prstDash val="solid"/>
          </a:ln>
        </p:spPr>
      </p:sp>
      <p:sp>
        <p:nvSpPr>
          <p:cNvPr id="7" name="Text 5"/>
          <p:cNvSpPr txBox="1"/>
          <p:nvPr/>
        </p:nvSpPr>
        <p:spPr>
          <a:xfrm>
            <a:off x="777240" y="2743200"/>
            <a:ext cx="6035040" cy="566928"/>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Sengketa teknis kepailitan</a:t>
            </a:r>
            <a:endParaRPr lang="en-US" sz="2200" dirty="0"/>
          </a:p>
        </p:txBody>
      </p:sp>
      <p:sp>
        <p:nvSpPr>
          <p:cNvPr id="8" name="Shape 6"/>
          <p:cNvSpPr/>
          <p:nvPr/>
        </p:nvSpPr>
        <p:spPr>
          <a:xfrm>
            <a:off x="548640" y="3429000"/>
            <a:ext cx="6400800" cy="566928"/>
          </a:xfrm>
          <a:prstGeom prst="roundRect">
            <a:avLst>
              <a:gd name="adj" fmla="val 19355"/>
            </a:avLst>
          </a:prstGeom>
          <a:solidFill>
            <a:srgbClr val="EEF2F8"/>
          </a:solidFill>
          <a:ln w="12700">
            <a:solidFill>
              <a:srgbClr val="EEF2F8"/>
            </a:solidFill>
            <a:prstDash val="solid"/>
          </a:ln>
        </p:spPr>
      </p:sp>
      <p:sp>
        <p:nvSpPr>
          <p:cNvPr id="9" name="Text 7"/>
          <p:cNvSpPr txBox="1"/>
          <p:nvPr/>
        </p:nvSpPr>
        <p:spPr>
          <a:xfrm>
            <a:off x="777240" y="3429000"/>
            <a:ext cx="6035040" cy="566928"/>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Pelanggaran kode etik</a:t>
            </a:r>
            <a:endParaRPr lang="en-US" sz="2200" dirty="0"/>
          </a:p>
        </p:txBody>
      </p:sp>
      <p:sp>
        <p:nvSpPr>
          <p:cNvPr id="10" name="Shape 8"/>
          <p:cNvSpPr/>
          <p:nvPr/>
        </p:nvSpPr>
        <p:spPr>
          <a:xfrm>
            <a:off x="548640" y="4114800"/>
            <a:ext cx="6400800" cy="566928"/>
          </a:xfrm>
          <a:prstGeom prst="roundRect">
            <a:avLst>
              <a:gd name="adj" fmla="val 19355"/>
            </a:avLst>
          </a:prstGeom>
          <a:solidFill>
            <a:srgbClr val="EEF2F8"/>
          </a:solidFill>
          <a:ln w="12700">
            <a:solidFill>
              <a:srgbClr val="EEF2F8"/>
            </a:solidFill>
            <a:prstDash val="solid"/>
          </a:ln>
        </p:spPr>
      </p:sp>
      <p:sp>
        <p:nvSpPr>
          <p:cNvPr id="11" name="Text 9"/>
          <p:cNvSpPr txBox="1"/>
          <p:nvPr/>
        </p:nvSpPr>
        <p:spPr>
          <a:xfrm>
            <a:off x="777240" y="4114800"/>
            <a:ext cx="6035040" cy="566928"/>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Pelanggaran administratif</a:t>
            </a:r>
            <a:endParaRPr lang="en-US" sz="2200" dirty="0"/>
          </a:p>
        </p:txBody>
      </p:sp>
      <p:sp>
        <p:nvSpPr>
          <p:cNvPr id="12" name="Shape 10"/>
          <p:cNvSpPr/>
          <p:nvPr/>
        </p:nvSpPr>
        <p:spPr>
          <a:xfrm>
            <a:off x="548640" y="4800600"/>
            <a:ext cx="6400800" cy="566928"/>
          </a:xfrm>
          <a:prstGeom prst="roundRect">
            <a:avLst>
              <a:gd name="adj" fmla="val 19355"/>
            </a:avLst>
          </a:prstGeom>
          <a:solidFill>
            <a:srgbClr val="EEF2F8"/>
          </a:solidFill>
          <a:ln w="12700">
            <a:solidFill>
              <a:srgbClr val="EEF2F8"/>
            </a:solidFill>
            <a:prstDash val="solid"/>
          </a:ln>
        </p:spPr>
      </p:sp>
      <p:sp>
        <p:nvSpPr>
          <p:cNvPr id="13" name="Text 11"/>
          <p:cNvSpPr txBox="1"/>
          <p:nvPr/>
        </p:nvSpPr>
        <p:spPr>
          <a:xfrm>
            <a:off x="777240" y="4800600"/>
            <a:ext cx="6035040" cy="566928"/>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Tanggung jawab perdata</a:t>
            </a:r>
            <a:endParaRPr lang="en-US" sz="2200" dirty="0"/>
          </a:p>
        </p:txBody>
      </p:sp>
      <p:sp>
        <p:nvSpPr>
          <p:cNvPr id="14" name="Shape 12"/>
          <p:cNvSpPr/>
          <p:nvPr/>
        </p:nvSpPr>
        <p:spPr>
          <a:xfrm>
            <a:off x="548640" y="5486400"/>
            <a:ext cx="6400800" cy="566928"/>
          </a:xfrm>
          <a:prstGeom prst="roundRect">
            <a:avLst>
              <a:gd name="adj" fmla="val 19355"/>
            </a:avLst>
          </a:prstGeom>
          <a:solidFill>
            <a:srgbClr val="EEF2F8"/>
          </a:solidFill>
          <a:ln w="12700">
            <a:solidFill>
              <a:srgbClr val="EEF2F8"/>
            </a:solidFill>
            <a:prstDash val="solid"/>
          </a:ln>
        </p:spPr>
      </p:sp>
      <p:sp>
        <p:nvSpPr>
          <p:cNvPr id="15" name="Text 13"/>
          <p:cNvSpPr txBox="1"/>
          <p:nvPr/>
        </p:nvSpPr>
        <p:spPr>
          <a:xfrm>
            <a:off x="777240" y="5486400"/>
            <a:ext cx="6035040" cy="566928"/>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Dugaan tindak pidana</a:t>
            </a:r>
            <a:endParaRPr lang="en-US" sz="2200" dirty="0"/>
          </a:p>
        </p:txBody>
      </p:sp>
      <p:sp>
        <p:nvSpPr>
          <p:cNvPr id="16" name="Shape 14"/>
          <p:cNvSpPr/>
          <p:nvPr/>
        </p:nvSpPr>
        <p:spPr>
          <a:xfrm>
            <a:off x="7406640" y="1645920"/>
            <a:ext cx="4206240" cy="4526280"/>
          </a:xfrm>
          <a:prstGeom prst="roundRect">
            <a:avLst>
              <a:gd name="adj" fmla="val 2609"/>
            </a:avLst>
          </a:prstGeom>
          <a:solidFill>
            <a:srgbClr val="14284B"/>
          </a:solidFill>
          <a:ln w="12700">
            <a:solidFill>
              <a:srgbClr val="14284B"/>
            </a:solidFill>
            <a:prstDash val="solid"/>
          </a:ln>
        </p:spPr>
      </p:sp>
      <p:sp>
        <p:nvSpPr>
          <p:cNvPr id="17" name="Text 15"/>
          <p:cNvSpPr txBox="1"/>
          <p:nvPr/>
        </p:nvSpPr>
        <p:spPr>
          <a:xfrm>
            <a:off x="7406640" y="1828800"/>
            <a:ext cx="4206240" cy="146304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30</a:t>
            </a:r>
            <a:endParaRPr lang="en-US" sz="9600" dirty="0"/>
          </a:p>
        </p:txBody>
      </p:sp>
      <p:sp>
        <p:nvSpPr>
          <p:cNvPr id="18" name="Text 16"/>
          <p:cNvSpPr txBox="1"/>
          <p:nvPr/>
        </p:nvSpPr>
        <p:spPr>
          <a:xfrm>
            <a:off x="7406640" y="3291840"/>
            <a:ext cx="4206240"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hari kerja</a:t>
            </a:r>
            <a:endParaRPr lang="en-US" sz="2400" dirty="0"/>
          </a:p>
          <a:p>
            <a:pPr algn="ctr" indent="0" marL="0">
              <a:buNone/>
            </a:pPr>
            <a:r>
              <a:rPr lang="en-US" sz="2400" b="1" dirty="0">
                <a:solidFill>
                  <a:srgbClr val="FFFFFF"/>
                </a:solidFill>
                <a:latin typeface="Arial" pitchFamily="34" charset="0"/>
                <a:ea typeface="Arial" pitchFamily="34" charset="-122"/>
                <a:cs typeface="Arial" pitchFamily="34" charset="-120"/>
              </a:rPr>
              <a:t>batas jawaban</a:t>
            </a:r>
            <a:endParaRPr lang="en-US" sz="2400" dirty="0"/>
          </a:p>
        </p:txBody>
      </p:sp>
      <p:sp>
        <p:nvSpPr>
          <p:cNvPr id="19" name="Text 17"/>
          <p:cNvSpPr txBox="1"/>
          <p:nvPr/>
        </p:nvSpPr>
        <p:spPr>
          <a:xfrm>
            <a:off x="7680960" y="4480560"/>
            <a:ext cx="3657600" cy="1463040"/>
          </a:xfrm>
          <a:prstGeom prst="rect">
            <a:avLst/>
          </a:prstGeom>
          <a:noFill/>
          <a:ln/>
        </p:spPr>
        <p:txBody>
          <a:bodyPr wrap="square" lIns="0" tIns="0" rIns="0" bIns="0" rtlCol="0" anchor="ctr"/>
          <a:lstStyle/>
          <a:p>
            <a:pPr algn="ctr" indent="0" marL="0">
              <a:buNone/>
            </a:pPr>
            <a:r>
              <a:rPr lang="en-US" sz="2200" dirty="0">
                <a:solidFill>
                  <a:srgbClr val="FFFFFF"/>
                </a:solidFill>
                <a:latin typeface="Arial" pitchFamily="34" charset="0"/>
                <a:ea typeface="Arial" pitchFamily="34" charset="-122"/>
                <a:cs typeface="Arial" pitchFamily="34" charset="-120"/>
              </a:rPr>
              <a:t>Tidak dijawab = dianggap disetujui. Bukan imunitas.</a:t>
            </a:r>
            <a:endParaRPr lang="en-US" sz="2200" dirty="0"/>
          </a:p>
        </p:txBody>
      </p:sp>
      <p:sp>
        <p:nvSpPr>
          <p:cNvPr id="20" name="Text 18"/>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21" name="Text 19"/>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6</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Hambatan Pelaksanaan Tugas</a:t>
            </a:r>
            <a:endParaRPr lang="en-US" sz="3600" dirty="0"/>
          </a:p>
        </p:txBody>
      </p:sp>
      <p:sp>
        <p:nvSpPr>
          <p:cNvPr id="5" name="Shape 3"/>
          <p:cNvSpPr/>
          <p:nvPr/>
        </p:nvSpPr>
        <p:spPr>
          <a:xfrm>
            <a:off x="548640" y="1645920"/>
            <a:ext cx="3474720" cy="4480560"/>
          </a:xfrm>
          <a:prstGeom prst="roundRect">
            <a:avLst>
              <a:gd name="adj" fmla="val 3158"/>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74520" y="1920240"/>
            <a:ext cx="822960" cy="822960"/>
          </a:xfrm>
          <a:prstGeom prst="rect">
            <a:avLst/>
          </a:prstGeom>
        </p:spPr>
      </p:pic>
      <p:sp>
        <p:nvSpPr>
          <p:cNvPr id="7" name="Text 4"/>
          <p:cNvSpPr txBox="1"/>
          <p:nvPr/>
        </p:nvSpPr>
        <p:spPr>
          <a:xfrm>
            <a:off x="777240" y="2926080"/>
            <a:ext cx="3017520" cy="640080"/>
          </a:xfrm>
          <a:prstGeom prst="rect">
            <a:avLst/>
          </a:prstGeom>
          <a:noFill/>
          <a:ln/>
        </p:spPr>
        <p:txBody>
          <a:bodyPr wrap="square" lIns="0" tIns="0" rIns="0" bIns="0" rtlCol="0" anchor="t"/>
          <a:lstStyle/>
          <a:p>
            <a:pPr algn="ctr" indent="0" marL="0">
              <a:buNone/>
            </a:pPr>
            <a:r>
              <a:rPr lang="en-US" sz="2600" b="1" dirty="0">
                <a:solidFill>
                  <a:srgbClr val="14284B"/>
                </a:solidFill>
                <a:latin typeface="Arial" pitchFamily="34" charset="0"/>
                <a:ea typeface="Arial" pitchFamily="34" charset="-122"/>
                <a:cs typeface="Arial" pitchFamily="34" charset="-120"/>
              </a:rPr>
              <a:t>Pengamanan</a:t>
            </a:r>
            <a:endParaRPr lang="en-US" sz="2600" dirty="0"/>
          </a:p>
        </p:txBody>
      </p:sp>
      <p:sp>
        <p:nvSpPr>
          <p:cNvPr id="8" name="Text 5"/>
          <p:cNvSpPr txBox="1"/>
          <p:nvPr/>
        </p:nvSpPr>
        <p:spPr>
          <a:xfrm>
            <a:off x="822960" y="3657600"/>
            <a:ext cx="2926080" cy="228600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Polri wajib mendampingi dan mengamankan kurator atas permintaan</a:t>
            </a:r>
            <a:endParaRPr lang="en-US" sz="2200" dirty="0"/>
          </a:p>
        </p:txBody>
      </p:sp>
      <p:sp>
        <p:nvSpPr>
          <p:cNvPr id="9" name="Shape 6"/>
          <p:cNvSpPr/>
          <p:nvPr/>
        </p:nvSpPr>
        <p:spPr>
          <a:xfrm>
            <a:off x="4297680" y="1645920"/>
            <a:ext cx="3474720" cy="4480560"/>
          </a:xfrm>
          <a:prstGeom prst="roundRect">
            <a:avLst>
              <a:gd name="adj" fmla="val 3158"/>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23560" y="1920240"/>
            <a:ext cx="822960" cy="822960"/>
          </a:xfrm>
          <a:prstGeom prst="rect">
            <a:avLst/>
          </a:prstGeom>
        </p:spPr>
      </p:pic>
      <p:sp>
        <p:nvSpPr>
          <p:cNvPr id="11" name="Text 7"/>
          <p:cNvSpPr txBox="1"/>
          <p:nvPr/>
        </p:nvSpPr>
        <p:spPr>
          <a:xfrm>
            <a:off x="4526280" y="2926080"/>
            <a:ext cx="3017520" cy="640080"/>
          </a:xfrm>
          <a:prstGeom prst="rect">
            <a:avLst/>
          </a:prstGeom>
          <a:noFill/>
          <a:ln/>
        </p:spPr>
        <p:txBody>
          <a:bodyPr wrap="square" lIns="0" tIns="0" rIns="0" bIns="0" rtlCol="0" anchor="t"/>
          <a:lstStyle/>
          <a:p>
            <a:pPr algn="ctr" indent="0" marL="0">
              <a:buNone/>
            </a:pPr>
            <a:r>
              <a:rPr lang="en-US" sz="2600" b="1" dirty="0">
                <a:solidFill>
                  <a:srgbClr val="14284B"/>
                </a:solidFill>
                <a:latin typeface="Arial" pitchFamily="34" charset="0"/>
                <a:ea typeface="Arial" pitchFamily="34" charset="-122"/>
                <a:cs typeface="Arial" pitchFamily="34" charset="-120"/>
              </a:rPr>
              <a:t>Akses &amp; Dokumen</a:t>
            </a:r>
            <a:endParaRPr lang="en-US" sz="2600" dirty="0"/>
          </a:p>
        </p:txBody>
      </p:sp>
      <p:sp>
        <p:nvSpPr>
          <p:cNvPr id="12" name="Text 8"/>
          <p:cNvSpPr txBox="1"/>
          <p:nvPr/>
        </p:nvSpPr>
        <p:spPr>
          <a:xfrm>
            <a:off x="4572000" y="3657600"/>
            <a:ext cx="2926080" cy="228600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Debitor dan pihak yang menguasai harta wajib memberi akses dan dokumen</a:t>
            </a:r>
            <a:endParaRPr lang="en-US" sz="2200" dirty="0"/>
          </a:p>
        </p:txBody>
      </p:sp>
      <p:sp>
        <p:nvSpPr>
          <p:cNvPr id="13" name="Shape 9"/>
          <p:cNvSpPr/>
          <p:nvPr/>
        </p:nvSpPr>
        <p:spPr>
          <a:xfrm>
            <a:off x="8046720" y="1645920"/>
            <a:ext cx="3474720" cy="4480560"/>
          </a:xfrm>
          <a:prstGeom prst="roundRect">
            <a:avLst>
              <a:gd name="adj" fmla="val 3158"/>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372600" y="1920240"/>
            <a:ext cx="822960" cy="822960"/>
          </a:xfrm>
          <a:prstGeom prst="rect">
            <a:avLst/>
          </a:prstGeom>
        </p:spPr>
      </p:pic>
      <p:sp>
        <p:nvSpPr>
          <p:cNvPr id="15" name="Text 10"/>
          <p:cNvSpPr txBox="1"/>
          <p:nvPr/>
        </p:nvSpPr>
        <p:spPr>
          <a:xfrm>
            <a:off x="8275320" y="2926080"/>
            <a:ext cx="3017520" cy="640080"/>
          </a:xfrm>
          <a:prstGeom prst="rect">
            <a:avLst/>
          </a:prstGeom>
          <a:noFill/>
          <a:ln/>
        </p:spPr>
        <p:txBody>
          <a:bodyPr wrap="square" lIns="0" tIns="0" rIns="0" bIns="0" rtlCol="0" anchor="t"/>
          <a:lstStyle/>
          <a:p>
            <a:pPr algn="ctr" indent="0" marL="0">
              <a:buNone/>
            </a:pPr>
            <a:r>
              <a:rPr lang="en-US" sz="2600" b="1" dirty="0">
                <a:solidFill>
                  <a:srgbClr val="14284B"/>
                </a:solidFill>
                <a:latin typeface="Arial" pitchFamily="34" charset="0"/>
                <a:ea typeface="Arial" pitchFamily="34" charset="-122"/>
                <a:cs typeface="Arial" pitchFamily="34" charset="-120"/>
              </a:rPr>
              <a:t>Sanksi Pidana</a:t>
            </a:r>
            <a:endParaRPr lang="en-US" sz="2600" dirty="0"/>
          </a:p>
        </p:txBody>
      </p:sp>
      <p:sp>
        <p:nvSpPr>
          <p:cNvPr id="16" name="Text 11"/>
          <p:cNvSpPr txBox="1"/>
          <p:nvPr/>
        </p:nvSpPr>
        <p:spPr>
          <a:xfrm>
            <a:off x="8321040" y="3657600"/>
            <a:ext cx="2926080" cy="228600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Menghalangi kurator: penjara maks. 2 tahun atau denda kategori IV</a:t>
            </a:r>
            <a:endParaRPr lang="en-US" sz="2200" dirty="0"/>
          </a:p>
        </p:txBody>
      </p:sp>
      <p:sp>
        <p:nvSpPr>
          <p:cNvPr id="17" name="Text 12"/>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8" name="Text 13"/>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7</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Akuntabilitas Pengelolaan Boedel</a:t>
            </a:r>
            <a:endParaRPr lang="en-US" sz="3600" dirty="0"/>
          </a:p>
        </p:txBody>
      </p:sp>
      <p:sp>
        <p:nvSpPr>
          <p:cNvPr id="5" name="Shape 3"/>
          <p:cNvSpPr/>
          <p:nvPr/>
        </p:nvSpPr>
        <p:spPr>
          <a:xfrm>
            <a:off x="548640" y="1645920"/>
            <a:ext cx="4206240" cy="4526280"/>
          </a:xfrm>
          <a:prstGeom prst="roundRect">
            <a:avLst>
              <a:gd name="adj" fmla="val 2609"/>
            </a:avLst>
          </a:prstGeom>
          <a:solidFill>
            <a:srgbClr val="14284B"/>
          </a:solidFill>
          <a:ln w="12700">
            <a:solidFill>
              <a:srgbClr val="14284B"/>
            </a:solidFill>
            <a:prstDash val="solid"/>
          </a:ln>
        </p:spPr>
      </p:sp>
      <p:sp>
        <p:nvSpPr>
          <p:cNvPr id="6" name="Text 4"/>
          <p:cNvSpPr txBox="1"/>
          <p:nvPr/>
        </p:nvSpPr>
        <p:spPr>
          <a:xfrm>
            <a:off x="548640" y="1783080"/>
            <a:ext cx="4206240" cy="1280160"/>
          </a:xfrm>
          <a:prstGeom prst="rect">
            <a:avLst/>
          </a:prstGeom>
          <a:noFill/>
          <a:ln/>
        </p:spPr>
        <p:txBody>
          <a:bodyPr wrap="square" lIns="0" tIns="0" rIns="0" bIns="0" rtlCol="0" anchor="ctr"/>
          <a:lstStyle/>
          <a:p>
            <a:pPr algn="ctr" indent="0" marL="0">
              <a:buNone/>
            </a:pPr>
            <a:r>
              <a:rPr lang="en-US" sz="9600" b="1" dirty="0">
                <a:solidFill>
                  <a:srgbClr val="E0A526"/>
                </a:solidFill>
                <a:latin typeface="Arial" pitchFamily="34" charset="0"/>
                <a:ea typeface="Arial" pitchFamily="34" charset="-122"/>
                <a:cs typeface="Arial" pitchFamily="34" charset="-120"/>
              </a:rPr>
              <a:t>1</a:t>
            </a:r>
            <a:endParaRPr lang="en-US" sz="9600" dirty="0"/>
          </a:p>
        </p:txBody>
      </p:sp>
      <p:sp>
        <p:nvSpPr>
          <p:cNvPr id="7" name="Text 5"/>
          <p:cNvSpPr txBox="1"/>
          <p:nvPr/>
        </p:nvSpPr>
        <p:spPr>
          <a:xfrm>
            <a:off x="777240" y="3063240"/>
            <a:ext cx="3749040" cy="1005840"/>
          </a:xfrm>
          <a:prstGeom prst="rect">
            <a:avLst/>
          </a:prstGeom>
          <a:noFill/>
          <a:ln/>
        </p:spPr>
        <p:txBody>
          <a:bodyPr wrap="square" lIns="0" tIns="0" rIns="0" bIns="0" rtlCol="0" anchor="t"/>
          <a:lstStyle/>
          <a:p>
            <a:pPr algn="ctr" indent="0" marL="0">
              <a:buNone/>
            </a:pPr>
            <a:r>
              <a:rPr lang="en-US" sz="2400" b="1" dirty="0">
                <a:solidFill>
                  <a:srgbClr val="FFFFFF"/>
                </a:solidFill>
                <a:latin typeface="Arial" pitchFamily="34" charset="0"/>
                <a:ea typeface="Arial" pitchFamily="34" charset="-122"/>
                <a:cs typeface="Arial" pitchFamily="34" charset="-120"/>
              </a:rPr>
              <a:t>rekening kepailitan untuk setiap perkara</a:t>
            </a:r>
            <a:endParaRPr lang="en-US" sz="2400" dirty="0"/>
          </a:p>
        </p:txBody>
      </p:sp>
      <p:sp>
        <p:nvSpPr>
          <p:cNvPr id="8" name="Text 6"/>
          <p:cNvSpPr txBox="1"/>
          <p:nvPr/>
        </p:nvSpPr>
        <p:spPr>
          <a:xfrm>
            <a:off x="777240" y="4206240"/>
            <a:ext cx="3749040" cy="1737360"/>
          </a:xfrm>
          <a:prstGeom prst="rect">
            <a:avLst/>
          </a:prstGeom>
          <a:noFill/>
          <a:ln/>
        </p:spPr>
        <p:txBody>
          <a:bodyPr wrap="square" lIns="0" tIns="0" rIns="0" bIns="0" rtlCol="0" anchor="t"/>
          <a:lstStyle/>
          <a:p>
            <a:pPr algn="ctr" indent="0" marL="0">
              <a:buNone/>
            </a:pPr>
            <a:r>
              <a:rPr lang="en-US" sz="2000" dirty="0">
                <a:solidFill>
                  <a:srgbClr val="FFFFFF"/>
                </a:solidFill>
                <a:latin typeface="Arial" pitchFamily="34" charset="0"/>
                <a:ea typeface="Arial" pitchFamily="34" charset="-122"/>
                <a:cs typeface="Arial" pitchFamily="34" charset="-120"/>
              </a:rPr>
              <a:t>Setiap uang masuk &amp; keluar dicatat, ada bukti, dan dilaporkan ke Hakim Pengawas</a:t>
            </a:r>
            <a:endParaRPr lang="en-US" sz="2000" dirty="0"/>
          </a:p>
        </p:txBody>
      </p:sp>
      <p:sp>
        <p:nvSpPr>
          <p:cNvPr id="9" name="Text 7"/>
          <p:cNvSpPr txBox="1"/>
          <p:nvPr/>
        </p:nvSpPr>
        <p:spPr>
          <a:xfrm>
            <a:off x="5120640" y="1600200"/>
            <a:ext cx="6492240" cy="548640"/>
          </a:xfrm>
          <a:prstGeom prst="rect">
            <a:avLst/>
          </a:prstGeom>
          <a:noFill/>
          <a:ln/>
        </p:spPr>
        <p:txBody>
          <a:bodyPr wrap="square" lIns="0" tIns="0" rIns="0" bIns="0" rtlCol="0" anchor="t"/>
          <a:lstStyle/>
          <a:p>
            <a:pPr indent="0" marL="0">
              <a:buNone/>
            </a:pPr>
            <a:r>
              <a:rPr lang="en-US" sz="2600" b="1" dirty="0">
                <a:solidFill>
                  <a:srgbClr val="14284B"/>
                </a:solidFill>
                <a:latin typeface="Arial" pitchFamily="34" charset="0"/>
                <a:ea typeface="Arial" pitchFamily="34" charset="-122"/>
                <a:cs typeface="Arial" pitchFamily="34" charset="-120"/>
              </a:rPr>
              <a:t>Urutan pembayaran</a:t>
            </a:r>
            <a:endParaRPr lang="en-US" sz="2600" dirty="0"/>
          </a:p>
        </p:txBody>
      </p:sp>
      <p:sp>
        <p:nvSpPr>
          <p:cNvPr id="10" name="Shape 8"/>
          <p:cNvSpPr/>
          <p:nvPr/>
        </p:nvSpPr>
        <p:spPr>
          <a:xfrm>
            <a:off x="5120640" y="2194560"/>
            <a:ext cx="502920" cy="502920"/>
          </a:xfrm>
          <a:prstGeom prst="ellipse">
            <a:avLst/>
          </a:prstGeom>
          <a:solidFill>
            <a:srgbClr val="14284B"/>
          </a:solidFill>
          <a:ln w="12700">
            <a:solidFill>
              <a:srgbClr val="14284B"/>
            </a:solidFill>
            <a:prstDash val="solid"/>
          </a:ln>
        </p:spPr>
      </p:sp>
      <p:sp>
        <p:nvSpPr>
          <p:cNvPr id="11" name="Text 9"/>
          <p:cNvSpPr txBox="1"/>
          <p:nvPr/>
        </p:nvSpPr>
        <p:spPr>
          <a:xfrm>
            <a:off x="5120640" y="219456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2" name="Text 10"/>
          <p:cNvSpPr txBox="1"/>
          <p:nvPr/>
        </p:nvSpPr>
        <p:spPr>
          <a:xfrm>
            <a:off x="5806440" y="2194560"/>
            <a:ext cx="5806440" cy="50292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Biaya kepailitan &amp; imbalan kurator</a:t>
            </a:r>
            <a:endParaRPr lang="en-US" sz="2200" dirty="0"/>
          </a:p>
        </p:txBody>
      </p:sp>
      <p:sp>
        <p:nvSpPr>
          <p:cNvPr id="13" name="Shape 11"/>
          <p:cNvSpPr/>
          <p:nvPr/>
        </p:nvSpPr>
        <p:spPr>
          <a:xfrm>
            <a:off x="5120640" y="2798064"/>
            <a:ext cx="502920" cy="502920"/>
          </a:xfrm>
          <a:prstGeom prst="ellipse">
            <a:avLst/>
          </a:prstGeom>
          <a:solidFill>
            <a:srgbClr val="14284B"/>
          </a:solidFill>
          <a:ln w="12700">
            <a:solidFill>
              <a:srgbClr val="14284B"/>
            </a:solidFill>
            <a:prstDash val="solid"/>
          </a:ln>
        </p:spPr>
      </p:sp>
      <p:sp>
        <p:nvSpPr>
          <p:cNvPr id="14" name="Text 12"/>
          <p:cNvSpPr txBox="1"/>
          <p:nvPr/>
        </p:nvSpPr>
        <p:spPr>
          <a:xfrm>
            <a:off x="5120640" y="2798064"/>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5" name="Text 13"/>
          <p:cNvSpPr txBox="1"/>
          <p:nvPr/>
        </p:nvSpPr>
        <p:spPr>
          <a:xfrm>
            <a:off x="5806440" y="2798064"/>
            <a:ext cx="5806440" cy="50292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Upah pekerja yang terutang</a:t>
            </a:r>
            <a:endParaRPr lang="en-US" sz="2200" dirty="0"/>
          </a:p>
        </p:txBody>
      </p:sp>
      <p:sp>
        <p:nvSpPr>
          <p:cNvPr id="16" name="Shape 14"/>
          <p:cNvSpPr/>
          <p:nvPr/>
        </p:nvSpPr>
        <p:spPr>
          <a:xfrm>
            <a:off x="5120640" y="3401568"/>
            <a:ext cx="502920" cy="502920"/>
          </a:xfrm>
          <a:prstGeom prst="ellipse">
            <a:avLst/>
          </a:prstGeom>
          <a:solidFill>
            <a:srgbClr val="14284B"/>
          </a:solidFill>
          <a:ln w="12700">
            <a:solidFill>
              <a:srgbClr val="14284B"/>
            </a:solidFill>
            <a:prstDash val="solid"/>
          </a:ln>
        </p:spPr>
      </p:sp>
      <p:sp>
        <p:nvSpPr>
          <p:cNvPr id="17" name="Text 15"/>
          <p:cNvSpPr txBox="1"/>
          <p:nvPr/>
        </p:nvSpPr>
        <p:spPr>
          <a:xfrm>
            <a:off x="5120640" y="34015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18" name="Text 16"/>
          <p:cNvSpPr txBox="1"/>
          <p:nvPr/>
        </p:nvSpPr>
        <p:spPr>
          <a:xfrm>
            <a:off x="5806440" y="3401568"/>
            <a:ext cx="5806440" cy="50292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Kreditor pemegang jaminan kebendaan</a:t>
            </a:r>
            <a:endParaRPr lang="en-US" sz="2200" dirty="0"/>
          </a:p>
        </p:txBody>
      </p:sp>
      <p:sp>
        <p:nvSpPr>
          <p:cNvPr id="19" name="Shape 17"/>
          <p:cNvSpPr/>
          <p:nvPr/>
        </p:nvSpPr>
        <p:spPr>
          <a:xfrm>
            <a:off x="5120640" y="4005072"/>
            <a:ext cx="502920" cy="502920"/>
          </a:xfrm>
          <a:prstGeom prst="ellipse">
            <a:avLst/>
          </a:prstGeom>
          <a:solidFill>
            <a:srgbClr val="14284B"/>
          </a:solidFill>
          <a:ln w="12700">
            <a:solidFill>
              <a:srgbClr val="14284B"/>
            </a:solidFill>
            <a:prstDash val="solid"/>
          </a:ln>
        </p:spPr>
      </p:sp>
      <p:sp>
        <p:nvSpPr>
          <p:cNvPr id="20" name="Text 18"/>
          <p:cNvSpPr txBox="1"/>
          <p:nvPr/>
        </p:nvSpPr>
        <p:spPr>
          <a:xfrm>
            <a:off x="5120640" y="4005072"/>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21" name="Text 19"/>
          <p:cNvSpPr txBox="1"/>
          <p:nvPr/>
        </p:nvSpPr>
        <p:spPr>
          <a:xfrm>
            <a:off x="5806440" y="4005072"/>
            <a:ext cx="5806440" cy="50292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Hak pekerja lainnya</a:t>
            </a:r>
            <a:endParaRPr lang="en-US" sz="2200" dirty="0"/>
          </a:p>
        </p:txBody>
      </p:sp>
      <p:sp>
        <p:nvSpPr>
          <p:cNvPr id="22" name="Shape 20"/>
          <p:cNvSpPr/>
          <p:nvPr/>
        </p:nvSpPr>
        <p:spPr>
          <a:xfrm>
            <a:off x="5120640" y="4608576"/>
            <a:ext cx="502920" cy="502920"/>
          </a:xfrm>
          <a:prstGeom prst="ellipse">
            <a:avLst/>
          </a:prstGeom>
          <a:solidFill>
            <a:srgbClr val="14284B"/>
          </a:solidFill>
          <a:ln w="12700">
            <a:solidFill>
              <a:srgbClr val="14284B"/>
            </a:solidFill>
            <a:prstDash val="solid"/>
          </a:ln>
        </p:spPr>
      </p:sp>
      <p:sp>
        <p:nvSpPr>
          <p:cNvPr id="23" name="Text 21"/>
          <p:cNvSpPr txBox="1"/>
          <p:nvPr/>
        </p:nvSpPr>
        <p:spPr>
          <a:xfrm>
            <a:off x="5120640" y="4608576"/>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5</a:t>
            </a:r>
            <a:endParaRPr lang="en-US" sz="2200" dirty="0"/>
          </a:p>
        </p:txBody>
      </p:sp>
      <p:sp>
        <p:nvSpPr>
          <p:cNvPr id="24" name="Text 22"/>
          <p:cNvSpPr txBox="1"/>
          <p:nvPr/>
        </p:nvSpPr>
        <p:spPr>
          <a:xfrm>
            <a:off x="5806440" y="4608576"/>
            <a:ext cx="5806440" cy="50292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Tagihan negara &amp; hak didahulukan</a:t>
            </a:r>
            <a:endParaRPr lang="en-US" sz="2200" dirty="0"/>
          </a:p>
        </p:txBody>
      </p:sp>
      <p:sp>
        <p:nvSpPr>
          <p:cNvPr id="25" name="Shape 23"/>
          <p:cNvSpPr/>
          <p:nvPr/>
        </p:nvSpPr>
        <p:spPr>
          <a:xfrm>
            <a:off x="5120640" y="5212080"/>
            <a:ext cx="502920" cy="502920"/>
          </a:xfrm>
          <a:prstGeom prst="ellipse">
            <a:avLst/>
          </a:prstGeom>
          <a:solidFill>
            <a:srgbClr val="14284B"/>
          </a:solidFill>
          <a:ln w="12700">
            <a:solidFill>
              <a:srgbClr val="14284B"/>
            </a:solidFill>
            <a:prstDash val="solid"/>
          </a:ln>
        </p:spPr>
      </p:sp>
      <p:sp>
        <p:nvSpPr>
          <p:cNvPr id="26" name="Text 24"/>
          <p:cNvSpPr txBox="1"/>
          <p:nvPr/>
        </p:nvSpPr>
        <p:spPr>
          <a:xfrm>
            <a:off x="5120640" y="52120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6</a:t>
            </a:r>
            <a:endParaRPr lang="en-US" sz="2200" dirty="0"/>
          </a:p>
        </p:txBody>
      </p:sp>
      <p:sp>
        <p:nvSpPr>
          <p:cNvPr id="27" name="Text 25"/>
          <p:cNvSpPr txBox="1"/>
          <p:nvPr/>
        </p:nvSpPr>
        <p:spPr>
          <a:xfrm>
            <a:off x="5806440" y="5212080"/>
            <a:ext cx="5806440" cy="502920"/>
          </a:xfrm>
          <a:prstGeom prst="rect">
            <a:avLst/>
          </a:prstGeom>
          <a:noFill/>
          <a:ln/>
        </p:spPr>
        <p:txBody>
          <a:bodyPr wrap="square" lIns="0" tIns="0" rIns="0" bIns="0" rtlCol="0" anchor="ctr"/>
          <a:lstStyle/>
          <a:p>
            <a:pPr indent="0" marL="0">
              <a:buNone/>
            </a:pPr>
            <a:r>
              <a:rPr lang="en-US" sz="2200" dirty="0">
                <a:solidFill>
                  <a:srgbClr val="1A1A1A"/>
                </a:solidFill>
                <a:latin typeface="Arial" pitchFamily="34" charset="0"/>
                <a:ea typeface="Arial" pitchFamily="34" charset="-122"/>
                <a:cs typeface="Arial" pitchFamily="34" charset="-120"/>
              </a:rPr>
              <a:t>Kreditor konkuren (seimbang)</a:t>
            </a:r>
            <a:endParaRPr lang="en-US" sz="2200" dirty="0"/>
          </a:p>
        </p:txBody>
      </p:sp>
      <p:sp>
        <p:nvSpPr>
          <p:cNvPr id="28" name="Text 26"/>
          <p:cNvSpPr txBox="1"/>
          <p:nvPr/>
        </p:nvSpPr>
        <p:spPr>
          <a:xfrm>
            <a:off x="5120640" y="5806440"/>
            <a:ext cx="6492240" cy="411480"/>
          </a:xfrm>
          <a:prstGeom prst="rect">
            <a:avLst/>
          </a:prstGeom>
          <a:noFill/>
          <a:ln/>
        </p:spPr>
        <p:txBody>
          <a:bodyPr wrap="square" lIns="0" tIns="0" rIns="0" bIns="0" rtlCol="0" anchor="t"/>
          <a:lstStyle/>
          <a:p>
            <a:pPr indent="0" marL="0">
              <a:buNone/>
            </a:pPr>
            <a:r>
              <a:rPr lang="en-US" sz="1800" b="1" dirty="0">
                <a:solidFill>
                  <a:srgbClr val="14284B"/>
                </a:solidFill>
                <a:latin typeface="Arial" pitchFamily="34" charset="0"/>
                <a:ea typeface="Arial" pitchFamily="34" charset="-122"/>
                <a:cs typeface="Arial" pitchFamily="34" charset="-120"/>
              </a:rPr>
              <a:t>Memperhatikan Putusan MK 67/PUU-XI/2013</a:t>
            </a:r>
            <a:endParaRPr lang="en-US" sz="1800" dirty="0"/>
          </a:p>
        </p:txBody>
      </p:sp>
      <p:sp>
        <p:nvSpPr>
          <p:cNvPr id="29" name="Text 27"/>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30" name="Text 28"/>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8</a:t>
            </a:r>
            <a:endParaRPr lang="en-US" sz="40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Pembagian Pengawasan</a:t>
            </a:r>
            <a:endParaRPr lang="en-US" sz="3600" dirty="0"/>
          </a:p>
        </p:txBody>
      </p:sp>
      <p:sp>
        <p:nvSpPr>
          <p:cNvPr id="5" name="Shape 3"/>
          <p:cNvSpPr/>
          <p:nvPr/>
        </p:nvSpPr>
        <p:spPr>
          <a:xfrm>
            <a:off x="548640" y="1645920"/>
            <a:ext cx="3474720" cy="3566160"/>
          </a:xfrm>
          <a:prstGeom prst="roundRect">
            <a:avLst>
              <a:gd name="adj" fmla="val 3158"/>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1874520" y="1920240"/>
            <a:ext cx="822960" cy="822960"/>
          </a:xfrm>
          <a:prstGeom prst="rect">
            <a:avLst/>
          </a:prstGeom>
        </p:spPr>
      </p:pic>
      <p:sp>
        <p:nvSpPr>
          <p:cNvPr id="7" name="Text 4"/>
          <p:cNvSpPr txBox="1"/>
          <p:nvPr/>
        </p:nvSpPr>
        <p:spPr>
          <a:xfrm>
            <a:off x="777240" y="2880360"/>
            <a:ext cx="3017520" cy="914400"/>
          </a:xfrm>
          <a:prstGeom prst="rect">
            <a:avLst/>
          </a:prstGeom>
          <a:noFill/>
          <a:ln/>
        </p:spPr>
        <p:txBody>
          <a:bodyPr wrap="square" lIns="0" tIns="0" rIns="0" bIns="0" rtlCol="0" anchor="ctr"/>
          <a:lstStyle/>
          <a:p>
            <a:pPr algn="ctr" indent="0" marL="0">
              <a:buNone/>
            </a:pPr>
            <a:r>
              <a:rPr lang="en-US" sz="2400" b="1" dirty="0">
                <a:solidFill>
                  <a:srgbClr val="14284B"/>
                </a:solidFill>
                <a:latin typeface="Arial" pitchFamily="34" charset="0"/>
                <a:ea typeface="Arial" pitchFamily="34" charset="-122"/>
                <a:cs typeface="Arial" pitchFamily="34" charset="-120"/>
              </a:rPr>
              <a:t>Hakim Pengawas</a:t>
            </a:r>
            <a:endParaRPr lang="en-US" sz="2400" dirty="0"/>
          </a:p>
        </p:txBody>
      </p:sp>
      <p:sp>
        <p:nvSpPr>
          <p:cNvPr id="8" name="Text 5"/>
          <p:cNvSpPr txBox="1"/>
          <p:nvPr/>
        </p:nvSpPr>
        <p:spPr>
          <a:xfrm>
            <a:off x="822960" y="3840480"/>
            <a:ext cx="2926080" cy="128016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Pengawasan yuridis atas pengurusan dan pemberesan</a:t>
            </a:r>
            <a:endParaRPr lang="en-US" sz="2200" dirty="0"/>
          </a:p>
        </p:txBody>
      </p:sp>
      <p:sp>
        <p:nvSpPr>
          <p:cNvPr id="9" name="Shape 6"/>
          <p:cNvSpPr/>
          <p:nvPr/>
        </p:nvSpPr>
        <p:spPr>
          <a:xfrm>
            <a:off x="4297680" y="1645920"/>
            <a:ext cx="3474720" cy="3566160"/>
          </a:xfrm>
          <a:prstGeom prst="roundRect">
            <a:avLst>
              <a:gd name="adj" fmla="val 3158"/>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5623560" y="1920240"/>
            <a:ext cx="822960" cy="822960"/>
          </a:xfrm>
          <a:prstGeom prst="rect">
            <a:avLst/>
          </a:prstGeom>
        </p:spPr>
      </p:pic>
      <p:sp>
        <p:nvSpPr>
          <p:cNvPr id="11" name="Text 7"/>
          <p:cNvSpPr txBox="1"/>
          <p:nvPr/>
        </p:nvSpPr>
        <p:spPr>
          <a:xfrm>
            <a:off x="4526280" y="2880360"/>
            <a:ext cx="3017520" cy="914400"/>
          </a:xfrm>
          <a:prstGeom prst="rect">
            <a:avLst/>
          </a:prstGeom>
          <a:noFill/>
          <a:ln/>
        </p:spPr>
        <p:txBody>
          <a:bodyPr wrap="square" lIns="0" tIns="0" rIns="0" bIns="0" rtlCol="0" anchor="ctr"/>
          <a:lstStyle/>
          <a:p>
            <a:pPr algn="ctr" indent="0" marL="0">
              <a:buNone/>
            </a:pPr>
            <a:r>
              <a:rPr lang="en-US" sz="2400" b="1" dirty="0">
                <a:solidFill>
                  <a:srgbClr val="14284B"/>
                </a:solidFill>
                <a:latin typeface="Arial" pitchFamily="34" charset="0"/>
                <a:ea typeface="Arial" pitchFamily="34" charset="-122"/>
                <a:cs typeface="Arial" pitchFamily="34" charset="-120"/>
              </a:rPr>
              <a:t>Majelis Pengawas Kurator</a:t>
            </a:r>
            <a:endParaRPr lang="en-US" sz="2400" dirty="0"/>
          </a:p>
        </p:txBody>
      </p:sp>
      <p:sp>
        <p:nvSpPr>
          <p:cNvPr id="12" name="Text 8"/>
          <p:cNvSpPr txBox="1"/>
          <p:nvPr/>
        </p:nvSpPr>
        <p:spPr>
          <a:xfrm>
            <a:off x="4572000" y="3840480"/>
            <a:ext cx="2926080" cy="128016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Pengawasan teknis dan administratif</a:t>
            </a:r>
            <a:endParaRPr lang="en-US" sz="2200" dirty="0"/>
          </a:p>
        </p:txBody>
      </p:sp>
      <p:sp>
        <p:nvSpPr>
          <p:cNvPr id="13" name="Shape 9"/>
          <p:cNvSpPr/>
          <p:nvPr/>
        </p:nvSpPr>
        <p:spPr>
          <a:xfrm>
            <a:off x="8046720" y="1645920"/>
            <a:ext cx="3474720" cy="3566160"/>
          </a:xfrm>
          <a:prstGeom prst="roundRect">
            <a:avLst>
              <a:gd name="adj" fmla="val 3158"/>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9372600" y="1920240"/>
            <a:ext cx="822960" cy="822960"/>
          </a:xfrm>
          <a:prstGeom prst="rect">
            <a:avLst/>
          </a:prstGeom>
        </p:spPr>
      </p:pic>
      <p:sp>
        <p:nvSpPr>
          <p:cNvPr id="15" name="Text 10"/>
          <p:cNvSpPr txBox="1"/>
          <p:nvPr/>
        </p:nvSpPr>
        <p:spPr>
          <a:xfrm>
            <a:off x="8275320" y="2880360"/>
            <a:ext cx="3017520" cy="914400"/>
          </a:xfrm>
          <a:prstGeom prst="rect">
            <a:avLst/>
          </a:prstGeom>
          <a:noFill/>
          <a:ln/>
        </p:spPr>
        <p:txBody>
          <a:bodyPr wrap="square" lIns="0" tIns="0" rIns="0" bIns="0" rtlCol="0" anchor="ctr"/>
          <a:lstStyle/>
          <a:p>
            <a:pPr algn="ctr" indent="0" marL="0">
              <a:buNone/>
            </a:pPr>
            <a:r>
              <a:rPr lang="en-US" sz="2400" b="1" dirty="0">
                <a:solidFill>
                  <a:srgbClr val="14284B"/>
                </a:solidFill>
                <a:latin typeface="Arial" pitchFamily="34" charset="0"/>
                <a:ea typeface="Arial" pitchFamily="34" charset="-122"/>
                <a:cs typeface="Arial" pitchFamily="34" charset="-120"/>
              </a:rPr>
              <a:t>Komite Bersama</a:t>
            </a:r>
            <a:endParaRPr lang="en-US" sz="2400" dirty="0"/>
          </a:p>
        </p:txBody>
      </p:sp>
      <p:sp>
        <p:nvSpPr>
          <p:cNvPr id="16" name="Text 11"/>
          <p:cNvSpPr txBox="1"/>
          <p:nvPr/>
        </p:nvSpPr>
        <p:spPr>
          <a:xfrm>
            <a:off x="8321040" y="3840480"/>
            <a:ext cx="2926080" cy="1280160"/>
          </a:xfrm>
          <a:prstGeom prst="rect">
            <a:avLst/>
          </a:prstGeom>
          <a:noFill/>
          <a:ln/>
        </p:spPr>
        <p:txBody>
          <a:bodyPr wrap="square" lIns="0" tIns="0" rIns="0" bIns="0" rtlCol="0" anchor="t"/>
          <a:lstStyle/>
          <a:p>
            <a:pPr algn="ctr" indent="0" marL="0">
              <a:buNone/>
            </a:pPr>
            <a:r>
              <a:rPr lang="en-US" sz="2200" dirty="0">
                <a:solidFill>
                  <a:srgbClr val="1A1A1A"/>
                </a:solidFill>
                <a:latin typeface="Arial" pitchFamily="34" charset="0"/>
                <a:ea typeface="Arial" pitchFamily="34" charset="-122"/>
                <a:cs typeface="Arial" pitchFamily="34" charset="-120"/>
              </a:rPr>
              <a:t>Pengembangan profesi dan organisasi</a:t>
            </a:r>
            <a:endParaRPr lang="en-US" sz="2200" dirty="0"/>
          </a:p>
        </p:txBody>
      </p:sp>
      <p:sp>
        <p:nvSpPr>
          <p:cNvPr id="17" name="Text 12"/>
          <p:cNvSpPr txBox="1"/>
          <p:nvPr/>
        </p:nvSpPr>
        <p:spPr>
          <a:xfrm>
            <a:off x="548640" y="5440680"/>
            <a:ext cx="11064240" cy="777240"/>
          </a:xfrm>
          <a:prstGeom prst="rect">
            <a:avLst/>
          </a:prstGeom>
          <a:noFill/>
          <a:ln/>
        </p:spPr>
        <p:txBody>
          <a:bodyPr wrap="square" lIns="0" tIns="0" rIns="0" bIns="0" rtlCol="0" anchor="ctr"/>
          <a:lstStyle/>
          <a:p>
            <a:pPr algn="ctr" indent="0" marL="0">
              <a:buNone/>
            </a:pPr>
            <a:r>
              <a:rPr lang="en-US" sz="2200" b="1" dirty="0">
                <a:solidFill>
                  <a:srgbClr val="14284B"/>
                </a:solidFill>
                <a:latin typeface="Arial" pitchFamily="34" charset="0"/>
                <a:ea typeface="Arial" pitchFamily="34" charset="-122"/>
                <a:cs typeface="Arial" pitchFamily="34" charset="-120"/>
              </a:rPr>
              <a:t>Tidak mengurangi kewenangan Menteri dalam pembinaan kepegawaian pejabat Kurator Keperdataan</a:t>
            </a:r>
            <a:endParaRPr lang="en-US" sz="2200" dirty="0"/>
          </a:p>
        </p:txBody>
      </p:sp>
      <p:sp>
        <p:nvSpPr>
          <p:cNvPr id="18" name="Text 13"/>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9" name="Text 14"/>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14</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600" b="1" dirty="0">
                <a:solidFill>
                  <a:srgbClr val="E0A526"/>
                </a:solidFill>
                <a:latin typeface="Arial" pitchFamily="34" charset="0"/>
                <a:ea typeface="Arial" pitchFamily="34" charset="-122"/>
                <a:cs typeface="Arial" pitchFamily="34" charset="-120"/>
              </a:rPr>
              <a:t>9–10</a:t>
            </a:r>
            <a:endParaRPr lang="en-US" sz="26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Data Harta dan Imbalan Jasa</a:t>
            </a:r>
            <a:endParaRPr lang="en-US" sz="3600" dirty="0"/>
          </a:p>
        </p:txBody>
      </p:sp>
      <p:sp>
        <p:nvSpPr>
          <p:cNvPr id="5" name="Shape 3"/>
          <p:cNvSpPr/>
          <p:nvPr/>
        </p:nvSpPr>
        <p:spPr>
          <a:xfrm>
            <a:off x="548640" y="1645920"/>
            <a:ext cx="5349240" cy="4526280"/>
          </a:xfrm>
          <a:prstGeom prst="roundRect">
            <a:avLst>
              <a:gd name="adj" fmla="val 2424"/>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74520"/>
            <a:ext cx="640080" cy="640080"/>
          </a:xfrm>
          <a:prstGeom prst="rect">
            <a:avLst/>
          </a:prstGeom>
        </p:spPr>
      </p:pic>
      <p:sp>
        <p:nvSpPr>
          <p:cNvPr id="7" name="Text 4"/>
          <p:cNvSpPr txBox="1"/>
          <p:nvPr/>
        </p:nvSpPr>
        <p:spPr>
          <a:xfrm>
            <a:off x="1645920" y="1874520"/>
            <a:ext cx="4114800" cy="6400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Kewajiban Penyediaan Data</a:t>
            </a:r>
            <a:endParaRPr lang="en-US" sz="2400" dirty="0"/>
          </a:p>
        </p:txBody>
      </p:sp>
      <p:sp>
        <p:nvSpPr>
          <p:cNvPr id="8" name="Text 5"/>
          <p:cNvSpPr txBox="1"/>
          <p:nvPr/>
        </p:nvSpPr>
        <p:spPr>
          <a:xfrm>
            <a:off x="822960" y="2743200"/>
            <a:ext cx="4846320" cy="3291840"/>
          </a:xfrm>
          <a:prstGeom prst="rect">
            <a:avLst/>
          </a:prstGeom>
          <a:noFill/>
          <a:ln/>
        </p:spPr>
        <p:txBody>
          <a:bodyPr wrap="square" lIns="0" tIns="0" rIns="0" bIns="0" rtlCol="0" anchor="t"/>
          <a:lstStyle/>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BPN, SAMSAT, KSEI, perbankan wajib beri data maks. 14 hari kerja</a:t>
            </a:r>
            <a:endParaRPr lang="en-US" sz="2200" dirty="0"/>
          </a:p>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Rahasia bank tidak berlaku bagi kurator</a:t>
            </a:r>
            <a:endParaRPr lang="en-US" sz="2200" dirty="0"/>
          </a:p>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Sistem informasi terintegrasi; data pribadi tetap dilindungi</a:t>
            </a:r>
            <a:endParaRPr lang="en-US" sz="2200" dirty="0"/>
          </a:p>
        </p:txBody>
      </p:sp>
      <p:sp>
        <p:nvSpPr>
          <p:cNvPr id="9" name="Shape 6"/>
          <p:cNvSpPr/>
          <p:nvPr/>
        </p:nvSpPr>
        <p:spPr>
          <a:xfrm>
            <a:off x="6263640" y="1645920"/>
            <a:ext cx="5349240" cy="4526280"/>
          </a:xfrm>
          <a:prstGeom prst="roundRect">
            <a:avLst>
              <a:gd name="adj" fmla="val 2424"/>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37960" y="1874520"/>
            <a:ext cx="640080" cy="640080"/>
          </a:xfrm>
          <a:prstGeom prst="rect">
            <a:avLst/>
          </a:prstGeom>
        </p:spPr>
      </p:pic>
      <p:sp>
        <p:nvSpPr>
          <p:cNvPr id="11" name="Text 7"/>
          <p:cNvSpPr txBox="1"/>
          <p:nvPr/>
        </p:nvSpPr>
        <p:spPr>
          <a:xfrm>
            <a:off x="7360920" y="1874520"/>
            <a:ext cx="4114800" cy="6400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Imbalan Jasa</a:t>
            </a:r>
            <a:endParaRPr lang="en-US" sz="2400" dirty="0"/>
          </a:p>
        </p:txBody>
      </p:sp>
      <p:sp>
        <p:nvSpPr>
          <p:cNvPr id="12" name="Text 8"/>
          <p:cNvSpPr txBox="1"/>
          <p:nvPr/>
        </p:nvSpPr>
        <p:spPr>
          <a:xfrm>
            <a:off x="6537960" y="2743200"/>
            <a:ext cx="4846320" cy="3291840"/>
          </a:xfrm>
          <a:prstGeom prst="rect">
            <a:avLst/>
          </a:prstGeom>
          <a:noFill/>
          <a:ln/>
        </p:spPr>
        <p:txBody>
          <a:bodyPr wrap="square" lIns="0" tIns="0" rIns="0" bIns="0" rtlCol="0" anchor="t"/>
          <a:lstStyle/>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Ditetapkan Pengadilan berdasarkan pedoman Menteri (Permenkum 20/2025)</a:t>
            </a:r>
            <a:endParaRPr lang="en-US" sz="2200" dirty="0"/>
          </a:p>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Imbalan jasa yang diterima BHP merupakan PNBP</a:t>
            </a:r>
            <a:endParaRPr lang="en-US" sz="2200" dirty="0"/>
          </a:p>
        </p:txBody>
      </p:sp>
      <p:sp>
        <p:nvSpPr>
          <p:cNvPr id="13" name="Text 9"/>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4" name="Text 10"/>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2600" b="1" dirty="0">
                <a:solidFill>
                  <a:srgbClr val="E0A526"/>
                </a:solidFill>
                <a:latin typeface="Arial" pitchFamily="34" charset="0"/>
                <a:ea typeface="Arial" pitchFamily="34" charset="-122"/>
                <a:cs typeface="Arial" pitchFamily="34" charset="-120"/>
              </a:rPr>
              <a:t>11–12</a:t>
            </a:r>
            <a:endParaRPr lang="en-US" sz="2600" dirty="0"/>
          </a:p>
        </p:txBody>
      </p:sp>
      <p:sp>
        <p:nvSpPr>
          <p:cNvPr id="4" name="Text 2"/>
          <p:cNvSpPr txBox="1"/>
          <p:nvPr/>
        </p:nvSpPr>
        <p:spPr>
          <a:xfrm>
            <a:off x="1783080" y="411480"/>
            <a:ext cx="9859975" cy="960120"/>
          </a:xfrm>
          <a:prstGeom prst="rect">
            <a:avLst/>
          </a:prstGeom>
          <a:noFill/>
          <a:ln/>
        </p:spPr>
        <p:txBody>
          <a:bodyPr wrap="square" lIns="0" tIns="0" rIns="0" bIns="0" rtlCol="0" anchor="ctr"/>
          <a:lstStyle/>
          <a:p>
            <a:pPr indent="0" marL="0">
              <a:buNone/>
            </a:pPr>
            <a:r>
              <a:rPr lang="en-US" sz="3600" b="1" dirty="0">
                <a:solidFill>
                  <a:srgbClr val="14284B"/>
                </a:solidFill>
                <a:latin typeface="Arial" pitchFamily="34" charset="0"/>
                <a:ea typeface="Arial" pitchFamily="34" charset="-122"/>
                <a:cs typeface="Arial" pitchFamily="34" charset="-120"/>
              </a:rPr>
              <a:t>Lintas Batas dan Pengaduan</a:t>
            </a:r>
            <a:endParaRPr lang="en-US" sz="3600" dirty="0"/>
          </a:p>
        </p:txBody>
      </p:sp>
      <p:sp>
        <p:nvSpPr>
          <p:cNvPr id="5" name="Shape 3"/>
          <p:cNvSpPr/>
          <p:nvPr/>
        </p:nvSpPr>
        <p:spPr>
          <a:xfrm>
            <a:off x="548640" y="1645920"/>
            <a:ext cx="5349240" cy="4526280"/>
          </a:xfrm>
          <a:prstGeom prst="roundRect">
            <a:avLst>
              <a:gd name="adj" fmla="val 2424"/>
            </a:avLst>
          </a:prstGeom>
          <a:solidFill>
            <a:srgbClr val="EEF2F8"/>
          </a:solidFill>
          <a:ln w="12700">
            <a:solidFill>
              <a:srgbClr val="EEF2F8"/>
            </a:solidFill>
            <a:prstDash val="solid"/>
          </a:ln>
        </p:spPr>
      </p:sp>
      <p:pic>
        <p:nvPicPr>
          <p:cNvPr id="6" name="Image 0" descr="preencoded.png">    </p:cNvPr>
          <p:cNvPicPr>
            <a:picLocks noChangeAspect="1"/>
          </p:cNvPicPr>
          <p:nvPr/>
        </p:nvPicPr>
        <p:blipFill>
          <a:blip r:embed="rId1"/>
          <a:stretch>
            <a:fillRect/>
          </a:stretch>
        </p:blipFill>
        <p:spPr>
          <a:xfrm>
            <a:off x="822960" y="1874520"/>
            <a:ext cx="640080" cy="640080"/>
          </a:xfrm>
          <a:prstGeom prst="rect">
            <a:avLst/>
          </a:prstGeom>
        </p:spPr>
      </p:pic>
      <p:sp>
        <p:nvSpPr>
          <p:cNvPr id="7" name="Text 4"/>
          <p:cNvSpPr txBox="1"/>
          <p:nvPr/>
        </p:nvSpPr>
        <p:spPr>
          <a:xfrm>
            <a:off x="1645920" y="1874520"/>
            <a:ext cx="4114800" cy="6400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Kepailitan Lintas Batas</a:t>
            </a:r>
            <a:endParaRPr lang="en-US" sz="2400" dirty="0"/>
          </a:p>
        </p:txBody>
      </p:sp>
      <p:sp>
        <p:nvSpPr>
          <p:cNvPr id="8" name="Text 5"/>
          <p:cNvSpPr txBox="1"/>
          <p:nvPr/>
        </p:nvSpPr>
        <p:spPr>
          <a:xfrm>
            <a:off x="822960" y="2743200"/>
            <a:ext cx="4846320" cy="3291840"/>
          </a:xfrm>
          <a:prstGeom prst="rect">
            <a:avLst/>
          </a:prstGeom>
          <a:noFill/>
          <a:ln/>
        </p:spPr>
        <p:txBody>
          <a:bodyPr wrap="square" lIns="0" tIns="0" rIns="0" bIns="0" rtlCol="0" anchor="t"/>
          <a:lstStyle/>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Kurator patuh hukum &amp; perjanjian internasional</a:t>
            </a:r>
            <a:endParaRPr lang="en-US" sz="2200" dirty="0"/>
          </a:p>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Kerja sama dengan pengadilan asing</a:t>
            </a:r>
            <a:endParaRPr lang="en-US" sz="2200" dirty="0"/>
          </a:p>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Kurator asing bertindak bersama kurator terdaftar di Indonesia</a:t>
            </a:r>
            <a:endParaRPr lang="en-US" sz="2200" dirty="0"/>
          </a:p>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Acuan: UNCITRAL Model Law 1997</a:t>
            </a:r>
            <a:endParaRPr lang="en-US" sz="2200" dirty="0"/>
          </a:p>
        </p:txBody>
      </p:sp>
      <p:sp>
        <p:nvSpPr>
          <p:cNvPr id="9" name="Shape 6"/>
          <p:cNvSpPr/>
          <p:nvPr/>
        </p:nvSpPr>
        <p:spPr>
          <a:xfrm>
            <a:off x="6263640" y="1645920"/>
            <a:ext cx="5349240" cy="4526280"/>
          </a:xfrm>
          <a:prstGeom prst="roundRect">
            <a:avLst>
              <a:gd name="adj" fmla="val 2424"/>
            </a:avLst>
          </a:prstGeom>
          <a:solidFill>
            <a:srgbClr val="EEF2F8"/>
          </a:solidFill>
          <a:ln w="12700">
            <a:solidFill>
              <a:srgbClr val="EEF2F8"/>
            </a:solidFill>
            <a:prstDash val="solid"/>
          </a:ln>
        </p:spPr>
      </p:sp>
      <p:pic>
        <p:nvPicPr>
          <p:cNvPr id="10" name="Image 1" descr="preencoded.png">    </p:cNvPr>
          <p:cNvPicPr>
            <a:picLocks noChangeAspect="1"/>
          </p:cNvPicPr>
          <p:nvPr/>
        </p:nvPicPr>
        <p:blipFill>
          <a:blip r:embed="rId2"/>
          <a:stretch>
            <a:fillRect/>
          </a:stretch>
        </p:blipFill>
        <p:spPr>
          <a:xfrm>
            <a:off x="6537960" y="1874520"/>
            <a:ext cx="640080" cy="640080"/>
          </a:xfrm>
          <a:prstGeom prst="rect">
            <a:avLst/>
          </a:prstGeom>
        </p:spPr>
      </p:pic>
      <p:sp>
        <p:nvSpPr>
          <p:cNvPr id="11" name="Text 7"/>
          <p:cNvSpPr txBox="1"/>
          <p:nvPr/>
        </p:nvSpPr>
        <p:spPr>
          <a:xfrm>
            <a:off x="7360920" y="1874520"/>
            <a:ext cx="4114800" cy="640080"/>
          </a:xfrm>
          <a:prstGeom prst="rect">
            <a:avLst/>
          </a:prstGeom>
          <a:noFill/>
          <a:ln/>
        </p:spPr>
        <p:txBody>
          <a:bodyPr wrap="square" lIns="0" tIns="0" rIns="0" bIns="0" rtlCol="0" anchor="ctr"/>
          <a:lstStyle/>
          <a:p>
            <a:pPr indent="0" marL="0">
              <a:buNone/>
            </a:pPr>
            <a:r>
              <a:rPr lang="en-US" sz="2400" b="1" dirty="0">
                <a:solidFill>
                  <a:srgbClr val="14284B"/>
                </a:solidFill>
                <a:latin typeface="Arial" pitchFamily="34" charset="0"/>
                <a:ea typeface="Arial" pitchFamily="34" charset="-122"/>
                <a:cs typeface="Arial" pitchFamily="34" charset="-120"/>
              </a:rPr>
              <a:t>Pengaduan</a:t>
            </a:r>
            <a:endParaRPr lang="en-US" sz="2400" dirty="0"/>
          </a:p>
        </p:txBody>
      </p:sp>
      <p:sp>
        <p:nvSpPr>
          <p:cNvPr id="12" name="Text 8"/>
          <p:cNvSpPr txBox="1"/>
          <p:nvPr/>
        </p:nvSpPr>
        <p:spPr>
          <a:xfrm>
            <a:off x="6537960" y="2743200"/>
            <a:ext cx="4846320" cy="3291840"/>
          </a:xfrm>
          <a:prstGeom prst="rect">
            <a:avLst/>
          </a:prstGeom>
          <a:noFill/>
          <a:ln/>
        </p:spPr>
        <p:txBody>
          <a:bodyPr wrap="square" lIns="0" tIns="0" rIns="0" bIns="0" rtlCol="0" anchor="t"/>
          <a:lstStyle/>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Pihak yang dirugikan mengadu ke Majelis Pengawas Kurator</a:t>
            </a:r>
            <a:endParaRPr lang="en-US" sz="2200" dirty="0"/>
          </a:p>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Diputus maks. 60 hari</a:t>
            </a:r>
            <a:endParaRPr lang="en-US" sz="2200" dirty="0"/>
          </a:p>
          <a:p>
            <a:pPr marL="381000" indent="-381000">
              <a:spcAft>
                <a:spcPts val="1400"/>
              </a:spcAft>
              <a:buSzPct val="100000"/>
              <a:buChar char="•"/>
            </a:pPr>
            <a:r>
              <a:rPr lang="en-US" sz="2200" dirty="0">
                <a:solidFill>
                  <a:srgbClr val="1A1A1A"/>
                </a:solidFill>
                <a:latin typeface="Arial" pitchFamily="34" charset="0"/>
                <a:ea typeface="Arial" pitchFamily="34" charset="-122"/>
                <a:cs typeface="Arial" pitchFamily="34" charset="-120"/>
              </a:rPr>
              <a:t>Tidak menghentikan proses kepailitan</a:t>
            </a:r>
            <a:endParaRPr lang="en-US" sz="2200" dirty="0"/>
          </a:p>
        </p:txBody>
      </p:sp>
      <p:sp>
        <p:nvSpPr>
          <p:cNvPr id="13" name="Text 9"/>
          <p:cNvSpPr txBox="1"/>
          <p:nvPr/>
        </p:nvSpPr>
        <p:spPr>
          <a:xfrm>
            <a:off x="548640" y="6355080"/>
            <a:ext cx="7315200" cy="36576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a:t>
            </a:r>
            <a:endParaRPr lang="en-US" sz="1400" dirty="0"/>
          </a:p>
        </p:txBody>
      </p:sp>
      <p:sp>
        <p:nvSpPr>
          <p:cNvPr id="14" name="Text 10"/>
          <p:cNvSpPr txBox="1"/>
          <p:nvPr/>
        </p:nvSpPr>
        <p:spPr>
          <a:xfrm>
            <a:off x="10728655" y="6355080"/>
            <a:ext cx="914400" cy="36576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502920"/>
            <a:ext cx="10698480" cy="82296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pic>
        <p:nvPicPr>
          <p:cNvPr id="3" name="Image 0" descr="preencoded.png">    </p:cNvPr>
          <p:cNvPicPr>
            <a:picLocks noChangeAspect="1"/>
          </p:cNvPicPr>
          <p:nvPr/>
        </p:nvPicPr>
        <p:blipFill>
          <a:blip r:embed="rId1"/>
          <a:stretch>
            <a:fillRect/>
          </a:stretch>
        </p:blipFill>
        <p:spPr>
          <a:xfrm>
            <a:off x="731520" y="1691640"/>
            <a:ext cx="502920" cy="502920"/>
          </a:xfrm>
          <a:prstGeom prst="rect">
            <a:avLst/>
          </a:prstGeom>
        </p:spPr>
      </p:pic>
      <p:sp>
        <p:nvSpPr>
          <p:cNvPr id="4" name="Text 1"/>
          <p:cNvSpPr txBox="1"/>
          <p:nvPr/>
        </p:nvSpPr>
        <p:spPr>
          <a:xfrm>
            <a:off x="1463040" y="1600200"/>
            <a:ext cx="10058400" cy="685800"/>
          </a:xfrm>
          <a:prstGeom prst="rect">
            <a:avLst/>
          </a:prstGeom>
          <a:noFill/>
          <a:ln/>
        </p:spPr>
        <p:txBody>
          <a:bodyPr wrap="square" lIns="0" tIns="0" rIns="0" bIns="0" rtlCol="0" anchor="ctr"/>
          <a:lstStyle/>
          <a:p>
            <a:pPr indent="0" marL="0">
              <a:buNone/>
            </a:pPr>
            <a:r>
              <a:rPr lang="en-US" sz="2800" dirty="0">
                <a:solidFill>
                  <a:srgbClr val="FFFFFF"/>
                </a:solidFill>
                <a:latin typeface="Arial" pitchFamily="34" charset="0"/>
                <a:ea typeface="Arial" pitchFamily="34" charset="-122"/>
                <a:cs typeface="Arial" pitchFamily="34" charset="-120"/>
              </a:rPr>
              <a:t>BHP sebagai Pengurus PKPU untuk menutup celah hukum</a:t>
            </a:r>
            <a:endParaRPr lang="en-US" sz="2800" dirty="0"/>
          </a:p>
        </p:txBody>
      </p:sp>
      <p:pic>
        <p:nvPicPr>
          <p:cNvPr id="5" name="Image 1" descr="preencoded.png">    </p:cNvPr>
          <p:cNvPicPr>
            <a:picLocks noChangeAspect="1"/>
          </p:cNvPicPr>
          <p:nvPr/>
        </p:nvPicPr>
        <p:blipFill>
          <a:blip r:embed="rId2"/>
          <a:stretch>
            <a:fillRect/>
          </a:stretch>
        </p:blipFill>
        <p:spPr>
          <a:xfrm>
            <a:off x="731520" y="2560320"/>
            <a:ext cx="502920" cy="502920"/>
          </a:xfrm>
          <a:prstGeom prst="rect">
            <a:avLst/>
          </a:prstGeom>
        </p:spPr>
      </p:pic>
      <p:sp>
        <p:nvSpPr>
          <p:cNvPr id="6" name="Text 2"/>
          <p:cNvSpPr txBox="1"/>
          <p:nvPr/>
        </p:nvSpPr>
        <p:spPr>
          <a:xfrm>
            <a:off x="1463040" y="2468880"/>
            <a:ext cx="10058400" cy="685800"/>
          </a:xfrm>
          <a:prstGeom prst="rect">
            <a:avLst/>
          </a:prstGeom>
          <a:noFill/>
          <a:ln/>
        </p:spPr>
        <p:txBody>
          <a:bodyPr wrap="square" lIns="0" tIns="0" rIns="0" bIns="0" rtlCol="0" anchor="ctr"/>
          <a:lstStyle/>
          <a:p>
            <a:pPr indent="0" marL="0">
              <a:buNone/>
            </a:pPr>
            <a:r>
              <a:rPr lang="en-US" sz="2800" dirty="0">
                <a:solidFill>
                  <a:srgbClr val="FFFFFF"/>
                </a:solidFill>
                <a:latin typeface="Arial" pitchFamily="34" charset="0"/>
                <a:ea typeface="Arial" pitchFamily="34" charset="-122"/>
                <a:cs typeface="Arial" pitchFamily="34" charset="-120"/>
              </a:rPr>
              <a:t>Batas jumlah perkara dihitung per tim</a:t>
            </a:r>
            <a:endParaRPr lang="en-US" sz="2800" dirty="0"/>
          </a:p>
        </p:txBody>
      </p:sp>
      <p:pic>
        <p:nvPicPr>
          <p:cNvPr id="7" name="Image 2" descr="preencoded.png">    </p:cNvPr>
          <p:cNvPicPr>
            <a:picLocks noChangeAspect="1"/>
          </p:cNvPicPr>
          <p:nvPr/>
        </p:nvPicPr>
        <p:blipFill>
          <a:blip r:embed="rId3"/>
          <a:stretch>
            <a:fillRect/>
          </a:stretch>
        </p:blipFill>
        <p:spPr>
          <a:xfrm>
            <a:off x="731520" y="3429000"/>
            <a:ext cx="502920" cy="502920"/>
          </a:xfrm>
          <a:prstGeom prst="rect">
            <a:avLst/>
          </a:prstGeom>
        </p:spPr>
      </p:pic>
      <p:sp>
        <p:nvSpPr>
          <p:cNvPr id="8" name="Text 3"/>
          <p:cNvSpPr txBox="1"/>
          <p:nvPr/>
        </p:nvSpPr>
        <p:spPr>
          <a:xfrm>
            <a:off x="1463040" y="3337560"/>
            <a:ext cx="10058400" cy="685800"/>
          </a:xfrm>
          <a:prstGeom prst="rect">
            <a:avLst/>
          </a:prstGeom>
          <a:noFill/>
          <a:ln/>
        </p:spPr>
        <p:txBody>
          <a:bodyPr wrap="square" lIns="0" tIns="0" rIns="0" bIns="0" rtlCol="0" anchor="ctr"/>
          <a:lstStyle/>
          <a:p>
            <a:pPr indent="0" marL="0">
              <a:buNone/>
            </a:pPr>
            <a:r>
              <a:rPr lang="en-US" sz="2800" dirty="0">
                <a:solidFill>
                  <a:srgbClr val="FFFFFF"/>
                </a:solidFill>
                <a:latin typeface="Arial" pitchFamily="34" charset="0"/>
                <a:ea typeface="Arial" pitchFamily="34" charset="-122"/>
                <a:cs typeface="Arial" pitchFamily="34" charset="-120"/>
              </a:rPr>
              <a:t>Masa peralihan 6 bulan untuk kelebihan perkara</a:t>
            </a:r>
            <a:endParaRPr lang="en-US" sz="2800" dirty="0"/>
          </a:p>
        </p:txBody>
      </p:sp>
      <p:pic>
        <p:nvPicPr>
          <p:cNvPr id="9" name="Image 3" descr="preencoded.png">    </p:cNvPr>
          <p:cNvPicPr>
            <a:picLocks noChangeAspect="1"/>
          </p:cNvPicPr>
          <p:nvPr/>
        </p:nvPicPr>
        <p:blipFill>
          <a:blip r:embed="rId4"/>
          <a:stretch>
            <a:fillRect/>
          </a:stretch>
        </p:blipFill>
        <p:spPr>
          <a:xfrm>
            <a:off x="731520" y="4297680"/>
            <a:ext cx="502920" cy="502920"/>
          </a:xfrm>
          <a:prstGeom prst="rect">
            <a:avLst/>
          </a:prstGeom>
        </p:spPr>
      </p:pic>
      <p:sp>
        <p:nvSpPr>
          <p:cNvPr id="10" name="Text 4"/>
          <p:cNvSpPr txBox="1"/>
          <p:nvPr/>
        </p:nvSpPr>
        <p:spPr>
          <a:xfrm>
            <a:off x="1463040" y="4206240"/>
            <a:ext cx="10058400" cy="685800"/>
          </a:xfrm>
          <a:prstGeom prst="rect">
            <a:avLst/>
          </a:prstGeom>
          <a:noFill/>
          <a:ln/>
        </p:spPr>
        <p:txBody>
          <a:bodyPr wrap="square" lIns="0" tIns="0" rIns="0" bIns="0" rtlCol="0" anchor="ctr"/>
          <a:lstStyle/>
          <a:p>
            <a:pPr indent="0" marL="0">
              <a:buNone/>
            </a:pPr>
            <a:r>
              <a:rPr lang="en-US" sz="2800" dirty="0">
                <a:solidFill>
                  <a:srgbClr val="FFFFFF"/>
                </a:solidFill>
                <a:latin typeface="Arial" pitchFamily="34" charset="0"/>
                <a:ea typeface="Arial" pitchFamily="34" charset="-122"/>
                <a:cs typeface="Arial" pitchFamily="34" charset="-120"/>
              </a:rPr>
              <a:t>BHP: independen, akuntabel, dan dapat diakses semua pihak</a:t>
            </a:r>
            <a:endParaRPr lang="en-US" sz="2800" dirty="0"/>
          </a:p>
        </p:txBody>
      </p:sp>
      <p:sp>
        <p:nvSpPr>
          <p:cNvPr id="11" name="Text 5"/>
          <p:cNvSpPr txBox="1"/>
          <p:nvPr/>
        </p:nvSpPr>
        <p:spPr>
          <a:xfrm>
            <a:off x="731520" y="5257800"/>
            <a:ext cx="10698480" cy="914400"/>
          </a:xfrm>
          <a:prstGeom prst="rect">
            <a:avLst/>
          </a:prstGeom>
          <a:noFill/>
          <a:ln/>
        </p:spPr>
        <p:txBody>
          <a:bodyPr wrap="square" lIns="0" tIns="0" rIns="0" bIns="0" rtlCol="0" anchor="t"/>
          <a:lstStyle/>
          <a:p>
            <a:pPr indent="0" marL="0">
              <a:buNone/>
            </a:pPr>
            <a:r>
              <a:rPr lang="en-US" sz="4800" b="1" dirty="0">
                <a:solidFill>
                  <a:srgbClr val="E0A526"/>
                </a:solidFill>
                <a:latin typeface="Arial" pitchFamily="34" charset="0"/>
                <a:ea typeface="Arial" pitchFamily="34" charset="-122"/>
                <a:cs typeface="Arial" pitchFamily="34" charset="-120"/>
              </a:rPr>
              <a:t>Terima kasih</a:t>
            </a:r>
            <a:endParaRPr lang="en-US" sz="4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 RUU Profesi Kurator</dc:title>
  <dc:subject>PptxGenJS Presentation</dc:subject>
  <dc:creator>Balai Harta Peninggalan Medan</dc:creator>
  <cp:lastModifiedBy>Balai Harta Peninggalan Medan</cp:lastModifiedBy>
  <cp:revision>1</cp:revision>
  <dcterms:created xsi:type="dcterms:W3CDTF">2026-10-01T15:33:21Z</dcterms:created>
  <dcterms:modified xsi:type="dcterms:W3CDTF">2026-10-01T15:33:21Z</dcterms:modified>
</cp:coreProperties>
</file>