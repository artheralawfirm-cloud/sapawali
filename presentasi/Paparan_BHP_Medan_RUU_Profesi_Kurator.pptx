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Pembukaan dan salam hormat.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Sesuai dengan agenda rapat, bahan masukan ini difokuskan pada peran BHP dalam pelaksanaan tugas kurator.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Bahan masukan memuat 17 usulan pasal (termasuk Pasal 1 Ketentuan Umum dengan 13 definisi) dan 4 usulan penjelasan. Setiap masukan disertai usulan rumusan pasal yang dihimpun dalam Lampiran I. Penomoran pasal ditulis "Pasal …" karena bersifat sementara dan akan disesuaikan dengan sistematika RUU.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Seluruh 12 masukan dikelompokkan ke dalam 5 pokok pembahasan sesuai arahan penggalian masukan.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Pokok pembahasan 1: Kewenangan dan Koordinasi.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Sebagai dasar istilah bagi seluruh usulan rumusan pasal, BHP Medan mengusulkan ketentuan umum ini. Pasal 1 memuat 13 definisi; yang ditampilkan adalah definisi yang berkaitan langsung dengan BHP.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Sebagai dasar istilah bagi seluruh usulan rumusan pasal, BHP Medan mengusulkan ketentuan umum ini. Pasal 1 memuat 13 definisi; yang ditampilkan adalah definisi yang berkaitan langsung dengan BHP.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BHP Medan mengusulkan agar RUU memberikan kewenangan kepada BHP untuk diangkat sebagai pengurus dalam PKPU. Selain itu, BHP diusulkan menjadi pengurus yang diangkat oleh undang-undang apabila pemohon tidak mengusulkan pengurus atau pengurus yang diusulkan tidak memenuhi persyaratan, sama seperti kedudukannya dalam kepailitan.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Undang-undang tidak mengatur siapa yang diangkat sebagai pengurus apabila pemohon tidak mengusulkan pengurus, atau apabila pengurus yang diusulkan tidak memenuhi syarat dalam Pasal 234 ayat (1), yaitu independen, tidak memiliki benturan kepentingan, dan tidak sedang menangani lebih dari 3 (tiga) perkara.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Huruf c: kewenangan kurator jauh lebih luas daripada pengurus; sejak putusan pailit Debitor kehilangan hak menguasai hartanya (Pasal 24) dan kurator melakukan pengurusan sekaligus pemberesan (Pasal 69), sedangkan dalam PKPU tindakan Debitor hanya memerlukan persetujuan pengurus (Pasal 240 ayat (1)). Huruf d: imbalan jasa BHP disetorkan ke kas negara sebagai PNBP berdasarkan UU 9/2018, pejabat tidak memperoleh keuntungan pribadi. Huruf e: PKPU dapat berakhir pailit (Pasal 230 ayat (1), Pasal 289); bila BHP sejak awal menjadi pengurus, data harta Debitor, hasil pencocokan tagihan, dan pemahaman perkara tetap berada pada lembaga yang sama. Huruf g: perkara PKPU yang ditangani BHP diperhitungkan dalam batas jumlah perkara; dalam hal seluruh tim telah mencapai batas, Pengadilan mengangkat Pengurus Perseorangan.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Kewenangan badan pemerintahan diperoleh melalui atribusi, delegasi, atau mandat (Pasal 11 UU 30/2014 tentang Administrasi Pemerintahan), dan kewenangan atribusi hanya dapat diberikan oleh UUD atau undang-undang (Pasal 12 ayat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Masukan BHP Medan: RUU memberikan kewenangan kepada BHP untuk diangkat sebagai pengurus PKPU dan menjadikan BHP pengurus yang diangkat oleh undang-undang.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Masukan BHP Medan: RUU memberikan kewenangan kepada BHP untuk diangkat sebagai pengurus PKPU dan menjadikan BHP pengurus yang diangkat oleh undang-undang.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Masukan BHP Medan: RUU memberikan kewenangan kepada BHP untuk diangkat sebagai pengurus PKPU dan menjadikan BHP pengurus yang diangkat oleh undang-undang.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Pokok pembahasan 2: Standar Profesi.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Pokok pembahasan 3: Permasalahan Praktik.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Masukan ini menjawab penolakan akses, penyembunyian aset dan dokumen, perlawanan pihak ketiga, dan tidak tersedianya pengamanan.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diintegrasikan dalam satu sistem informasi terpusat dengan tetap melindungi data pribadi dan kerahasiaan perkara sesuai UU 27/2022. Menurut BHP Medan, transparansi imbalan, biaya operasional, jaminan pembayaran, dan asuransi tanggung jawab profesi tidak menjadi permasalahan pokok; imbalan jasa telah ditetapkan berdasarkan pedoman Menteri (Pasal 75 dan Pasal 234 ayat (5)), saat ini Peraturan Menteri Hukum Nomor 20 Tahun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 rekening terpisah, jejak audit, penilaian aset, penjualan, pembagian, pengungkapan konflik kepentingan, dan pelaporan diperkuat melalui kewajiban menyimpan seluruh uang harta pailit dalam satu rekening kepailitan untuk setiap perkara.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Pokok pembahasan 4: Penguatan Kelembagaan BHP.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Pertimbangannya: tujuan batas jumlah perkara, yaitu memastikan kurator memiliki kapasitas yang cukup agar pengurusan dan pemberesan dilakukan secara cermat dan tepat waktu, sama pentingnya bagi BHP; tanpa batas, mutu penanganan perkara menurun, penyelesaian perkara tertunda sehingga merugikan Kreditor dan pekerja, dan pejabat BHP menanggung risiko tanggung jawab (Pasal 72); dan batas yang sama bagi seluruh kurator menjaga kesetaraan perlakuan antara Kurator Negara dan Kurator Perseorangan.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Tanpa ketentuan peralihan, terdapat tiga risiko: BHP langsung dianggap melanggar batas jumlah perkara, keabsahan tindakan BHP dalam perkara yang sedang berjalan dapat dipersoalkan, dan BHP tidak dapat menerima penunjukan baru meskipun diwajibkan oleh undang-undang. Pengalihan ke tim lain cukup dilakukan secara administratif melalui surat tugas Kepala BHP karena putusan Pengadilan mengangkat BHP sebagai lembaga, bukan pejabat tertentu. Selama jangka waktu tersebut, kelebihan perkara tidak dianggap sebagai pelanggaran batas jumlah perkara.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Pokok pembahasan 5: Masukan Pengaturan.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ini sejalan dengan saran dalam Term of Reference untuk mempertimbangkan praktik profesi Notaris yang telah memiliki Majelis Kehormatan Notaris.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Masukan 11 menjawab belum adanya kerangka mengenai pengakuan proses kepailitan asing, kerja sama pengadilan, aset di luar negeri, dan kualifikasi praktisi asing. Masukan 12: kepentingan Debitor, Kreditor, pekerja, negara, konsumen, dan pihak ketiga diakomodasi melalui Majelis Pengawas Kurator dan Majelis Kehormatan Kurator.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Bahan masukan juga merujuk pada Term of Reference Kunjungan Kerja Komisi XIII DPR RI serta Buku Register Kepailitan dan Laporan Pengurusan dan Pemberesan Boedel Pailit Triwulan III Tahun 2026 BHP Medan.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Penutup bahan masukan BHP Medan.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slideLayout" Target="../slideLayouts/slideLayout1.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84B"/>
        </a:solidFill>
      </p:bgPr>
    </p:bg>
    <p:spTree>
      <p:nvGrpSpPr>
        <p:cNvPr id="1" name=""/>
        <p:cNvGrpSpPr/>
        <p:nvPr/>
      </p:nvGrpSpPr>
      <p:grpSpPr>
        <a:xfrm>
          <a:off x="0" y="0"/>
          <a:ext cx="0" cy="0"/>
          <a:chOff x="0" y="0"/>
          <a:chExt cx="0" cy="0"/>
        </a:xfrm>
      </p:grpSpPr>
      <p:sp>
        <p:nvSpPr>
          <p:cNvPr id="2" name="Text 0"/>
          <p:cNvSpPr txBox="1"/>
          <p:nvPr/>
        </p:nvSpPr>
        <p:spPr>
          <a:xfrm>
            <a:off x="731520" y="457200"/>
            <a:ext cx="10698480" cy="1097280"/>
          </a:xfrm>
          <a:prstGeom prst="rect">
            <a:avLst/>
          </a:prstGeom>
          <a:noFill/>
          <a:ln/>
        </p:spPr>
        <p:txBody>
          <a:bodyPr wrap="square" lIns="0" tIns="0" rIns="0" bIns="0" rtlCol="0" anchor="t"/>
          <a:lstStyle/>
          <a:p>
            <a:pPr indent="0" marL="0">
              <a:buNone/>
            </a:pPr>
            <a:r>
              <a:rPr lang="en-US" sz="1800" b="1" dirty="0">
                <a:solidFill>
                  <a:srgbClr val="E0A526"/>
                </a:solidFill>
                <a:latin typeface="Arial" pitchFamily="34" charset="0"/>
                <a:ea typeface="Arial" pitchFamily="34" charset="-122"/>
                <a:cs typeface="Arial" pitchFamily="34" charset="-120"/>
              </a:rPr>
              <a:t>KEMENTERIAN HUKUM REPUBLIK INDONESIA</a:t>
            </a:r>
            <a:endParaRPr lang="en-US" sz="1800" dirty="0"/>
          </a:p>
          <a:p>
            <a:pPr indent="0" marL="0">
              <a:buNone/>
            </a:pPr>
            <a:r>
              <a:rPr lang="en-US" sz="1800" b="1" dirty="0">
                <a:solidFill>
                  <a:srgbClr val="E0A526"/>
                </a:solidFill>
                <a:latin typeface="Arial" pitchFamily="34" charset="0"/>
                <a:ea typeface="Arial" pitchFamily="34" charset="-122"/>
                <a:cs typeface="Arial" pitchFamily="34" charset="-120"/>
              </a:rPr>
              <a:t>KANTOR WILAYAH SUMATERA UTARA</a:t>
            </a:r>
            <a:endParaRPr lang="en-US" sz="1800" dirty="0"/>
          </a:p>
          <a:p>
            <a:pPr indent="0" marL="0">
              <a:buNone/>
            </a:pPr>
            <a:r>
              <a:rPr lang="en-US" sz="1800" b="1" dirty="0">
                <a:solidFill>
                  <a:srgbClr val="E0A526"/>
                </a:solidFill>
                <a:latin typeface="Arial" pitchFamily="34" charset="0"/>
                <a:ea typeface="Arial" pitchFamily="34" charset="-122"/>
                <a:cs typeface="Arial" pitchFamily="34" charset="-120"/>
              </a:rPr>
              <a:t>BALAI HARTA PENINGGALAN MEDAN</a:t>
            </a:r>
            <a:endParaRPr lang="en-US" sz="1800" dirty="0"/>
          </a:p>
        </p:txBody>
      </p:sp>
      <p:sp>
        <p:nvSpPr>
          <p:cNvPr id="3" name="Text 1"/>
          <p:cNvSpPr txBox="1"/>
          <p:nvPr/>
        </p:nvSpPr>
        <p:spPr>
          <a:xfrm>
            <a:off x="731520" y="1691640"/>
            <a:ext cx="10698480" cy="146304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BAHAN MASUKAN</a:t>
            </a:r>
            <a:endParaRPr lang="en-US" sz="4400" dirty="0"/>
          </a:p>
          <a:p>
            <a:pPr indent="0" marL="0">
              <a:buNone/>
            </a:pPr>
            <a:r>
              <a:rPr lang="en-US" sz="4400" b="1" dirty="0">
                <a:solidFill>
                  <a:srgbClr val="FFFFFF"/>
                </a:solidFill>
                <a:latin typeface="Arial" pitchFamily="34" charset="0"/>
                <a:ea typeface="Arial" pitchFamily="34" charset="-122"/>
                <a:cs typeface="Arial" pitchFamily="34" charset="-120"/>
              </a:rPr>
              <a:t>BALAI HARTA PENINGGALAN MEDAN</a:t>
            </a:r>
            <a:endParaRPr lang="en-US" sz="4400" dirty="0"/>
          </a:p>
        </p:txBody>
      </p:sp>
      <p:sp>
        <p:nvSpPr>
          <p:cNvPr id="4" name="Text 2"/>
          <p:cNvSpPr txBox="1"/>
          <p:nvPr/>
        </p:nvSpPr>
        <p:spPr>
          <a:xfrm>
            <a:off x="731520" y="3200400"/>
            <a:ext cx="10698480" cy="548640"/>
          </a:xfrm>
          <a:prstGeom prst="rect">
            <a:avLst/>
          </a:prstGeom>
          <a:noFill/>
          <a:ln/>
        </p:spPr>
        <p:txBody>
          <a:bodyPr wrap="square" lIns="0" tIns="0" rIns="0" bIns="0" rtlCol="0" anchor="t"/>
          <a:lstStyle/>
          <a:p>
            <a:pPr indent="0" marL="0">
              <a:buNone/>
            </a:pPr>
            <a:r>
              <a:rPr lang="en-US" sz="2600" b="1" dirty="0">
                <a:solidFill>
                  <a:srgbClr val="E0A526"/>
                </a:solidFill>
                <a:latin typeface="Arial" pitchFamily="34" charset="0"/>
                <a:ea typeface="Arial" pitchFamily="34" charset="-122"/>
                <a:cs typeface="Arial" pitchFamily="34" charset="-120"/>
              </a:rPr>
              <a:t>Dalam Rapat Dengar Pendapat dengan Komisi XIII DPR RI</a:t>
            </a:r>
            <a:endParaRPr lang="en-US" sz="2600" dirty="0"/>
          </a:p>
        </p:txBody>
      </p:sp>
      <p:sp>
        <p:nvSpPr>
          <p:cNvPr id="5" name="Text 3"/>
          <p:cNvSpPr txBox="1"/>
          <p:nvPr/>
        </p:nvSpPr>
        <p:spPr>
          <a:xfrm>
            <a:off x="731520" y="3840480"/>
            <a:ext cx="10424160" cy="1005840"/>
          </a:xfrm>
          <a:prstGeom prst="rect">
            <a:avLst/>
          </a:prstGeom>
          <a:noFill/>
          <a:ln/>
        </p:spPr>
        <p:txBody>
          <a:bodyPr wrap="square" lIns="0" tIns="0" rIns="0" bIns="0" rtlCol="0" anchor="t"/>
          <a:lstStyle/>
          <a:p>
            <a:pPr indent="0" marL="0">
              <a:buNone/>
            </a:pPr>
            <a:r>
              <a:rPr lang="en-US" sz="2200" dirty="0">
                <a:solidFill>
                  <a:srgbClr val="FFFFFF"/>
                </a:solidFill>
                <a:latin typeface="Arial" pitchFamily="34" charset="0"/>
                <a:ea typeface="Arial" pitchFamily="34" charset="-122"/>
                <a:cs typeface="Arial" pitchFamily="34" charset="-120"/>
              </a:rPr>
              <a:t>Penyusunan Rancangan Undang-Undang tentang Profesi Kurator terkait Peran Balai Harta Peninggalan dalam Pelaksanaan Tugas Kurator</a:t>
            </a:r>
            <a:endParaRPr lang="en-US" sz="2200" dirty="0"/>
          </a:p>
        </p:txBody>
      </p:sp>
      <p:sp>
        <p:nvSpPr>
          <p:cNvPr id="6" name="Text 4"/>
          <p:cNvSpPr txBox="1"/>
          <p:nvPr/>
        </p:nvSpPr>
        <p:spPr>
          <a:xfrm>
            <a:off x="731520" y="5349240"/>
            <a:ext cx="10698480" cy="86868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Syafriadi Lubis</a:t>
            </a:r>
            <a:endParaRPr lang="en-US" sz="2200" dirty="0"/>
          </a:p>
          <a:p>
            <a:pPr indent="0" marL="0">
              <a:buNone/>
            </a:pPr>
            <a:r>
              <a:rPr lang="en-US" sz="2200" dirty="0">
                <a:solidFill>
                  <a:srgbClr val="FFFFFF"/>
                </a:solidFill>
                <a:latin typeface="Arial" pitchFamily="34" charset="0"/>
                <a:ea typeface="Arial" pitchFamily="34" charset="-122"/>
                <a:cs typeface="Arial" pitchFamily="34" charset="-120"/>
              </a:rPr>
              <a:t>Kepala Balai Harta Peninggalan Medan · Medan, 2 Oktober 2026</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11480"/>
            <a:ext cx="11094415" cy="960120"/>
          </a:xfrm>
          <a:prstGeom prst="rect">
            <a:avLst/>
          </a:prstGeom>
          <a:noFill/>
          <a:ln/>
        </p:spPr>
        <p:txBody>
          <a:bodyPr wrap="square" lIns="0" tIns="0" rIns="0" bIns="0" rtlCol="0" anchor="ctr"/>
          <a:lstStyle/>
          <a:p>
            <a:pPr indent="0" marL="0">
              <a:buNone/>
            </a:pPr>
            <a:r>
              <a:rPr lang="en-US" sz="3400" b="1" dirty="0">
                <a:solidFill>
                  <a:srgbClr val="14284B"/>
                </a:solidFill>
                <a:latin typeface="Arial" pitchFamily="34" charset="0"/>
                <a:ea typeface="Arial" pitchFamily="34" charset="-122"/>
                <a:cs typeface="Arial" pitchFamily="34" charset="-120"/>
              </a:rPr>
              <a:t>Pendahuluan</a:t>
            </a:r>
            <a:endParaRPr lang="en-US" sz="3400" dirty="0"/>
          </a:p>
        </p:txBody>
      </p:sp>
      <p:sp>
        <p:nvSpPr>
          <p:cNvPr id="3" name="Shape 1"/>
          <p:cNvSpPr/>
          <p:nvPr/>
        </p:nvSpPr>
        <p:spPr>
          <a:xfrm>
            <a:off x="548640" y="1600200"/>
            <a:ext cx="5120640" cy="3246120"/>
          </a:xfrm>
          <a:prstGeom prst="roundRect">
            <a:avLst>
              <a:gd name="adj" fmla="val 3380"/>
            </a:avLst>
          </a:prstGeom>
          <a:solidFill>
            <a:srgbClr val="14284B"/>
          </a:solidFill>
          <a:ln w="12700">
            <a:solidFill>
              <a:srgbClr val="14284B"/>
            </a:solidFill>
            <a:prstDash val="solid"/>
          </a:ln>
        </p:spPr>
      </p:sp>
      <p:sp>
        <p:nvSpPr>
          <p:cNvPr id="4" name="Text 2"/>
          <p:cNvSpPr txBox="1"/>
          <p:nvPr/>
        </p:nvSpPr>
        <p:spPr>
          <a:xfrm>
            <a:off x="868680" y="1783080"/>
            <a:ext cx="4480560" cy="288036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Balai Harta Peninggalan (BHP) Medan mendukung penuh pembentukan Rancangan Undang-Undang tentang Profesi Kurator (RUU).</a:t>
            </a:r>
            <a:endParaRPr lang="en-US" sz="2800" dirty="0"/>
          </a:p>
        </p:txBody>
      </p:sp>
      <p:sp>
        <p:nvSpPr>
          <p:cNvPr id="5" name="Shape 3"/>
          <p:cNvSpPr/>
          <p:nvPr/>
        </p:nvSpPr>
        <p:spPr>
          <a:xfrm>
            <a:off x="6035040" y="1600200"/>
            <a:ext cx="5605272" cy="1554480"/>
          </a:xfrm>
          <a:prstGeom prst="roundRect">
            <a:avLst>
              <a:gd name="adj" fmla="val 7059"/>
            </a:avLst>
          </a:prstGeom>
          <a:solidFill>
            <a:srgbClr val="EEF2F8"/>
          </a:solidFill>
          <a:ln w="12700">
            <a:solidFill>
              <a:srgbClr val="EEF2F8"/>
            </a:solidFill>
            <a:prstDash val="solid"/>
          </a:ln>
        </p:spPr>
      </p:sp>
      <p:pic>
        <p:nvPicPr>
          <p:cNvPr id="6" name="Image 0" descr="preencoded.png">    </p:cNvPr>
          <p:cNvPicPr>
            <a:picLocks noChangeAspect="1"/>
          </p:cNvPicPr>
          <p:nvPr/>
        </p:nvPicPr>
        <p:blipFill>
          <a:blip r:embed="rId1"/>
          <a:stretch>
            <a:fillRect/>
          </a:stretch>
        </p:blipFill>
        <p:spPr>
          <a:xfrm>
            <a:off x="6263640" y="2057400"/>
            <a:ext cx="640080" cy="640080"/>
          </a:xfrm>
          <a:prstGeom prst="rect">
            <a:avLst/>
          </a:prstGeom>
        </p:spPr>
      </p:pic>
      <p:sp>
        <p:nvSpPr>
          <p:cNvPr id="7" name="Text 4"/>
          <p:cNvSpPr txBox="1"/>
          <p:nvPr/>
        </p:nvSpPr>
        <p:spPr>
          <a:xfrm>
            <a:off x="7132320" y="1709928"/>
            <a:ext cx="4389120" cy="1335024"/>
          </a:xfrm>
          <a:prstGeom prst="rect">
            <a:avLst/>
          </a:prstGeom>
          <a:noFill/>
          <a:ln/>
        </p:spPr>
        <p:txBody>
          <a:bodyPr wrap="square" lIns="0" tIns="0" rIns="0" bIns="0" rtlCol="0" anchor="ctr"/>
          <a:lstStyle/>
          <a:p>
            <a:pPr indent="0" marL="0">
              <a:buNone/>
            </a:pPr>
            <a:r>
              <a:rPr lang="en-US" sz="2400" b="1" dirty="0">
                <a:solidFill>
                  <a:srgbClr val="14284B"/>
                </a:solidFill>
                <a:latin typeface="Arial" pitchFamily="34" charset="0"/>
                <a:ea typeface="Arial" pitchFamily="34" charset="-122"/>
                <a:cs typeface="Arial" pitchFamily="34" charset="-120"/>
              </a:rPr>
              <a:t>BHP merupakan kurator dari unsur pemerintah</a:t>
            </a:r>
            <a:endParaRPr lang="en-US" sz="2400" dirty="0"/>
          </a:p>
          <a:p>
            <a:pPr indent="0" marL="0">
              <a:buNone/>
            </a:pPr>
            <a:r>
              <a:rPr lang="en-US" sz="2000" dirty="0">
                <a:solidFill>
                  <a:srgbClr val="1A1A1A"/>
                </a:solidFill>
                <a:latin typeface="Arial" pitchFamily="34" charset="0"/>
                <a:ea typeface="Arial" pitchFamily="34" charset="-122"/>
                <a:cs typeface="Arial" pitchFamily="34" charset="-120"/>
              </a:rPr>
              <a:t>Pasal 70 ayat (1) UU Kepailitan dan PKPU</a:t>
            </a:r>
            <a:endParaRPr lang="en-US" sz="2400" dirty="0"/>
          </a:p>
        </p:txBody>
      </p:sp>
      <p:sp>
        <p:nvSpPr>
          <p:cNvPr id="8" name="Shape 5"/>
          <p:cNvSpPr/>
          <p:nvPr/>
        </p:nvSpPr>
        <p:spPr>
          <a:xfrm>
            <a:off x="6035040" y="3291840"/>
            <a:ext cx="5605272" cy="1554480"/>
          </a:xfrm>
          <a:prstGeom prst="roundRect">
            <a:avLst>
              <a:gd name="adj" fmla="val 7059"/>
            </a:avLst>
          </a:prstGeom>
          <a:solidFill>
            <a:srgbClr val="EEF2F8"/>
          </a:solidFill>
          <a:ln w="12700">
            <a:solidFill>
              <a:srgbClr val="EEF2F8"/>
            </a:solidFill>
            <a:prstDash val="solid"/>
          </a:ln>
        </p:spPr>
      </p:sp>
      <p:pic>
        <p:nvPicPr>
          <p:cNvPr id="9" name="Image 1" descr="preencoded.png">    </p:cNvPr>
          <p:cNvPicPr>
            <a:picLocks noChangeAspect="1"/>
          </p:cNvPicPr>
          <p:nvPr/>
        </p:nvPicPr>
        <p:blipFill>
          <a:blip r:embed="rId2"/>
          <a:stretch>
            <a:fillRect/>
          </a:stretch>
        </p:blipFill>
        <p:spPr>
          <a:xfrm>
            <a:off x="6263640" y="3749040"/>
            <a:ext cx="640080" cy="640080"/>
          </a:xfrm>
          <a:prstGeom prst="rect">
            <a:avLst/>
          </a:prstGeom>
        </p:spPr>
      </p:pic>
      <p:sp>
        <p:nvSpPr>
          <p:cNvPr id="10" name="Text 6"/>
          <p:cNvSpPr txBox="1"/>
          <p:nvPr/>
        </p:nvSpPr>
        <p:spPr>
          <a:xfrm>
            <a:off x="7132320" y="3401568"/>
            <a:ext cx="4389120" cy="1335024"/>
          </a:xfrm>
          <a:prstGeom prst="rect">
            <a:avLst/>
          </a:prstGeom>
          <a:noFill/>
          <a:ln/>
        </p:spPr>
        <p:txBody>
          <a:bodyPr wrap="square" lIns="0" tIns="0" rIns="0" bIns="0" rtlCol="0" anchor="ctr"/>
          <a:lstStyle/>
          <a:p>
            <a:pPr indent="0" marL="0">
              <a:buNone/>
            </a:pPr>
            <a:r>
              <a:rPr lang="en-US" sz="2400" b="1" dirty="0">
                <a:solidFill>
                  <a:srgbClr val="14284B"/>
                </a:solidFill>
                <a:latin typeface="Arial" pitchFamily="34" charset="0"/>
                <a:ea typeface="Arial" pitchFamily="34" charset="-122"/>
                <a:cs typeface="Arial" pitchFamily="34" charset="-120"/>
              </a:rPr>
              <a:t>kedudukan BHP perlu diatur secara khusus dalam RUU</a:t>
            </a:r>
            <a:endParaRPr lang="en-US" sz="2400" dirty="0"/>
          </a:p>
          <a:p>
            <a:pPr indent="0" marL="0">
              <a:buNone/>
            </a:pPr>
            <a:r>
              <a:rPr lang="en-US" sz="2000" dirty="0">
                <a:solidFill>
                  <a:srgbClr val="1A1A1A"/>
                </a:solidFill>
                <a:latin typeface="Arial" pitchFamily="34" charset="0"/>
                <a:ea typeface="Arial" pitchFamily="34" charset="-122"/>
                <a:cs typeface="Arial" pitchFamily="34" charset="-120"/>
              </a:rPr>
              <a:t>Oleh karena itu</a:t>
            </a:r>
            <a:endParaRPr lang="en-US" sz="2400" dirty="0"/>
          </a:p>
        </p:txBody>
      </p:sp>
      <p:sp>
        <p:nvSpPr>
          <p:cNvPr id="11" name="Text 7"/>
          <p:cNvSpPr txBox="1"/>
          <p:nvPr/>
        </p:nvSpPr>
        <p:spPr>
          <a:xfrm>
            <a:off x="548640" y="5074920"/>
            <a:ext cx="11091672" cy="1143000"/>
          </a:xfrm>
          <a:prstGeom prst="rect">
            <a:avLst/>
          </a:prstGeom>
          <a:noFill/>
          <a:ln/>
        </p:spPr>
        <p:txBody>
          <a:bodyPr wrap="square" lIns="0" tIns="0" rIns="0" bIns="0" rtlCol="0" anchor="ctr"/>
          <a:lstStyle/>
          <a:p>
            <a:pPr indent="0" marL="0">
              <a:buNone/>
            </a:pPr>
            <a:r>
              <a:rPr lang="en-US" sz="2400" dirty="0">
                <a:solidFill>
                  <a:srgbClr val="1A1A1A"/>
                </a:solidFill>
                <a:latin typeface="Arial" pitchFamily="34" charset="0"/>
                <a:ea typeface="Arial" pitchFamily="34" charset="-122"/>
                <a:cs typeface="Arial" pitchFamily="34" charset="-120"/>
              </a:rPr>
              <a:t>Dalam bahan masukan ini, BHP disebut </a:t>
            </a:r>
            <a:pPr indent="0" marL="0">
              <a:buNone/>
            </a:pPr>
            <a:r>
              <a:rPr lang="en-US" sz="2400" b="1" dirty="0">
                <a:solidFill>
                  <a:srgbClr val="14284B"/>
                </a:solidFill>
                <a:latin typeface="Arial" pitchFamily="34" charset="0"/>
                <a:ea typeface="Arial" pitchFamily="34" charset="-122"/>
                <a:cs typeface="Arial" pitchFamily="34" charset="-120"/>
              </a:rPr>
              <a:t>Kurator Negara</a:t>
            </a:r>
            <a:pPr indent="0" marL="0">
              <a:buNone/>
            </a:pPr>
            <a:r>
              <a:rPr lang="en-US" sz="2400" dirty="0">
                <a:solidFill>
                  <a:srgbClr val="1A1A1A"/>
                </a:solidFill>
                <a:latin typeface="Arial" pitchFamily="34" charset="0"/>
                <a:ea typeface="Arial" pitchFamily="34" charset="-122"/>
                <a:cs typeface="Arial" pitchFamily="34" charset="-120"/>
              </a:rPr>
              <a:t> dan kurator selain BHP disebut </a:t>
            </a:r>
            <a:pPr indent="0" marL="0">
              <a:buNone/>
            </a:pPr>
            <a:r>
              <a:rPr lang="en-US" sz="2400" b="1" dirty="0">
                <a:solidFill>
                  <a:srgbClr val="14284B"/>
                </a:solidFill>
                <a:latin typeface="Arial" pitchFamily="34" charset="0"/>
                <a:ea typeface="Arial" pitchFamily="34" charset="-122"/>
                <a:cs typeface="Arial" pitchFamily="34" charset="-120"/>
              </a:rPr>
              <a:t>Kurator Perseorangan</a:t>
            </a:r>
            <a:pPr indent="0" marL="0">
              <a:buNone/>
            </a:pPr>
            <a:r>
              <a:rPr lang="en-US" sz="2400" dirty="0">
                <a:solidFill>
                  <a:srgbClr val="1A1A1A"/>
                </a:solidFill>
                <a:latin typeface="Arial" pitchFamily="34" charset="0"/>
                <a:ea typeface="Arial" pitchFamily="34" charset="-122"/>
                <a:cs typeface="Arial" pitchFamily="34" charset="-120"/>
              </a:rPr>
              <a:t>. Setiap masukan disertai usulan rumusan pasal yang dapat langsung digunakan dalam penyusunan draf RUU.</a:t>
            </a:r>
            <a:endParaRPr lang="en-US" sz="2400" dirty="0"/>
          </a:p>
        </p:txBody>
      </p:sp>
      <p:sp>
        <p:nvSpPr>
          <p:cNvPr id="12" name="Text 8"/>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13" name="Text 9"/>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11480"/>
            <a:ext cx="11094415" cy="960120"/>
          </a:xfrm>
          <a:prstGeom prst="rect">
            <a:avLst/>
          </a:prstGeom>
          <a:noFill/>
          <a:ln/>
        </p:spPr>
        <p:txBody>
          <a:bodyPr wrap="square" lIns="0" tIns="0" rIns="0" bIns="0" rtlCol="0" anchor="ctr"/>
          <a:lstStyle/>
          <a:p>
            <a:pPr indent="0" marL="0">
              <a:buNone/>
            </a:pPr>
            <a:r>
              <a:rPr lang="en-US" sz="3400" b="1" dirty="0">
                <a:solidFill>
                  <a:srgbClr val="14284B"/>
                </a:solidFill>
                <a:latin typeface="Arial" pitchFamily="34" charset="0"/>
                <a:ea typeface="Arial" pitchFamily="34" charset="-122"/>
                <a:cs typeface="Arial" pitchFamily="34" charset="-120"/>
              </a:rPr>
              <a:t>Bahan Masukan yang Siap Dipakai</a:t>
            </a:r>
            <a:endParaRPr lang="en-US" sz="3400" dirty="0"/>
          </a:p>
        </p:txBody>
      </p:sp>
      <p:sp>
        <p:nvSpPr>
          <p:cNvPr id="3" name="Shape 1"/>
          <p:cNvSpPr/>
          <p:nvPr/>
        </p:nvSpPr>
        <p:spPr>
          <a:xfrm>
            <a:off x="548640" y="1600200"/>
            <a:ext cx="3520440" cy="2240280"/>
          </a:xfrm>
          <a:prstGeom prst="roundRect">
            <a:avLst>
              <a:gd name="adj" fmla="val 4898"/>
            </a:avLst>
          </a:prstGeom>
          <a:solidFill>
            <a:srgbClr val="14284B"/>
          </a:solidFill>
          <a:ln w="12700">
            <a:solidFill>
              <a:srgbClr val="14284B"/>
            </a:solidFill>
            <a:prstDash val="solid"/>
          </a:ln>
        </p:spPr>
      </p:sp>
      <p:sp>
        <p:nvSpPr>
          <p:cNvPr id="4" name="Text 2"/>
          <p:cNvSpPr txBox="1"/>
          <p:nvPr/>
        </p:nvSpPr>
        <p:spPr>
          <a:xfrm>
            <a:off x="548640" y="1691640"/>
            <a:ext cx="3520440" cy="1234440"/>
          </a:xfrm>
          <a:prstGeom prst="rect">
            <a:avLst/>
          </a:prstGeom>
          <a:noFill/>
          <a:ln/>
        </p:spPr>
        <p:txBody>
          <a:bodyPr wrap="square" lIns="0" tIns="0" rIns="0" bIns="0" rtlCol="0" anchor="ctr"/>
          <a:lstStyle/>
          <a:p>
            <a:pPr algn="ctr" indent="0" marL="0">
              <a:buNone/>
            </a:pPr>
            <a:r>
              <a:rPr lang="en-US" sz="8000" b="1" dirty="0">
                <a:solidFill>
                  <a:srgbClr val="E0A526"/>
                </a:solidFill>
                <a:latin typeface="Arial" pitchFamily="34" charset="0"/>
                <a:ea typeface="Arial" pitchFamily="34" charset="-122"/>
                <a:cs typeface="Arial" pitchFamily="34" charset="-120"/>
              </a:rPr>
              <a:t>12</a:t>
            </a:r>
            <a:endParaRPr lang="en-US" sz="8000" dirty="0"/>
          </a:p>
        </p:txBody>
      </p:sp>
      <p:sp>
        <p:nvSpPr>
          <p:cNvPr id="5" name="Text 3"/>
          <p:cNvSpPr txBox="1"/>
          <p:nvPr/>
        </p:nvSpPr>
        <p:spPr>
          <a:xfrm>
            <a:off x="731520" y="2926080"/>
            <a:ext cx="315468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masukan</a:t>
            </a:r>
            <a:endParaRPr lang="en-US" sz="2200" dirty="0"/>
          </a:p>
        </p:txBody>
      </p:sp>
      <p:sp>
        <p:nvSpPr>
          <p:cNvPr id="6" name="Shape 4"/>
          <p:cNvSpPr/>
          <p:nvPr/>
        </p:nvSpPr>
        <p:spPr>
          <a:xfrm>
            <a:off x="4343400" y="1600200"/>
            <a:ext cx="3520440" cy="2240280"/>
          </a:xfrm>
          <a:prstGeom prst="roundRect">
            <a:avLst>
              <a:gd name="adj" fmla="val 4898"/>
            </a:avLst>
          </a:prstGeom>
          <a:solidFill>
            <a:srgbClr val="14284B"/>
          </a:solidFill>
          <a:ln w="12700">
            <a:solidFill>
              <a:srgbClr val="14284B"/>
            </a:solidFill>
            <a:prstDash val="solid"/>
          </a:ln>
        </p:spPr>
      </p:sp>
      <p:sp>
        <p:nvSpPr>
          <p:cNvPr id="7" name="Text 5"/>
          <p:cNvSpPr txBox="1"/>
          <p:nvPr/>
        </p:nvSpPr>
        <p:spPr>
          <a:xfrm>
            <a:off x="4343400" y="1691640"/>
            <a:ext cx="3520440" cy="1234440"/>
          </a:xfrm>
          <a:prstGeom prst="rect">
            <a:avLst/>
          </a:prstGeom>
          <a:noFill/>
          <a:ln/>
        </p:spPr>
        <p:txBody>
          <a:bodyPr wrap="square" lIns="0" tIns="0" rIns="0" bIns="0" rtlCol="0" anchor="ctr"/>
          <a:lstStyle/>
          <a:p>
            <a:pPr algn="ctr" indent="0" marL="0">
              <a:buNone/>
            </a:pPr>
            <a:r>
              <a:rPr lang="en-US" sz="8000" b="1" dirty="0">
                <a:solidFill>
                  <a:srgbClr val="E0A526"/>
                </a:solidFill>
                <a:latin typeface="Arial" pitchFamily="34" charset="0"/>
                <a:ea typeface="Arial" pitchFamily="34" charset="-122"/>
                <a:cs typeface="Arial" pitchFamily="34" charset="-120"/>
              </a:rPr>
              <a:t>17</a:t>
            </a:r>
            <a:endParaRPr lang="en-US" sz="8000" dirty="0"/>
          </a:p>
        </p:txBody>
      </p:sp>
      <p:sp>
        <p:nvSpPr>
          <p:cNvPr id="8" name="Text 6"/>
          <p:cNvSpPr txBox="1"/>
          <p:nvPr/>
        </p:nvSpPr>
        <p:spPr>
          <a:xfrm>
            <a:off x="4526280" y="2926080"/>
            <a:ext cx="315468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usulan rumusan pasal</a:t>
            </a:r>
            <a:endParaRPr lang="en-US" sz="2200" dirty="0"/>
          </a:p>
        </p:txBody>
      </p:sp>
      <p:sp>
        <p:nvSpPr>
          <p:cNvPr id="9" name="Shape 7"/>
          <p:cNvSpPr/>
          <p:nvPr/>
        </p:nvSpPr>
        <p:spPr>
          <a:xfrm>
            <a:off x="8138160" y="1600200"/>
            <a:ext cx="3520440" cy="2240280"/>
          </a:xfrm>
          <a:prstGeom prst="roundRect">
            <a:avLst>
              <a:gd name="adj" fmla="val 4898"/>
            </a:avLst>
          </a:prstGeom>
          <a:solidFill>
            <a:srgbClr val="14284B"/>
          </a:solidFill>
          <a:ln w="12700">
            <a:solidFill>
              <a:srgbClr val="14284B"/>
            </a:solidFill>
            <a:prstDash val="solid"/>
          </a:ln>
        </p:spPr>
      </p:sp>
      <p:sp>
        <p:nvSpPr>
          <p:cNvPr id="10" name="Text 8"/>
          <p:cNvSpPr txBox="1"/>
          <p:nvPr/>
        </p:nvSpPr>
        <p:spPr>
          <a:xfrm>
            <a:off x="8138160" y="1691640"/>
            <a:ext cx="3520440" cy="1234440"/>
          </a:xfrm>
          <a:prstGeom prst="rect">
            <a:avLst/>
          </a:prstGeom>
          <a:noFill/>
          <a:ln/>
        </p:spPr>
        <p:txBody>
          <a:bodyPr wrap="square" lIns="0" tIns="0" rIns="0" bIns="0" rtlCol="0" anchor="ctr"/>
          <a:lstStyle/>
          <a:p>
            <a:pPr algn="ctr" indent="0" marL="0">
              <a:buNone/>
            </a:pPr>
            <a:r>
              <a:rPr lang="en-US" sz="8000" b="1" dirty="0">
                <a:solidFill>
                  <a:srgbClr val="E0A526"/>
                </a:solidFill>
                <a:latin typeface="Arial" pitchFamily="34" charset="0"/>
                <a:ea typeface="Arial" pitchFamily="34" charset="-122"/>
                <a:cs typeface="Arial" pitchFamily="34" charset="-120"/>
              </a:rPr>
              <a:t>13</a:t>
            </a:r>
            <a:endParaRPr lang="en-US" sz="8000" dirty="0"/>
          </a:p>
        </p:txBody>
      </p:sp>
      <p:sp>
        <p:nvSpPr>
          <p:cNvPr id="11" name="Text 9"/>
          <p:cNvSpPr txBox="1"/>
          <p:nvPr/>
        </p:nvSpPr>
        <p:spPr>
          <a:xfrm>
            <a:off x="8321040" y="2926080"/>
            <a:ext cx="315468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definisi dalam Ketentuan Umum</a:t>
            </a:r>
            <a:endParaRPr lang="en-US" sz="2200" dirty="0"/>
          </a:p>
        </p:txBody>
      </p:sp>
      <p:sp>
        <p:nvSpPr>
          <p:cNvPr id="12" name="Shape 10"/>
          <p:cNvSpPr/>
          <p:nvPr/>
        </p:nvSpPr>
        <p:spPr>
          <a:xfrm>
            <a:off x="548640" y="4114800"/>
            <a:ext cx="3520440" cy="1005840"/>
          </a:xfrm>
          <a:prstGeom prst="roundRect">
            <a:avLst>
              <a:gd name="adj" fmla="val 10909"/>
            </a:avLst>
          </a:prstGeom>
          <a:solidFill>
            <a:srgbClr val="EEF2F8"/>
          </a:solidFill>
          <a:ln w="12700">
            <a:solidFill>
              <a:srgbClr val="EEF2F8"/>
            </a:solidFill>
            <a:prstDash val="solid"/>
          </a:ln>
        </p:spPr>
      </p:sp>
      <p:pic>
        <p:nvPicPr>
          <p:cNvPr id="13" name="Image 0" descr="preencoded.png">    </p:cNvPr>
          <p:cNvPicPr>
            <a:picLocks noChangeAspect="1"/>
          </p:cNvPicPr>
          <p:nvPr/>
        </p:nvPicPr>
        <p:blipFill>
          <a:blip r:embed="rId1"/>
          <a:stretch>
            <a:fillRect/>
          </a:stretch>
        </p:blipFill>
        <p:spPr>
          <a:xfrm>
            <a:off x="822960" y="4343400"/>
            <a:ext cx="548640" cy="548640"/>
          </a:xfrm>
          <a:prstGeom prst="rect">
            <a:avLst/>
          </a:prstGeom>
        </p:spPr>
      </p:pic>
      <p:sp>
        <p:nvSpPr>
          <p:cNvPr id="14" name="Text 11"/>
          <p:cNvSpPr txBox="1"/>
          <p:nvPr/>
        </p:nvSpPr>
        <p:spPr>
          <a:xfrm>
            <a:off x="1554480" y="4114800"/>
            <a:ext cx="2423160" cy="1005840"/>
          </a:xfrm>
          <a:prstGeom prst="rect">
            <a:avLst/>
          </a:prstGeom>
          <a:noFill/>
          <a:ln/>
        </p:spPr>
        <p:txBody>
          <a:bodyPr wrap="square" lIns="0" tIns="0" rIns="0" bIns="0" rtlCol="0" anchor="ctr"/>
          <a:lstStyle/>
          <a:p>
            <a:pPr indent="0" marL="0">
              <a:buNone/>
            </a:pPr>
            <a:r>
              <a:rPr lang="en-US" sz="2200" b="1" dirty="0">
                <a:solidFill>
                  <a:srgbClr val="14284B"/>
                </a:solidFill>
                <a:latin typeface="Arial" pitchFamily="34" charset="0"/>
                <a:ea typeface="Arial" pitchFamily="34" charset="-122"/>
                <a:cs typeface="Arial" pitchFamily="34" charset="-120"/>
              </a:rPr>
              <a:t>Uraian setiap masukan</a:t>
            </a:r>
            <a:endParaRPr lang="en-US" sz="2200" dirty="0"/>
          </a:p>
        </p:txBody>
      </p:sp>
      <p:pic>
        <p:nvPicPr>
          <p:cNvPr id="15" name="Image 1" descr="preencoded.png">    </p:cNvPr>
          <p:cNvPicPr>
            <a:picLocks noChangeAspect="1"/>
          </p:cNvPicPr>
          <p:nvPr/>
        </p:nvPicPr>
        <p:blipFill>
          <a:blip r:embed="rId2"/>
          <a:stretch>
            <a:fillRect/>
          </a:stretch>
        </p:blipFill>
        <p:spPr>
          <a:xfrm>
            <a:off x="4114800" y="4453128"/>
            <a:ext cx="274320" cy="320040"/>
          </a:xfrm>
          <a:prstGeom prst="rect">
            <a:avLst/>
          </a:prstGeom>
        </p:spPr>
      </p:pic>
      <p:sp>
        <p:nvSpPr>
          <p:cNvPr id="16" name="Shape 12"/>
          <p:cNvSpPr/>
          <p:nvPr/>
        </p:nvSpPr>
        <p:spPr>
          <a:xfrm>
            <a:off x="4343400" y="4114800"/>
            <a:ext cx="3520440" cy="1005840"/>
          </a:xfrm>
          <a:prstGeom prst="roundRect">
            <a:avLst>
              <a:gd name="adj" fmla="val 10909"/>
            </a:avLst>
          </a:prstGeom>
          <a:solidFill>
            <a:srgbClr val="EEF2F8"/>
          </a:solidFill>
          <a:ln w="12700">
            <a:solidFill>
              <a:srgbClr val="EEF2F8"/>
            </a:solidFill>
            <a:prstDash val="solid"/>
          </a:ln>
        </p:spPr>
      </p:sp>
      <p:pic>
        <p:nvPicPr>
          <p:cNvPr id="17" name="Image 2" descr="preencoded.png">    </p:cNvPr>
          <p:cNvPicPr>
            <a:picLocks noChangeAspect="1"/>
          </p:cNvPicPr>
          <p:nvPr/>
        </p:nvPicPr>
        <p:blipFill>
          <a:blip r:embed="rId3"/>
          <a:stretch>
            <a:fillRect/>
          </a:stretch>
        </p:blipFill>
        <p:spPr>
          <a:xfrm>
            <a:off x="4617720" y="4343400"/>
            <a:ext cx="548640" cy="548640"/>
          </a:xfrm>
          <a:prstGeom prst="rect">
            <a:avLst/>
          </a:prstGeom>
        </p:spPr>
      </p:pic>
      <p:sp>
        <p:nvSpPr>
          <p:cNvPr id="18" name="Text 13"/>
          <p:cNvSpPr txBox="1"/>
          <p:nvPr/>
        </p:nvSpPr>
        <p:spPr>
          <a:xfrm>
            <a:off x="5349240" y="4114800"/>
            <a:ext cx="2423160" cy="1005840"/>
          </a:xfrm>
          <a:prstGeom prst="rect">
            <a:avLst/>
          </a:prstGeom>
          <a:noFill/>
          <a:ln/>
        </p:spPr>
        <p:txBody>
          <a:bodyPr wrap="square" lIns="0" tIns="0" rIns="0" bIns="0" rtlCol="0" anchor="ctr"/>
          <a:lstStyle/>
          <a:p>
            <a:pPr indent="0" marL="0">
              <a:buNone/>
            </a:pPr>
            <a:r>
              <a:rPr lang="en-US" sz="2200" b="1" dirty="0">
                <a:solidFill>
                  <a:srgbClr val="14284B"/>
                </a:solidFill>
                <a:latin typeface="Arial" pitchFamily="34" charset="0"/>
                <a:ea typeface="Arial" pitchFamily="34" charset="-122"/>
                <a:cs typeface="Arial" pitchFamily="34" charset="-120"/>
              </a:rPr>
              <a:t>Kesimpulan: Masukan BHP Medan</a:t>
            </a:r>
            <a:endParaRPr lang="en-US" sz="2200" dirty="0"/>
          </a:p>
        </p:txBody>
      </p:sp>
      <p:pic>
        <p:nvPicPr>
          <p:cNvPr id="19" name="Image 3" descr="preencoded.png">    </p:cNvPr>
          <p:cNvPicPr>
            <a:picLocks noChangeAspect="1"/>
          </p:cNvPicPr>
          <p:nvPr/>
        </p:nvPicPr>
        <p:blipFill>
          <a:blip r:embed="rId4"/>
          <a:stretch>
            <a:fillRect/>
          </a:stretch>
        </p:blipFill>
        <p:spPr>
          <a:xfrm>
            <a:off x="7909560" y="4453128"/>
            <a:ext cx="274320" cy="320040"/>
          </a:xfrm>
          <a:prstGeom prst="rect">
            <a:avLst/>
          </a:prstGeom>
        </p:spPr>
      </p:pic>
      <p:sp>
        <p:nvSpPr>
          <p:cNvPr id="20" name="Shape 14"/>
          <p:cNvSpPr/>
          <p:nvPr/>
        </p:nvSpPr>
        <p:spPr>
          <a:xfrm>
            <a:off x="8138160" y="4114800"/>
            <a:ext cx="3520440" cy="1005840"/>
          </a:xfrm>
          <a:prstGeom prst="roundRect">
            <a:avLst>
              <a:gd name="adj" fmla="val 10909"/>
            </a:avLst>
          </a:prstGeom>
          <a:solidFill>
            <a:srgbClr val="EEF2F8"/>
          </a:solidFill>
          <a:ln w="12700">
            <a:solidFill>
              <a:srgbClr val="EEF2F8"/>
            </a:solidFill>
            <a:prstDash val="solid"/>
          </a:ln>
        </p:spPr>
      </p:sp>
      <p:pic>
        <p:nvPicPr>
          <p:cNvPr id="21" name="Image 4" descr="preencoded.png">    </p:cNvPr>
          <p:cNvPicPr>
            <a:picLocks noChangeAspect="1"/>
          </p:cNvPicPr>
          <p:nvPr/>
        </p:nvPicPr>
        <p:blipFill>
          <a:blip r:embed="rId5"/>
          <a:stretch>
            <a:fillRect/>
          </a:stretch>
        </p:blipFill>
        <p:spPr>
          <a:xfrm>
            <a:off x="8412480" y="4343400"/>
            <a:ext cx="548640" cy="548640"/>
          </a:xfrm>
          <a:prstGeom prst="rect">
            <a:avLst/>
          </a:prstGeom>
        </p:spPr>
      </p:pic>
      <p:sp>
        <p:nvSpPr>
          <p:cNvPr id="22" name="Text 15"/>
          <p:cNvSpPr txBox="1"/>
          <p:nvPr/>
        </p:nvSpPr>
        <p:spPr>
          <a:xfrm>
            <a:off x="9144000" y="4114800"/>
            <a:ext cx="2423160" cy="1005840"/>
          </a:xfrm>
          <a:prstGeom prst="rect">
            <a:avLst/>
          </a:prstGeom>
          <a:noFill/>
          <a:ln/>
        </p:spPr>
        <p:txBody>
          <a:bodyPr wrap="square" lIns="0" tIns="0" rIns="0" bIns="0" rtlCol="0" anchor="ctr"/>
          <a:lstStyle/>
          <a:p>
            <a:pPr indent="0" marL="0">
              <a:buNone/>
            </a:pPr>
            <a:r>
              <a:rPr lang="en-US" sz="2200" b="1" dirty="0">
                <a:solidFill>
                  <a:srgbClr val="14284B"/>
                </a:solidFill>
                <a:latin typeface="Arial" pitchFamily="34" charset="0"/>
                <a:ea typeface="Arial" pitchFamily="34" charset="-122"/>
                <a:cs typeface="Arial" pitchFamily="34" charset="-120"/>
              </a:rPr>
              <a:t>Usulan rumusan pasal dalam Lampiran I</a:t>
            </a:r>
            <a:endParaRPr lang="en-US" sz="2200" dirty="0"/>
          </a:p>
        </p:txBody>
      </p:sp>
      <p:sp>
        <p:nvSpPr>
          <p:cNvPr id="23" name="Text 16"/>
          <p:cNvSpPr txBox="1"/>
          <p:nvPr/>
        </p:nvSpPr>
        <p:spPr>
          <a:xfrm>
            <a:off x="548640" y="5349240"/>
            <a:ext cx="11091672" cy="868680"/>
          </a:xfrm>
          <a:prstGeom prst="rect">
            <a:avLst/>
          </a:prstGeom>
          <a:noFill/>
          <a:ln/>
        </p:spPr>
        <p:txBody>
          <a:bodyPr wrap="square" lIns="0" tIns="0" rIns="0" bIns="0" rtlCol="0" anchor="ctr"/>
          <a:lstStyle/>
          <a:p>
            <a:pPr indent="0" marL="0">
              <a:buNone/>
            </a:pPr>
            <a:r>
              <a:rPr lang="en-US" sz="2400" b="1" dirty="0">
                <a:solidFill>
                  <a:srgbClr val="14284B"/>
                </a:solidFill>
                <a:latin typeface="Arial" pitchFamily="34" charset="0"/>
                <a:ea typeface="Arial" pitchFamily="34" charset="-122"/>
                <a:cs typeface="Arial" pitchFamily="34" charset="-120"/>
              </a:rPr>
              <a:t>Setiap masukan disertai usulan rumusan pasal yang dapat langsung digunakan dalam penyusunan draf RUU.</a:t>
            </a:r>
            <a:endParaRPr lang="en-US" sz="2400" dirty="0"/>
          </a:p>
        </p:txBody>
      </p:sp>
      <p:sp>
        <p:nvSpPr>
          <p:cNvPr id="24" name="Text 17"/>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25" name="Text 18"/>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3</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11480"/>
            <a:ext cx="11094415" cy="960120"/>
          </a:xfrm>
          <a:prstGeom prst="rect">
            <a:avLst/>
          </a:prstGeom>
          <a:noFill/>
          <a:ln/>
        </p:spPr>
        <p:txBody>
          <a:bodyPr wrap="square" lIns="0" tIns="0" rIns="0" bIns="0" rtlCol="0" anchor="ctr"/>
          <a:lstStyle/>
          <a:p>
            <a:pPr indent="0" marL="0">
              <a:buNone/>
            </a:pPr>
            <a:r>
              <a:rPr lang="en-US" sz="3400" b="1" dirty="0">
                <a:solidFill>
                  <a:srgbClr val="14284B"/>
                </a:solidFill>
                <a:latin typeface="Arial" pitchFamily="34" charset="0"/>
                <a:ea typeface="Arial" pitchFamily="34" charset="-122"/>
                <a:cs typeface="Arial" pitchFamily="34" charset="-120"/>
              </a:rPr>
              <a:t>5 Pokok Pembahasan</a:t>
            </a:r>
            <a:endParaRPr lang="en-US" sz="3400" dirty="0"/>
          </a:p>
        </p:txBody>
      </p:sp>
      <p:sp>
        <p:nvSpPr>
          <p:cNvPr id="3" name="Text 1"/>
          <p:cNvSpPr txBox="1"/>
          <p:nvPr/>
        </p:nvSpPr>
        <p:spPr>
          <a:xfrm>
            <a:off x="548640" y="1371600"/>
            <a:ext cx="11091672" cy="731520"/>
          </a:xfrm>
          <a:prstGeom prst="rect">
            <a:avLst/>
          </a:prstGeom>
          <a:noFill/>
          <a:ln/>
        </p:spPr>
        <p:txBody>
          <a:bodyPr wrap="square" lIns="0" tIns="0" rIns="0" bIns="0" rtlCol="0" anchor="ctr"/>
          <a:lstStyle/>
          <a:p>
            <a:pPr indent="0" marL="0">
              <a:buNone/>
            </a:pPr>
            <a:r>
              <a:rPr lang="en-US" sz="2000" dirty="0">
                <a:solidFill>
                  <a:srgbClr val="4A5568"/>
                </a:solidFill>
                <a:latin typeface="Arial" pitchFamily="34" charset="0"/>
                <a:ea typeface="Arial" pitchFamily="34" charset="-122"/>
                <a:cs typeface="Arial" pitchFamily="34" charset="-120"/>
              </a:rPr>
              <a:t>Masukan BHP Medan difokuskan pada penegasan peran BHP, peningkatan kualitas profesi, serta penguatan pengawasan dan pertanggungjawaban kurator.</a:t>
            </a:r>
            <a:endParaRPr lang="en-US" sz="2000" dirty="0"/>
          </a:p>
        </p:txBody>
      </p:sp>
      <p:sp>
        <p:nvSpPr>
          <p:cNvPr id="4" name="Shape 2"/>
          <p:cNvSpPr/>
          <p:nvPr/>
        </p:nvSpPr>
        <p:spPr>
          <a:xfrm>
            <a:off x="548640" y="2286000"/>
            <a:ext cx="2057400" cy="3840480"/>
          </a:xfrm>
          <a:prstGeom prst="roundRect">
            <a:avLst>
              <a:gd name="adj" fmla="val 5333"/>
            </a:avLst>
          </a:prstGeom>
          <a:solidFill>
            <a:srgbClr val="EEF2F8"/>
          </a:solidFill>
          <a:ln w="12700">
            <a:solidFill>
              <a:srgbClr val="EEF2F8"/>
            </a:solidFill>
            <a:prstDash val="solid"/>
          </a:ln>
        </p:spPr>
      </p:sp>
      <p:sp>
        <p:nvSpPr>
          <p:cNvPr id="5" name="Shape 3"/>
          <p:cNvSpPr/>
          <p:nvPr/>
        </p:nvSpPr>
        <p:spPr>
          <a:xfrm>
            <a:off x="777240" y="2514600"/>
            <a:ext cx="566928" cy="566928"/>
          </a:xfrm>
          <a:prstGeom prst="ellipse">
            <a:avLst/>
          </a:prstGeom>
          <a:solidFill>
            <a:srgbClr val="14284B"/>
          </a:solidFill>
          <a:ln w="12700">
            <a:solidFill>
              <a:srgbClr val="14284B"/>
            </a:solidFill>
            <a:prstDash val="solid"/>
          </a:ln>
        </p:spPr>
      </p:sp>
      <p:sp>
        <p:nvSpPr>
          <p:cNvPr id="6" name="Text 4"/>
          <p:cNvSpPr txBox="1"/>
          <p:nvPr/>
        </p:nvSpPr>
        <p:spPr>
          <a:xfrm>
            <a:off x="777240" y="25146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7" name="Text 5"/>
          <p:cNvSpPr txBox="1"/>
          <p:nvPr/>
        </p:nvSpPr>
        <p:spPr>
          <a:xfrm>
            <a:off x="777240" y="3200400"/>
            <a:ext cx="1691640" cy="1188720"/>
          </a:xfrm>
          <a:prstGeom prst="rect">
            <a:avLst/>
          </a:prstGeom>
          <a:noFill/>
          <a:ln/>
        </p:spPr>
        <p:txBody>
          <a:bodyPr wrap="square" lIns="0" tIns="0" rIns="0" bIns="0" rtlCol="0" anchor="t"/>
          <a:lstStyle/>
          <a:p>
            <a:pPr indent="0" marL="0">
              <a:buNone/>
            </a:pPr>
            <a:r>
              <a:rPr lang="en-US" sz="1900" b="1" dirty="0">
                <a:solidFill>
                  <a:srgbClr val="14284B"/>
                </a:solidFill>
                <a:latin typeface="Arial" pitchFamily="34" charset="0"/>
                <a:ea typeface="Arial" pitchFamily="34" charset="-122"/>
                <a:cs typeface="Arial" pitchFamily="34" charset="-120"/>
              </a:rPr>
              <a:t>Kewenangan dan Koordinasi</a:t>
            </a:r>
            <a:endParaRPr lang="en-US" sz="1900" dirty="0"/>
          </a:p>
        </p:txBody>
      </p:sp>
      <p:sp>
        <p:nvSpPr>
          <p:cNvPr id="8" name="Text 6"/>
          <p:cNvSpPr txBox="1"/>
          <p:nvPr/>
        </p:nvSpPr>
        <p:spPr>
          <a:xfrm>
            <a:off x="777240" y="5029200"/>
            <a:ext cx="1691640" cy="822960"/>
          </a:xfrm>
          <a:prstGeom prst="rect">
            <a:avLst/>
          </a:prstGeom>
          <a:noFill/>
          <a:ln/>
        </p:spPr>
        <p:txBody>
          <a:bodyPr wrap="square" lIns="0" tIns="0" rIns="0" bIns="0" rtlCol="0" anchor="b"/>
          <a:lstStyle/>
          <a:p>
            <a:pPr indent="0" marL="0">
              <a:buNone/>
            </a:pPr>
            <a:r>
              <a:rPr lang="en-US" sz="1500" b="1" dirty="0">
                <a:solidFill>
                  <a:srgbClr val="8A6100"/>
                </a:solidFill>
                <a:latin typeface="Arial" pitchFamily="34" charset="0"/>
                <a:ea typeface="Arial" pitchFamily="34" charset="-122"/>
                <a:cs typeface="Arial" pitchFamily="34" charset="-120"/>
              </a:rPr>
              <a:t>Masukan 2</a:t>
            </a:r>
            <a:endParaRPr lang="en-US" sz="1500" dirty="0"/>
          </a:p>
        </p:txBody>
      </p:sp>
      <p:sp>
        <p:nvSpPr>
          <p:cNvPr id="9" name="Shape 7"/>
          <p:cNvSpPr/>
          <p:nvPr/>
        </p:nvSpPr>
        <p:spPr>
          <a:xfrm>
            <a:off x="2788920" y="2286000"/>
            <a:ext cx="2057400" cy="3840480"/>
          </a:xfrm>
          <a:prstGeom prst="roundRect">
            <a:avLst>
              <a:gd name="adj" fmla="val 5333"/>
            </a:avLst>
          </a:prstGeom>
          <a:solidFill>
            <a:srgbClr val="EEF2F8"/>
          </a:solidFill>
          <a:ln w="12700">
            <a:solidFill>
              <a:srgbClr val="EEF2F8"/>
            </a:solidFill>
            <a:prstDash val="solid"/>
          </a:ln>
        </p:spPr>
      </p:sp>
      <p:sp>
        <p:nvSpPr>
          <p:cNvPr id="10" name="Shape 8"/>
          <p:cNvSpPr/>
          <p:nvPr/>
        </p:nvSpPr>
        <p:spPr>
          <a:xfrm>
            <a:off x="3017520" y="2514600"/>
            <a:ext cx="566928" cy="566928"/>
          </a:xfrm>
          <a:prstGeom prst="ellipse">
            <a:avLst/>
          </a:prstGeom>
          <a:solidFill>
            <a:srgbClr val="14284B"/>
          </a:solidFill>
          <a:ln w="12700">
            <a:solidFill>
              <a:srgbClr val="14284B"/>
            </a:solidFill>
            <a:prstDash val="solid"/>
          </a:ln>
        </p:spPr>
      </p:sp>
      <p:sp>
        <p:nvSpPr>
          <p:cNvPr id="11" name="Text 9"/>
          <p:cNvSpPr txBox="1"/>
          <p:nvPr/>
        </p:nvSpPr>
        <p:spPr>
          <a:xfrm>
            <a:off x="3017520" y="25146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2" name="Text 10"/>
          <p:cNvSpPr txBox="1"/>
          <p:nvPr/>
        </p:nvSpPr>
        <p:spPr>
          <a:xfrm>
            <a:off x="3017520" y="3200400"/>
            <a:ext cx="1691640" cy="1188720"/>
          </a:xfrm>
          <a:prstGeom prst="rect">
            <a:avLst/>
          </a:prstGeom>
          <a:noFill/>
          <a:ln/>
        </p:spPr>
        <p:txBody>
          <a:bodyPr wrap="square" lIns="0" tIns="0" rIns="0" bIns="0" rtlCol="0" anchor="t"/>
          <a:lstStyle/>
          <a:p>
            <a:pPr indent="0" marL="0">
              <a:buNone/>
            </a:pPr>
            <a:r>
              <a:rPr lang="en-US" sz="1900" b="1" dirty="0">
                <a:solidFill>
                  <a:srgbClr val="14284B"/>
                </a:solidFill>
                <a:latin typeface="Arial" pitchFamily="34" charset="0"/>
                <a:ea typeface="Arial" pitchFamily="34" charset="-122"/>
                <a:cs typeface="Arial" pitchFamily="34" charset="-120"/>
              </a:rPr>
              <a:t>Standar Profesi</a:t>
            </a:r>
            <a:endParaRPr lang="en-US" sz="1900" dirty="0"/>
          </a:p>
        </p:txBody>
      </p:sp>
      <p:sp>
        <p:nvSpPr>
          <p:cNvPr id="13" name="Text 11"/>
          <p:cNvSpPr txBox="1"/>
          <p:nvPr/>
        </p:nvSpPr>
        <p:spPr>
          <a:xfrm>
            <a:off x="3017520" y="5029200"/>
            <a:ext cx="1691640" cy="822960"/>
          </a:xfrm>
          <a:prstGeom prst="rect">
            <a:avLst/>
          </a:prstGeom>
          <a:noFill/>
          <a:ln/>
        </p:spPr>
        <p:txBody>
          <a:bodyPr wrap="square" lIns="0" tIns="0" rIns="0" bIns="0" rtlCol="0" anchor="b"/>
          <a:lstStyle/>
          <a:p>
            <a:pPr indent="0" marL="0">
              <a:buNone/>
            </a:pPr>
            <a:r>
              <a:rPr lang="en-US" sz="1500" b="1" dirty="0">
                <a:solidFill>
                  <a:srgbClr val="8A6100"/>
                </a:solidFill>
                <a:latin typeface="Arial" pitchFamily="34" charset="0"/>
                <a:ea typeface="Arial" pitchFamily="34" charset="-122"/>
                <a:cs typeface="Arial" pitchFamily="34" charset="-120"/>
              </a:rPr>
              <a:t>Masukan 3, 4</a:t>
            </a:r>
            <a:endParaRPr lang="en-US" sz="1500" dirty="0"/>
          </a:p>
        </p:txBody>
      </p:sp>
      <p:sp>
        <p:nvSpPr>
          <p:cNvPr id="14" name="Shape 12"/>
          <p:cNvSpPr/>
          <p:nvPr/>
        </p:nvSpPr>
        <p:spPr>
          <a:xfrm>
            <a:off x="5029200" y="2286000"/>
            <a:ext cx="2057400" cy="3840480"/>
          </a:xfrm>
          <a:prstGeom prst="roundRect">
            <a:avLst>
              <a:gd name="adj" fmla="val 5333"/>
            </a:avLst>
          </a:prstGeom>
          <a:solidFill>
            <a:srgbClr val="EEF2F8"/>
          </a:solidFill>
          <a:ln w="12700">
            <a:solidFill>
              <a:srgbClr val="EEF2F8"/>
            </a:solidFill>
            <a:prstDash val="solid"/>
          </a:ln>
        </p:spPr>
      </p:sp>
      <p:sp>
        <p:nvSpPr>
          <p:cNvPr id="15" name="Shape 13"/>
          <p:cNvSpPr/>
          <p:nvPr/>
        </p:nvSpPr>
        <p:spPr>
          <a:xfrm>
            <a:off x="5257800" y="2514600"/>
            <a:ext cx="566928" cy="566928"/>
          </a:xfrm>
          <a:prstGeom prst="ellipse">
            <a:avLst/>
          </a:prstGeom>
          <a:solidFill>
            <a:srgbClr val="14284B"/>
          </a:solidFill>
          <a:ln w="12700">
            <a:solidFill>
              <a:srgbClr val="14284B"/>
            </a:solidFill>
            <a:prstDash val="solid"/>
          </a:ln>
        </p:spPr>
      </p:sp>
      <p:sp>
        <p:nvSpPr>
          <p:cNvPr id="16" name="Text 14"/>
          <p:cNvSpPr txBox="1"/>
          <p:nvPr/>
        </p:nvSpPr>
        <p:spPr>
          <a:xfrm>
            <a:off x="5257800" y="25146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7" name="Text 15"/>
          <p:cNvSpPr txBox="1"/>
          <p:nvPr/>
        </p:nvSpPr>
        <p:spPr>
          <a:xfrm>
            <a:off x="5257800" y="3200400"/>
            <a:ext cx="1691640" cy="1188720"/>
          </a:xfrm>
          <a:prstGeom prst="rect">
            <a:avLst/>
          </a:prstGeom>
          <a:noFill/>
          <a:ln/>
        </p:spPr>
        <p:txBody>
          <a:bodyPr wrap="square" lIns="0" tIns="0" rIns="0" bIns="0" rtlCol="0" anchor="t"/>
          <a:lstStyle/>
          <a:p>
            <a:pPr indent="0" marL="0">
              <a:buNone/>
            </a:pPr>
            <a:r>
              <a:rPr lang="en-US" sz="1900" b="1" dirty="0">
                <a:solidFill>
                  <a:srgbClr val="14284B"/>
                </a:solidFill>
                <a:latin typeface="Arial" pitchFamily="34" charset="0"/>
                <a:ea typeface="Arial" pitchFamily="34" charset="-122"/>
                <a:cs typeface="Arial" pitchFamily="34" charset="-120"/>
              </a:rPr>
              <a:t>Permasalahan Praktik</a:t>
            </a:r>
            <a:endParaRPr lang="en-US" sz="1900" dirty="0"/>
          </a:p>
        </p:txBody>
      </p:sp>
      <p:sp>
        <p:nvSpPr>
          <p:cNvPr id="18" name="Text 16"/>
          <p:cNvSpPr txBox="1"/>
          <p:nvPr/>
        </p:nvSpPr>
        <p:spPr>
          <a:xfrm>
            <a:off x="5257800" y="5029200"/>
            <a:ext cx="1691640" cy="822960"/>
          </a:xfrm>
          <a:prstGeom prst="rect">
            <a:avLst/>
          </a:prstGeom>
          <a:noFill/>
          <a:ln/>
        </p:spPr>
        <p:txBody>
          <a:bodyPr wrap="square" lIns="0" tIns="0" rIns="0" bIns="0" rtlCol="0" anchor="b"/>
          <a:lstStyle/>
          <a:p>
            <a:pPr indent="0" marL="0">
              <a:buNone/>
            </a:pPr>
            <a:r>
              <a:rPr lang="en-US" sz="1500" b="1" dirty="0">
                <a:solidFill>
                  <a:srgbClr val="8A6100"/>
                </a:solidFill>
                <a:latin typeface="Arial" pitchFamily="34" charset="0"/>
                <a:ea typeface="Arial" pitchFamily="34" charset="-122"/>
                <a:cs typeface="Arial" pitchFamily="34" charset="-120"/>
              </a:rPr>
              <a:t>Masukan 6, 9, 7, 10</a:t>
            </a:r>
            <a:endParaRPr lang="en-US" sz="1500" dirty="0"/>
          </a:p>
        </p:txBody>
      </p:sp>
      <p:sp>
        <p:nvSpPr>
          <p:cNvPr id="19" name="Shape 17"/>
          <p:cNvSpPr/>
          <p:nvPr/>
        </p:nvSpPr>
        <p:spPr>
          <a:xfrm>
            <a:off x="7269480" y="2286000"/>
            <a:ext cx="2057400" cy="3840480"/>
          </a:xfrm>
          <a:prstGeom prst="roundRect">
            <a:avLst>
              <a:gd name="adj" fmla="val 5333"/>
            </a:avLst>
          </a:prstGeom>
          <a:solidFill>
            <a:srgbClr val="EEF2F8"/>
          </a:solidFill>
          <a:ln w="12700">
            <a:solidFill>
              <a:srgbClr val="EEF2F8"/>
            </a:solidFill>
            <a:prstDash val="solid"/>
          </a:ln>
        </p:spPr>
      </p:sp>
      <p:sp>
        <p:nvSpPr>
          <p:cNvPr id="20" name="Shape 18"/>
          <p:cNvSpPr/>
          <p:nvPr/>
        </p:nvSpPr>
        <p:spPr>
          <a:xfrm>
            <a:off x="7498080" y="2514600"/>
            <a:ext cx="566928" cy="566928"/>
          </a:xfrm>
          <a:prstGeom prst="ellipse">
            <a:avLst/>
          </a:prstGeom>
          <a:solidFill>
            <a:srgbClr val="14284B"/>
          </a:solidFill>
          <a:ln w="12700">
            <a:solidFill>
              <a:srgbClr val="14284B"/>
            </a:solidFill>
            <a:prstDash val="solid"/>
          </a:ln>
        </p:spPr>
      </p:sp>
      <p:sp>
        <p:nvSpPr>
          <p:cNvPr id="21" name="Text 19"/>
          <p:cNvSpPr txBox="1"/>
          <p:nvPr/>
        </p:nvSpPr>
        <p:spPr>
          <a:xfrm>
            <a:off x="7498080" y="25146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22" name="Text 20"/>
          <p:cNvSpPr txBox="1"/>
          <p:nvPr/>
        </p:nvSpPr>
        <p:spPr>
          <a:xfrm>
            <a:off x="7498080" y="3200400"/>
            <a:ext cx="1691640" cy="1188720"/>
          </a:xfrm>
          <a:prstGeom prst="rect">
            <a:avLst/>
          </a:prstGeom>
          <a:noFill/>
          <a:ln/>
        </p:spPr>
        <p:txBody>
          <a:bodyPr wrap="square" lIns="0" tIns="0" rIns="0" bIns="0" rtlCol="0" anchor="t"/>
          <a:lstStyle/>
          <a:p>
            <a:pPr indent="0" marL="0">
              <a:buNone/>
            </a:pPr>
            <a:r>
              <a:rPr lang="en-US" sz="1900" b="1" dirty="0">
                <a:solidFill>
                  <a:srgbClr val="14284B"/>
                </a:solidFill>
                <a:latin typeface="Arial" pitchFamily="34" charset="0"/>
                <a:ea typeface="Arial" pitchFamily="34" charset="-122"/>
                <a:cs typeface="Arial" pitchFamily="34" charset="-120"/>
              </a:rPr>
              <a:t>Penguatan Kelembagaan BHP</a:t>
            </a:r>
            <a:endParaRPr lang="en-US" sz="1900" dirty="0"/>
          </a:p>
        </p:txBody>
      </p:sp>
      <p:sp>
        <p:nvSpPr>
          <p:cNvPr id="23" name="Text 21"/>
          <p:cNvSpPr txBox="1"/>
          <p:nvPr/>
        </p:nvSpPr>
        <p:spPr>
          <a:xfrm>
            <a:off x="7498080" y="5029200"/>
            <a:ext cx="1691640" cy="822960"/>
          </a:xfrm>
          <a:prstGeom prst="rect">
            <a:avLst/>
          </a:prstGeom>
          <a:noFill/>
          <a:ln/>
        </p:spPr>
        <p:txBody>
          <a:bodyPr wrap="square" lIns="0" tIns="0" rIns="0" bIns="0" rtlCol="0" anchor="b"/>
          <a:lstStyle/>
          <a:p>
            <a:pPr indent="0" marL="0">
              <a:buNone/>
            </a:pPr>
            <a:r>
              <a:rPr lang="en-US" sz="1500" b="1" dirty="0">
                <a:solidFill>
                  <a:srgbClr val="8A6100"/>
                </a:solidFill>
                <a:latin typeface="Arial" pitchFamily="34" charset="0"/>
                <a:ea typeface="Arial" pitchFamily="34" charset="-122"/>
                <a:cs typeface="Arial" pitchFamily="34" charset="-120"/>
              </a:rPr>
              <a:t>Masukan 1</a:t>
            </a:r>
            <a:endParaRPr lang="en-US" sz="1500" dirty="0"/>
          </a:p>
        </p:txBody>
      </p:sp>
      <p:sp>
        <p:nvSpPr>
          <p:cNvPr id="24" name="Shape 22"/>
          <p:cNvSpPr/>
          <p:nvPr/>
        </p:nvSpPr>
        <p:spPr>
          <a:xfrm>
            <a:off x="9509760" y="2286000"/>
            <a:ext cx="2057400" cy="3840480"/>
          </a:xfrm>
          <a:prstGeom prst="roundRect">
            <a:avLst>
              <a:gd name="adj" fmla="val 5333"/>
            </a:avLst>
          </a:prstGeom>
          <a:solidFill>
            <a:srgbClr val="EEF2F8"/>
          </a:solidFill>
          <a:ln w="12700">
            <a:solidFill>
              <a:srgbClr val="EEF2F8"/>
            </a:solidFill>
            <a:prstDash val="solid"/>
          </a:ln>
        </p:spPr>
      </p:sp>
      <p:sp>
        <p:nvSpPr>
          <p:cNvPr id="25" name="Shape 23"/>
          <p:cNvSpPr/>
          <p:nvPr/>
        </p:nvSpPr>
        <p:spPr>
          <a:xfrm>
            <a:off x="9738360" y="2514600"/>
            <a:ext cx="566928" cy="566928"/>
          </a:xfrm>
          <a:prstGeom prst="ellipse">
            <a:avLst/>
          </a:prstGeom>
          <a:solidFill>
            <a:srgbClr val="14284B"/>
          </a:solidFill>
          <a:ln w="12700">
            <a:solidFill>
              <a:srgbClr val="14284B"/>
            </a:solidFill>
            <a:prstDash val="solid"/>
          </a:ln>
        </p:spPr>
      </p:sp>
      <p:sp>
        <p:nvSpPr>
          <p:cNvPr id="26" name="Text 24"/>
          <p:cNvSpPr txBox="1"/>
          <p:nvPr/>
        </p:nvSpPr>
        <p:spPr>
          <a:xfrm>
            <a:off x="9738360" y="25146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5</a:t>
            </a:r>
            <a:endParaRPr lang="en-US" sz="2200" dirty="0"/>
          </a:p>
        </p:txBody>
      </p:sp>
      <p:sp>
        <p:nvSpPr>
          <p:cNvPr id="27" name="Text 25"/>
          <p:cNvSpPr txBox="1"/>
          <p:nvPr/>
        </p:nvSpPr>
        <p:spPr>
          <a:xfrm>
            <a:off x="9738360" y="3200400"/>
            <a:ext cx="1691640" cy="1188720"/>
          </a:xfrm>
          <a:prstGeom prst="rect">
            <a:avLst/>
          </a:prstGeom>
          <a:noFill/>
          <a:ln/>
        </p:spPr>
        <p:txBody>
          <a:bodyPr wrap="square" lIns="0" tIns="0" rIns="0" bIns="0" rtlCol="0" anchor="t"/>
          <a:lstStyle/>
          <a:p>
            <a:pPr indent="0" marL="0">
              <a:buNone/>
            </a:pPr>
            <a:r>
              <a:rPr lang="en-US" sz="1900" b="1" dirty="0">
                <a:solidFill>
                  <a:srgbClr val="14284B"/>
                </a:solidFill>
                <a:latin typeface="Arial" pitchFamily="34" charset="0"/>
                <a:ea typeface="Arial" pitchFamily="34" charset="-122"/>
                <a:cs typeface="Arial" pitchFamily="34" charset="-120"/>
              </a:rPr>
              <a:t>Masukan Pengaturan</a:t>
            </a:r>
            <a:endParaRPr lang="en-US" sz="1900" dirty="0"/>
          </a:p>
        </p:txBody>
      </p:sp>
      <p:sp>
        <p:nvSpPr>
          <p:cNvPr id="28" name="Text 26"/>
          <p:cNvSpPr txBox="1"/>
          <p:nvPr/>
        </p:nvSpPr>
        <p:spPr>
          <a:xfrm>
            <a:off x="9738360" y="5029200"/>
            <a:ext cx="1691640" cy="822960"/>
          </a:xfrm>
          <a:prstGeom prst="rect">
            <a:avLst/>
          </a:prstGeom>
          <a:noFill/>
          <a:ln/>
        </p:spPr>
        <p:txBody>
          <a:bodyPr wrap="square" lIns="0" tIns="0" rIns="0" bIns="0" rtlCol="0" anchor="b"/>
          <a:lstStyle/>
          <a:p>
            <a:pPr indent="0" marL="0">
              <a:buNone/>
            </a:pPr>
            <a:r>
              <a:rPr lang="en-US" sz="1500" b="1" dirty="0">
                <a:solidFill>
                  <a:srgbClr val="8A6100"/>
                </a:solidFill>
                <a:latin typeface="Arial" pitchFamily="34" charset="0"/>
                <a:ea typeface="Arial" pitchFamily="34" charset="-122"/>
                <a:cs typeface="Arial" pitchFamily="34" charset="-120"/>
              </a:rPr>
              <a:t>Masukan 8, 5, 12, 11</a:t>
            </a:r>
            <a:endParaRPr lang="en-US" sz="1500" dirty="0"/>
          </a:p>
        </p:txBody>
      </p:sp>
      <p:sp>
        <p:nvSpPr>
          <p:cNvPr id="29" name="Text 27"/>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30" name="Text 28"/>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4</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84B"/>
        </a:solidFill>
      </p:bgPr>
    </p:bg>
    <p:spTree>
      <p:nvGrpSpPr>
        <p:cNvPr id="1" name=""/>
        <p:cNvGrpSpPr/>
        <p:nvPr/>
      </p:nvGrpSpPr>
      <p:grpSpPr>
        <a:xfrm>
          <a:off x="0" y="0"/>
          <a:ext cx="0" cy="0"/>
          <a:chOff x="0" y="0"/>
          <a:chExt cx="0" cy="0"/>
        </a:xfrm>
      </p:grpSpPr>
      <p:sp>
        <p:nvSpPr>
          <p:cNvPr id="2" name="Shape 0"/>
          <p:cNvSpPr/>
          <p:nvPr/>
        </p:nvSpPr>
        <p:spPr>
          <a:xfrm>
            <a:off x="731520" y="548640"/>
            <a:ext cx="2011680" cy="73152"/>
          </a:xfrm>
          <a:prstGeom prst="roundRect">
            <a:avLst>
              <a:gd name="adj" fmla="val 50000"/>
            </a:avLst>
          </a:prstGeom>
          <a:solidFill>
            <a:srgbClr val="E0A526"/>
          </a:solidFill>
          <a:ln w="12700">
            <a:solidFill>
              <a:srgbClr val="E0A526"/>
            </a:solidFill>
            <a:prstDash val="solid"/>
          </a:ln>
        </p:spPr>
      </p:sp>
      <p:sp>
        <p:nvSpPr>
          <p:cNvPr id="3" name="Shape 1"/>
          <p:cNvSpPr/>
          <p:nvPr/>
        </p:nvSpPr>
        <p:spPr>
          <a:xfrm>
            <a:off x="2907792" y="548640"/>
            <a:ext cx="2011680" cy="73152"/>
          </a:xfrm>
          <a:prstGeom prst="roundRect">
            <a:avLst>
              <a:gd name="adj" fmla="val 50000"/>
            </a:avLst>
          </a:prstGeom>
          <a:solidFill>
            <a:srgbClr val="34456A"/>
          </a:solidFill>
          <a:ln w="12700">
            <a:solidFill>
              <a:srgbClr val="34456A"/>
            </a:solidFill>
            <a:prstDash val="solid"/>
          </a:ln>
        </p:spPr>
      </p:sp>
      <p:sp>
        <p:nvSpPr>
          <p:cNvPr id="4" name="Shape 2"/>
          <p:cNvSpPr/>
          <p:nvPr/>
        </p:nvSpPr>
        <p:spPr>
          <a:xfrm>
            <a:off x="5084064" y="548640"/>
            <a:ext cx="2011680" cy="73152"/>
          </a:xfrm>
          <a:prstGeom prst="roundRect">
            <a:avLst>
              <a:gd name="adj" fmla="val 50000"/>
            </a:avLst>
          </a:prstGeom>
          <a:solidFill>
            <a:srgbClr val="34456A"/>
          </a:solidFill>
          <a:ln w="12700">
            <a:solidFill>
              <a:srgbClr val="34456A"/>
            </a:solidFill>
            <a:prstDash val="solid"/>
          </a:ln>
        </p:spPr>
      </p:sp>
      <p:sp>
        <p:nvSpPr>
          <p:cNvPr id="5" name="Shape 3"/>
          <p:cNvSpPr/>
          <p:nvPr/>
        </p:nvSpPr>
        <p:spPr>
          <a:xfrm>
            <a:off x="7260336" y="548640"/>
            <a:ext cx="2011680" cy="73152"/>
          </a:xfrm>
          <a:prstGeom prst="roundRect">
            <a:avLst>
              <a:gd name="adj" fmla="val 50000"/>
            </a:avLst>
          </a:prstGeom>
          <a:solidFill>
            <a:srgbClr val="34456A"/>
          </a:solidFill>
          <a:ln w="12700">
            <a:solidFill>
              <a:srgbClr val="34456A"/>
            </a:solidFill>
            <a:prstDash val="solid"/>
          </a:ln>
        </p:spPr>
      </p:sp>
      <p:sp>
        <p:nvSpPr>
          <p:cNvPr id="6" name="Shape 4"/>
          <p:cNvSpPr/>
          <p:nvPr/>
        </p:nvSpPr>
        <p:spPr>
          <a:xfrm>
            <a:off x="9436608" y="548640"/>
            <a:ext cx="2011680" cy="73152"/>
          </a:xfrm>
          <a:prstGeom prst="roundRect">
            <a:avLst>
              <a:gd name="adj" fmla="val 50000"/>
            </a:avLst>
          </a:prstGeom>
          <a:solidFill>
            <a:srgbClr val="34456A"/>
          </a:solidFill>
          <a:ln w="12700">
            <a:solidFill>
              <a:srgbClr val="34456A"/>
            </a:solidFill>
            <a:prstDash val="solid"/>
          </a:ln>
        </p:spPr>
      </p:sp>
      <p:sp>
        <p:nvSpPr>
          <p:cNvPr id="7" name="Text 5"/>
          <p:cNvSpPr txBox="1"/>
          <p:nvPr/>
        </p:nvSpPr>
        <p:spPr>
          <a:xfrm>
            <a:off x="731520" y="1051560"/>
            <a:ext cx="10698480" cy="457200"/>
          </a:xfrm>
          <a:prstGeom prst="rect">
            <a:avLst/>
          </a:prstGeom>
          <a:noFill/>
          <a:ln/>
        </p:spPr>
        <p:txBody>
          <a:bodyPr wrap="square" lIns="0" tIns="0" rIns="0" bIns="0" rtlCol="0" anchor="t"/>
          <a:lstStyle/>
          <a:p>
            <a:pPr indent="0" marL="0">
              <a:buNone/>
            </a:pPr>
            <a:r>
              <a:rPr lang="en-US" sz="1800" b="1" spc="300" kern="0" dirty="0">
                <a:solidFill>
                  <a:srgbClr val="E0A526"/>
                </a:solidFill>
                <a:latin typeface="Arial" pitchFamily="34" charset="0"/>
                <a:ea typeface="Arial" pitchFamily="34" charset="-122"/>
                <a:cs typeface="Arial" pitchFamily="34" charset="-120"/>
              </a:rPr>
              <a:t>POKOK PEMBAHASAN 1 DARI 5</a:t>
            </a:r>
            <a:endParaRPr lang="en-US" sz="1800" dirty="0"/>
          </a:p>
        </p:txBody>
      </p:sp>
      <p:sp>
        <p:nvSpPr>
          <p:cNvPr id="8" name="Text 6"/>
          <p:cNvSpPr txBox="1"/>
          <p:nvPr/>
        </p:nvSpPr>
        <p:spPr>
          <a:xfrm>
            <a:off x="731520" y="1554480"/>
            <a:ext cx="10698480" cy="100584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Kewenangan dan Koordinasi</a:t>
            </a:r>
            <a:endParaRPr lang="en-US" sz="4800" dirty="0"/>
          </a:p>
        </p:txBody>
      </p:sp>
      <p:sp>
        <p:nvSpPr>
          <p:cNvPr id="9" name="Text 7"/>
          <p:cNvSpPr txBox="1"/>
          <p:nvPr/>
        </p:nvSpPr>
        <p:spPr>
          <a:xfrm>
            <a:off x="731520" y="2697480"/>
            <a:ext cx="10241280" cy="1188720"/>
          </a:xfrm>
          <a:prstGeom prst="rect">
            <a:avLst/>
          </a:prstGeom>
          <a:noFill/>
          <a:ln/>
        </p:spPr>
        <p:txBody>
          <a:bodyPr wrap="square" lIns="0" tIns="0" rIns="0" bIns="0" rtlCol="0" anchor="t"/>
          <a:lstStyle/>
          <a:p>
            <a:pPr indent="0" marL="0">
              <a:buNone/>
            </a:pPr>
            <a:r>
              <a:rPr lang="en-US" sz="2200" dirty="0">
                <a:solidFill>
                  <a:srgbClr val="DCE4F2"/>
                </a:solidFill>
                <a:latin typeface="Arial" pitchFamily="34" charset="0"/>
                <a:ea typeface="Arial" pitchFamily="34" charset="-122"/>
                <a:cs typeface="Arial" pitchFamily="34" charset="-120"/>
              </a:rPr>
              <a:t>Memperjelas pembagian peran BHP dan kurator privat, termasuk perkara tertentu yang perlu ditangani BHP.</a:t>
            </a:r>
            <a:endParaRPr lang="en-US" sz="2200" dirty="0"/>
          </a:p>
        </p:txBody>
      </p:sp>
      <p:sp>
        <p:nvSpPr>
          <p:cNvPr id="10" name="Shape 8"/>
          <p:cNvSpPr/>
          <p:nvPr/>
        </p:nvSpPr>
        <p:spPr>
          <a:xfrm>
            <a:off x="731520" y="4160520"/>
            <a:ext cx="420624" cy="420624"/>
          </a:xfrm>
          <a:prstGeom prst="ellipse">
            <a:avLst/>
          </a:prstGeom>
          <a:solidFill>
            <a:srgbClr val="E0A526"/>
          </a:solidFill>
          <a:ln w="12700">
            <a:solidFill>
              <a:srgbClr val="E0A526"/>
            </a:solidFill>
            <a:prstDash val="solid"/>
          </a:ln>
        </p:spPr>
      </p:sp>
      <p:sp>
        <p:nvSpPr>
          <p:cNvPr id="11" name="Text 9"/>
          <p:cNvSpPr txBox="1"/>
          <p:nvPr/>
        </p:nvSpPr>
        <p:spPr>
          <a:xfrm>
            <a:off x="731520" y="4160520"/>
            <a:ext cx="420624" cy="420624"/>
          </a:xfrm>
          <a:prstGeom prst="rect">
            <a:avLst/>
          </a:prstGeom>
          <a:noFill/>
          <a:ln/>
        </p:spPr>
        <p:txBody>
          <a:bodyPr wrap="square" lIns="0" tIns="0" rIns="0" bIns="0" rtlCol="0" anchor="ctr"/>
          <a:lstStyle/>
          <a:p>
            <a:pPr algn="ctr" indent="0" marL="0">
              <a:buNone/>
            </a:pPr>
            <a:r>
              <a:rPr lang="en-US" sz="1500" b="1" dirty="0">
                <a:solidFill>
                  <a:srgbClr val="14284B"/>
                </a:solidFill>
                <a:latin typeface="Arial" pitchFamily="34" charset="0"/>
                <a:ea typeface="Arial" pitchFamily="34" charset="-122"/>
                <a:cs typeface="Arial" pitchFamily="34" charset="-120"/>
              </a:rPr>
              <a:t>§</a:t>
            </a:r>
            <a:endParaRPr lang="en-US" sz="1500" dirty="0"/>
          </a:p>
        </p:txBody>
      </p:sp>
      <p:sp>
        <p:nvSpPr>
          <p:cNvPr id="12" name="Text 10"/>
          <p:cNvSpPr txBox="1"/>
          <p:nvPr/>
        </p:nvSpPr>
        <p:spPr>
          <a:xfrm>
            <a:off x="1325880" y="4160520"/>
            <a:ext cx="9601200" cy="420624"/>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Ketentuan Umum</a:t>
            </a:r>
            <a:endParaRPr lang="en-US" sz="1900" dirty="0"/>
          </a:p>
        </p:txBody>
      </p:sp>
      <p:sp>
        <p:nvSpPr>
          <p:cNvPr id="13" name="Shape 11"/>
          <p:cNvSpPr/>
          <p:nvPr/>
        </p:nvSpPr>
        <p:spPr>
          <a:xfrm>
            <a:off x="731520" y="4690872"/>
            <a:ext cx="420624" cy="420624"/>
          </a:xfrm>
          <a:prstGeom prst="ellipse">
            <a:avLst/>
          </a:prstGeom>
          <a:solidFill>
            <a:srgbClr val="E0A526"/>
          </a:solidFill>
          <a:ln w="12700">
            <a:solidFill>
              <a:srgbClr val="E0A526"/>
            </a:solidFill>
            <a:prstDash val="solid"/>
          </a:ln>
        </p:spPr>
      </p:sp>
      <p:sp>
        <p:nvSpPr>
          <p:cNvPr id="14" name="Text 12"/>
          <p:cNvSpPr txBox="1"/>
          <p:nvPr/>
        </p:nvSpPr>
        <p:spPr>
          <a:xfrm>
            <a:off x="731520" y="4690872"/>
            <a:ext cx="420624" cy="420624"/>
          </a:xfrm>
          <a:prstGeom prst="rect">
            <a:avLst/>
          </a:prstGeom>
          <a:noFill/>
          <a:ln/>
        </p:spPr>
        <p:txBody>
          <a:bodyPr wrap="square" lIns="0" tIns="0" rIns="0" bIns="0" rtlCol="0" anchor="ctr"/>
          <a:lstStyle/>
          <a:p>
            <a:pPr algn="ctr" indent="0" marL="0">
              <a:buNone/>
            </a:pPr>
            <a:r>
              <a:rPr lang="en-US" sz="1500" b="1" dirty="0">
                <a:solidFill>
                  <a:srgbClr val="14284B"/>
                </a:solidFill>
                <a:latin typeface="Arial" pitchFamily="34" charset="0"/>
                <a:ea typeface="Arial" pitchFamily="34" charset="-122"/>
                <a:cs typeface="Arial" pitchFamily="34" charset="-120"/>
              </a:rPr>
              <a:t>2</a:t>
            </a:r>
            <a:endParaRPr lang="en-US" sz="1500" dirty="0"/>
          </a:p>
        </p:txBody>
      </p:sp>
      <p:sp>
        <p:nvSpPr>
          <p:cNvPr id="15" name="Text 13"/>
          <p:cNvSpPr txBox="1"/>
          <p:nvPr/>
        </p:nvSpPr>
        <p:spPr>
          <a:xfrm>
            <a:off x="1325880" y="4690872"/>
            <a:ext cx="9601200" cy="420624"/>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BHP sebagai Pengurus dalam PKPU</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KU</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1 · USULAN RUMUSAN PASAL  (1/2)</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Ketentuan Umum (petikan)</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3840480"/>
        </p:xfrm>
        <a:graphic>
          <a:graphicData uri="http://schemas.openxmlformats.org/drawingml/2006/table">
            <a:tbl>
              <a:tblPr/>
              <a:tblGrid>
                <a:gridCol w="731520"/>
                <a:gridCol w="594360"/>
                <a:gridCol w="9308592"/>
              </a:tblGrid>
              <a:tr h="438912">
                <a:tc gridSpan="3">
                  <a:txBody>
                    <a:bodyPr/>
                    <a:lstStyle/>
                    <a:p>
                      <a:pPr algn="ctr" indent="0" marL="0">
                        <a:buNone/>
                      </a:pPr>
                      <a:r>
                        <a:rPr lang="en-US" sz="2100" b="1" dirty="0">
                          <a:solidFill>
                            <a:srgbClr val="14284B"/>
                          </a:solidFill>
                          <a:latin typeface="Arial" pitchFamily="34" charset="0"/>
                          <a:ea typeface="Arial" pitchFamily="34" charset="-122"/>
                          <a:cs typeface="Arial" pitchFamily="34" charset="-120"/>
                        </a:rPr>
                        <a:t>Pasal 1</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c hMerge="1">
                  <a:tcPr/>
                </a:tc>
              </a:tr>
              <a:tr h="438912">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Dalam Undang-Undang ini yang dimaksud dengan:</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1097280">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1.</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Kurator</a:t>
                      </a:r>
                      <a:pPr indent="0" marL="0">
                        <a:buNone/>
                      </a:pPr>
                      <a:r>
                        <a:rPr lang="en-US" sz="2100" dirty="0">
                          <a:solidFill>
                            <a:srgbClr val="1A1A1A"/>
                          </a:solidFill>
                          <a:latin typeface="Arial" pitchFamily="34" charset="0"/>
                          <a:ea typeface="Arial" pitchFamily="34" charset="-122"/>
                          <a:cs typeface="Arial" pitchFamily="34" charset="-120"/>
                        </a:rPr>
                        <a:t> adalah Kurator Negara atau Kurator Perseorangan yang ditunjuk oleh Pengadilan untuk melakukan pengurusan dan/atau pemberesan harta Debitor Pailit di bawah pengawasan Hakim Pengawas.</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r>
              <a:tr h="768096">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2.</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Kurator Negara</a:t>
                      </a:r>
                      <a:pPr indent="0" marL="0">
                        <a:buNone/>
                      </a:pPr>
                      <a:r>
                        <a:rPr lang="en-US" sz="2100" dirty="0">
                          <a:solidFill>
                            <a:srgbClr val="1A1A1A"/>
                          </a:solidFill>
                          <a:latin typeface="Arial" pitchFamily="34" charset="0"/>
                          <a:ea typeface="Arial" pitchFamily="34" charset="-122"/>
                          <a:cs typeface="Arial" pitchFamily="34" charset="-120"/>
                        </a:rPr>
                        <a:t> adalah Balai Harta Peninggalan yang melaksanakan tugas Kurator melalui pejabat Kurator Keperdataan.</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r>
              <a:tr h="1097280">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3.</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Kurator Perseorangan</a:t>
                      </a:r>
                      <a:pPr indent="0" marL="0">
                        <a:buNone/>
                      </a:pPr>
                      <a:r>
                        <a:rPr lang="en-US" sz="2100" dirty="0">
                          <a:solidFill>
                            <a:srgbClr val="1A1A1A"/>
                          </a:solidFill>
                          <a:latin typeface="Arial" pitchFamily="34" charset="0"/>
                          <a:ea typeface="Arial" pitchFamily="34" charset="-122"/>
                          <a:cs typeface="Arial" pitchFamily="34" charset="-120"/>
                        </a:rPr>
                        <a:t> adalah orang perseorangan yang memenuhi persyaratan dan terdaftar pada Kementerian untuk melaksanakan tugas Kurator.</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6</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KU</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1 · USULAN RUMUSAN PASAL  (2/2)</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Ketentuan Umum (petikan)</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3621024"/>
        </p:xfrm>
        <a:graphic>
          <a:graphicData uri="http://schemas.openxmlformats.org/drawingml/2006/table">
            <a:tbl>
              <a:tblPr/>
              <a:tblGrid>
                <a:gridCol w="731520"/>
                <a:gridCol w="594360"/>
                <a:gridCol w="9308592"/>
              </a:tblGrid>
              <a:tr h="1426464">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7.</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Kurator Keperdataan</a:t>
                      </a:r>
                      <a:pPr indent="0" marL="0">
                        <a:buNone/>
                      </a:pPr>
                      <a:r>
                        <a:rPr lang="en-US" sz="2100" dirty="0">
                          <a:solidFill>
                            <a:srgbClr val="1A1A1A"/>
                          </a:solidFill>
                          <a:latin typeface="Arial" pitchFamily="34" charset="0"/>
                          <a:ea typeface="Arial" pitchFamily="34" charset="-122"/>
                          <a:cs typeface="Arial" pitchFamily="34" charset="-120"/>
                        </a:rPr>
                        <a:t> adalah pegawai negeri sipil yang diberi tugas, tanggung jawab, dan wewenang secara penuh oleh pejabat yang berwenang untuk melaksanakan tugas Kurator dan Pengurus pada Balai Harta Peninggalan.</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r>
              <a:tr h="1097280">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8.</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Tim Kurator Keperdataan</a:t>
                      </a:r>
                      <a:pPr indent="0" marL="0">
                        <a:buNone/>
                      </a:pPr>
                      <a:r>
                        <a:rPr lang="en-US" sz="2100" dirty="0">
                          <a:solidFill>
                            <a:srgbClr val="1A1A1A"/>
                          </a:solidFill>
                          <a:latin typeface="Arial" pitchFamily="34" charset="0"/>
                          <a:ea typeface="Arial" pitchFamily="34" charset="-122"/>
                          <a:cs typeface="Arial" pitchFamily="34" charset="-120"/>
                        </a:rPr>
                        <a:t> adalah tim yang dibentuk oleh Kepala Balai Harta Peninggalan untuk menangani perkara kepailitan dan/atau penundaan kewajiban pembayaran utang.</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r>
              <a:tr h="1097280">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Pasal 1 juga mendefinisikan Pengurus, Pengurus Perseorangan, Balai Harta Peninggalan, Organisasi Profesi, Majelis Pengawas Kurator, Majelis Kehormatan Kurator, Kementerian, dan Menteri.</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7</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2</a:t>
            </a:r>
            <a:endParaRPr lang="en-US" sz="4000" dirty="0"/>
          </a:p>
        </p:txBody>
      </p:sp>
      <p:sp>
        <p:nvSpPr>
          <p:cNvPr id="4" name="Text 2"/>
          <p:cNvSpPr txBox="1"/>
          <p:nvPr/>
        </p:nvSpPr>
        <p:spPr>
          <a:xfrm>
            <a:off x="1783080" y="411480"/>
            <a:ext cx="9859975" cy="960120"/>
          </a:xfrm>
          <a:prstGeom prst="rect">
            <a:avLst/>
          </a:prstGeom>
          <a:noFill/>
          <a:ln/>
        </p:spPr>
        <p:txBody>
          <a:bodyPr wrap="square" lIns="0" tIns="0" rIns="0" bIns="0" rtlCol="0" anchor="ctr"/>
          <a:lstStyle/>
          <a:p>
            <a:pPr indent="0" marL="0">
              <a:buNone/>
            </a:pPr>
            <a:r>
              <a:rPr lang="en-US" sz="3400" b="1" dirty="0">
                <a:solidFill>
                  <a:srgbClr val="14284B"/>
                </a:solidFill>
                <a:latin typeface="Arial" pitchFamily="34" charset="0"/>
                <a:ea typeface="Arial" pitchFamily="34" charset="-122"/>
                <a:cs typeface="Arial" pitchFamily="34" charset="-120"/>
              </a:rPr>
              <a:t>BHP sebagai Pengurus dalam PKPU</a:t>
            </a:r>
            <a:endParaRPr lang="en-US" sz="3400" dirty="0"/>
          </a:p>
        </p:txBody>
      </p:sp>
      <p:sp>
        <p:nvSpPr>
          <p:cNvPr id="5" name="Shape 3"/>
          <p:cNvSpPr/>
          <p:nvPr/>
        </p:nvSpPr>
        <p:spPr>
          <a:xfrm>
            <a:off x="548640" y="1600200"/>
            <a:ext cx="5349240" cy="3017520"/>
          </a:xfrm>
          <a:prstGeom prst="roundRect">
            <a:avLst>
              <a:gd name="adj" fmla="val 3636"/>
            </a:avLst>
          </a:prstGeom>
          <a:solidFill>
            <a:srgbClr val="14284B"/>
          </a:solidFill>
          <a:ln w="12700">
            <a:solidFill>
              <a:srgbClr val="14284B"/>
            </a:solidFill>
            <a:prstDash val="solid"/>
          </a:ln>
        </p:spPr>
      </p:sp>
      <p:sp>
        <p:nvSpPr>
          <p:cNvPr id="6" name="Text 4"/>
          <p:cNvSpPr txBox="1"/>
          <p:nvPr/>
        </p:nvSpPr>
        <p:spPr>
          <a:xfrm>
            <a:off x="868680" y="1737360"/>
            <a:ext cx="4754880" cy="548640"/>
          </a:xfrm>
          <a:prstGeom prst="rect">
            <a:avLst/>
          </a:prstGeom>
          <a:noFill/>
          <a:ln/>
        </p:spPr>
        <p:txBody>
          <a:bodyPr wrap="square" lIns="0" tIns="0" rIns="0" bIns="0" rtlCol="0" anchor="t"/>
          <a:lstStyle/>
          <a:p>
            <a:pPr indent="0" marL="0">
              <a:buNone/>
            </a:pPr>
            <a:r>
              <a:rPr lang="en-US" sz="2600" b="1" dirty="0">
                <a:solidFill>
                  <a:srgbClr val="E0A526"/>
                </a:solidFill>
                <a:latin typeface="Arial" pitchFamily="34" charset="0"/>
                <a:ea typeface="Arial" pitchFamily="34" charset="-122"/>
                <a:cs typeface="Arial" pitchFamily="34" charset="-120"/>
              </a:rPr>
              <a:t>KEPAILITAN</a:t>
            </a:r>
            <a:endParaRPr lang="en-US" sz="2600" dirty="0"/>
          </a:p>
        </p:txBody>
      </p:sp>
      <p:sp>
        <p:nvSpPr>
          <p:cNvPr id="7" name="Text 5"/>
          <p:cNvSpPr txBox="1"/>
          <p:nvPr/>
        </p:nvSpPr>
        <p:spPr>
          <a:xfrm>
            <a:off x="868680" y="2377440"/>
            <a:ext cx="4754880" cy="2103120"/>
          </a:xfrm>
          <a:prstGeom prst="rect">
            <a:avLst/>
          </a:prstGeom>
          <a:noFill/>
          <a:ln/>
        </p:spPr>
        <p:txBody>
          <a:bodyPr wrap="square" lIns="0" tIns="0" rIns="0" bIns="0" rtlCol="0" anchor="t"/>
          <a:lstStyle/>
          <a:p>
            <a:pPr indent="0" marL="0">
              <a:buNone/>
            </a:pPr>
            <a:r>
              <a:rPr lang="en-US" sz="2400" dirty="0">
                <a:solidFill>
                  <a:srgbClr val="FFFFFF"/>
                </a:solidFill>
                <a:latin typeface="Arial" pitchFamily="34" charset="0"/>
                <a:ea typeface="Arial" pitchFamily="34" charset="-122"/>
                <a:cs typeface="Arial" pitchFamily="34" charset="-120"/>
              </a:rPr>
              <a:t>UU Kepailitan dan PKPU menyebut BHP secara tegas sebagai kurator (Pasal 70 ayat (1)) dan menjadikannya kurator yang ditunjuk oleh undang-undang (Pasal 15 ayat (2)).</a:t>
            </a:r>
            <a:endParaRPr lang="en-US" sz="2400" dirty="0"/>
          </a:p>
        </p:txBody>
      </p:sp>
      <p:sp>
        <p:nvSpPr>
          <p:cNvPr id="8" name="Shape 6"/>
          <p:cNvSpPr/>
          <p:nvPr/>
        </p:nvSpPr>
        <p:spPr>
          <a:xfrm>
            <a:off x="6291072" y="1600200"/>
            <a:ext cx="5349240" cy="3017520"/>
          </a:xfrm>
          <a:prstGeom prst="roundRect">
            <a:avLst>
              <a:gd name="adj" fmla="val 3636"/>
            </a:avLst>
          </a:prstGeom>
          <a:solidFill>
            <a:srgbClr val="EEF2F8"/>
          </a:solidFill>
          <a:ln w="12700">
            <a:solidFill>
              <a:srgbClr val="EEF2F8"/>
            </a:solidFill>
            <a:prstDash val="solid"/>
          </a:ln>
        </p:spPr>
      </p:sp>
      <p:sp>
        <p:nvSpPr>
          <p:cNvPr id="9" name="Text 7"/>
          <p:cNvSpPr txBox="1"/>
          <p:nvPr/>
        </p:nvSpPr>
        <p:spPr>
          <a:xfrm>
            <a:off x="6611112" y="1737360"/>
            <a:ext cx="4754880" cy="548640"/>
          </a:xfrm>
          <a:prstGeom prst="rect">
            <a:avLst/>
          </a:prstGeom>
          <a:noFill/>
          <a:ln/>
        </p:spPr>
        <p:txBody>
          <a:bodyPr wrap="square" lIns="0" tIns="0" rIns="0" bIns="0" rtlCol="0" anchor="t"/>
          <a:lstStyle/>
          <a:p>
            <a:pPr indent="0" marL="0">
              <a:buNone/>
            </a:pPr>
            <a:r>
              <a:rPr lang="en-US" sz="2600" b="1" dirty="0">
                <a:solidFill>
                  <a:srgbClr val="14284B"/>
                </a:solidFill>
                <a:latin typeface="Arial" pitchFamily="34" charset="0"/>
                <a:ea typeface="Arial" pitchFamily="34" charset="-122"/>
                <a:cs typeface="Arial" pitchFamily="34" charset="-120"/>
              </a:rPr>
              <a:t>PKPU</a:t>
            </a:r>
            <a:endParaRPr lang="en-US" sz="2600" dirty="0"/>
          </a:p>
        </p:txBody>
      </p:sp>
      <p:sp>
        <p:nvSpPr>
          <p:cNvPr id="10" name="Text 8"/>
          <p:cNvSpPr txBox="1"/>
          <p:nvPr/>
        </p:nvSpPr>
        <p:spPr>
          <a:xfrm>
            <a:off x="6611112" y="2377440"/>
            <a:ext cx="4754880" cy="2103120"/>
          </a:xfrm>
          <a:prstGeom prst="rect">
            <a:avLst/>
          </a:prstGeom>
          <a:noFill/>
          <a:ln/>
        </p:spPr>
        <p:txBody>
          <a:bodyPr wrap="square" lIns="0" tIns="0" rIns="0" bIns="0" rtlCol="0" anchor="t"/>
          <a:lstStyle/>
          <a:p>
            <a:pPr indent="0" marL="0">
              <a:buNone/>
            </a:pPr>
            <a:r>
              <a:rPr lang="en-US" sz="2400" dirty="0">
                <a:solidFill>
                  <a:srgbClr val="1A1A1A"/>
                </a:solidFill>
                <a:latin typeface="Arial" pitchFamily="34" charset="0"/>
                <a:ea typeface="Arial" pitchFamily="34" charset="-122"/>
                <a:cs typeface="Arial" pitchFamily="34" charset="-120"/>
              </a:rPr>
              <a:t>Pasal 234 ayat (3) hanya menyebut orang perseorangan sebagai pihak yang dapat menjadi pengurus.</a:t>
            </a:r>
            <a:endParaRPr lang="en-US" sz="2400" dirty="0"/>
          </a:p>
        </p:txBody>
      </p:sp>
      <p:pic>
        <p:nvPicPr>
          <p:cNvPr id="11" name="Image 0" descr="preencoded.png">    </p:cNvPr>
          <p:cNvPicPr>
            <a:picLocks noChangeAspect="1"/>
          </p:cNvPicPr>
          <p:nvPr/>
        </p:nvPicPr>
        <p:blipFill>
          <a:blip r:embed="rId1"/>
          <a:stretch>
            <a:fillRect/>
          </a:stretch>
        </p:blipFill>
        <p:spPr>
          <a:xfrm>
            <a:off x="548640" y="4937760"/>
            <a:ext cx="502920" cy="457200"/>
          </a:xfrm>
          <a:prstGeom prst="rect">
            <a:avLst/>
          </a:prstGeom>
        </p:spPr>
      </p:pic>
      <p:sp>
        <p:nvSpPr>
          <p:cNvPr id="12" name="Text 9"/>
          <p:cNvSpPr txBox="1"/>
          <p:nvPr/>
        </p:nvSpPr>
        <p:spPr>
          <a:xfrm>
            <a:off x="1280160" y="4846320"/>
            <a:ext cx="10332720" cy="1280160"/>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Ketentuan tersebut tidak melarang BHP menjadi pengurus. BHP hanya tidak disebutkan dalam rumusan pasal tersebut.</a:t>
            </a:r>
            <a:endParaRPr lang="en-US" sz="3000" dirty="0"/>
          </a:p>
        </p:txBody>
      </p:sp>
      <p:sp>
        <p:nvSpPr>
          <p:cNvPr id="13" name="Text 10"/>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14" name="Text 11"/>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8</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2</a:t>
            </a:r>
            <a:endParaRPr lang="en-US" sz="4000" dirty="0"/>
          </a:p>
        </p:txBody>
      </p:sp>
      <p:sp>
        <p:nvSpPr>
          <p:cNvPr id="4" name="Text 2"/>
          <p:cNvSpPr txBox="1"/>
          <p:nvPr/>
        </p:nvSpPr>
        <p:spPr>
          <a:xfrm>
            <a:off x="1783080" y="411480"/>
            <a:ext cx="9859975" cy="960120"/>
          </a:xfrm>
          <a:prstGeom prst="rect">
            <a:avLst/>
          </a:prstGeom>
          <a:noFill/>
          <a:ln/>
        </p:spPr>
        <p:txBody>
          <a:bodyPr wrap="square" lIns="0" tIns="0" rIns="0" bIns="0" rtlCol="0" anchor="ctr"/>
          <a:lstStyle/>
          <a:p>
            <a:pPr indent="0" marL="0">
              <a:buNone/>
            </a:pPr>
            <a:r>
              <a:rPr lang="en-US" sz="3400" b="1" dirty="0">
                <a:solidFill>
                  <a:srgbClr val="14284B"/>
                </a:solidFill>
                <a:latin typeface="Arial" pitchFamily="34" charset="0"/>
                <a:ea typeface="Arial" pitchFamily="34" charset="-122"/>
                <a:cs typeface="Arial" pitchFamily="34" charset="-120"/>
              </a:rPr>
              <a:t>Celah Hukum: PKPU Tidak Memiliki Pengurus yang Ditunjuk oleh Undang-Undang</a:t>
            </a:r>
            <a:endParaRPr lang="en-US" sz="3400" dirty="0"/>
          </a:p>
        </p:txBody>
      </p:sp>
      <p:sp>
        <p:nvSpPr>
          <p:cNvPr id="5" name="Shape 3"/>
          <p:cNvSpPr/>
          <p:nvPr/>
        </p:nvSpPr>
        <p:spPr>
          <a:xfrm>
            <a:off x="548640" y="1600200"/>
            <a:ext cx="2697480" cy="2377440"/>
          </a:xfrm>
          <a:prstGeom prst="roundRect">
            <a:avLst>
              <a:gd name="adj" fmla="val 4615"/>
            </a:avLst>
          </a:prstGeom>
          <a:solidFill>
            <a:srgbClr val="14284B"/>
          </a:solidFill>
          <a:ln w="12700">
            <a:solidFill>
              <a:srgbClr val="14284B"/>
            </a:solidFill>
            <a:prstDash val="solid"/>
          </a:ln>
        </p:spPr>
      </p:sp>
      <p:sp>
        <p:nvSpPr>
          <p:cNvPr id="6" name="Text 4"/>
          <p:cNvSpPr txBox="1"/>
          <p:nvPr/>
        </p:nvSpPr>
        <p:spPr>
          <a:xfrm>
            <a:off x="548640" y="1691640"/>
            <a:ext cx="2697480" cy="1097280"/>
          </a:xfrm>
          <a:prstGeom prst="rect">
            <a:avLst/>
          </a:prstGeom>
          <a:noFill/>
          <a:ln/>
        </p:spPr>
        <p:txBody>
          <a:bodyPr wrap="square" lIns="0" tIns="0" rIns="0" bIns="0" rtlCol="0" anchor="ctr"/>
          <a:lstStyle/>
          <a:p>
            <a:pPr algn="ctr" indent="0" marL="0">
              <a:buNone/>
            </a:pPr>
            <a:r>
              <a:rPr lang="en-US" sz="4800" b="1" dirty="0">
                <a:solidFill>
                  <a:srgbClr val="E0A526"/>
                </a:solidFill>
                <a:latin typeface="Arial" pitchFamily="34" charset="0"/>
                <a:ea typeface="Arial" pitchFamily="34" charset="-122"/>
                <a:cs typeface="Arial" pitchFamily="34" charset="-120"/>
              </a:rPr>
              <a:t>3 hari</a:t>
            </a:r>
            <a:endParaRPr lang="en-US" sz="4800" dirty="0"/>
          </a:p>
        </p:txBody>
      </p:sp>
      <p:sp>
        <p:nvSpPr>
          <p:cNvPr id="7" name="Text 5"/>
          <p:cNvSpPr txBox="1"/>
          <p:nvPr/>
        </p:nvSpPr>
        <p:spPr>
          <a:xfrm>
            <a:off x="731520" y="2788920"/>
            <a:ext cx="2331720" cy="105156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paling lambat untuk permohonan Debitor</a:t>
            </a:r>
            <a:endParaRPr lang="en-US" sz="1800" dirty="0"/>
          </a:p>
        </p:txBody>
      </p:sp>
      <p:sp>
        <p:nvSpPr>
          <p:cNvPr id="8" name="Shape 6"/>
          <p:cNvSpPr/>
          <p:nvPr/>
        </p:nvSpPr>
        <p:spPr>
          <a:xfrm>
            <a:off x="3474720" y="1600200"/>
            <a:ext cx="2697480" cy="2377440"/>
          </a:xfrm>
          <a:prstGeom prst="roundRect">
            <a:avLst>
              <a:gd name="adj" fmla="val 4615"/>
            </a:avLst>
          </a:prstGeom>
          <a:solidFill>
            <a:srgbClr val="14284B"/>
          </a:solidFill>
          <a:ln w="12700">
            <a:solidFill>
              <a:srgbClr val="14284B"/>
            </a:solidFill>
            <a:prstDash val="solid"/>
          </a:ln>
        </p:spPr>
      </p:sp>
      <p:sp>
        <p:nvSpPr>
          <p:cNvPr id="9" name="Text 7"/>
          <p:cNvSpPr txBox="1"/>
          <p:nvPr/>
        </p:nvSpPr>
        <p:spPr>
          <a:xfrm>
            <a:off x="3474720" y="1691640"/>
            <a:ext cx="2697480" cy="1097280"/>
          </a:xfrm>
          <a:prstGeom prst="rect">
            <a:avLst/>
          </a:prstGeom>
          <a:noFill/>
          <a:ln/>
        </p:spPr>
        <p:txBody>
          <a:bodyPr wrap="square" lIns="0" tIns="0" rIns="0" bIns="0" rtlCol="0" anchor="ctr"/>
          <a:lstStyle/>
          <a:p>
            <a:pPr algn="ctr" indent="0" marL="0">
              <a:buNone/>
            </a:pPr>
            <a:r>
              <a:rPr lang="en-US" sz="4800" b="1" dirty="0">
                <a:solidFill>
                  <a:srgbClr val="E0A526"/>
                </a:solidFill>
                <a:latin typeface="Arial" pitchFamily="34" charset="0"/>
                <a:ea typeface="Arial" pitchFamily="34" charset="-122"/>
                <a:cs typeface="Arial" pitchFamily="34" charset="-120"/>
              </a:rPr>
              <a:t>20 hari</a:t>
            </a:r>
            <a:endParaRPr lang="en-US" sz="4800" dirty="0"/>
          </a:p>
        </p:txBody>
      </p:sp>
      <p:sp>
        <p:nvSpPr>
          <p:cNvPr id="10" name="Text 8"/>
          <p:cNvSpPr txBox="1"/>
          <p:nvPr/>
        </p:nvSpPr>
        <p:spPr>
          <a:xfrm>
            <a:off x="3657600" y="2788920"/>
            <a:ext cx="2331720" cy="105156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paling lambat untuk permohonan Kreditor</a:t>
            </a:r>
            <a:endParaRPr lang="en-US" sz="1800" dirty="0"/>
          </a:p>
        </p:txBody>
      </p:sp>
      <p:sp>
        <p:nvSpPr>
          <p:cNvPr id="11" name="Text 9"/>
          <p:cNvSpPr txBox="1"/>
          <p:nvPr/>
        </p:nvSpPr>
        <p:spPr>
          <a:xfrm>
            <a:off x="6492240" y="1600200"/>
            <a:ext cx="5148072" cy="2377440"/>
          </a:xfrm>
          <a:prstGeom prst="rect">
            <a:avLst/>
          </a:prstGeom>
          <a:noFill/>
          <a:ln/>
        </p:spPr>
        <p:txBody>
          <a:bodyPr wrap="square" lIns="0" tIns="0" rIns="0" bIns="0" rtlCol="0" anchor="ctr"/>
          <a:lstStyle/>
          <a:p>
            <a:pPr indent="0" marL="0">
              <a:buNone/>
            </a:pPr>
            <a:r>
              <a:rPr lang="en-US" sz="2200" dirty="0">
                <a:solidFill>
                  <a:srgbClr val="1A1A1A"/>
                </a:solidFill>
                <a:latin typeface="Arial" pitchFamily="34" charset="0"/>
                <a:ea typeface="Arial" pitchFamily="34" charset="-122"/>
                <a:cs typeface="Arial" pitchFamily="34" charset="-120"/>
              </a:rPr>
              <a:t>Pasal 225 ayat (2) dan ayat (3) mewajibkan Pengadilan mengabulkan PKPU sementara dalam waktu yang sangat singkat. Pada saat yang sama, Pengadilan harus mengangkat satu atau lebih pengurus.</a:t>
            </a:r>
            <a:endParaRPr lang="en-US" sz="2200" dirty="0"/>
          </a:p>
        </p:txBody>
      </p:sp>
      <p:sp>
        <p:nvSpPr>
          <p:cNvPr id="12" name="Shape 10"/>
          <p:cNvSpPr/>
          <p:nvPr/>
        </p:nvSpPr>
        <p:spPr>
          <a:xfrm>
            <a:off x="548640" y="4251960"/>
            <a:ext cx="11091672" cy="1920240"/>
          </a:xfrm>
          <a:prstGeom prst="roundRect">
            <a:avLst>
              <a:gd name="adj" fmla="val 5714"/>
            </a:avLst>
          </a:prstGeom>
          <a:solidFill>
            <a:srgbClr val="EEF2F8"/>
          </a:solidFill>
          <a:ln w="12700">
            <a:solidFill>
              <a:srgbClr val="EEF2F8"/>
            </a:solidFill>
            <a:prstDash val="solid"/>
          </a:ln>
        </p:spPr>
      </p:sp>
      <p:sp>
        <p:nvSpPr>
          <p:cNvPr id="13" name="Text 11"/>
          <p:cNvSpPr txBox="1"/>
          <p:nvPr/>
        </p:nvSpPr>
        <p:spPr>
          <a:xfrm>
            <a:off x="868680" y="4251960"/>
            <a:ext cx="10469880" cy="1920240"/>
          </a:xfrm>
          <a:prstGeom prst="rect">
            <a:avLst/>
          </a:prstGeom>
          <a:noFill/>
          <a:ln/>
        </p:spPr>
        <p:txBody>
          <a:bodyPr wrap="square" lIns="0" tIns="0" rIns="0" bIns="0" rtlCol="0" anchor="ctr"/>
          <a:lstStyle/>
          <a:p>
            <a:pPr indent="0" marL="0">
              <a:buNone/>
            </a:pPr>
            <a:r>
              <a:rPr lang="en-US" sz="2600" dirty="0">
                <a:solidFill>
                  <a:srgbClr val="1A1A1A"/>
                </a:solidFill>
                <a:latin typeface="Arial" pitchFamily="34" charset="0"/>
                <a:ea typeface="Arial" pitchFamily="34" charset="-122"/>
                <a:cs typeface="Arial" pitchFamily="34" charset="-120"/>
              </a:rPr>
              <a:t>Dalam kepailitan, keadaan yang sama sudah diselesaikan oleh Pasal 15 ayat (2). </a:t>
            </a:r>
            <a:pPr indent="0" marL="0">
              <a:buNone/>
            </a:pPr>
            <a:r>
              <a:rPr lang="en-US" sz="2600" b="1" dirty="0">
                <a:solidFill>
                  <a:srgbClr val="14284B"/>
                </a:solidFill>
                <a:latin typeface="Arial" pitchFamily="34" charset="0"/>
                <a:ea typeface="Arial" pitchFamily="34" charset="-122"/>
                <a:cs typeface="Arial" pitchFamily="34" charset="-120"/>
              </a:rPr>
              <a:t>Dalam PKPU, jalan keluar tersebut tidak tersedia, padahal batas waktunya bersifat memaksa.</a:t>
            </a:r>
            <a:endParaRPr lang="en-US" sz="2600" dirty="0"/>
          </a:p>
        </p:txBody>
      </p:sp>
      <p:sp>
        <p:nvSpPr>
          <p:cNvPr id="14" name="Text 12"/>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15" name="Text 13"/>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9</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2</a:t>
            </a:r>
            <a:endParaRPr lang="en-US" sz="4000" dirty="0"/>
          </a:p>
        </p:txBody>
      </p:sp>
      <p:sp>
        <p:nvSpPr>
          <p:cNvPr id="4" name="Text 2"/>
          <p:cNvSpPr txBox="1"/>
          <p:nvPr/>
        </p:nvSpPr>
        <p:spPr>
          <a:xfrm>
            <a:off x="1783080" y="411480"/>
            <a:ext cx="9859975" cy="960120"/>
          </a:xfrm>
          <a:prstGeom prst="rect">
            <a:avLst/>
          </a:prstGeom>
          <a:noFill/>
          <a:ln/>
        </p:spPr>
        <p:txBody>
          <a:bodyPr wrap="square" lIns="0" tIns="0" rIns="0" bIns="0" rtlCol="0" anchor="ctr"/>
          <a:lstStyle/>
          <a:p>
            <a:pPr indent="0" marL="0">
              <a:buNone/>
            </a:pPr>
            <a:r>
              <a:rPr lang="en-US" sz="3400" b="1" dirty="0">
                <a:solidFill>
                  <a:srgbClr val="14284B"/>
                </a:solidFill>
                <a:latin typeface="Arial" pitchFamily="34" charset="0"/>
                <a:ea typeface="Arial" pitchFamily="34" charset="-122"/>
                <a:cs typeface="Arial" pitchFamily="34" charset="-120"/>
              </a:rPr>
              <a:t>Pokok Analisis Hukum</a:t>
            </a:r>
            <a:endParaRPr lang="en-US" sz="3400" dirty="0"/>
          </a:p>
        </p:txBody>
      </p:sp>
      <p:sp>
        <p:nvSpPr>
          <p:cNvPr id="5" name="Shape 3"/>
          <p:cNvSpPr/>
          <p:nvPr/>
        </p:nvSpPr>
        <p:spPr>
          <a:xfrm>
            <a:off x="548640" y="1591056"/>
            <a:ext cx="502920" cy="502920"/>
          </a:xfrm>
          <a:prstGeom prst="ellipse">
            <a:avLst/>
          </a:prstGeom>
          <a:solidFill>
            <a:srgbClr val="14284B"/>
          </a:solidFill>
          <a:ln w="12700">
            <a:solidFill>
              <a:srgbClr val="14284B"/>
            </a:solidFill>
            <a:prstDash val="solid"/>
          </a:ln>
        </p:spPr>
      </p:sp>
      <p:sp>
        <p:nvSpPr>
          <p:cNvPr id="6" name="Text 4"/>
          <p:cNvSpPr txBox="1"/>
          <p:nvPr/>
        </p:nvSpPr>
        <p:spPr>
          <a:xfrm>
            <a:off x="548640" y="1591056"/>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a</a:t>
            </a:r>
            <a:endParaRPr lang="en-US" sz="2000" dirty="0"/>
          </a:p>
        </p:txBody>
      </p:sp>
      <p:sp>
        <p:nvSpPr>
          <p:cNvPr id="7" name="Text 5"/>
          <p:cNvSpPr txBox="1"/>
          <p:nvPr/>
        </p:nvSpPr>
        <p:spPr>
          <a:xfrm>
            <a:off x="1280160" y="1554480"/>
            <a:ext cx="10360152" cy="594360"/>
          </a:xfrm>
          <a:prstGeom prst="rect">
            <a:avLst/>
          </a:prstGeom>
          <a:noFill/>
          <a:ln/>
        </p:spPr>
        <p:txBody>
          <a:bodyPr wrap="square" lIns="0" tIns="0" rIns="0" bIns="0" rtlCol="0" anchor="ctr"/>
          <a:lstStyle/>
          <a:p>
            <a:pPr indent="0" marL="0">
              <a:buNone/>
            </a:pPr>
            <a:r>
              <a:rPr lang="en-US" sz="2200" b="1" dirty="0">
                <a:solidFill>
                  <a:srgbClr val="14284B"/>
                </a:solidFill>
                <a:latin typeface="Arial" pitchFamily="34" charset="0"/>
                <a:ea typeface="Arial" pitchFamily="34" charset="-122"/>
                <a:cs typeface="Arial" pitchFamily="34" charset="-120"/>
              </a:rPr>
              <a:t>Pengaturan kepailitan dan PKPU tidak seimbang</a:t>
            </a:r>
            <a:endParaRPr lang="en-US" sz="2200" dirty="0"/>
          </a:p>
        </p:txBody>
      </p:sp>
      <p:sp>
        <p:nvSpPr>
          <p:cNvPr id="8" name="Shape 6"/>
          <p:cNvSpPr/>
          <p:nvPr/>
        </p:nvSpPr>
        <p:spPr>
          <a:xfrm>
            <a:off x="548640" y="2258568"/>
            <a:ext cx="502920" cy="502920"/>
          </a:xfrm>
          <a:prstGeom prst="ellipse">
            <a:avLst/>
          </a:prstGeom>
          <a:solidFill>
            <a:srgbClr val="14284B"/>
          </a:solidFill>
          <a:ln w="12700">
            <a:solidFill>
              <a:srgbClr val="14284B"/>
            </a:solidFill>
            <a:prstDash val="solid"/>
          </a:ln>
        </p:spPr>
      </p:sp>
      <p:sp>
        <p:nvSpPr>
          <p:cNvPr id="9" name="Text 7"/>
          <p:cNvSpPr txBox="1"/>
          <p:nvPr/>
        </p:nvSpPr>
        <p:spPr>
          <a:xfrm>
            <a:off x="548640" y="225856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b</a:t>
            </a:r>
            <a:endParaRPr lang="en-US" sz="2000" dirty="0"/>
          </a:p>
        </p:txBody>
      </p:sp>
      <p:sp>
        <p:nvSpPr>
          <p:cNvPr id="10" name="Text 8"/>
          <p:cNvSpPr txBox="1"/>
          <p:nvPr/>
        </p:nvSpPr>
        <p:spPr>
          <a:xfrm>
            <a:off x="1280160" y="2221992"/>
            <a:ext cx="10360152" cy="594360"/>
          </a:xfrm>
          <a:prstGeom prst="rect">
            <a:avLst/>
          </a:prstGeom>
          <a:noFill/>
          <a:ln/>
        </p:spPr>
        <p:txBody>
          <a:bodyPr wrap="square" lIns="0" tIns="0" rIns="0" bIns="0" rtlCol="0" anchor="ctr"/>
          <a:lstStyle/>
          <a:p>
            <a:pPr indent="0" marL="0">
              <a:buNone/>
            </a:pPr>
            <a:r>
              <a:rPr lang="en-US" sz="2200" b="1" dirty="0">
                <a:solidFill>
                  <a:srgbClr val="14284B"/>
                </a:solidFill>
                <a:latin typeface="Arial" pitchFamily="34" charset="0"/>
                <a:ea typeface="Arial" pitchFamily="34" charset="-122"/>
                <a:cs typeface="Arial" pitchFamily="34" charset="-120"/>
              </a:rPr>
              <a:t>Terdapat celah hukum: PKPU tidak memiliki pengurus yang ditunjuk oleh undang-undang</a:t>
            </a:r>
            <a:endParaRPr lang="en-US" sz="2200" dirty="0"/>
          </a:p>
        </p:txBody>
      </p:sp>
      <p:sp>
        <p:nvSpPr>
          <p:cNvPr id="11" name="Shape 9"/>
          <p:cNvSpPr/>
          <p:nvPr/>
        </p:nvSpPr>
        <p:spPr>
          <a:xfrm>
            <a:off x="548640" y="2926080"/>
            <a:ext cx="502920" cy="502920"/>
          </a:xfrm>
          <a:prstGeom prst="ellipse">
            <a:avLst/>
          </a:prstGeom>
          <a:solidFill>
            <a:srgbClr val="14284B"/>
          </a:solidFill>
          <a:ln w="12700">
            <a:solidFill>
              <a:srgbClr val="14284B"/>
            </a:solidFill>
            <a:prstDash val="solid"/>
          </a:ln>
        </p:spPr>
      </p:sp>
      <p:sp>
        <p:nvSpPr>
          <p:cNvPr id="12" name="Text 10"/>
          <p:cNvSpPr txBox="1"/>
          <p:nvPr/>
        </p:nvSpPr>
        <p:spPr>
          <a:xfrm>
            <a:off x="548640" y="29260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c</a:t>
            </a:r>
            <a:endParaRPr lang="en-US" sz="2000" dirty="0"/>
          </a:p>
        </p:txBody>
      </p:sp>
      <p:sp>
        <p:nvSpPr>
          <p:cNvPr id="13" name="Text 11"/>
          <p:cNvSpPr txBox="1"/>
          <p:nvPr/>
        </p:nvSpPr>
        <p:spPr>
          <a:xfrm>
            <a:off x="1280160" y="2889504"/>
            <a:ext cx="10360152" cy="594360"/>
          </a:xfrm>
          <a:prstGeom prst="rect">
            <a:avLst/>
          </a:prstGeom>
          <a:noFill/>
          <a:ln/>
        </p:spPr>
        <p:txBody>
          <a:bodyPr wrap="square" lIns="0" tIns="0" rIns="0" bIns="0" rtlCol="0" anchor="ctr"/>
          <a:lstStyle/>
          <a:p>
            <a:pPr indent="0" marL="0">
              <a:buNone/>
            </a:pPr>
            <a:r>
              <a:rPr lang="en-US" sz="2200" b="1" dirty="0">
                <a:solidFill>
                  <a:srgbClr val="14284B"/>
                </a:solidFill>
                <a:latin typeface="Arial" pitchFamily="34" charset="0"/>
                <a:ea typeface="Arial" pitchFamily="34" charset="-122"/>
                <a:cs typeface="Arial" pitchFamily="34" charset="-120"/>
              </a:rPr>
              <a:t>Lembaga yang dipercaya untuk tugas yang lebih berat layak dipercaya untuk tugas yang lebih ringan</a:t>
            </a:r>
            <a:endParaRPr lang="en-US" sz="2200" dirty="0"/>
          </a:p>
        </p:txBody>
      </p:sp>
      <p:sp>
        <p:nvSpPr>
          <p:cNvPr id="14" name="Shape 12"/>
          <p:cNvSpPr/>
          <p:nvPr/>
        </p:nvSpPr>
        <p:spPr>
          <a:xfrm>
            <a:off x="548640" y="3593592"/>
            <a:ext cx="502920" cy="502920"/>
          </a:xfrm>
          <a:prstGeom prst="ellipse">
            <a:avLst/>
          </a:prstGeom>
          <a:solidFill>
            <a:srgbClr val="14284B"/>
          </a:solidFill>
          <a:ln w="12700">
            <a:solidFill>
              <a:srgbClr val="14284B"/>
            </a:solidFill>
            <a:prstDash val="solid"/>
          </a:ln>
        </p:spPr>
      </p:sp>
      <p:sp>
        <p:nvSpPr>
          <p:cNvPr id="15" name="Text 13"/>
          <p:cNvSpPr txBox="1"/>
          <p:nvPr/>
        </p:nvSpPr>
        <p:spPr>
          <a:xfrm>
            <a:off x="548640" y="359359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d</a:t>
            </a:r>
            <a:endParaRPr lang="en-US" sz="2000" dirty="0"/>
          </a:p>
        </p:txBody>
      </p:sp>
      <p:sp>
        <p:nvSpPr>
          <p:cNvPr id="16" name="Text 14"/>
          <p:cNvSpPr txBox="1"/>
          <p:nvPr/>
        </p:nvSpPr>
        <p:spPr>
          <a:xfrm>
            <a:off x="1280160" y="3557016"/>
            <a:ext cx="10360152" cy="594360"/>
          </a:xfrm>
          <a:prstGeom prst="rect">
            <a:avLst/>
          </a:prstGeom>
          <a:noFill/>
          <a:ln/>
        </p:spPr>
        <p:txBody>
          <a:bodyPr wrap="square" lIns="0" tIns="0" rIns="0" bIns="0" rtlCol="0" anchor="ctr"/>
          <a:lstStyle/>
          <a:p>
            <a:pPr indent="0" marL="0">
              <a:buNone/>
            </a:pPr>
            <a:r>
              <a:rPr lang="en-US" sz="2200" b="1" dirty="0">
                <a:solidFill>
                  <a:srgbClr val="14284B"/>
                </a:solidFill>
                <a:latin typeface="Arial" pitchFamily="34" charset="0"/>
                <a:ea typeface="Arial" pitchFamily="34" charset="-122"/>
                <a:cs typeface="Arial" pitchFamily="34" charset="-120"/>
              </a:rPr>
              <a:t>BHP menjamin independensi pengurus, khususnya dalam PKPU yang diajukan Kreditor</a:t>
            </a:r>
            <a:endParaRPr lang="en-US" sz="2200" dirty="0"/>
          </a:p>
        </p:txBody>
      </p:sp>
      <p:sp>
        <p:nvSpPr>
          <p:cNvPr id="17" name="Shape 15"/>
          <p:cNvSpPr/>
          <p:nvPr/>
        </p:nvSpPr>
        <p:spPr>
          <a:xfrm>
            <a:off x="548640" y="4261104"/>
            <a:ext cx="502920" cy="502920"/>
          </a:xfrm>
          <a:prstGeom prst="ellipse">
            <a:avLst/>
          </a:prstGeom>
          <a:solidFill>
            <a:srgbClr val="14284B"/>
          </a:solidFill>
          <a:ln w="12700">
            <a:solidFill>
              <a:srgbClr val="14284B"/>
            </a:solidFill>
            <a:prstDash val="solid"/>
          </a:ln>
        </p:spPr>
      </p:sp>
      <p:sp>
        <p:nvSpPr>
          <p:cNvPr id="18" name="Text 16"/>
          <p:cNvSpPr txBox="1"/>
          <p:nvPr/>
        </p:nvSpPr>
        <p:spPr>
          <a:xfrm>
            <a:off x="548640" y="4261104"/>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e</a:t>
            </a:r>
            <a:endParaRPr lang="en-US" sz="2000" dirty="0"/>
          </a:p>
        </p:txBody>
      </p:sp>
      <p:sp>
        <p:nvSpPr>
          <p:cNvPr id="19" name="Text 17"/>
          <p:cNvSpPr txBox="1"/>
          <p:nvPr/>
        </p:nvSpPr>
        <p:spPr>
          <a:xfrm>
            <a:off x="1280160" y="4224528"/>
            <a:ext cx="10360152" cy="594360"/>
          </a:xfrm>
          <a:prstGeom prst="rect">
            <a:avLst/>
          </a:prstGeom>
          <a:noFill/>
          <a:ln/>
        </p:spPr>
        <p:txBody>
          <a:bodyPr wrap="square" lIns="0" tIns="0" rIns="0" bIns="0" rtlCol="0" anchor="ctr"/>
          <a:lstStyle/>
          <a:p>
            <a:pPr indent="0" marL="0">
              <a:buNone/>
            </a:pPr>
            <a:r>
              <a:rPr lang="en-US" sz="2200" b="1" dirty="0">
                <a:solidFill>
                  <a:srgbClr val="14284B"/>
                </a:solidFill>
                <a:latin typeface="Arial" pitchFamily="34" charset="0"/>
                <a:ea typeface="Arial" pitchFamily="34" charset="-122"/>
                <a:cs typeface="Arial" pitchFamily="34" charset="-120"/>
              </a:rPr>
              <a:t>Penanganan perkara dari PKPU ke kepailitan menjadi berkesinambungan</a:t>
            </a:r>
            <a:endParaRPr lang="en-US" sz="2200" dirty="0"/>
          </a:p>
        </p:txBody>
      </p:sp>
      <p:sp>
        <p:nvSpPr>
          <p:cNvPr id="20" name="Shape 18"/>
          <p:cNvSpPr/>
          <p:nvPr/>
        </p:nvSpPr>
        <p:spPr>
          <a:xfrm>
            <a:off x="548640" y="4928616"/>
            <a:ext cx="502920" cy="502920"/>
          </a:xfrm>
          <a:prstGeom prst="ellipse">
            <a:avLst/>
          </a:prstGeom>
          <a:solidFill>
            <a:srgbClr val="14284B"/>
          </a:solidFill>
          <a:ln w="12700">
            <a:solidFill>
              <a:srgbClr val="14284B"/>
            </a:solidFill>
            <a:prstDash val="solid"/>
          </a:ln>
        </p:spPr>
      </p:sp>
      <p:sp>
        <p:nvSpPr>
          <p:cNvPr id="21" name="Text 19"/>
          <p:cNvSpPr txBox="1"/>
          <p:nvPr/>
        </p:nvSpPr>
        <p:spPr>
          <a:xfrm>
            <a:off x="548640" y="4928616"/>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f</a:t>
            </a:r>
            <a:endParaRPr lang="en-US" sz="2000" dirty="0"/>
          </a:p>
        </p:txBody>
      </p:sp>
      <p:sp>
        <p:nvSpPr>
          <p:cNvPr id="22" name="Text 20"/>
          <p:cNvSpPr txBox="1"/>
          <p:nvPr/>
        </p:nvSpPr>
        <p:spPr>
          <a:xfrm>
            <a:off x="1280160" y="4892040"/>
            <a:ext cx="10360152" cy="594360"/>
          </a:xfrm>
          <a:prstGeom prst="rect">
            <a:avLst/>
          </a:prstGeom>
          <a:noFill/>
          <a:ln/>
        </p:spPr>
        <p:txBody>
          <a:bodyPr wrap="square" lIns="0" tIns="0" rIns="0" bIns="0" rtlCol="0" anchor="ctr"/>
          <a:lstStyle/>
          <a:p>
            <a:pPr indent="0" marL="0">
              <a:buNone/>
            </a:pPr>
            <a:r>
              <a:rPr lang="en-US" sz="2200" b="1" dirty="0">
                <a:solidFill>
                  <a:srgbClr val="14284B"/>
                </a:solidFill>
                <a:latin typeface="Arial" pitchFamily="34" charset="0"/>
                <a:ea typeface="Arial" pitchFamily="34" charset="-122"/>
                <a:cs typeface="Arial" pitchFamily="34" charset="-120"/>
              </a:rPr>
              <a:t>Kewenangan BHP harus diberikan secara tegas oleh undang-undang</a:t>
            </a:r>
            <a:endParaRPr lang="en-US" sz="2200" dirty="0"/>
          </a:p>
        </p:txBody>
      </p:sp>
      <p:sp>
        <p:nvSpPr>
          <p:cNvPr id="23" name="Shape 21"/>
          <p:cNvSpPr/>
          <p:nvPr/>
        </p:nvSpPr>
        <p:spPr>
          <a:xfrm>
            <a:off x="548640" y="5596128"/>
            <a:ext cx="502920" cy="502920"/>
          </a:xfrm>
          <a:prstGeom prst="ellipse">
            <a:avLst/>
          </a:prstGeom>
          <a:solidFill>
            <a:srgbClr val="14284B"/>
          </a:solidFill>
          <a:ln w="12700">
            <a:solidFill>
              <a:srgbClr val="14284B"/>
            </a:solidFill>
            <a:prstDash val="solid"/>
          </a:ln>
        </p:spPr>
      </p:sp>
      <p:sp>
        <p:nvSpPr>
          <p:cNvPr id="24" name="Text 22"/>
          <p:cNvSpPr txBox="1"/>
          <p:nvPr/>
        </p:nvSpPr>
        <p:spPr>
          <a:xfrm>
            <a:off x="548640" y="559612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g</a:t>
            </a:r>
            <a:endParaRPr lang="en-US" sz="2000" dirty="0"/>
          </a:p>
        </p:txBody>
      </p:sp>
      <p:sp>
        <p:nvSpPr>
          <p:cNvPr id="25" name="Text 23"/>
          <p:cNvSpPr txBox="1"/>
          <p:nvPr/>
        </p:nvSpPr>
        <p:spPr>
          <a:xfrm>
            <a:off x="1280160" y="5559552"/>
            <a:ext cx="10360152" cy="594360"/>
          </a:xfrm>
          <a:prstGeom prst="rect">
            <a:avLst/>
          </a:prstGeom>
          <a:noFill/>
          <a:ln/>
        </p:spPr>
        <p:txBody>
          <a:bodyPr wrap="square" lIns="0" tIns="0" rIns="0" bIns="0" rtlCol="0" anchor="ctr"/>
          <a:lstStyle/>
          <a:p>
            <a:pPr indent="0" marL="0">
              <a:buNone/>
            </a:pPr>
            <a:r>
              <a:rPr lang="en-US" sz="2200" b="1" dirty="0">
                <a:solidFill>
                  <a:srgbClr val="14284B"/>
                </a:solidFill>
                <a:latin typeface="Arial" pitchFamily="34" charset="0"/>
                <a:ea typeface="Arial" pitchFamily="34" charset="-122"/>
                <a:cs typeface="Arial" pitchFamily="34" charset="-120"/>
              </a:rPr>
              <a:t>Kesimpulan dan usulan</a:t>
            </a:r>
            <a:endParaRPr lang="en-US" sz="2200" dirty="0"/>
          </a:p>
        </p:txBody>
      </p:sp>
      <p:sp>
        <p:nvSpPr>
          <p:cNvPr id="26" name="Text 24"/>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27" name="Text 25"/>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10</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2</a:t>
            </a:r>
            <a:endParaRPr lang="en-US" sz="4000" dirty="0"/>
          </a:p>
        </p:txBody>
      </p:sp>
      <p:sp>
        <p:nvSpPr>
          <p:cNvPr id="4" name="Text 2"/>
          <p:cNvSpPr txBox="1"/>
          <p:nvPr/>
        </p:nvSpPr>
        <p:spPr>
          <a:xfrm>
            <a:off x="1783080" y="411480"/>
            <a:ext cx="9859975" cy="960120"/>
          </a:xfrm>
          <a:prstGeom prst="rect">
            <a:avLst/>
          </a:prstGeom>
          <a:noFill/>
          <a:ln/>
        </p:spPr>
        <p:txBody>
          <a:bodyPr wrap="square" lIns="0" tIns="0" rIns="0" bIns="0" rtlCol="0" anchor="ctr"/>
          <a:lstStyle/>
          <a:p>
            <a:pPr indent="0" marL="0">
              <a:buNone/>
            </a:pPr>
            <a:r>
              <a:rPr lang="en-US" sz="3400" b="1" dirty="0">
                <a:solidFill>
                  <a:srgbClr val="14284B"/>
                </a:solidFill>
                <a:latin typeface="Arial" pitchFamily="34" charset="0"/>
                <a:ea typeface="Arial" pitchFamily="34" charset="-122"/>
                <a:cs typeface="Arial" pitchFamily="34" charset="-120"/>
              </a:rPr>
              <a:t>Dua Argumen Kunci</a:t>
            </a:r>
            <a:endParaRPr lang="en-US" sz="3400" dirty="0"/>
          </a:p>
        </p:txBody>
      </p:sp>
      <p:sp>
        <p:nvSpPr>
          <p:cNvPr id="5" name="Shape 3"/>
          <p:cNvSpPr/>
          <p:nvPr/>
        </p:nvSpPr>
        <p:spPr>
          <a:xfrm>
            <a:off x="548640" y="1600200"/>
            <a:ext cx="5349240" cy="4572000"/>
          </a:xfrm>
          <a:prstGeom prst="roundRect">
            <a:avLst>
              <a:gd name="adj" fmla="val 2400"/>
            </a:avLst>
          </a:prstGeom>
          <a:solidFill>
            <a:srgbClr val="EEF2F8"/>
          </a:solidFill>
          <a:ln w="12700">
            <a:solidFill>
              <a:srgbClr val="EEF2F8"/>
            </a:solidFill>
            <a:prstDash val="solid"/>
          </a:ln>
        </p:spPr>
      </p:sp>
      <p:pic>
        <p:nvPicPr>
          <p:cNvPr id="6" name="Image 0" descr="preencoded.png">    </p:cNvPr>
          <p:cNvPicPr>
            <a:picLocks noChangeAspect="1"/>
          </p:cNvPicPr>
          <p:nvPr/>
        </p:nvPicPr>
        <p:blipFill>
          <a:blip r:embed="rId1"/>
          <a:stretch>
            <a:fillRect/>
          </a:stretch>
        </p:blipFill>
        <p:spPr>
          <a:xfrm>
            <a:off x="868680" y="1828800"/>
            <a:ext cx="548640" cy="502920"/>
          </a:xfrm>
          <a:prstGeom prst="rect">
            <a:avLst/>
          </a:prstGeom>
        </p:spPr>
      </p:pic>
      <p:sp>
        <p:nvSpPr>
          <p:cNvPr id="7" name="Text 4"/>
          <p:cNvSpPr txBox="1"/>
          <p:nvPr/>
        </p:nvSpPr>
        <p:spPr>
          <a:xfrm>
            <a:off x="1600200" y="1783080"/>
            <a:ext cx="4069080" cy="640080"/>
          </a:xfrm>
          <a:prstGeom prst="rect">
            <a:avLst/>
          </a:prstGeom>
          <a:noFill/>
          <a:ln/>
        </p:spPr>
        <p:txBody>
          <a:bodyPr wrap="square" lIns="0" tIns="0" rIns="0" bIns="0" rtlCol="0" anchor="ctr"/>
          <a:lstStyle/>
          <a:p>
            <a:pPr indent="0" marL="0">
              <a:buNone/>
            </a:pPr>
            <a:r>
              <a:rPr lang="en-US" sz="2000" b="1" dirty="0">
                <a:solidFill>
                  <a:srgbClr val="8A6100"/>
                </a:solidFill>
                <a:latin typeface="Arial" pitchFamily="34" charset="0"/>
                <a:ea typeface="Arial" pitchFamily="34" charset="-122"/>
                <a:cs typeface="Arial" pitchFamily="34" charset="-120"/>
              </a:rPr>
              <a:t>Lembaga yang dipercaya untuk tugas yang lebih berat</a:t>
            </a:r>
            <a:endParaRPr lang="en-US" sz="2000" dirty="0"/>
          </a:p>
        </p:txBody>
      </p:sp>
      <p:sp>
        <p:nvSpPr>
          <p:cNvPr id="8" name="Text 5"/>
          <p:cNvSpPr txBox="1"/>
          <p:nvPr/>
        </p:nvSpPr>
        <p:spPr>
          <a:xfrm>
            <a:off x="868680" y="2606040"/>
            <a:ext cx="4709160" cy="3383280"/>
          </a:xfrm>
          <a:prstGeom prst="rect">
            <a:avLst/>
          </a:prstGeom>
          <a:noFill/>
          <a:ln/>
        </p:spPr>
        <p:txBody>
          <a:bodyPr wrap="square" lIns="0" tIns="0" rIns="0" bIns="0" rtlCol="0" anchor="t"/>
          <a:lstStyle/>
          <a:p>
            <a:pPr indent="0" marL="0">
              <a:buNone/>
            </a:pPr>
            <a:r>
              <a:rPr lang="en-US" sz="2300" dirty="0">
                <a:solidFill>
                  <a:srgbClr val="1A1A1A"/>
                </a:solidFill>
                <a:latin typeface="Arial" pitchFamily="34" charset="0"/>
                <a:ea typeface="Arial" pitchFamily="34" charset="-122"/>
                <a:cs typeface="Arial" pitchFamily="34" charset="-120"/>
              </a:rPr>
              <a:t>Dalam hal undang-undang telah mempercayakan kewenangan yang lebih berat, yaitu mengambil alih dan membereskan seluruh harta Debitor, kepada BHP, maka secara logika hukum (argumentum a maiore ad minus) BHP juga mampu melaksanakan kewenangan yang lebih ringan sebagai pengurus.</a:t>
            </a:r>
            <a:endParaRPr lang="en-US" sz="2300" dirty="0"/>
          </a:p>
        </p:txBody>
      </p:sp>
      <p:sp>
        <p:nvSpPr>
          <p:cNvPr id="9" name="Shape 6"/>
          <p:cNvSpPr/>
          <p:nvPr/>
        </p:nvSpPr>
        <p:spPr>
          <a:xfrm>
            <a:off x="6291072" y="1600200"/>
            <a:ext cx="5349240" cy="4572000"/>
          </a:xfrm>
          <a:prstGeom prst="roundRect">
            <a:avLst>
              <a:gd name="adj" fmla="val 2400"/>
            </a:avLst>
          </a:prstGeom>
          <a:solidFill>
            <a:srgbClr val="14284B"/>
          </a:solidFill>
          <a:ln w="12700">
            <a:solidFill>
              <a:srgbClr val="14284B"/>
            </a:solidFill>
            <a:prstDash val="solid"/>
          </a:ln>
        </p:spPr>
      </p:sp>
      <p:pic>
        <p:nvPicPr>
          <p:cNvPr id="10" name="Image 1" descr="preencoded.png">    </p:cNvPr>
          <p:cNvPicPr>
            <a:picLocks noChangeAspect="1"/>
          </p:cNvPicPr>
          <p:nvPr/>
        </p:nvPicPr>
        <p:blipFill>
          <a:blip r:embed="rId2"/>
          <a:stretch>
            <a:fillRect/>
          </a:stretch>
        </p:blipFill>
        <p:spPr>
          <a:xfrm>
            <a:off x="6611112" y="1828800"/>
            <a:ext cx="548640" cy="502920"/>
          </a:xfrm>
          <a:prstGeom prst="rect">
            <a:avLst/>
          </a:prstGeom>
        </p:spPr>
      </p:pic>
      <p:sp>
        <p:nvSpPr>
          <p:cNvPr id="11" name="Text 7"/>
          <p:cNvSpPr txBox="1"/>
          <p:nvPr/>
        </p:nvSpPr>
        <p:spPr>
          <a:xfrm>
            <a:off x="7342632" y="1783080"/>
            <a:ext cx="4069080" cy="640080"/>
          </a:xfrm>
          <a:prstGeom prst="rect">
            <a:avLst/>
          </a:prstGeom>
          <a:noFill/>
          <a:ln/>
        </p:spPr>
        <p:txBody>
          <a:bodyPr wrap="square" lIns="0" tIns="0" rIns="0" bIns="0" rtlCol="0" anchor="ctr"/>
          <a:lstStyle/>
          <a:p>
            <a:pPr indent="0" marL="0">
              <a:buNone/>
            </a:pPr>
            <a:r>
              <a:rPr lang="en-US" sz="2000" b="1" dirty="0">
                <a:solidFill>
                  <a:srgbClr val="E0A526"/>
                </a:solidFill>
                <a:latin typeface="Arial" pitchFamily="34" charset="0"/>
                <a:ea typeface="Arial" pitchFamily="34" charset="-122"/>
                <a:cs typeface="Arial" pitchFamily="34" charset="-120"/>
              </a:rPr>
              <a:t>Kewenangan harus tegas dalam undang-undang</a:t>
            </a:r>
            <a:endParaRPr lang="en-US" sz="2000" dirty="0"/>
          </a:p>
        </p:txBody>
      </p:sp>
      <p:sp>
        <p:nvSpPr>
          <p:cNvPr id="12" name="Text 8"/>
          <p:cNvSpPr txBox="1"/>
          <p:nvPr/>
        </p:nvSpPr>
        <p:spPr>
          <a:xfrm>
            <a:off x="6611112" y="2606040"/>
            <a:ext cx="4709160" cy="3383280"/>
          </a:xfrm>
          <a:prstGeom prst="rect">
            <a:avLst/>
          </a:prstGeom>
          <a:noFill/>
          <a:ln/>
        </p:spPr>
        <p:txBody>
          <a:bodyPr wrap="square" lIns="0" tIns="0" rIns="0" bIns="0" rtlCol="0" anchor="t"/>
          <a:lstStyle/>
          <a:p>
            <a:pPr indent="0" marL="0">
              <a:buNone/>
            </a:pPr>
            <a:r>
              <a:rPr lang="en-US" sz="2300" b="1" dirty="0">
                <a:solidFill>
                  <a:srgbClr val="FFFFFF"/>
                </a:solidFill>
                <a:latin typeface="Arial" pitchFamily="34" charset="0"/>
                <a:ea typeface="Arial" pitchFamily="34" charset="-122"/>
                <a:cs typeface="Arial" pitchFamily="34" charset="-120"/>
              </a:rPr>
              <a:t>BHP tidak dapat menjadi pengurus hanya berdasarkan penafsiran, meskipun tidak ada ketentuan yang melarangnya. Sebagai badan pemerintahan, BHP hanya dapat bertindak berdasarkan kewenangan yang diberikan oleh peraturan perundang-undangan.</a:t>
            </a:r>
            <a:endParaRPr lang="en-US" sz="2300" dirty="0"/>
          </a:p>
        </p:txBody>
      </p:sp>
      <p:sp>
        <p:nvSpPr>
          <p:cNvPr id="13" name="Text 9"/>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14" name="Text 10"/>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11</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2</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4 · USULAN RUMUSAN PASAL  (1/3)</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BHP sebagai Pengurus dalam PKPU</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3730752"/>
        </p:xfrm>
        <a:graphic>
          <a:graphicData uri="http://schemas.openxmlformats.org/drawingml/2006/table">
            <a:tbl>
              <a:tblPr/>
              <a:tblGrid>
                <a:gridCol w="731520"/>
                <a:gridCol w="594360"/>
                <a:gridCol w="9308592"/>
              </a:tblGrid>
              <a:tr h="438912">
                <a:tc gridSpan="3">
                  <a:txBody>
                    <a:bodyPr/>
                    <a:lstStyle/>
                    <a:p>
                      <a:pPr algn="ctr" indent="0" marL="0">
                        <a:buNone/>
                      </a:pPr>
                      <a:r>
                        <a:rPr lang="en-US" sz="2100" b="1" dirty="0">
                          <a:solidFill>
                            <a:srgbClr val="14284B"/>
                          </a:solidFill>
                          <a:latin typeface="Arial" pitchFamily="34" charset="0"/>
                          <a:ea typeface="Arial" pitchFamily="34" charset="-122"/>
                          <a:cs typeface="Arial" pitchFamily="34" charset="-120"/>
                        </a:rPr>
                        <a:t>Pasal …</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c hMerge="1">
                  <a:tcPr/>
                </a:tc>
              </a:tr>
              <a:tr h="438912">
                <a:tc>
                  <a:txBody>
                    <a:bodyPr/>
                    <a:lstStyle/>
                    <a:p>
                      <a:pPr indent="0" marL="0">
                        <a:buNone/>
                      </a:pPr>
                      <a:r>
                        <a:rPr lang="en-US" sz="2100" b="1" dirty="0">
                          <a:solidFill>
                            <a:srgbClr val="14284B"/>
                          </a:solidFill>
                          <a:latin typeface="Arial" pitchFamily="34" charset="0"/>
                          <a:ea typeface="Arial" pitchFamily="34" charset="-122"/>
                          <a:cs typeface="Arial" pitchFamily="34" charset="-120"/>
                        </a:rPr>
                        <a:t>(1)</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Kurator terdiri atas: a. </a:t>
                      </a:r>
                      <a:pPr indent="0" marL="0">
                        <a:buNone/>
                      </a:pPr>
                      <a:r>
                        <a:rPr lang="en-US" sz="2100" b="1" dirty="0">
                          <a:solidFill>
                            <a:srgbClr val="14284B"/>
                          </a:solidFill>
                          <a:latin typeface="Arial" pitchFamily="34" charset="0"/>
                          <a:ea typeface="Arial" pitchFamily="34" charset="-122"/>
                          <a:cs typeface="Arial" pitchFamily="34" charset="-120"/>
                        </a:rPr>
                        <a:t>Kurator Negara</a:t>
                      </a:r>
                      <a:pPr indent="0" marL="0">
                        <a:buNone/>
                      </a:pPr>
                      <a:r>
                        <a:rPr lang="en-US" sz="2100" dirty="0">
                          <a:solidFill>
                            <a:srgbClr val="1A1A1A"/>
                          </a:solidFill>
                          <a:latin typeface="Arial" pitchFamily="34" charset="0"/>
                          <a:ea typeface="Arial" pitchFamily="34" charset="-122"/>
                          <a:cs typeface="Arial" pitchFamily="34" charset="-120"/>
                        </a:rPr>
                        <a:t>; dan b. </a:t>
                      </a:r>
                      <a:pPr indent="0" marL="0">
                        <a:buNone/>
                      </a:pPr>
                      <a:r>
                        <a:rPr lang="en-US" sz="2100" b="1" dirty="0">
                          <a:solidFill>
                            <a:srgbClr val="14284B"/>
                          </a:solidFill>
                          <a:latin typeface="Arial" pitchFamily="34" charset="0"/>
                          <a:ea typeface="Arial" pitchFamily="34" charset="-122"/>
                          <a:cs typeface="Arial" pitchFamily="34" charset="-120"/>
                        </a:rPr>
                        <a:t>Kurator Perseorangan</a:t>
                      </a:r>
                      <a:pPr indent="0" marL="0">
                        <a:buNone/>
                      </a:pPr>
                      <a:r>
                        <a:rPr lang="en-US" sz="2100" dirty="0">
                          <a:solidFill>
                            <a:srgbClr val="1A1A1A"/>
                          </a:solidFill>
                          <a:latin typeface="Arial" pitchFamily="34" charset="0"/>
                          <a:ea typeface="Arial" pitchFamily="34" charset="-122"/>
                          <a:cs typeface="Arial" pitchFamily="34" charset="-120"/>
                        </a:rPr>
                        <a:t>.</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768096">
                <a:tc>
                  <a:txBody>
                    <a:bodyPr/>
                    <a:lstStyle/>
                    <a:p>
                      <a:pPr indent="0" marL="0">
                        <a:buNone/>
                      </a:pPr>
                      <a:r>
                        <a:rPr lang="en-US" sz="2100" b="1" dirty="0">
                          <a:solidFill>
                            <a:srgbClr val="14284B"/>
                          </a:solidFill>
                          <a:latin typeface="Arial" pitchFamily="34" charset="0"/>
                          <a:ea typeface="Arial" pitchFamily="34" charset="-122"/>
                          <a:cs typeface="Arial" pitchFamily="34" charset="-120"/>
                        </a:rPr>
                        <a:t>(2)</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Pengurus terdiri atas: a. </a:t>
                      </a:r>
                      <a:pPr indent="0" marL="0">
                        <a:buNone/>
                      </a:pPr>
                      <a:r>
                        <a:rPr lang="en-US" sz="2100" b="1" dirty="0">
                          <a:solidFill>
                            <a:srgbClr val="14284B"/>
                          </a:solidFill>
                          <a:latin typeface="Arial" pitchFamily="34" charset="0"/>
                          <a:ea typeface="Arial" pitchFamily="34" charset="-122"/>
                          <a:cs typeface="Arial" pitchFamily="34" charset="-120"/>
                        </a:rPr>
                        <a:t>Balai Harta Peninggalan</a:t>
                      </a:r>
                      <a:pPr indent="0" marL="0">
                        <a:buNone/>
                      </a:pPr>
                      <a:r>
                        <a:rPr lang="en-US" sz="2100" dirty="0">
                          <a:solidFill>
                            <a:srgbClr val="1A1A1A"/>
                          </a:solidFill>
                          <a:latin typeface="Arial" pitchFamily="34" charset="0"/>
                          <a:ea typeface="Arial" pitchFamily="34" charset="-122"/>
                          <a:cs typeface="Arial" pitchFamily="34" charset="-120"/>
                        </a:rPr>
                        <a:t>; dan b. </a:t>
                      </a:r>
                      <a:pPr indent="0" marL="0">
                        <a:buNone/>
                      </a:pPr>
                      <a:r>
                        <a:rPr lang="en-US" sz="2100" b="1" dirty="0">
                          <a:solidFill>
                            <a:srgbClr val="14284B"/>
                          </a:solidFill>
                          <a:latin typeface="Arial" pitchFamily="34" charset="0"/>
                          <a:ea typeface="Arial" pitchFamily="34" charset="-122"/>
                          <a:cs typeface="Arial" pitchFamily="34" charset="-120"/>
                        </a:rPr>
                        <a:t>Pengurus Perseorangan</a:t>
                      </a:r>
                      <a:pPr indent="0" marL="0">
                        <a:buNone/>
                      </a:pPr>
                      <a:r>
                        <a:rPr lang="en-US" sz="2100" dirty="0">
                          <a:solidFill>
                            <a:srgbClr val="1A1A1A"/>
                          </a:solidFill>
                          <a:latin typeface="Arial" pitchFamily="34" charset="0"/>
                          <a:ea typeface="Arial" pitchFamily="34" charset="-122"/>
                          <a:cs typeface="Arial" pitchFamily="34" charset="-120"/>
                        </a:rPr>
                        <a:t>.</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2084832">
                <a:tc>
                  <a:txBody>
                    <a:bodyPr/>
                    <a:lstStyle/>
                    <a:p>
                      <a:pPr indent="0" marL="0">
                        <a:buNone/>
                      </a:pPr>
                      <a:r>
                        <a:rPr lang="en-US" sz="2100" b="1" dirty="0">
                          <a:solidFill>
                            <a:srgbClr val="14284B"/>
                          </a:solidFill>
                          <a:latin typeface="Arial" pitchFamily="34" charset="0"/>
                          <a:ea typeface="Arial" pitchFamily="34" charset="-122"/>
                          <a:cs typeface="Arial" pitchFamily="34" charset="-120"/>
                        </a:rPr>
                        <a:t>(3)</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Dalam hal Debitor atau Kreditor yang mengajukan permohonan penundaan kewajiban pembayaran utang tidak mengajukan usul pengangkatan Pengurus, atau Pengurus yang diusulkan tidak memenuhi persyaratan, </a:t>
                      </a:r>
                      <a:pPr indent="0" marL="0">
                        <a:buNone/>
                      </a:pPr>
                      <a:r>
                        <a:rPr lang="en-US" sz="2100" b="1" dirty="0">
                          <a:solidFill>
                            <a:srgbClr val="14284B"/>
                          </a:solidFill>
                          <a:latin typeface="Arial" pitchFamily="34" charset="0"/>
                          <a:ea typeface="Arial" pitchFamily="34" charset="-122"/>
                          <a:cs typeface="Arial" pitchFamily="34" charset="-120"/>
                        </a:rPr>
                        <a:t>Balai Harta Peninggalan diangkat selaku Pengurus</a:t>
                      </a:r>
                      <a:pPr indent="0" marL="0">
                        <a:buNone/>
                      </a:pPr>
                      <a:r>
                        <a:rPr lang="en-US" sz="2100" dirty="0">
                          <a:solidFill>
                            <a:srgbClr val="1A1A1A"/>
                          </a:solidFill>
                          <a:latin typeface="Arial" pitchFamily="34" charset="0"/>
                          <a:ea typeface="Arial" pitchFamily="34" charset="-122"/>
                          <a:cs typeface="Arial" pitchFamily="34" charset="-120"/>
                        </a:rPr>
                        <a:t> sepanjang masih memiliki Tim Kurator Keperdataan yang belum mencapai batas jumlah perkara sebagaimana dimaksud dalam Pasal ….</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12</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2</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4 · USULAN RUMUSAN PASAL  (2/3)</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BHP sebagai Pengurus dalam PKPU</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2962656"/>
        </p:xfrm>
        <a:graphic>
          <a:graphicData uri="http://schemas.openxmlformats.org/drawingml/2006/table">
            <a:tbl>
              <a:tblPr/>
              <a:tblGrid>
                <a:gridCol w="731520"/>
                <a:gridCol w="594360"/>
                <a:gridCol w="9308592"/>
              </a:tblGrid>
              <a:tr h="1097280">
                <a:tc>
                  <a:txBody>
                    <a:bodyPr/>
                    <a:lstStyle/>
                    <a:p>
                      <a:pPr indent="0" marL="0">
                        <a:buNone/>
                      </a:pPr>
                      <a:r>
                        <a:rPr lang="en-US" sz="2100" b="1" dirty="0">
                          <a:solidFill>
                            <a:srgbClr val="14284B"/>
                          </a:solidFill>
                          <a:latin typeface="Arial" pitchFamily="34" charset="0"/>
                          <a:ea typeface="Arial" pitchFamily="34" charset="-122"/>
                          <a:cs typeface="Arial" pitchFamily="34" charset="-120"/>
                        </a:rPr>
                        <a:t>(4)</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Dalam hal seluruh Tim Kurator Keperdataan pada Balai Harta Peninggalan telah mencapai batas jumlah perkara, </a:t>
                      </a:r>
                      <a:pPr indent="0" marL="0">
                        <a:buNone/>
                      </a:pPr>
                      <a:r>
                        <a:rPr lang="en-US" sz="2100" b="1" dirty="0">
                          <a:solidFill>
                            <a:srgbClr val="14284B"/>
                          </a:solidFill>
                          <a:latin typeface="Arial" pitchFamily="34" charset="0"/>
                          <a:ea typeface="Arial" pitchFamily="34" charset="-122"/>
                          <a:cs typeface="Arial" pitchFamily="34" charset="-120"/>
                        </a:rPr>
                        <a:t>Pengadilan mengangkat Pengurus Perseorangan</a:t>
                      </a:r>
                      <a:pPr indent="0" marL="0">
                        <a:buNone/>
                      </a:pPr>
                      <a:r>
                        <a:rPr lang="en-US" sz="2100" dirty="0">
                          <a:solidFill>
                            <a:srgbClr val="1A1A1A"/>
                          </a:solidFill>
                          <a:latin typeface="Arial" pitchFamily="34" charset="0"/>
                          <a:ea typeface="Arial" pitchFamily="34" charset="-122"/>
                          <a:cs typeface="Arial" pitchFamily="34" charset="-120"/>
                        </a:rPr>
                        <a:t>.</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768096">
                <a:tc>
                  <a:txBody>
                    <a:bodyPr/>
                    <a:lstStyle/>
                    <a:p>
                      <a:pPr indent="0" marL="0">
                        <a:buNone/>
                      </a:pPr>
                      <a:r>
                        <a:rPr lang="en-US" sz="2100" b="1" dirty="0">
                          <a:solidFill>
                            <a:srgbClr val="14284B"/>
                          </a:solidFill>
                          <a:latin typeface="Arial" pitchFamily="34" charset="0"/>
                          <a:ea typeface="Arial" pitchFamily="34" charset="-122"/>
                          <a:cs typeface="Arial" pitchFamily="34" charset="-120"/>
                        </a:rPr>
                        <a:t>(5)</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Tugas Kurator Negara dan tugas Balai Harta Peninggalan selaku Pengurus dilaksanakan oleh pejabat Kurator Keperdataan.</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1097280">
                <a:tc>
                  <a:txBody>
                    <a:bodyPr/>
                    <a:lstStyle/>
                    <a:p>
                      <a:pPr indent="0" marL="0">
                        <a:buNone/>
                      </a:pPr>
                      <a:r>
                        <a:rPr lang="en-US" sz="2100" b="1" dirty="0">
                          <a:solidFill>
                            <a:srgbClr val="14284B"/>
                          </a:solidFill>
                          <a:latin typeface="Arial" pitchFamily="34" charset="0"/>
                          <a:ea typeface="Arial" pitchFamily="34" charset="-122"/>
                          <a:cs typeface="Arial" pitchFamily="34" charset="-120"/>
                        </a:rPr>
                        <a:t>(6)</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Ketentuan mengenai tugas, wewenang, kewajiban, dan tanggung jawab Pengurus berlaku bagi Balai Harta Peninggalan yang diangkat selaku Pengurus.</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13</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2</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4 · USULAN RUMUSAN PASAL  (3/3)</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BHP sebagai Pengurus dalam PKPU</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1755648"/>
        </p:xfrm>
        <a:graphic>
          <a:graphicData uri="http://schemas.openxmlformats.org/drawingml/2006/table">
            <a:tbl>
              <a:tblPr/>
              <a:tblGrid>
                <a:gridCol w="731520"/>
                <a:gridCol w="594360"/>
                <a:gridCol w="9308592"/>
              </a:tblGrid>
              <a:tr h="1755648">
                <a:tc gridSpan="3">
                  <a:txBody>
                    <a:bodyPr/>
                    <a:lstStyle/>
                    <a:p>
                      <a:pPr indent="0" marL="0">
                        <a:buNone/>
                      </a:pPr>
                      <a:r>
                        <a:rPr lang="en-US" sz="2000" i="1" dirty="0">
                          <a:solidFill>
                            <a:srgbClr val="2D3748"/>
                          </a:solidFill>
                          <a:latin typeface="Arial" pitchFamily="34" charset="0"/>
                          <a:ea typeface="Arial" pitchFamily="34" charset="-122"/>
                          <a:cs typeface="Arial" pitchFamily="34" charset="-120"/>
                        </a:rPr>
                        <a:t>Usulan penjelasan: Ayat (3) </a:t>
                      </a:r>
                      <a:pPr indent="0" marL="0">
                        <a:buNone/>
                      </a:pPr>
                      <a:r>
                        <a:rPr lang="en-US" sz="2000" b="1" i="1" dirty="0">
                          <a:solidFill>
                            <a:srgbClr val="14284B"/>
                          </a:solidFill>
                          <a:latin typeface="Arial" pitchFamily="34" charset="0"/>
                          <a:ea typeface="Arial" pitchFamily="34" charset="-122"/>
                          <a:cs typeface="Arial" pitchFamily="34" charset="-120"/>
                        </a:rPr>
                        <a:t>mengisi kekosongan pengaturan</a:t>
                      </a:r>
                      <a:pPr indent="0" marL="0">
                        <a:buNone/>
                      </a:pPr>
                      <a:r>
                        <a:rPr lang="en-US" sz="2000" i="1" dirty="0">
                          <a:solidFill>
                            <a:srgbClr val="2D3748"/>
                          </a:solidFill>
                          <a:latin typeface="Arial" pitchFamily="34" charset="0"/>
                          <a:ea typeface="Arial" pitchFamily="34" charset="-122"/>
                          <a:cs typeface="Arial" pitchFamily="34" charset="-120"/>
                        </a:rPr>
                        <a:t> mengenai pengurus yang ditunjuk oleh undang-undang dalam penundaan kewajiban pembayaran utang, dengan pola yang sama seperti pengangkatan Balai Harta Peninggalan selaku Kurator dalam kepailitan. Yang dimaksud dengan “tidak memenuhi persyaratan” antara lain tidak independen, memiliki benturan kepentingan, atau telah mencapai batas jumlah perkara.</a:t>
                      </a:r>
                      <a:endParaRPr lang="en-US" sz="20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solidFill>
                      <a:srgbClr val="F3F6FA"/>
                    </a:solidFill>
                  </a:tcPr>
                </a:tc>
                <a:tc hMerge="1">
                  <a:tcPr/>
                </a:tc>
                <a:tc hMerge="1">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14</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84B"/>
        </a:solidFill>
      </p:bgPr>
    </p:bg>
    <p:spTree>
      <p:nvGrpSpPr>
        <p:cNvPr id="1" name=""/>
        <p:cNvGrpSpPr/>
        <p:nvPr/>
      </p:nvGrpSpPr>
      <p:grpSpPr>
        <a:xfrm>
          <a:off x="0" y="0"/>
          <a:ext cx="0" cy="0"/>
          <a:chOff x="0" y="0"/>
          <a:chExt cx="0" cy="0"/>
        </a:xfrm>
      </p:grpSpPr>
      <p:sp>
        <p:nvSpPr>
          <p:cNvPr id="2" name="Shape 0"/>
          <p:cNvSpPr/>
          <p:nvPr/>
        </p:nvSpPr>
        <p:spPr>
          <a:xfrm>
            <a:off x="731520" y="548640"/>
            <a:ext cx="2011680" cy="73152"/>
          </a:xfrm>
          <a:prstGeom prst="roundRect">
            <a:avLst>
              <a:gd name="adj" fmla="val 50000"/>
            </a:avLst>
          </a:prstGeom>
          <a:solidFill>
            <a:srgbClr val="8A7A4A"/>
          </a:solidFill>
          <a:ln w="12700">
            <a:solidFill>
              <a:srgbClr val="8A7A4A"/>
            </a:solidFill>
            <a:prstDash val="solid"/>
          </a:ln>
        </p:spPr>
      </p:sp>
      <p:sp>
        <p:nvSpPr>
          <p:cNvPr id="3" name="Shape 1"/>
          <p:cNvSpPr/>
          <p:nvPr/>
        </p:nvSpPr>
        <p:spPr>
          <a:xfrm>
            <a:off x="2907792" y="548640"/>
            <a:ext cx="2011680" cy="73152"/>
          </a:xfrm>
          <a:prstGeom prst="roundRect">
            <a:avLst>
              <a:gd name="adj" fmla="val 50000"/>
            </a:avLst>
          </a:prstGeom>
          <a:solidFill>
            <a:srgbClr val="E0A526"/>
          </a:solidFill>
          <a:ln w="12700">
            <a:solidFill>
              <a:srgbClr val="E0A526"/>
            </a:solidFill>
            <a:prstDash val="solid"/>
          </a:ln>
        </p:spPr>
      </p:sp>
      <p:sp>
        <p:nvSpPr>
          <p:cNvPr id="4" name="Shape 2"/>
          <p:cNvSpPr/>
          <p:nvPr/>
        </p:nvSpPr>
        <p:spPr>
          <a:xfrm>
            <a:off x="5084064" y="548640"/>
            <a:ext cx="2011680" cy="73152"/>
          </a:xfrm>
          <a:prstGeom prst="roundRect">
            <a:avLst>
              <a:gd name="adj" fmla="val 50000"/>
            </a:avLst>
          </a:prstGeom>
          <a:solidFill>
            <a:srgbClr val="34456A"/>
          </a:solidFill>
          <a:ln w="12700">
            <a:solidFill>
              <a:srgbClr val="34456A"/>
            </a:solidFill>
            <a:prstDash val="solid"/>
          </a:ln>
        </p:spPr>
      </p:sp>
      <p:sp>
        <p:nvSpPr>
          <p:cNvPr id="5" name="Shape 3"/>
          <p:cNvSpPr/>
          <p:nvPr/>
        </p:nvSpPr>
        <p:spPr>
          <a:xfrm>
            <a:off x="7260336" y="548640"/>
            <a:ext cx="2011680" cy="73152"/>
          </a:xfrm>
          <a:prstGeom prst="roundRect">
            <a:avLst>
              <a:gd name="adj" fmla="val 50000"/>
            </a:avLst>
          </a:prstGeom>
          <a:solidFill>
            <a:srgbClr val="34456A"/>
          </a:solidFill>
          <a:ln w="12700">
            <a:solidFill>
              <a:srgbClr val="34456A"/>
            </a:solidFill>
            <a:prstDash val="solid"/>
          </a:ln>
        </p:spPr>
      </p:sp>
      <p:sp>
        <p:nvSpPr>
          <p:cNvPr id="6" name="Shape 4"/>
          <p:cNvSpPr/>
          <p:nvPr/>
        </p:nvSpPr>
        <p:spPr>
          <a:xfrm>
            <a:off x="9436608" y="548640"/>
            <a:ext cx="2011680" cy="73152"/>
          </a:xfrm>
          <a:prstGeom prst="roundRect">
            <a:avLst>
              <a:gd name="adj" fmla="val 50000"/>
            </a:avLst>
          </a:prstGeom>
          <a:solidFill>
            <a:srgbClr val="34456A"/>
          </a:solidFill>
          <a:ln w="12700">
            <a:solidFill>
              <a:srgbClr val="34456A"/>
            </a:solidFill>
            <a:prstDash val="solid"/>
          </a:ln>
        </p:spPr>
      </p:sp>
      <p:sp>
        <p:nvSpPr>
          <p:cNvPr id="7" name="Text 5"/>
          <p:cNvSpPr txBox="1"/>
          <p:nvPr/>
        </p:nvSpPr>
        <p:spPr>
          <a:xfrm>
            <a:off x="731520" y="1051560"/>
            <a:ext cx="10698480" cy="457200"/>
          </a:xfrm>
          <a:prstGeom prst="rect">
            <a:avLst/>
          </a:prstGeom>
          <a:noFill/>
          <a:ln/>
        </p:spPr>
        <p:txBody>
          <a:bodyPr wrap="square" lIns="0" tIns="0" rIns="0" bIns="0" rtlCol="0" anchor="t"/>
          <a:lstStyle/>
          <a:p>
            <a:pPr indent="0" marL="0">
              <a:buNone/>
            </a:pPr>
            <a:r>
              <a:rPr lang="en-US" sz="1800" b="1" spc="300" kern="0" dirty="0">
                <a:solidFill>
                  <a:srgbClr val="E0A526"/>
                </a:solidFill>
                <a:latin typeface="Arial" pitchFamily="34" charset="0"/>
                <a:ea typeface="Arial" pitchFamily="34" charset="-122"/>
                <a:cs typeface="Arial" pitchFamily="34" charset="-120"/>
              </a:rPr>
              <a:t>POKOK PEMBAHASAN 2 DARI 5</a:t>
            </a:r>
            <a:endParaRPr lang="en-US" sz="1800" dirty="0"/>
          </a:p>
        </p:txBody>
      </p:sp>
      <p:sp>
        <p:nvSpPr>
          <p:cNvPr id="8" name="Text 6"/>
          <p:cNvSpPr txBox="1"/>
          <p:nvPr/>
        </p:nvSpPr>
        <p:spPr>
          <a:xfrm>
            <a:off x="731520" y="1554480"/>
            <a:ext cx="10698480" cy="100584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Standar Profesi</a:t>
            </a:r>
            <a:endParaRPr lang="en-US" sz="4800" dirty="0"/>
          </a:p>
        </p:txBody>
      </p:sp>
      <p:sp>
        <p:nvSpPr>
          <p:cNvPr id="9" name="Text 7"/>
          <p:cNvSpPr txBox="1"/>
          <p:nvPr/>
        </p:nvSpPr>
        <p:spPr>
          <a:xfrm>
            <a:off x="731520" y="2697480"/>
            <a:ext cx="10241280" cy="1188720"/>
          </a:xfrm>
          <a:prstGeom prst="rect">
            <a:avLst/>
          </a:prstGeom>
          <a:noFill/>
          <a:ln/>
        </p:spPr>
        <p:txBody>
          <a:bodyPr wrap="square" lIns="0" tIns="0" rIns="0" bIns="0" rtlCol="0" anchor="t"/>
          <a:lstStyle/>
          <a:p>
            <a:pPr indent="0" marL="0">
              <a:buNone/>
            </a:pPr>
            <a:r>
              <a:rPr lang="en-US" sz="2200" dirty="0">
                <a:solidFill>
                  <a:srgbClr val="DCE4F2"/>
                </a:solidFill>
                <a:latin typeface="Arial" pitchFamily="34" charset="0"/>
                <a:ea typeface="Arial" pitchFamily="34" charset="-122"/>
                <a:cs typeface="Arial" pitchFamily="34" charset="-120"/>
              </a:rPr>
              <a:t>Merumuskan kompetensi, integritas, sertifikasi, pendidikan berkelanjutan, dan kode etik kurator.</a:t>
            </a:r>
            <a:endParaRPr lang="en-US" sz="2200" dirty="0"/>
          </a:p>
        </p:txBody>
      </p:sp>
      <p:sp>
        <p:nvSpPr>
          <p:cNvPr id="10" name="Shape 8"/>
          <p:cNvSpPr/>
          <p:nvPr/>
        </p:nvSpPr>
        <p:spPr>
          <a:xfrm>
            <a:off x="731520" y="4160520"/>
            <a:ext cx="420624" cy="420624"/>
          </a:xfrm>
          <a:prstGeom prst="ellipse">
            <a:avLst/>
          </a:prstGeom>
          <a:solidFill>
            <a:srgbClr val="E0A526"/>
          </a:solidFill>
          <a:ln w="12700">
            <a:solidFill>
              <a:srgbClr val="E0A526"/>
            </a:solidFill>
            <a:prstDash val="solid"/>
          </a:ln>
        </p:spPr>
      </p:sp>
      <p:sp>
        <p:nvSpPr>
          <p:cNvPr id="11" name="Text 9"/>
          <p:cNvSpPr txBox="1"/>
          <p:nvPr/>
        </p:nvSpPr>
        <p:spPr>
          <a:xfrm>
            <a:off x="731520" y="4160520"/>
            <a:ext cx="420624" cy="420624"/>
          </a:xfrm>
          <a:prstGeom prst="rect">
            <a:avLst/>
          </a:prstGeom>
          <a:noFill/>
          <a:ln/>
        </p:spPr>
        <p:txBody>
          <a:bodyPr wrap="square" lIns="0" tIns="0" rIns="0" bIns="0" rtlCol="0" anchor="ctr"/>
          <a:lstStyle/>
          <a:p>
            <a:pPr algn="ctr" indent="0" marL="0">
              <a:buNone/>
            </a:pPr>
            <a:r>
              <a:rPr lang="en-US" sz="1500" b="1" dirty="0">
                <a:solidFill>
                  <a:srgbClr val="14284B"/>
                </a:solidFill>
                <a:latin typeface="Arial" pitchFamily="34" charset="0"/>
                <a:ea typeface="Arial" pitchFamily="34" charset="-122"/>
                <a:cs typeface="Arial" pitchFamily="34" charset="-120"/>
              </a:rPr>
              <a:t>3</a:t>
            </a:r>
            <a:endParaRPr lang="en-US" sz="1500" dirty="0"/>
          </a:p>
        </p:txBody>
      </p:sp>
      <p:sp>
        <p:nvSpPr>
          <p:cNvPr id="12" name="Text 10"/>
          <p:cNvSpPr txBox="1"/>
          <p:nvPr/>
        </p:nvSpPr>
        <p:spPr>
          <a:xfrm>
            <a:off x="1325880" y="4160520"/>
            <a:ext cx="9601200" cy="420624"/>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Kekosongan Rezim Profesi</a:t>
            </a:r>
            <a:endParaRPr lang="en-US" sz="1900" dirty="0"/>
          </a:p>
        </p:txBody>
      </p:sp>
      <p:sp>
        <p:nvSpPr>
          <p:cNvPr id="13" name="Shape 11"/>
          <p:cNvSpPr/>
          <p:nvPr/>
        </p:nvSpPr>
        <p:spPr>
          <a:xfrm>
            <a:off x="731520" y="4690872"/>
            <a:ext cx="420624" cy="420624"/>
          </a:xfrm>
          <a:prstGeom prst="ellipse">
            <a:avLst/>
          </a:prstGeom>
          <a:solidFill>
            <a:srgbClr val="E0A526"/>
          </a:solidFill>
          <a:ln w="12700">
            <a:solidFill>
              <a:srgbClr val="E0A526"/>
            </a:solidFill>
            <a:prstDash val="solid"/>
          </a:ln>
        </p:spPr>
      </p:sp>
      <p:sp>
        <p:nvSpPr>
          <p:cNvPr id="14" name="Text 12"/>
          <p:cNvSpPr txBox="1"/>
          <p:nvPr/>
        </p:nvSpPr>
        <p:spPr>
          <a:xfrm>
            <a:off x="731520" y="4690872"/>
            <a:ext cx="420624" cy="420624"/>
          </a:xfrm>
          <a:prstGeom prst="rect">
            <a:avLst/>
          </a:prstGeom>
          <a:noFill/>
          <a:ln/>
        </p:spPr>
        <p:txBody>
          <a:bodyPr wrap="square" lIns="0" tIns="0" rIns="0" bIns="0" rtlCol="0" anchor="ctr"/>
          <a:lstStyle/>
          <a:p>
            <a:pPr algn="ctr" indent="0" marL="0">
              <a:buNone/>
            </a:pPr>
            <a:r>
              <a:rPr lang="en-US" sz="1500" b="1" dirty="0">
                <a:solidFill>
                  <a:srgbClr val="14284B"/>
                </a:solidFill>
                <a:latin typeface="Arial" pitchFamily="34" charset="0"/>
                <a:ea typeface="Arial" pitchFamily="34" charset="-122"/>
                <a:cs typeface="Arial" pitchFamily="34" charset="-120"/>
              </a:rPr>
              <a:t>4</a:t>
            </a:r>
            <a:endParaRPr lang="en-US" sz="1500" dirty="0"/>
          </a:p>
        </p:txBody>
      </p:sp>
      <p:sp>
        <p:nvSpPr>
          <p:cNvPr id="15" name="Text 13"/>
          <p:cNvSpPr txBox="1"/>
          <p:nvPr/>
        </p:nvSpPr>
        <p:spPr>
          <a:xfrm>
            <a:off x="1325880" y="4690872"/>
            <a:ext cx="9601200" cy="420624"/>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Standar yang Terfragmentasi</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2200" b="1" dirty="0">
                <a:solidFill>
                  <a:srgbClr val="E0A526"/>
                </a:solidFill>
                <a:latin typeface="Arial" pitchFamily="34" charset="0"/>
                <a:ea typeface="Arial" pitchFamily="34" charset="-122"/>
                <a:cs typeface="Arial" pitchFamily="34" charset="-120"/>
              </a:rPr>
              <a:t>3, 4</a:t>
            </a:r>
            <a:endParaRPr lang="en-US" sz="2200" dirty="0"/>
          </a:p>
        </p:txBody>
      </p:sp>
      <p:sp>
        <p:nvSpPr>
          <p:cNvPr id="4" name="Text 2"/>
          <p:cNvSpPr txBox="1"/>
          <p:nvPr/>
        </p:nvSpPr>
        <p:spPr>
          <a:xfrm>
            <a:off x="1783080" y="411480"/>
            <a:ext cx="9859975" cy="960120"/>
          </a:xfrm>
          <a:prstGeom prst="rect">
            <a:avLst/>
          </a:prstGeom>
          <a:noFill/>
          <a:ln/>
        </p:spPr>
        <p:txBody>
          <a:bodyPr wrap="square" lIns="0" tIns="0" rIns="0" bIns="0" rtlCol="0" anchor="ctr"/>
          <a:lstStyle/>
          <a:p>
            <a:pPr indent="0" marL="0">
              <a:buNone/>
            </a:pPr>
            <a:r>
              <a:rPr lang="en-US" sz="3400" b="1" dirty="0">
                <a:solidFill>
                  <a:srgbClr val="14284B"/>
                </a:solidFill>
                <a:latin typeface="Arial" pitchFamily="34" charset="0"/>
                <a:ea typeface="Arial" pitchFamily="34" charset="-122"/>
                <a:cs typeface="Arial" pitchFamily="34" charset="-120"/>
              </a:rPr>
              <a:t>Kekosongan Rezim Profesi dan Standar yang Terfragmentasi</a:t>
            </a:r>
            <a:endParaRPr lang="en-US" sz="3400" dirty="0"/>
          </a:p>
        </p:txBody>
      </p:sp>
      <p:sp>
        <p:nvSpPr>
          <p:cNvPr id="5" name="Shape 3"/>
          <p:cNvSpPr/>
          <p:nvPr/>
        </p:nvSpPr>
        <p:spPr>
          <a:xfrm>
            <a:off x="548640" y="1600200"/>
            <a:ext cx="5349240" cy="2331720"/>
          </a:xfrm>
          <a:prstGeom prst="roundRect">
            <a:avLst>
              <a:gd name="adj" fmla="val 4706"/>
            </a:avLst>
          </a:prstGeom>
          <a:solidFill>
            <a:srgbClr val="EEF2F8"/>
          </a:solidFill>
          <a:ln w="12700">
            <a:solidFill>
              <a:srgbClr val="EEF2F8"/>
            </a:solidFill>
            <a:prstDash val="solid"/>
          </a:ln>
        </p:spPr>
      </p:sp>
      <p:pic>
        <p:nvPicPr>
          <p:cNvPr id="6" name="Image 0" descr="preencoded.png">    </p:cNvPr>
          <p:cNvPicPr>
            <a:picLocks noChangeAspect="1"/>
          </p:cNvPicPr>
          <p:nvPr/>
        </p:nvPicPr>
        <p:blipFill>
          <a:blip r:embed="rId1"/>
          <a:stretch>
            <a:fillRect/>
          </a:stretch>
        </p:blipFill>
        <p:spPr>
          <a:xfrm>
            <a:off x="822960" y="1810512"/>
            <a:ext cx="548640" cy="548640"/>
          </a:xfrm>
          <a:prstGeom prst="rect">
            <a:avLst/>
          </a:prstGeom>
        </p:spPr>
      </p:pic>
      <p:sp>
        <p:nvSpPr>
          <p:cNvPr id="7" name="Text 4"/>
          <p:cNvSpPr txBox="1"/>
          <p:nvPr/>
        </p:nvSpPr>
        <p:spPr>
          <a:xfrm>
            <a:off x="1554480" y="1783080"/>
            <a:ext cx="4114800" cy="594360"/>
          </a:xfrm>
          <a:prstGeom prst="rect">
            <a:avLst/>
          </a:prstGeom>
          <a:noFill/>
          <a:ln/>
        </p:spPr>
        <p:txBody>
          <a:bodyPr wrap="square" lIns="0" tIns="0" rIns="0" bIns="0" rtlCol="0" anchor="ctr"/>
          <a:lstStyle/>
          <a:p>
            <a:pPr indent="0" marL="0">
              <a:buNone/>
            </a:pPr>
            <a:r>
              <a:rPr lang="en-US" sz="2400" b="1" dirty="0">
                <a:solidFill>
                  <a:srgbClr val="14284B"/>
                </a:solidFill>
                <a:latin typeface="Arial" pitchFamily="34" charset="0"/>
                <a:ea typeface="Arial" pitchFamily="34" charset="-122"/>
                <a:cs typeface="Arial" pitchFamily="34" charset="-120"/>
              </a:rPr>
              <a:t>Kurator Perseorangan</a:t>
            </a:r>
            <a:endParaRPr lang="en-US" sz="2400" dirty="0"/>
          </a:p>
        </p:txBody>
      </p:sp>
      <p:sp>
        <p:nvSpPr>
          <p:cNvPr id="8" name="Text 5"/>
          <p:cNvSpPr txBox="1"/>
          <p:nvPr/>
        </p:nvSpPr>
        <p:spPr>
          <a:xfrm>
            <a:off x="822960" y="2468880"/>
            <a:ext cx="4800600" cy="1371600"/>
          </a:xfrm>
          <a:prstGeom prst="rect">
            <a:avLst/>
          </a:prstGeom>
          <a:noFill/>
          <a:ln/>
        </p:spPr>
        <p:txBody>
          <a:bodyPr wrap="square" lIns="0" tIns="0" rIns="0" bIns="0" rtlCol="0" anchor="t"/>
          <a:lstStyle/>
          <a:p>
            <a:pPr indent="0" marL="0">
              <a:buNone/>
            </a:pPr>
            <a:r>
              <a:rPr lang="en-US" sz="2100" dirty="0">
                <a:solidFill>
                  <a:srgbClr val="1A1A1A"/>
                </a:solidFill>
                <a:latin typeface="Arial" pitchFamily="34" charset="0"/>
                <a:ea typeface="Arial" pitchFamily="34" charset="-122"/>
                <a:cs typeface="Arial" pitchFamily="34" charset="-120"/>
              </a:rPr>
              <a:t>Bagi Kurator Perseorangan, hal tersebut dilaksanakan oleh organisasi profesi.</a:t>
            </a:r>
            <a:endParaRPr lang="en-US" sz="2100" dirty="0"/>
          </a:p>
        </p:txBody>
      </p:sp>
      <p:sp>
        <p:nvSpPr>
          <p:cNvPr id="9" name="Shape 6"/>
          <p:cNvSpPr/>
          <p:nvPr/>
        </p:nvSpPr>
        <p:spPr>
          <a:xfrm>
            <a:off x="6291072" y="1600200"/>
            <a:ext cx="5349240" cy="2331720"/>
          </a:xfrm>
          <a:prstGeom prst="roundRect">
            <a:avLst>
              <a:gd name="adj" fmla="val 4706"/>
            </a:avLst>
          </a:prstGeom>
          <a:solidFill>
            <a:srgbClr val="EEF2F8"/>
          </a:solidFill>
          <a:ln w="12700">
            <a:solidFill>
              <a:srgbClr val="EEF2F8"/>
            </a:solidFill>
            <a:prstDash val="solid"/>
          </a:ln>
        </p:spPr>
      </p:sp>
      <p:pic>
        <p:nvPicPr>
          <p:cNvPr id="10" name="Image 1" descr="preencoded.png">    </p:cNvPr>
          <p:cNvPicPr>
            <a:picLocks noChangeAspect="1"/>
          </p:cNvPicPr>
          <p:nvPr/>
        </p:nvPicPr>
        <p:blipFill>
          <a:blip r:embed="rId2"/>
          <a:stretch>
            <a:fillRect/>
          </a:stretch>
        </p:blipFill>
        <p:spPr>
          <a:xfrm>
            <a:off x="6565392" y="1810512"/>
            <a:ext cx="548640" cy="548640"/>
          </a:xfrm>
          <a:prstGeom prst="rect">
            <a:avLst/>
          </a:prstGeom>
        </p:spPr>
      </p:pic>
      <p:sp>
        <p:nvSpPr>
          <p:cNvPr id="11" name="Text 7"/>
          <p:cNvSpPr txBox="1"/>
          <p:nvPr/>
        </p:nvSpPr>
        <p:spPr>
          <a:xfrm>
            <a:off x="7296912" y="1783080"/>
            <a:ext cx="4114800" cy="594360"/>
          </a:xfrm>
          <a:prstGeom prst="rect">
            <a:avLst/>
          </a:prstGeom>
          <a:noFill/>
          <a:ln/>
        </p:spPr>
        <p:txBody>
          <a:bodyPr wrap="square" lIns="0" tIns="0" rIns="0" bIns="0" rtlCol="0" anchor="ctr"/>
          <a:lstStyle/>
          <a:p>
            <a:pPr indent="0" marL="0">
              <a:buNone/>
            </a:pPr>
            <a:r>
              <a:rPr lang="en-US" sz="2400" b="1" dirty="0">
                <a:solidFill>
                  <a:srgbClr val="14284B"/>
                </a:solidFill>
                <a:latin typeface="Arial" pitchFamily="34" charset="0"/>
                <a:ea typeface="Arial" pitchFamily="34" charset="-122"/>
                <a:cs typeface="Arial" pitchFamily="34" charset="-120"/>
              </a:rPr>
              <a:t>Kurator Negara</a:t>
            </a:r>
            <a:endParaRPr lang="en-US" sz="2400" dirty="0"/>
          </a:p>
        </p:txBody>
      </p:sp>
      <p:sp>
        <p:nvSpPr>
          <p:cNvPr id="12" name="Text 8"/>
          <p:cNvSpPr txBox="1"/>
          <p:nvPr/>
        </p:nvSpPr>
        <p:spPr>
          <a:xfrm>
            <a:off x="6565392" y="2468880"/>
            <a:ext cx="4800600" cy="1371600"/>
          </a:xfrm>
          <a:prstGeom prst="rect">
            <a:avLst/>
          </a:prstGeom>
          <a:noFill/>
          <a:ln/>
        </p:spPr>
        <p:txBody>
          <a:bodyPr wrap="square" lIns="0" tIns="0" rIns="0" bIns="0" rtlCol="0" anchor="t"/>
          <a:lstStyle/>
          <a:p>
            <a:pPr indent="0" marL="0">
              <a:buNone/>
            </a:pPr>
            <a:r>
              <a:rPr lang="en-US" sz="2100" dirty="0">
                <a:solidFill>
                  <a:srgbClr val="1A1A1A"/>
                </a:solidFill>
                <a:latin typeface="Arial" pitchFamily="34" charset="0"/>
                <a:ea typeface="Arial" pitchFamily="34" charset="-122"/>
                <a:cs typeface="Arial" pitchFamily="34" charset="-120"/>
              </a:rPr>
              <a:t>Bagi Kurator Negara, hal tersebut dilaksanakan oleh Kementerian Hukum karena pejabat Kurator Keperdataan merupakan Aparatur Sipil Negara.</a:t>
            </a:r>
            <a:endParaRPr lang="en-US" sz="2100" dirty="0"/>
          </a:p>
        </p:txBody>
      </p:sp>
      <p:sp>
        <p:nvSpPr>
          <p:cNvPr id="13" name="Text 9"/>
          <p:cNvSpPr txBox="1"/>
          <p:nvPr/>
        </p:nvSpPr>
        <p:spPr>
          <a:xfrm>
            <a:off x="548640" y="4160520"/>
            <a:ext cx="11091672" cy="2011680"/>
          </a:xfrm>
          <a:prstGeom prst="rect">
            <a:avLst/>
          </a:prstGeom>
          <a:noFill/>
          <a:ln/>
        </p:spPr>
        <p:txBody>
          <a:bodyPr wrap="square" lIns="0" tIns="0" rIns="0" bIns="0" rtlCol="0" anchor="ctr"/>
          <a:lstStyle/>
          <a:p>
            <a:pPr indent="0" marL="0">
              <a:buNone/>
            </a:pPr>
            <a:r>
              <a:rPr lang="en-US" sz="2300" dirty="0">
                <a:solidFill>
                  <a:srgbClr val="1A1A1A"/>
                </a:solidFill>
                <a:latin typeface="Arial" pitchFamily="34" charset="0"/>
                <a:ea typeface="Arial" pitchFamily="34" charset="-122"/>
                <a:cs typeface="Arial" pitchFamily="34" charset="-120"/>
              </a:rPr>
              <a:t>RUU perlu membentuk </a:t>
            </a:r>
            <a:pPr indent="0" marL="0">
              <a:buNone/>
            </a:pPr>
            <a:r>
              <a:rPr lang="en-US" sz="2300" b="1" dirty="0">
                <a:solidFill>
                  <a:srgbClr val="14284B"/>
                </a:solidFill>
                <a:latin typeface="Arial" pitchFamily="34" charset="0"/>
                <a:ea typeface="Arial" pitchFamily="34" charset="-122"/>
                <a:cs typeface="Arial" pitchFamily="34" charset="-120"/>
              </a:rPr>
              <a:t>Majelis Pengawas Kurator</a:t>
            </a:r>
            <a:pPr indent="0" marL="0">
              <a:buNone/>
            </a:pPr>
            <a:r>
              <a:rPr lang="en-US" sz="2300" dirty="0">
                <a:solidFill>
                  <a:srgbClr val="1A1A1A"/>
                </a:solidFill>
                <a:latin typeface="Arial" pitchFamily="34" charset="0"/>
                <a:ea typeface="Arial" pitchFamily="34" charset="-122"/>
                <a:cs typeface="Arial" pitchFamily="34" charset="-120"/>
              </a:rPr>
              <a:t> yang terdiri atas unsur pemerintah, organisasi profesi, dan akademisi. Seluruh organisasi profesi wajib berpedoman pada </a:t>
            </a:r>
            <a:pPr indent="0" marL="0">
              <a:buNone/>
            </a:pPr>
            <a:r>
              <a:rPr lang="en-US" sz="2300" b="1" dirty="0">
                <a:solidFill>
                  <a:srgbClr val="14284B"/>
                </a:solidFill>
                <a:latin typeface="Arial" pitchFamily="34" charset="0"/>
                <a:ea typeface="Arial" pitchFamily="34" charset="-122"/>
                <a:cs typeface="Arial" pitchFamily="34" charset="-120"/>
              </a:rPr>
              <a:t>satu standar profesi nasional</a:t>
            </a:r>
            <a:pPr indent="0" marL="0">
              <a:buNone/>
            </a:pPr>
            <a:r>
              <a:rPr lang="en-US" sz="2300" dirty="0">
                <a:solidFill>
                  <a:srgbClr val="1A1A1A"/>
                </a:solidFill>
                <a:latin typeface="Arial" pitchFamily="34" charset="0"/>
                <a:ea typeface="Arial" pitchFamily="34" charset="-122"/>
                <a:cs typeface="Arial" pitchFamily="34" charset="-120"/>
              </a:rPr>
              <a:t> yang ditetapkan oleh Menteri. Seluruh kurator berada di bawah pengawasan Majelis Pengawas Kurator yang sama.</a:t>
            </a:r>
            <a:endParaRPr lang="en-US" sz="2300" dirty="0"/>
          </a:p>
        </p:txBody>
      </p:sp>
      <p:sp>
        <p:nvSpPr>
          <p:cNvPr id="14" name="Text 10"/>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15" name="Text 11"/>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16</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3</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5 · USULAN RUMUSAN PASAL  (1/2)</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Pembinaan Profesi dan Majelis Pengawas Kurator</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3840480"/>
        </p:xfrm>
        <a:graphic>
          <a:graphicData uri="http://schemas.openxmlformats.org/drawingml/2006/table">
            <a:tbl>
              <a:tblPr/>
              <a:tblGrid>
                <a:gridCol w="731520"/>
                <a:gridCol w="594360"/>
                <a:gridCol w="9308592"/>
              </a:tblGrid>
              <a:tr h="438912">
                <a:tc gridSpan="3">
                  <a:txBody>
                    <a:bodyPr/>
                    <a:lstStyle/>
                    <a:p>
                      <a:pPr algn="ctr" indent="0" marL="0">
                        <a:buNone/>
                      </a:pPr>
                      <a:r>
                        <a:rPr lang="en-US" sz="2100" b="1" dirty="0">
                          <a:solidFill>
                            <a:srgbClr val="14284B"/>
                          </a:solidFill>
                          <a:latin typeface="Arial" pitchFamily="34" charset="0"/>
                          <a:ea typeface="Arial" pitchFamily="34" charset="-122"/>
                          <a:cs typeface="Arial" pitchFamily="34" charset="-120"/>
                        </a:rPr>
                        <a:t>Pasal …</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c hMerge="1">
                  <a:tcPr/>
                </a:tc>
              </a:tr>
              <a:tr h="1097280">
                <a:tc>
                  <a:txBody>
                    <a:bodyPr/>
                    <a:lstStyle/>
                    <a:p>
                      <a:pPr indent="0" marL="0">
                        <a:buNone/>
                      </a:pPr>
                      <a:r>
                        <a:rPr lang="en-US" sz="2100" b="1" dirty="0">
                          <a:solidFill>
                            <a:srgbClr val="14284B"/>
                          </a:solidFill>
                          <a:latin typeface="Arial" pitchFamily="34" charset="0"/>
                          <a:ea typeface="Arial" pitchFamily="34" charset="-122"/>
                          <a:cs typeface="Arial" pitchFamily="34" charset="-120"/>
                        </a:rPr>
                        <a:t>(1)</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Pendidikan, sertifikasi, registrasi, kode etik, disiplin, asuransi, dan perlindungan hukum bagi Kurator Perseorangan dan Pengurus Perseorangan </a:t>
                      </a:r>
                      <a:pPr indent="0" marL="0">
                        <a:buNone/>
                      </a:pPr>
                      <a:r>
                        <a:rPr lang="en-US" sz="2100" b="1" dirty="0">
                          <a:solidFill>
                            <a:srgbClr val="14284B"/>
                          </a:solidFill>
                          <a:latin typeface="Arial" pitchFamily="34" charset="0"/>
                          <a:ea typeface="Arial" pitchFamily="34" charset="-122"/>
                          <a:cs typeface="Arial" pitchFamily="34" charset="-120"/>
                        </a:rPr>
                        <a:t>dilaksanakan oleh Organisasi Profesi</a:t>
                      </a:r>
                      <a:pPr indent="0" marL="0">
                        <a:buNone/>
                      </a:pPr>
                      <a:r>
                        <a:rPr lang="en-US" sz="2100" dirty="0">
                          <a:solidFill>
                            <a:srgbClr val="1A1A1A"/>
                          </a:solidFill>
                          <a:latin typeface="Arial" pitchFamily="34" charset="0"/>
                          <a:ea typeface="Arial" pitchFamily="34" charset="-122"/>
                          <a:cs typeface="Arial" pitchFamily="34" charset="-120"/>
                        </a:rPr>
                        <a:t>.</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1426464">
                <a:tc>
                  <a:txBody>
                    <a:bodyPr/>
                    <a:lstStyle/>
                    <a:p>
                      <a:pPr indent="0" marL="0">
                        <a:buNone/>
                      </a:pPr>
                      <a:r>
                        <a:rPr lang="en-US" sz="2100" b="1" dirty="0">
                          <a:solidFill>
                            <a:srgbClr val="14284B"/>
                          </a:solidFill>
                          <a:latin typeface="Arial" pitchFamily="34" charset="0"/>
                          <a:ea typeface="Arial" pitchFamily="34" charset="-122"/>
                          <a:cs typeface="Arial" pitchFamily="34" charset="-120"/>
                        </a:rPr>
                        <a:t>(2)</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Pendidikan, pengembangan kompetensi, disiplin, dan perlindungan hukum bagi pejabat Kurator Keperdataan </a:t>
                      </a:r>
                      <a:pPr indent="0" marL="0">
                        <a:buNone/>
                      </a:pPr>
                      <a:r>
                        <a:rPr lang="en-US" sz="2100" b="1" dirty="0">
                          <a:solidFill>
                            <a:srgbClr val="14284B"/>
                          </a:solidFill>
                          <a:latin typeface="Arial" pitchFamily="34" charset="0"/>
                          <a:ea typeface="Arial" pitchFamily="34" charset="-122"/>
                          <a:cs typeface="Arial" pitchFamily="34" charset="-120"/>
                        </a:rPr>
                        <a:t>dilaksanakan oleh Menteri</a:t>
                      </a:r>
                      <a:pPr indent="0" marL="0">
                        <a:buNone/>
                      </a:pPr>
                      <a:r>
                        <a:rPr lang="en-US" sz="2100" dirty="0">
                          <a:solidFill>
                            <a:srgbClr val="1A1A1A"/>
                          </a:solidFill>
                          <a:latin typeface="Arial" pitchFamily="34" charset="0"/>
                          <a:ea typeface="Arial" pitchFamily="34" charset="-122"/>
                          <a:cs typeface="Arial" pitchFamily="34" charset="-120"/>
                        </a:rPr>
                        <a:t> sesuai dengan ketentuan peraturan perundang-undangan di bidang aparatur sipil negara.</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438912">
                <a:tc gridSpan="3">
                  <a:txBody>
                    <a:bodyPr/>
                    <a:lstStyle/>
                    <a:p>
                      <a:pPr algn="ctr" indent="0" marL="0">
                        <a:buNone/>
                      </a:pPr>
                      <a:r>
                        <a:rPr lang="en-US" sz="2100" b="1" dirty="0">
                          <a:solidFill>
                            <a:srgbClr val="14284B"/>
                          </a:solidFill>
                          <a:latin typeface="Arial" pitchFamily="34" charset="0"/>
                          <a:ea typeface="Arial" pitchFamily="34" charset="-122"/>
                          <a:cs typeface="Arial" pitchFamily="34" charset="-120"/>
                        </a:rPr>
                        <a:t>Pasal …</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c hMerge="1">
                  <a:tcPr/>
                </a:tc>
              </a:tr>
              <a:tr h="438912">
                <a:tc>
                  <a:txBody>
                    <a:bodyPr/>
                    <a:lstStyle/>
                    <a:p>
                      <a:pPr indent="0" marL="0">
                        <a:buNone/>
                      </a:pPr>
                      <a:r>
                        <a:rPr lang="en-US" sz="2100" b="1" dirty="0">
                          <a:solidFill>
                            <a:srgbClr val="14284B"/>
                          </a:solidFill>
                          <a:latin typeface="Arial" pitchFamily="34" charset="0"/>
                          <a:ea typeface="Arial" pitchFamily="34" charset="-122"/>
                          <a:cs typeface="Arial" pitchFamily="34" charset="-120"/>
                        </a:rPr>
                        <a:t>(1)</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b="1" dirty="0">
                          <a:solidFill>
                            <a:srgbClr val="14284B"/>
                          </a:solidFill>
                          <a:latin typeface="Arial" pitchFamily="34" charset="0"/>
                          <a:ea typeface="Arial" pitchFamily="34" charset="-122"/>
                          <a:cs typeface="Arial" pitchFamily="34" charset="-120"/>
                        </a:rPr>
                        <a:t>Menteri membentuk Majelis Pengawas Kurator.</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17</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3</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5 · USULAN RUMUSAN PASAL  (2/2)</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Pembinaan Profesi dan Majelis Pengawas Kurator</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3840480"/>
        </p:xfrm>
        <a:graphic>
          <a:graphicData uri="http://schemas.openxmlformats.org/drawingml/2006/table">
            <a:tbl>
              <a:tblPr/>
              <a:tblGrid>
                <a:gridCol w="731520"/>
                <a:gridCol w="594360"/>
                <a:gridCol w="9308592"/>
              </a:tblGrid>
              <a:tr h="768096">
                <a:tc>
                  <a:txBody>
                    <a:bodyPr/>
                    <a:lstStyle/>
                    <a:p>
                      <a:pPr indent="0" marL="0">
                        <a:buNone/>
                      </a:pPr>
                      <a:r>
                        <a:rPr lang="en-US" sz="2100" b="1" dirty="0">
                          <a:solidFill>
                            <a:srgbClr val="14284B"/>
                          </a:solidFill>
                          <a:latin typeface="Arial" pitchFamily="34" charset="0"/>
                          <a:ea typeface="Arial" pitchFamily="34" charset="-122"/>
                          <a:cs typeface="Arial" pitchFamily="34" charset="-120"/>
                        </a:rPr>
                        <a:t>(2)</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Majelis Pengawas Kurator terdiri atas unsur: a. pemerintah; b. Organisasi Profesi; dan c. akademisi.</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438912">
                <a:tc>
                  <a:txBody>
                    <a:bodyPr/>
                    <a:lstStyle/>
                    <a:p>
                      <a:pPr indent="0" marL="0">
                        <a:buNone/>
                      </a:pPr>
                      <a:r>
                        <a:rPr lang="en-US" sz="2100" b="1" dirty="0">
                          <a:solidFill>
                            <a:srgbClr val="14284B"/>
                          </a:solidFill>
                          <a:latin typeface="Arial" pitchFamily="34" charset="0"/>
                          <a:ea typeface="Arial" pitchFamily="34" charset="-122"/>
                          <a:cs typeface="Arial" pitchFamily="34" charset="-120"/>
                        </a:rPr>
                        <a:t>(3)</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Majelis Pengawas Kurator bertugas:</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768096">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a.</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dirty="0">
                          <a:solidFill>
                            <a:srgbClr val="1A1A1A"/>
                          </a:solidFill>
                          <a:latin typeface="Arial" pitchFamily="34" charset="0"/>
                          <a:ea typeface="Arial" pitchFamily="34" charset="-122"/>
                          <a:cs typeface="Arial" pitchFamily="34" charset="-120"/>
                        </a:rPr>
                        <a:t>melaksanakan pengawasan teknis dan administratif terhadap pelaksanaan tugas Kurator dan Pengurus;</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r>
              <a:tr h="768096">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b.</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dirty="0">
                          <a:solidFill>
                            <a:srgbClr val="1A1A1A"/>
                          </a:solidFill>
                          <a:latin typeface="Arial" pitchFamily="34" charset="0"/>
                          <a:ea typeface="Arial" pitchFamily="34" charset="-122"/>
                          <a:cs typeface="Arial" pitchFamily="34" charset="-120"/>
                        </a:rPr>
                        <a:t>menerima dan memeriksa pengaduan terhadap Kurator dan Pengurus; dan</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r>
              <a:tr h="1097280">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c.</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dirty="0">
                          <a:solidFill>
                            <a:srgbClr val="1A1A1A"/>
                          </a:solidFill>
                          <a:latin typeface="Arial" pitchFamily="34" charset="0"/>
                          <a:ea typeface="Arial" pitchFamily="34" charset="-122"/>
                          <a:cs typeface="Arial" pitchFamily="34" charset="-120"/>
                        </a:rPr>
                        <a:t>menjatuhkan sanksi administratif kepada Kurator Perseorangan dan Pengurus Perseorangan, atau menyampaikan rekomendasi kepada Menteri dalam hal pelanggaran dilakukan oleh pejabat Kurator Keperdataan.</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18</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4</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6 · USULAN RUMUSAN PASAL  (1/2)</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Standar Profesi Nasional</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3950208"/>
        </p:xfrm>
        <a:graphic>
          <a:graphicData uri="http://schemas.openxmlformats.org/drawingml/2006/table">
            <a:tbl>
              <a:tblPr/>
              <a:tblGrid>
                <a:gridCol w="731520"/>
                <a:gridCol w="594360"/>
                <a:gridCol w="9308592"/>
              </a:tblGrid>
              <a:tr h="438912">
                <a:tc gridSpan="3">
                  <a:txBody>
                    <a:bodyPr/>
                    <a:lstStyle/>
                    <a:p>
                      <a:pPr algn="ctr" indent="0" marL="0">
                        <a:buNone/>
                      </a:pPr>
                      <a:r>
                        <a:rPr lang="en-US" sz="2100" b="1" dirty="0">
                          <a:solidFill>
                            <a:srgbClr val="14284B"/>
                          </a:solidFill>
                          <a:latin typeface="Arial" pitchFamily="34" charset="0"/>
                          <a:ea typeface="Arial" pitchFamily="34" charset="-122"/>
                          <a:cs typeface="Arial" pitchFamily="34" charset="-120"/>
                        </a:rPr>
                        <a:t>Pasal …</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c hMerge="1">
                  <a:tcPr/>
                </a:tc>
              </a:tr>
              <a:tr h="1426464">
                <a:tc>
                  <a:txBody>
                    <a:bodyPr/>
                    <a:lstStyle/>
                    <a:p>
                      <a:pPr indent="0" marL="0">
                        <a:buNone/>
                      </a:pPr>
                      <a:r>
                        <a:rPr lang="en-US" sz="2100" b="1" dirty="0">
                          <a:solidFill>
                            <a:srgbClr val="14284B"/>
                          </a:solidFill>
                          <a:latin typeface="Arial" pitchFamily="34" charset="0"/>
                          <a:ea typeface="Arial" pitchFamily="34" charset="-122"/>
                          <a:cs typeface="Arial" pitchFamily="34" charset="-120"/>
                        </a:rPr>
                        <a:t>(1)</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Dalam melaksanakan pendidikan, sertifikasi, registrasi, kode etik, dan disiplin, Organisasi Profesi </a:t>
                      </a:r>
                      <a:pPr indent="0" marL="0">
                        <a:buNone/>
                      </a:pPr>
                      <a:r>
                        <a:rPr lang="en-US" sz="2100" b="1" dirty="0">
                          <a:solidFill>
                            <a:srgbClr val="14284B"/>
                          </a:solidFill>
                          <a:latin typeface="Arial" pitchFamily="34" charset="0"/>
                          <a:ea typeface="Arial" pitchFamily="34" charset="-122"/>
                          <a:cs typeface="Arial" pitchFamily="34" charset="-120"/>
                        </a:rPr>
                        <a:t>wajib berpedoman pada standar profesi nasional</a:t>
                      </a:r>
                      <a:pPr indent="0" marL="0">
                        <a:buNone/>
                      </a:pPr>
                      <a:r>
                        <a:rPr lang="en-US" sz="2100" dirty="0">
                          <a:solidFill>
                            <a:srgbClr val="1A1A1A"/>
                          </a:solidFill>
                          <a:latin typeface="Arial" pitchFamily="34" charset="0"/>
                          <a:ea typeface="Arial" pitchFamily="34" charset="-122"/>
                          <a:cs typeface="Arial" pitchFamily="34" charset="-120"/>
                        </a:rPr>
                        <a:t> yang ditetapkan oleh Menteri setelah mendengar pertimbangan Organisasi Profesi dan Majelis Pengawas Kurator.</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768096">
                <a:tc>
                  <a:txBody>
                    <a:bodyPr/>
                    <a:lstStyle/>
                    <a:p>
                      <a:pPr indent="0" marL="0">
                        <a:buNone/>
                      </a:pPr>
                      <a:r>
                        <a:rPr lang="en-US" sz="2100" b="1" dirty="0">
                          <a:solidFill>
                            <a:srgbClr val="14284B"/>
                          </a:solidFill>
                          <a:latin typeface="Arial" pitchFamily="34" charset="0"/>
                          <a:ea typeface="Arial" pitchFamily="34" charset="-122"/>
                          <a:cs typeface="Arial" pitchFamily="34" charset="-120"/>
                        </a:rPr>
                        <a:t>(2)</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Standar profesi nasional sebagaimana dimaksud pada ayat (1) paling sedikit meliputi:</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438912">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a.</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dirty="0">
                          <a:solidFill>
                            <a:srgbClr val="1A1A1A"/>
                          </a:solidFill>
                          <a:latin typeface="Arial" pitchFamily="34" charset="0"/>
                          <a:ea typeface="Arial" pitchFamily="34" charset="-122"/>
                          <a:cs typeface="Arial" pitchFamily="34" charset="-120"/>
                        </a:rPr>
                        <a:t>kurikulum pendidikan profesi;</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r>
              <a:tr h="438912">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b.</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dirty="0">
                          <a:solidFill>
                            <a:srgbClr val="1A1A1A"/>
                          </a:solidFill>
                          <a:latin typeface="Arial" pitchFamily="34" charset="0"/>
                          <a:ea typeface="Arial" pitchFamily="34" charset="-122"/>
                          <a:cs typeface="Arial" pitchFamily="34" charset="-120"/>
                        </a:rPr>
                        <a:t>materi dan tata cara ujian profesi;</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r>
              <a:tr h="438912">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c.</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dirty="0">
                          <a:solidFill>
                            <a:srgbClr val="1A1A1A"/>
                          </a:solidFill>
                          <a:latin typeface="Arial" pitchFamily="34" charset="0"/>
                          <a:ea typeface="Arial" pitchFamily="34" charset="-122"/>
                          <a:cs typeface="Arial" pitchFamily="34" charset="-120"/>
                        </a:rPr>
                        <a:t>kode etik;</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19</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4</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6 · USULAN RUMUSAN PASAL  (2/2)</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Standar Profesi Nasional</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877824"/>
        </p:xfrm>
        <a:graphic>
          <a:graphicData uri="http://schemas.openxmlformats.org/drawingml/2006/table">
            <a:tbl>
              <a:tblPr/>
              <a:tblGrid>
                <a:gridCol w="731520"/>
                <a:gridCol w="594360"/>
                <a:gridCol w="9308592"/>
              </a:tblGrid>
              <a:tr h="438912">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d.</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dirty="0">
                          <a:solidFill>
                            <a:srgbClr val="1A1A1A"/>
                          </a:solidFill>
                          <a:latin typeface="Arial" pitchFamily="34" charset="0"/>
                          <a:ea typeface="Arial" pitchFamily="34" charset="-122"/>
                          <a:cs typeface="Arial" pitchFamily="34" charset="-120"/>
                        </a:rPr>
                        <a:t>standar pelaksanaan tugas; dan</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r>
              <a:tr h="438912">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e.</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dirty="0">
                          <a:solidFill>
                            <a:srgbClr val="1A1A1A"/>
                          </a:solidFill>
                          <a:latin typeface="Arial" pitchFamily="34" charset="0"/>
                          <a:ea typeface="Arial" pitchFamily="34" charset="-122"/>
                          <a:cs typeface="Arial" pitchFamily="34" charset="-120"/>
                        </a:rPr>
                        <a:t>jenis sanksi dan tata cara penjatuhannya.</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20</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284B"/>
        </a:solidFill>
      </p:bgPr>
    </p:bg>
    <p:spTree>
      <p:nvGrpSpPr>
        <p:cNvPr id="1" name=""/>
        <p:cNvGrpSpPr/>
        <p:nvPr/>
      </p:nvGrpSpPr>
      <p:grpSpPr>
        <a:xfrm>
          <a:off x="0" y="0"/>
          <a:ext cx="0" cy="0"/>
          <a:chOff x="0" y="0"/>
          <a:chExt cx="0" cy="0"/>
        </a:xfrm>
      </p:grpSpPr>
      <p:sp>
        <p:nvSpPr>
          <p:cNvPr id="2" name="Shape 0"/>
          <p:cNvSpPr/>
          <p:nvPr/>
        </p:nvSpPr>
        <p:spPr>
          <a:xfrm>
            <a:off x="731520" y="548640"/>
            <a:ext cx="2011680" cy="73152"/>
          </a:xfrm>
          <a:prstGeom prst="roundRect">
            <a:avLst>
              <a:gd name="adj" fmla="val 50000"/>
            </a:avLst>
          </a:prstGeom>
          <a:solidFill>
            <a:srgbClr val="8A7A4A"/>
          </a:solidFill>
          <a:ln w="12700">
            <a:solidFill>
              <a:srgbClr val="8A7A4A"/>
            </a:solidFill>
            <a:prstDash val="solid"/>
          </a:ln>
        </p:spPr>
      </p:sp>
      <p:sp>
        <p:nvSpPr>
          <p:cNvPr id="3" name="Shape 1"/>
          <p:cNvSpPr/>
          <p:nvPr/>
        </p:nvSpPr>
        <p:spPr>
          <a:xfrm>
            <a:off x="2907792" y="548640"/>
            <a:ext cx="2011680" cy="73152"/>
          </a:xfrm>
          <a:prstGeom prst="roundRect">
            <a:avLst>
              <a:gd name="adj" fmla="val 50000"/>
            </a:avLst>
          </a:prstGeom>
          <a:solidFill>
            <a:srgbClr val="8A7A4A"/>
          </a:solidFill>
          <a:ln w="12700">
            <a:solidFill>
              <a:srgbClr val="8A7A4A"/>
            </a:solidFill>
            <a:prstDash val="solid"/>
          </a:ln>
        </p:spPr>
      </p:sp>
      <p:sp>
        <p:nvSpPr>
          <p:cNvPr id="4" name="Shape 2"/>
          <p:cNvSpPr/>
          <p:nvPr/>
        </p:nvSpPr>
        <p:spPr>
          <a:xfrm>
            <a:off x="5084064" y="548640"/>
            <a:ext cx="2011680" cy="73152"/>
          </a:xfrm>
          <a:prstGeom prst="roundRect">
            <a:avLst>
              <a:gd name="adj" fmla="val 50000"/>
            </a:avLst>
          </a:prstGeom>
          <a:solidFill>
            <a:srgbClr val="E0A526"/>
          </a:solidFill>
          <a:ln w="12700">
            <a:solidFill>
              <a:srgbClr val="E0A526"/>
            </a:solidFill>
            <a:prstDash val="solid"/>
          </a:ln>
        </p:spPr>
      </p:sp>
      <p:sp>
        <p:nvSpPr>
          <p:cNvPr id="5" name="Shape 3"/>
          <p:cNvSpPr/>
          <p:nvPr/>
        </p:nvSpPr>
        <p:spPr>
          <a:xfrm>
            <a:off x="7260336" y="548640"/>
            <a:ext cx="2011680" cy="73152"/>
          </a:xfrm>
          <a:prstGeom prst="roundRect">
            <a:avLst>
              <a:gd name="adj" fmla="val 50000"/>
            </a:avLst>
          </a:prstGeom>
          <a:solidFill>
            <a:srgbClr val="34456A"/>
          </a:solidFill>
          <a:ln w="12700">
            <a:solidFill>
              <a:srgbClr val="34456A"/>
            </a:solidFill>
            <a:prstDash val="solid"/>
          </a:ln>
        </p:spPr>
      </p:sp>
      <p:sp>
        <p:nvSpPr>
          <p:cNvPr id="6" name="Shape 4"/>
          <p:cNvSpPr/>
          <p:nvPr/>
        </p:nvSpPr>
        <p:spPr>
          <a:xfrm>
            <a:off x="9436608" y="548640"/>
            <a:ext cx="2011680" cy="73152"/>
          </a:xfrm>
          <a:prstGeom prst="roundRect">
            <a:avLst>
              <a:gd name="adj" fmla="val 50000"/>
            </a:avLst>
          </a:prstGeom>
          <a:solidFill>
            <a:srgbClr val="34456A"/>
          </a:solidFill>
          <a:ln w="12700">
            <a:solidFill>
              <a:srgbClr val="34456A"/>
            </a:solidFill>
            <a:prstDash val="solid"/>
          </a:ln>
        </p:spPr>
      </p:sp>
      <p:sp>
        <p:nvSpPr>
          <p:cNvPr id="7" name="Text 5"/>
          <p:cNvSpPr txBox="1"/>
          <p:nvPr/>
        </p:nvSpPr>
        <p:spPr>
          <a:xfrm>
            <a:off x="731520" y="1051560"/>
            <a:ext cx="10698480" cy="457200"/>
          </a:xfrm>
          <a:prstGeom prst="rect">
            <a:avLst/>
          </a:prstGeom>
          <a:noFill/>
          <a:ln/>
        </p:spPr>
        <p:txBody>
          <a:bodyPr wrap="square" lIns="0" tIns="0" rIns="0" bIns="0" rtlCol="0" anchor="t"/>
          <a:lstStyle/>
          <a:p>
            <a:pPr indent="0" marL="0">
              <a:buNone/>
            </a:pPr>
            <a:r>
              <a:rPr lang="en-US" sz="1800" b="1" spc="300" kern="0" dirty="0">
                <a:solidFill>
                  <a:srgbClr val="E0A526"/>
                </a:solidFill>
                <a:latin typeface="Arial" pitchFamily="34" charset="0"/>
                <a:ea typeface="Arial" pitchFamily="34" charset="-122"/>
                <a:cs typeface="Arial" pitchFamily="34" charset="-120"/>
              </a:rPr>
              <a:t>POKOK PEMBAHASAN 3 DARI 5</a:t>
            </a:r>
            <a:endParaRPr lang="en-US" sz="1800" dirty="0"/>
          </a:p>
        </p:txBody>
      </p:sp>
      <p:sp>
        <p:nvSpPr>
          <p:cNvPr id="8" name="Text 6"/>
          <p:cNvSpPr txBox="1"/>
          <p:nvPr/>
        </p:nvSpPr>
        <p:spPr>
          <a:xfrm>
            <a:off x="731520" y="1554480"/>
            <a:ext cx="10698480" cy="100584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Permasalahan Praktik</a:t>
            </a:r>
            <a:endParaRPr lang="en-US" sz="4800" dirty="0"/>
          </a:p>
        </p:txBody>
      </p:sp>
      <p:sp>
        <p:nvSpPr>
          <p:cNvPr id="9" name="Text 7"/>
          <p:cNvSpPr txBox="1"/>
          <p:nvPr/>
        </p:nvSpPr>
        <p:spPr>
          <a:xfrm>
            <a:off x="731520" y="2697480"/>
            <a:ext cx="10241280" cy="1188720"/>
          </a:xfrm>
          <a:prstGeom prst="rect">
            <a:avLst/>
          </a:prstGeom>
          <a:noFill/>
          <a:ln/>
        </p:spPr>
        <p:txBody>
          <a:bodyPr wrap="square" lIns="0" tIns="0" rIns="0" bIns="0" rtlCol="0" anchor="t"/>
          <a:lstStyle/>
          <a:p>
            <a:pPr indent="0" marL="0">
              <a:buNone/>
            </a:pPr>
            <a:r>
              <a:rPr lang="en-US" sz="2200" dirty="0">
                <a:solidFill>
                  <a:srgbClr val="DCE4F2"/>
                </a:solidFill>
                <a:latin typeface="Arial" pitchFamily="34" charset="0"/>
                <a:ea typeface="Arial" pitchFamily="34" charset="-122"/>
                <a:cs typeface="Arial" pitchFamily="34" charset="-120"/>
              </a:rPr>
              <a:t>Mengidentifikasi kendala pengurusan dan pemberesan harta, imbalan jasa, transparansi, serta konflik kepentingan, didukung data perkara.</a:t>
            </a:r>
            <a:endParaRPr lang="en-US" sz="2200" dirty="0"/>
          </a:p>
        </p:txBody>
      </p:sp>
      <p:sp>
        <p:nvSpPr>
          <p:cNvPr id="10" name="Shape 8"/>
          <p:cNvSpPr/>
          <p:nvPr/>
        </p:nvSpPr>
        <p:spPr>
          <a:xfrm>
            <a:off x="731520" y="4160520"/>
            <a:ext cx="420624" cy="420624"/>
          </a:xfrm>
          <a:prstGeom prst="ellipse">
            <a:avLst/>
          </a:prstGeom>
          <a:solidFill>
            <a:srgbClr val="E0A526"/>
          </a:solidFill>
          <a:ln w="12700">
            <a:solidFill>
              <a:srgbClr val="E0A526"/>
            </a:solidFill>
            <a:prstDash val="solid"/>
          </a:ln>
        </p:spPr>
      </p:sp>
      <p:sp>
        <p:nvSpPr>
          <p:cNvPr id="11" name="Text 9"/>
          <p:cNvSpPr txBox="1"/>
          <p:nvPr/>
        </p:nvSpPr>
        <p:spPr>
          <a:xfrm>
            <a:off x="731520" y="4160520"/>
            <a:ext cx="420624" cy="420624"/>
          </a:xfrm>
          <a:prstGeom prst="rect">
            <a:avLst/>
          </a:prstGeom>
          <a:noFill/>
          <a:ln/>
        </p:spPr>
        <p:txBody>
          <a:bodyPr wrap="square" lIns="0" tIns="0" rIns="0" bIns="0" rtlCol="0" anchor="ctr"/>
          <a:lstStyle/>
          <a:p>
            <a:pPr algn="ctr" indent="0" marL="0">
              <a:buNone/>
            </a:pPr>
            <a:r>
              <a:rPr lang="en-US" sz="1500" b="1" dirty="0">
                <a:solidFill>
                  <a:srgbClr val="14284B"/>
                </a:solidFill>
                <a:latin typeface="Arial" pitchFamily="34" charset="0"/>
                <a:ea typeface="Arial" pitchFamily="34" charset="-122"/>
                <a:cs typeface="Arial" pitchFamily="34" charset="-120"/>
              </a:rPr>
              <a:t>6</a:t>
            </a:r>
            <a:endParaRPr lang="en-US" sz="1500" dirty="0"/>
          </a:p>
        </p:txBody>
      </p:sp>
      <p:sp>
        <p:nvSpPr>
          <p:cNvPr id="12" name="Text 10"/>
          <p:cNvSpPr txBox="1"/>
          <p:nvPr/>
        </p:nvSpPr>
        <p:spPr>
          <a:xfrm>
            <a:off x="1325880" y="4160520"/>
            <a:ext cx="9601200" cy="420624"/>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Hambatan Pelaksanaan Tugas</a:t>
            </a:r>
            <a:endParaRPr lang="en-US" sz="1900" dirty="0"/>
          </a:p>
        </p:txBody>
      </p:sp>
      <p:sp>
        <p:nvSpPr>
          <p:cNvPr id="13" name="Shape 11"/>
          <p:cNvSpPr/>
          <p:nvPr/>
        </p:nvSpPr>
        <p:spPr>
          <a:xfrm>
            <a:off x="731520" y="4690872"/>
            <a:ext cx="420624" cy="420624"/>
          </a:xfrm>
          <a:prstGeom prst="ellipse">
            <a:avLst/>
          </a:prstGeom>
          <a:solidFill>
            <a:srgbClr val="E0A526"/>
          </a:solidFill>
          <a:ln w="12700">
            <a:solidFill>
              <a:srgbClr val="E0A526"/>
            </a:solidFill>
            <a:prstDash val="solid"/>
          </a:ln>
        </p:spPr>
      </p:sp>
      <p:sp>
        <p:nvSpPr>
          <p:cNvPr id="14" name="Text 12"/>
          <p:cNvSpPr txBox="1"/>
          <p:nvPr/>
        </p:nvSpPr>
        <p:spPr>
          <a:xfrm>
            <a:off x="731520" y="4690872"/>
            <a:ext cx="420624" cy="420624"/>
          </a:xfrm>
          <a:prstGeom prst="rect">
            <a:avLst/>
          </a:prstGeom>
          <a:noFill/>
          <a:ln/>
        </p:spPr>
        <p:txBody>
          <a:bodyPr wrap="square" lIns="0" tIns="0" rIns="0" bIns="0" rtlCol="0" anchor="ctr"/>
          <a:lstStyle/>
          <a:p>
            <a:pPr algn="ctr" indent="0" marL="0">
              <a:buNone/>
            </a:pPr>
            <a:r>
              <a:rPr lang="en-US" sz="1500" b="1" dirty="0">
                <a:solidFill>
                  <a:srgbClr val="14284B"/>
                </a:solidFill>
                <a:latin typeface="Arial" pitchFamily="34" charset="0"/>
                <a:ea typeface="Arial" pitchFamily="34" charset="-122"/>
                <a:cs typeface="Arial" pitchFamily="34" charset="-120"/>
              </a:rPr>
              <a:t>9</a:t>
            </a:r>
            <a:endParaRPr lang="en-US" sz="1500" dirty="0"/>
          </a:p>
        </p:txBody>
      </p:sp>
      <p:sp>
        <p:nvSpPr>
          <p:cNvPr id="15" name="Text 13"/>
          <p:cNvSpPr txBox="1"/>
          <p:nvPr/>
        </p:nvSpPr>
        <p:spPr>
          <a:xfrm>
            <a:off x="1325880" y="4690872"/>
            <a:ext cx="9601200" cy="420624"/>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Data yang Belum Optimal</a:t>
            </a:r>
            <a:endParaRPr lang="en-US" sz="1900" dirty="0"/>
          </a:p>
        </p:txBody>
      </p:sp>
      <p:sp>
        <p:nvSpPr>
          <p:cNvPr id="16" name="Shape 14"/>
          <p:cNvSpPr/>
          <p:nvPr/>
        </p:nvSpPr>
        <p:spPr>
          <a:xfrm>
            <a:off x="731520" y="5221224"/>
            <a:ext cx="420624" cy="420624"/>
          </a:xfrm>
          <a:prstGeom prst="ellipse">
            <a:avLst/>
          </a:prstGeom>
          <a:solidFill>
            <a:srgbClr val="E0A526"/>
          </a:solidFill>
          <a:ln w="12700">
            <a:solidFill>
              <a:srgbClr val="E0A526"/>
            </a:solidFill>
            <a:prstDash val="solid"/>
          </a:ln>
        </p:spPr>
      </p:sp>
      <p:sp>
        <p:nvSpPr>
          <p:cNvPr id="17" name="Text 15"/>
          <p:cNvSpPr txBox="1"/>
          <p:nvPr/>
        </p:nvSpPr>
        <p:spPr>
          <a:xfrm>
            <a:off x="731520" y="5221224"/>
            <a:ext cx="420624" cy="420624"/>
          </a:xfrm>
          <a:prstGeom prst="rect">
            <a:avLst/>
          </a:prstGeom>
          <a:noFill/>
          <a:ln/>
        </p:spPr>
        <p:txBody>
          <a:bodyPr wrap="square" lIns="0" tIns="0" rIns="0" bIns="0" rtlCol="0" anchor="ctr"/>
          <a:lstStyle/>
          <a:p>
            <a:pPr algn="ctr" indent="0" marL="0">
              <a:buNone/>
            </a:pPr>
            <a:r>
              <a:rPr lang="en-US" sz="1500" b="1" dirty="0">
                <a:solidFill>
                  <a:srgbClr val="14284B"/>
                </a:solidFill>
                <a:latin typeface="Arial" pitchFamily="34" charset="0"/>
                <a:ea typeface="Arial" pitchFamily="34" charset="-122"/>
                <a:cs typeface="Arial" pitchFamily="34" charset="-120"/>
              </a:rPr>
              <a:t>7</a:t>
            </a:r>
            <a:endParaRPr lang="en-US" sz="1500" dirty="0"/>
          </a:p>
        </p:txBody>
      </p:sp>
      <p:sp>
        <p:nvSpPr>
          <p:cNvPr id="18" name="Text 16"/>
          <p:cNvSpPr txBox="1"/>
          <p:nvPr/>
        </p:nvSpPr>
        <p:spPr>
          <a:xfrm>
            <a:off x="1325880" y="5221224"/>
            <a:ext cx="9601200" cy="420624"/>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Akuntabilitas Pengelolaan Boedel</a:t>
            </a:r>
            <a:endParaRPr lang="en-US" sz="1900" dirty="0"/>
          </a:p>
        </p:txBody>
      </p:sp>
      <p:sp>
        <p:nvSpPr>
          <p:cNvPr id="19" name="Shape 17"/>
          <p:cNvSpPr/>
          <p:nvPr/>
        </p:nvSpPr>
        <p:spPr>
          <a:xfrm>
            <a:off x="731520" y="5751576"/>
            <a:ext cx="420624" cy="420624"/>
          </a:xfrm>
          <a:prstGeom prst="ellipse">
            <a:avLst/>
          </a:prstGeom>
          <a:solidFill>
            <a:srgbClr val="E0A526"/>
          </a:solidFill>
          <a:ln w="12700">
            <a:solidFill>
              <a:srgbClr val="E0A526"/>
            </a:solidFill>
            <a:prstDash val="solid"/>
          </a:ln>
        </p:spPr>
      </p:sp>
      <p:sp>
        <p:nvSpPr>
          <p:cNvPr id="20" name="Text 18"/>
          <p:cNvSpPr txBox="1"/>
          <p:nvPr/>
        </p:nvSpPr>
        <p:spPr>
          <a:xfrm>
            <a:off x="731520" y="5751576"/>
            <a:ext cx="420624" cy="420624"/>
          </a:xfrm>
          <a:prstGeom prst="rect">
            <a:avLst/>
          </a:prstGeom>
          <a:noFill/>
          <a:ln/>
        </p:spPr>
        <p:txBody>
          <a:bodyPr wrap="square" lIns="0" tIns="0" rIns="0" bIns="0" rtlCol="0" anchor="ctr"/>
          <a:lstStyle/>
          <a:p>
            <a:pPr algn="ctr" indent="0" marL="0">
              <a:buNone/>
            </a:pPr>
            <a:r>
              <a:rPr lang="en-US" sz="1500" b="1" dirty="0">
                <a:solidFill>
                  <a:srgbClr val="14284B"/>
                </a:solidFill>
                <a:latin typeface="Arial" pitchFamily="34" charset="0"/>
                <a:ea typeface="Arial" pitchFamily="34" charset="-122"/>
                <a:cs typeface="Arial" pitchFamily="34" charset="-120"/>
              </a:rPr>
              <a:t>10</a:t>
            </a:r>
            <a:endParaRPr lang="en-US" sz="1500" dirty="0"/>
          </a:p>
        </p:txBody>
      </p:sp>
      <p:sp>
        <p:nvSpPr>
          <p:cNvPr id="21" name="Text 19"/>
          <p:cNvSpPr txBox="1"/>
          <p:nvPr/>
        </p:nvSpPr>
        <p:spPr>
          <a:xfrm>
            <a:off x="1325880" y="5751576"/>
            <a:ext cx="9601200" cy="420624"/>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Imbalan dan Risiko Profesi</a:t>
            </a:r>
            <a:endParaRPr lang="en-US" sz="1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6</a:t>
            </a:r>
            <a:endParaRPr lang="en-US" sz="4000" dirty="0"/>
          </a:p>
        </p:txBody>
      </p:sp>
      <p:sp>
        <p:nvSpPr>
          <p:cNvPr id="4" name="Text 2"/>
          <p:cNvSpPr txBox="1"/>
          <p:nvPr/>
        </p:nvSpPr>
        <p:spPr>
          <a:xfrm>
            <a:off x="1783080" y="411480"/>
            <a:ext cx="9859975" cy="960120"/>
          </a:xfrm>
          <a:prstGeom prst="rect">
            <a:avLst/>
          </a:prstGeom>
          <a:noFill/>
          <a:ln/>
        </p:spPr>
        <p:txBody>
          <a:bodyPr wrap="square" lIns="0" tIns="0" rIns="0" bIns="0" rtlCol="0" anchor="ctr"/>
          <a:lstStyle/>
          <a:p>
            <a:pPr indent="0" marL="0">
              <a:buNone/>
            </a:pPr>
            <a:r>
              <a:rPr lang="en-US" sz="3400" b="1" dirty="0">
                <a:solidFill>
                  <a:srgbClr val="14284B"/>
                </a:solidFill>
                <a:latin typeface="Arial" pitchFamily="34" charset="0"/>
                <a:ea typeface="Arial" pitchFamily="34" charset="-122"/>
                <a:cs typeface="Arial" pitchFamily="34" charset="-120"/>
              </a:rPr>
              <a:t>Hambatan Pelaksanaan Tugas</a:t>
            </a:r>
            <a:endParaRPr lang="en-US" sz="3400" dirty="0"/>
          </a:p>
        </p:txBody>
      </p:sp>
      <p:sp>
        <p:nvSpPr>
          <p:cNvPr id="5" name="Shape 3"/>
          <p:cNvSpPr/>
          <p:nvPr/>
        </p:nvSpPr>
        <p:spPr>
          <a:xfrm>
            <a:off x="548640" y="1600200"/>
            <a:ext cx="3520440" cy="4572000"/>
          </a:xfrm>
          <a:prstGeom prst="roundRect">
            <a:avLst>
              <a:gd name="adj" fmla="val 3117"/>
            </a:avLst>
          </a:prstGeom>
          <a:solidFill>
            <a:srgbClr val="EEF2F8"/>
          </a:solidFill>
          <a:ln w="12700">
            <a:solidFill>
              <a:srgbClr val="EEF2F8"/>
            </a:solidFill>
            <a:prstDash val="solid"/>
          </a:ln>
        </p:spPr>
      </p:sp>
      <p:pic>
        <p:nvPicPr>
          <p:cNvPr id="6" name="Image 0" descr="preencoded.png">    </p:cNvPr>
          <p:cNvPicPr>
            <a:picLocks noChangeAspect="1"/>
          </p:cNvPicPr>
          <p:nvPr/>
        </p:nvPicPr>
        <p:blipFill>
          <a:blip r:embed="rId1"/>
          <a:stretch>
            <a:fillRect/>
          </a:stretch>
        </p:blipFill>
        <p:spPr>
          <a:xfrm>
            <a:off x="1892808" y="1874520"/>
            <a:ext cx="822960" cy="822960"/>
          </a:xfrm>
          <a:prstGeom prst="rect">
            <a:avLst/>
          </a:prstGeom>
        </p:spPr>
      </p:pic>
      <p:sp>
        <p:nvSpPr>
          <p:cNvPr id="7" name="Text 4"/>
          <p:cNvSpPr txBox="1"/>
          <p:nvPr/>
        </p:nvSpPr>
        <p:spPr>
          <a:xfrm>
            <a:off x="777240" y="2880360"/>
            <a:ext cx="3063240" cy="594360"/>
          </a:xfrm>
          <a:prstGeom prst="rect">
            <a:avLst/>
          </a:prstGeom>
          <a:noFill/>
          <a:ln/>
        </p:spPr>
        <p:txBody>
          <a:bodyPr wrap="square" lIns="0" tIns="0" rIns="0" bIns="0" rtlCol="0" anchor="t"/>
          <a:lstStyle/>
          <a:p>
            <a:pPr algn="ctr" indent="0" marL="0">
              <a:buNone/>
            </a:pPr>
            <a:r>
              <a:rPr lang="en-US" sz="2500" b="1" dirty="0">
                <a:solidFill>
                  <a:srgbClr val="14284B"/>
                </a:solidFill>
                <a:latin typeface="Arial" pitchFamily="34" charset="0"/>
                <a:ea typeface="Arial" pitchFamily="34" charset="-122"/>
                <a:cs typeface="Arial" pitchFamily="34" charset="-120"/>
              </a:rPr>
              <a:t>Pengamanan</a:t>
            </a:r>
            <a:endParaRPr lang="en-US" sz="2500" dirty="0"/>
          </a:p>
        </p:txBody>
      </p:sp>
      <p:sp>
        <p:nvSpPr>
          <p:cNvPr id="8" name="Text 5"/>
          <p:cNvSpPr txBox="1"/>
          <p:nvPr/>
        </p:nvSpPr>
        <p:spPr>
          <a:xfrm>
            <a:off x="822960" y="3611880"/>
            <a:ext cx="2971800" cy="2377440"/>
          </a:xfrm>
          <a:prstGeom prst="rect">
            <a:avLst/>
          </a:prstGeom>
          <a:noFill/>
          <a:ln/>
        </p:spPr>
        <p:txBody>
          <a:bodyPr wrap="square" lIns="0" tIns="0" rIns="0" bIns="0" rtlCol="0" anchor="t"/>
          <a:lstStyle/>
          <a:p>
            <a:pPr algn="ctr" indent="0" marL="0">
              <a:buNone/>
            </a:pPr>
            <a:r>
              <a:rPr lang="en-US" sz="2100" dirty="0">
                <a:solidFill>
                  <a:srgbClr val="1A1A1A"/>
                </a:solidFill>
                <a:latin typeface="Arial" pitchFamily="34" charset="0"/>
                <a:ea typeface="Arial" pitchFamily="34" charset="-122"/>
                <a:cs typeface="Arial" pitchFamily="34" charset="-120"/>
              </a:rPr>
              <a:t>Kepolisian Negara Republik Indonesia wajib memberikan pendampingan dan pengamanan kepada kurator sesuai dengan permintaan.</a:t>
            </a:r>
            <a:endParaRPr lang="en-US" sz="2100" dirty="0"/>
          </a:p>
        </p:txBody>
      </p:sp>
      <p:sp>
        <p:nvSpPr>
          <p:cNvPr id="9" name="Shape 6"/>
          <p:cNvSpPr/>
          <p:nvPr/>
        </p:nvSpPr>
        <p:spPr>
          <a:xfrm>
            <a:off x="4343400" y="1600200"/>
            <a:ext cx="3520440" cy="4572000"/>
          </a:xfrm>
          <a:prstGeom prst="roundRect">
            <a:avLst>
              <a:gd name="adj" fmla="val 3117"/>
            </a:avLst>
          </a:prstGeom>
          <a:solidFill>
            <a:srgbClr val="EEF2F8"/>
          </a:solidFill>
          <a:ln w="12700">
            <a:solidFill>
              <a:srgbClr val="EEF2F8"/>
            </a:solidFill>
            <a:prstDash val="solid"/>
          </a:ln>
        </p:spPr>
      </p:sp>
      <p:pic>
        <p:nvPicPr>
          <p:cNvPr id="10" name="Image 1" descr="preencoded.png">    </p:cNvPr>
          <p:cNvPicPr>
            <a:picLocks noChangeAspect="1"/>
          </p:cNvPicPr>
          <p:nvPr/>
        </p:nvPicPr>
        <p:blipFill>
          <a:blip r:embed="rId2"/>
          <a:stretch>
            <a:fillRect/>
          </a:stretch>
        </p:blipFill>
        <p:spPr>
          <a:xfrm>
            <a:off x="5687568" y="1874520"/>
            <a:ext cx="822960" cy="822960"/>
          </a:xfrm>
          <a:prstGeom prst="rect">
            <a:avLst/>
          </a:prstGeom>
        </p:spPr>
      </p:pic>
      <p:sp>
        <p:nvSpPr>
          <p:cNvPr id="11" name="Text 7"/>
          <p:cNvSpPr txBox="1"/>
          <p:nvPr/>
        </p:nvSpPr>
        <p:spPr>
          <a:xfrm>
            <a:off x="4572000" y="2880360"/>
            <a:ext cx="3063240" cy="594360"/>
          </a:xfrm>
          <a:prstGeom prst="rect">
            <a:avLst/>
          </a:prstGeom>
          <a:noFill/>
          <a:ln/>
        </p:spPr>
        <p:txBody>
          <a:bodyPr wrap="square" lIns="0" tIns="0" rIns="0" bIns="0" rtlCol="0" anchor="t"/>
          <a:lstStyle/>
          <a:p>
            <a:pPr algn="ctr" indent="0" marL="0">
              <a:buNone/>
            </a:pPr>
            <a:r>
              <a:rPr lang="en-US" sz="2500" b="1" dirty="0">
                <a:solidFill>
                  <a:srgbClr val="14284B"/>
                </a:solidFill>
                <a:latin typeface="Arial" pitchFamily="34" charset="0"/>
                <a:ea typeface="Arial" pitchFamily="34" charset="-122"/>
                <a:cs typeface="Arial" pitchFamily="34" charset="-120"/>
              </a:rPr>
              <a:t>Akses dan Dokumen</a:t>
            </a:r>
            <a:endParaRPr lang="en-US" sz="2500" dirty="0"/>
          </a:p>
        </p:txBody>
      </p:sp>
      <p:sp>
        <p:nvSpPr>
          <p:cNvPr id="12" name="Text 8"/>
          <p:cNvSpPr txBox="1"/>
          <p:nvPr/>
        </p:nvSpPr>
        <p:spPr>
          <a:xfrm>
            <a:off x="4617720" y="3611880"/>
            <a:ext cx="2971800" cy="2377440"/>
          </a:xfrm>
          <a:prstGeom prst="rect">
            <a:avLst/>
          </a:prstGeom>
          <a:noFill/>
          <a:ln/>
        </p:spPr>
        <p:txBody>
          <a:bodyPr wrap="square" lIns="0" tIns="0" rIns="0" bIns="0" rtlCol="0" anchor="t"/>
          <a:lstStyle/>
          <a:p>
            <a:pPr algn="ctr" indent="0" marL="0">
              <a:buNone/>
            </a:pPr>
            <a:r>
              <a:rPr lang="en-US" sz="2100" dirty="0">
                <a:solidFill>
                  <a:srgbClr val="1A1A1A"/>
                </a:solidFill>
                <a:latin typeface="Arial" pitchFamily="34" charset="0"/>
                <a:ea typeface="Arial" pitchFamily="34" charset="-122"/>
                <a:cs typeface="Arial" pitchFamily="34" charset="-120"/>
              </a:rPr>
              <a:t>Kewajiban para pihak untuk memberikan akses dan dokumen kepada kurator.</a:t>
            </a:r>
            <a:endParaRPr lang="en-US" sz="2100" dirty="0"/>
          </a:p>
        </p:txBody>
      </p:sp>
      <p:sp>
        <p:nvSpPr>
          <p:cNvPr id="13" name="Shape 9"/>
          <p:cNvSpPr/>
          <p:nvPr/>
        </p:nvSpPr>
        <p:spPr>
          <a:xfrm>
            <a:off x="8138160" y="1600200"/>
            <a:ext cx="3520440" cy="4572000"/>
          </a:xfrm>
          <a:prstGeom prst="roundRect">
            <a:avLst>
              <a:gd name="adj" fmla="val 3117"/>
            </a:avLst>
          </a:prstGeom>
          <a:solidFill>
            <a:srgbClr val="EEF2F8"/>
          </a:solidFill>
          <a:ln w="12700">
            <a:solidFill>
              <a:srgbClr val="EEF2F8"/>
            </a:solidFill>
            <a:prstDash val="solid"/>
          </a:ln>
        </p:spPr>
      </p:sp>
      <p:pic>
        <p:nvPicPr>
          <p:cNvPr id="14" name="Image 2" descr="preencoded.png">    </p:cNvPr>
          <p:cNvPicPr>
            <a:picLocks noChangeAspect="1"/>
          </p:cNvPicPr>
          <p:nvPr/>
        </p:nvPicPr>
        <p:blipFill>
          <a:blip r:embed="rId3"/>
          <a:stretch>
            <a:fillRect/>
          </a:stretch>
        </p:blipFill>
        <p:spPr>
          <a:xfrm>
            <a:off x="9482328" y="1874520"/>
            <a:ext cx="822960" cy="822960"/>
          </a:xfrm>
          <a:prstGeom prst="rect">
            <a:avLst/>
          </a:prstGeom>
        </p:spPr>
      </p:pic>
      <p:sp>
        <p:nvSpPr>
          <p:cNvPr id="15" name="Text 10"/>
          <p:cNvSpPr txBox="1"/>
          <p:nvPr/>
        </p:nvSpPr>
        <p:spPr>
          <a:xfrm>
            <a:off x="8366760" y="2880360"/>
            <a:ext cx="3063240" cy="594360"/>
          </a:xfrm>
          <a:prstGeom prst="rect">
            <a:avLst/>
          </a:prstGeom>
          <a:noFill/>
          <a:ln/>
        </p:spPr>
        <p:txBody>
          <a:bodyPr wrap="square" lIns="0" tIns="0" rIns="0" bIns="0" rtlCol="0" anchor="t"/>
          <a:lstStyle/>
          <a:p>
            <a:pPr algn="ctr" indent="0" marL="0">
              <a:buNone/>
            </a:pPr>
            <a:r>
              <a:rPr lang="en-US" sz="2500" b="1" dirty="0">
                <a:solidFill>
                  <a:srgbClr val="14284B"/>
                </a:solidFill>
                <a:latin typeface="Arial" pitchFamily="34" charset="0"/>
                <a:ea typeface="Arial" pitchFamily="34" charset="-122"/>
                <a:cs typeface="Arial" pitchFamily="34" charset="-120"/>
              </a:rPr>
              <a:t>Sanksi</a:t>
            </a:r>
            <a:endParaRPr lang="en-US" sz="2500" dirty="0"/>
          </a:p>
        </p:txBody>
      </p:sp>
      <p:sp>
        <p:nvSpPr>
          <p:cNvPr id="16" name="Text 11"/>
          <p:cNvSpPr txBox="1"/>
          <p:nvPr/>
        </p:nvSpPr>
        <p:spPr>
          <a:xfrm>
            <a:off x="8412480" y="3611880"/>
            <a:ext cx="2971800" cy="2377440"/>
          </a:xfrm>
          <a:prstGeom prst="rect">
            <a:avLst/>
          </a:prstGeom>
          <a:noFill/>
          <a:ln/>
        </p:spPr>
        <p:txBody>
          <a:bodyPr wrap="square" lIns="0" tIns="0" rIns="0" bIns="0" rtlCol="0" anchor="t"/>
          <a:lstStyle/>
          <a:p>
            <a:pPr algn="ctr" indent="0" marL="0">
              <a:buNone/>
            </a:pPr>
            <a:r>
              <a:rPr lang="en-US" sz="2100" dirty="0">
                <a:solidFill>
                  <a:srgbClr val="1A1A1A"/>
                </a:solidFill>
                <a:latin typeface="Arial" pitchFamily="34" charset="0"/>
                <a:ea typeface="Arial" pitchFamily="34" charset="-122"/>
                <a:cs typeface="Arial" pitchFamily="34" charset="-120"/>
              </a:rPr>
              <a:t>Sanksi bagi setiap orang yang dengan sengaja menghalangi pelaksanaan tugas kurator.</a:t>
            </a:r>
            <a:endParaRPr lang="en-US" sz="2100" dirty="0"/>
          </a:p>
        </p:txBody>
      </p:sp>
      <p:sp>
        <p:nvSpPr>
          <p:cNvPr id="17" name="Text 12"/>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18" name="Text 13"/>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22</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6</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8 · USULAN RUMUSAN PASAL  (1/2)</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Dukungan Pengamanan dan Ketentuan Pidana</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3730752"/>
        </p:xfrm>
        <a:graphic>
          <a:graphicData uri="http://schemas.openxmlformats.org/drawingml/2006/table">
            <a:tbl>
              <a:tblPr/>
              <a:tblGrid>
                <a:gridCol w="731520"/>
                <a:gridCol w="594360"/>
                <a:gridCol w="9308592"/>
              </a:tblGrid>
              <a:tr h="438912">
                <a:tc gridSpan="3">
                  <a:txBody>
                    <a:bodyPr/>
                    <a:lstStyle/>
                    <a:p>
                      <a:pPr algn="ctr" indent="0" marL="0">
                        <a:buNone/>
                      </a:pPr>
                      <a:r>
                        <a:rPr lang="en-US" sz="2100" b="1" dirty="0">
                          <a:solidFill>
                            <a:srgbClr val="14284B"/>
                          </a:solidFill>
                          <a:latin typeface="Arial" pitchFamily="34" charset="0"/>
                          <a:ea typeface="Arial" pitchFamily="34" charset="-122"/>
                          <a:cs typeface="Arial" pitchFamily="34" charset="-120"/>
                        </a:rPr>
                        <a:t>Pasal …</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c hMerge="1">
                  <a:tcPr/>
                </a:tc>
              </a:tr>
              <a:tr h="1097280">
                <a:tc>
                  <a:txBody>
                    <a:bodyPr/>
                    <a:lstStyle/>
                    <a:p>
                      <a:pPr indent="0" marL="0">
                        <a:buNone/>
                      </a:pPr>
                      <a:r>
                        <a:rPr lang="en-US" sz="2100" b="1" dirty="0">
                          <a:solidFill>
                            <a:srgbClr val="14284B"/>
                          </a:solidFill>
                          <a:latin typeface="Arial" pitchFamily="34" charset="0"/>
                          <a:ea typeface="Arial" pitchFamily="34" charset="-122"/>
                          <a:cs typeface="Arial" pitchFamily="34" charset="-120"/>
                        </a:rPr>
                        <a:t>(1)</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b="1" dirty="0">
                          <a:solidFill>
                            <a:srgbClr val="14284B"/>
                          </a:solidFill>
                          <a:latin typeface="Arial" pitchFamily="34" charset="0"/>
                          <a:ea typeface="Arial" pitchFamily="34" charset="-122"/>
                          <a:cs typeface="Arial" pitchFamily="34" charset="-120"/>
                        </a:rPr>
                        <a:t>Kepolisian Negara Republik Indonesia wajib memberikan pendampingan dan pengamanan</a:t>
                      </a:r>
                      <a:pPr indent="0" marL="0">
                        <a:buNone/>
                      </a:pPr>
                      <a:r>
                        <a:rPr lang="en-US" sz="2100" dirty="0">
                          <a:solidFill>
                            <a:srgbClr val="1A1A1A"/>
                          </a:solidFill>
                          <a:latin typeface="Arial" pitchFamily="34" charset="0"/>
                          <a:ea typeface="Arial" pitchFamily="34" charset="-122"/>
                          <a:cs typeface="Arial" pitchFamily="34" charset="-120"/>
                        </a:rPr>
                        <a:t> kepada Kurator dan Pengurus dalam pelaksanaan tugasnya atas permintaan Kurator, Pengurus, atau Hakim Pengawas.</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1097280">
                <a:tc>
                  <a:txBody>
                    <a:bodyPr/>
                    <a:lstStyle/>
                    <a:p>
                      <a:pPr indent="0" marL="0">
                        <a:buNone/>
                      </a:pPr>
                      <a:r>
                        <a:rPr lang="en-US" sz="2100" b="1" dirty="0">
                          <a:solidFill>
                            <a:srgbClr val="14284B"/>
                          </a:solidFill>
                          <a:latin typeface="Arial" pitchFamily="34" charset="0"/>
                          <a:ea typeface="Arial" pitchFamily="34" charset="-122"/>
                          <a:cs typeface="Arial" pitchFamily="34" charset="-120"/>
                        </a:rPr>
                        <a:t>(2)</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Permintaan sebagaimana dimaksud pada ayat (1) diajukan secara tertulis dengan melampirkan salinan putusan Pengadilan dan/atau penetapan Hakim Pengawas.</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1097280">
                <a:tc>
                  <a:txBody>
                    <a:bodyPr/>
                    <a:lstStyle/>
                    <a:p>
                      <a:pPr indent="0" marL="0">
                        <a:buNone/>
                      </a:pPr>
                      <a:r>
                        <a:rPr lang="en-US" sz="2100" b="1" dirty="0">
                          <a:solidFill>
                            <a:srgbClr val="14284B"/>
                          </a:solidFill>
                          <a:latin typeface="Arial" pitchFamily="34" charset="0"/>
                          <a:ea typeface="Arial" pitchFamily="34" charset="-122"/>
                          <a:cs typeface="Arial" pitchFamily="34" charset="-120"/>
                        </a:rPr>
                        <a:t>(3)</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Debitor Pailit dan setiap pihak yang menguasai harta pailit </a:t>
                      </a:r>
                      <a:pPr indent="0" marL="0">
                        <a:buNone/>
                      </a:pPr>
                      <a:r>
                        <a:rPr lang="en-US" sz="2100" b="1" dirty="0">
                          <a:solidFill>
                            <a:srgbClr val="14284B"/>
                          </a:solidFill>
                          <a:latin typeface="Arial" pitchFamily="34" charset="0"/>
                          <a:ea typeface="Arial" pitchFamily="34" charset="-122"/>
                          <a:cs typeface="Arial" pitchFamily="34" charset="-120"/>
                        </a:rPr>
                        <a:t>wajib memberikan akses, keterangan, dan dokumen</a:t>
                      </a:r>
                      <a:pPr indent="0" marL="0">
                        <a:buNone/>
                      </a:pPr>
                      <a:r>
                        <a:rPr lang="en-US" sz="2100" dirty="0">
                          <a:solidFill>
                            <a:srgbClr val="1A1A1A"/>
                          </a:solidFill>
                          <a:latin typeface="Arial" pitchFamily="34" charset="0"/>
                          <a:ea typeface="Arial" pitchFamily="34" charset="-122"/>
                          <a:cs typeface="Arial" pitchFamily="34" charset="-120"/>
                        </a:rPr>
                        <a:t> yang diminta oleh Kurator dalam pelaksanaan tugasnya.</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23</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6</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8 · USULAN RUMUSAN PASAL  (2/2)</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Dukungan Pengamanan dan Ketentuan Pidana</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2304288"/>
        </p:xfrm>
        <a:graphic>
          <a:graphicData uri="http://schemas.openxmlformats.org/drawingml/2006/table">
            <a:tbl>
              <a:tblPr/>
              <a:tblGrid>
                <a:gridCol w="731520"/>
                <a:gridCol w="594360"/>
                <a:gridCol w="9308592"/>
              </a:tblGrid>
              <a:tr h="438912">
                <a:tc gridSpan="3">
                  <a:txBody>
                    <a:bodyPr/>
                    <a:lstStyle/>
                    <a:p>
                      <a:pPr algn="ctr" indent="0" marL="0">
                        <a:buNone/>
                      </a:pPr>
                      <a:r>
                        <a:rPr lang="en-US" sz="2100" b="1" dirty="0">
                          <a:solidFill>
                            <a:srgbClr val="14284B"/>
                          </a:solidFill>
                          <a:latin typeface="Arial" pitchFamily="34" charset="0"/>
                          <a:ea typeface="Arial" pitchFamily="34" charset="-122"/>
                          <a:cs typeface="Arial" pitchFamily="34" charset="-120"/>
                        </a:rPr>
                        <a:t>Ketentuan Pidana</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c hMerge="1">
                  <a:tcPr/>
                </a:tc>
              </a:tr>
              <a:tr h="438912">
                <a:tc gridSpan="3">
                  <a:txBody>
                    <a:bodyPr/>
                    <a:lstStyle/>
                    <a:p>
                      <a:pPr algn="ctr" indent="0" marL="0">
                        <a:buNone/>
                      </a:pPr>
                      <a:r>
                        <a:rPr lang="en-US" sz="2100" b="1" dirty="0">
                          <a:solidFill>
                            <a:srgbClr val="14284B"/>
                          </a:solidFill>
                          <a:latin typeface="Arial" pitchFamily="34" charset="0"/>
                          <a:ea typeface="Arial" pitchFamily="34" charset="-122"/>
                          <a:cs typeface="Arial" pitchFamily="34" charset="-120"/>
                        </a:rPr>
                        <a:t>Pasal …</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c hMerge="1">
                  <a:tcPr/>
                </a:tc>
              </a:tr>
              <a:tr h="1426464">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Setiap Orang yang dengan sengaja menghalang-halangi atau merintangi Kurator atau Pengurus dalam melaksanakan tugasnya dipidana dengan </a:t>
                      </a:r>
                      <a:pPr indent="0" marL="0">
                        <a:buNone/>
                      </a:pPr>
                      <a:r>
                        <a:rPr lang="en-US" sz="2100" b="1" dirty="0">
                          <a:solidFill>
                            <a:srgbClr val="14284B"/>
                          </a:solidFill>
                          <a:latin typeface="Arial" pitchFamily="34" charset="0"/>
                          <a:ea typeface="Arial" pitchFamily="34" charset="-122"/>
                          <a:cs typeface="Arial" pitchFamily="34" charset="-120"/>
                        </a:rPr>
                        <a:t>pidana penjara paling lama 2 (dua) tahun atau pidana denda paling banyak kategori IV</a:t>
                      </a:r>
                      <a:pPr indent="0" marL="0">
                        <a:buNone/>
                      </a:pPr>
                      <a:r>
                        <a:rPr lang="en-US" sz="2100" dirty="0">
                          <a:solidFill>
                            <a:srgbClr val="1A1A1A"/>
                          </a:solidFill>
                          <a:latin typeface="Arial" pitchFamily="34" charset="0"/>
                          <a:ea typeface="Arial" pitchFamily="34" charset="-122"/>
                          <a:cs typeface="Arial" pitchFamily="34" charset="-120"/>
                        </a:rPr>
                        <a:t>.</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24</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2200" b="1" dirty="0">
                <a:solidFill>
                  <a:srgbClr val="E0A526"/>
                </a:solidFill>
                <a:latin typeface="Arial" pitchFamily="34" charset="0"/>
                <a:ea typeface="Arial" pitchFamily="34" charset="-122"/>
                <a:cs typeface="Arial" pitchFamily="34" charset="-120"/>
              </a:rPr>
              <a:t>9, 10</a:t>
            </a:r>
            <a:endParaRPr lang="en-US" sz="2200" dirty="0"/>
          </a:p>
        </p:txBody>
      </p:sp>
      <p:sp>
        <p:nvSpPr>
          <p:cNvPr id="4" name="Text 2"/>
          <p:cNvSpPr txBox="1"/>
          <p:nvPr/>
        </p:nvSpPr>
        <p:spPr>
          <a:xfrm>
            <a:off x="1783080" y="411480"/>
            <a:ext cx="9859975" cy="960120"/>
          </a:xfrm>
          <a:prstGeom prst="rect">
            <a:avLst/>
          </a:prstGeom>
          <a:noFill/>
          <a:ln/>
        </p:spPr>
        <p:txBody>
          <a:bodyPr wrap="square" lIns="0" tIns="0" rIns="0" bIns="0" rtlCol="0" anchor="ctr"/>
          <a:lstStyle/>
          <a:p>
            <a:pPr indent="0" marL="0">
              <a:buNone/>
            </a:pPr>
            <a:r>
              <a:rPr lang="en-US" sz="3400" b="1" dirty="0">
                <a:solidFill>
                  <a:srgbClr val="14284B"/>
                </a:solidFill>
                <a:latin typeface="Arial" pitchFamily="34" charset="0"/>
                <a:ea typeface="Arial" pitchFamily="34" charset="-122"/>
                <a:cs typeface="Arial" pitchFamily="34" charset="-120"/>
              </a:rPr>
              <a:t>Data yang Belum Optimal; Imbalan dan Risiko Profesi</a:t>
            </a:r>
            <a:endParaRPr lang="en-US" sz="3400" dirty="0"/>
          </a:p>
        </p:txBody>
      </p:sp>
      <p:sp>
        <p:nvSpPr>
          <p:cNvPr id="5" name="Shape 3"/>
          <p:cNvSpPr/>
          <p:nvPr/>
        </p:nvSpPr>
        <p:spPr>
          <a:xfrm>
            <a:off x="548640" y="1600200"/>
            <a:ext cx="5349240" cy="4572000"/>
          </a:xfrm>
          <a:prstGeom prst="roundRect">
            <a:avLst>
              <a:gd name="adj" fmla="val 2400"/>
            </a:avLst>
          </a:prstGeom>
          <a:solidFill>
            <a:srgbClr val="EEF2F8"/>
          </a:solidFill>
          <a:ln w="12700">
            <a:solidFill>
              <a:srgbClr val="EEF2F8"/>
            </a:solidFill>
            <a:prstDash val="solid"/>
          </a:ln>
        </p:spPr>
      </p:sp>
      <p:pic>
        <p:nvPicPr>
          <p:cNvPr id="6" name="Image 0" descr="preencoded.png">    </p:cNvPr>
          <p:cNvPicPr>
            <a:picLocks noChangeAspect="1"/>
          </p:cNvPicPr>
          <p:nvPr/>
        </p:nvPicPr>
        <p:blipFill>
          <a:blip r:embed="rId1"/>
          <a:stretch>
            <a:fillRect/>
          </a:stretch>
        </p:blipFill>
        <p:spPr>
          <a:xfrm>
            <a:off x="822960" y="1810512"/>
            <a:ext cx="548640" cy="548640"/>
          </a:xfrm>
          <a:prstGeom prst="rect">
            <a:avLst/>
          </a:prstGeom>
        </p:spPr>
      </p:pic>
      <p:sp>
        <p:nvSpPr>
          <p:cNvPr id="7" name="Text 4"/>
          <p:cNvSpPr txBox="1"/>
          <p:nvPr/>
        </p:nvSpPr>
        <p:spPr>
          <a:xfrm>
            <a:off x="1554480" y="1783080"/>
            <a:ext cx="4114800" cy="594360"/>
          </a:xfrm>
          <a:prstGeom prst="rect">
            <a:avLst/>
          </a:prstGeom>
          <a:noFill/>
          <a:ln/>
        </p:spPr>
        <p:txBody>
          <a:bodyPr wrap="square" lIns="0" tIns="0" rIns="0" bIns="0" rtlCol="0" anchor="ctr"/>
          <a:lstStyle/>
          <a:p>
            <a:pPr indent="0" marL="0">
              <a:buNone/>
            </a:pPr>
            <a:r>
              <a:rPr lang="en-US" sz="2400" b="1" dirty="0">
                <a:solidFill>
                  <a:srgbClr val="14284B"/>
                </a:solidFill>
                <a:latin typeface="Arial" pitchFamily="34" charset="0"/>
                <a:ea typeface="Arial" pitchFamily="34" charset="-122"/>
                <a:cs typeface="Arial" pitchFamily="34" charset="-120"/>
              </a:rPr>
              <a:t>Data harta Debitor Pailit</a:t>
            </a:r>
            <a:endParaRPr lang="en-US" sz="2400" dirty="0"/>
          </a:p>
        </p:txBody>
      </p:sp>
      <p:sp>
        <p:nvSpPr>
          <p:cNvPr id="8" name="Text 5"/>
          <p:cNvSpPr txBox="1"/>
          <p:nvPr/>
        </p:nvSpPr>
        <p:spPr>
          <a:xfrm>
            <a:off x="822960" y="2606040"/>
            <a:ext cx="4800600" cy="3383280"/>
          </a:xfrm>
          <a:prstGeom prst="rect">
            <a:avLst/>
          </a:prstGeom>
          <a:noFill/>
          <a:ln/>
        </p:spPr>
        <p:txBody>
          <a:bodyPr wrap="square" lIns="0" tIns="0" rIns="0" bIns="0" rtlCol="0" anchor="t"/>
          <a:lstStyle/>
          <a:p>
            <a:pPr indent="0" marL="0">
              <a:buNone/>
            </a:pPr>
            <a:r>
              <a:rPr lang="en-US" sz="2200" dirty="0">
                <a:solidFill>
                  <a:srgbClr val="1A1A1A"/>
                </a:solidFill>
                <a:latin typeface="Arial" pitchFamily="34" charset="0"/>
                <a:ea typeface="Arial" pitchFamily="34" charset="-122"/>
                <a:cs typeface="Arial" pitchFamily="34" charset="-120"/>
              </a:rPr>
              <a:t>RUU perlu mewajibkan instansi atau lembaga terkait, seperti Badan Pertanahan Nasional, SAMSAT, PT Kustodian Sentral Efek Indonesia (KSEI), dan perbankan, untuk memberikan data harta Debitor Pailit yang dibutuhkan kurator dalam jangka waktu tertentu.</a:t>
            </a:r>
            <a:endParaRPr lang="en-US" sz="2200" dirty="0"/>
          </a:p>
        </p:txBody>
      </p:sp>
      <p:sp>
        <p:nvSpPr>
          <p:cNvPr id="9" name="Shape 6"/>
          <p:cNvSpPr/>
          <p:nvPr/>
        </p:nvSpPr>
        <p:spPr>
          <a:xfrm>
            <a:off x="6291072" y="1600200"/>
            <a:ext cx="5349240" cy="4572000"/>
          </a:xfrm>
          <a:prstGeom prst="roundRect">
            <a:avLst>
              <a:gd name="adj" fmla="val 2400"/>
            </a:avLst>
          </a:prstGeom>
          <a:solidFill>
            <a:srgbClr val="EEF2F8"/>
          </a:solidFill>
          <a:ln w="12700">
            <a:solidFill>
              <a:srgbClr val="EEF2F8"/>
            </a:solidFill>
            <a:prstDash val="solid"/>
          </a:ln>
        </p:spPr>
      </p:sp>
      <p:pic>
        <p:nvPicPr>
          <p:cNvPr id="10" name="Image 1" descr="preencoded.png">    </p:cNvPr>
          <p:cNvPicPr>
            <a:picLocks noChangeAspect="1"/>
          </p:cNvPicPr>
          <p:nvPr/>
        </p:nvPicPr>
        <p:blipFill>
          <a:blip r:embed="rId2"/>
          <a:stretch>
            <a:fillRect/>
          </a:stretch>
        </p:blipFill>
        <p:spPr>
          <a:xfrm>
            <a:off x="6565392" y="1810512"/>
            <a:ext cx="548640" cy="548640"/>
          </a:xfrm>
          <a:prstGeom prst="rect">
            <a:avLst/>
          </a:prstGeom>
        </p:spPr>
      </p:pic>
      <p:sp>
        <p:nvSpPr>
          <p:cNvPr id="11" name="Text 7"/>
          <p:cNvSpPr txBox="1"/>
          <p:nvPr/>
        </p:nvSpPr>
        <p:spPr>
          <a:xfrm>
            <a:off x="7296912" y="1783080"/>
            <a:ext cx="4114800" cy="594360"/>
          </a:xfrm>
          <a:prstGeom prst="rect">
            <a:avLst/>
          </a:prstGeom>
          <a:noFill/>
          <a:ln/>
        </p:spPr>
        <p:txBody>
          <a:bodyPr wrap="square" lIns="0" tIns="0" rIns="0" bIns="0" rtlCol="0" anchor="ctr"/>
          <a:lstStyle/>
          <a:p>
            <a:pPr indent="0" marL="0">
              <a:buNone/>
            </a:pPr>
            <a:r>
              <a:rPr lang="en-US" sz="2400" b="1" dirty="0">
                <a:solidFill>
                  <a:srgbClr val="14284B"/>
                </a:solidFill>
                <a:latin typeface="Arial" pitchFamily="34" charset="0"/>
                <a:ea typeface="Arial" pitchFamily="34" charset="-122"/>
                <a:cs typeface="Arial" pitchFamily="34" charset="-120"/>
              </a:rPr>
              <a:t>Imbalan jasa</a:t>
            </a:r>
            <a:endParaRPr lang="en-US" sz="2400" dirty="0"/>
          </a:p>
        </p:txBody>
      </p:sp>
      <p:sp>
        <p:nvSpPr>
          <p:cNvPr id="12" name="Text 8"/>
          <p:cNvSpPr txBox="1"/>
          <p:nvPr/>
        </p:nvSpPr>
        <p:spPr>
          <a:xfrm>
            <a:off x="6565392" y="2606040"/>
            <a:ext cx="4800600" cy="3383280"/>
          </a:xfrm>
          <a:prstGeom prst="rect">
            <a:avLst/>
          </a:prstGeom>
          <a:noFill/>
          <a:ln/>
        </p:spPr>
        <p:txBody>
          <a:bodyPr wrap="square" lIns="0" tIns="0" rIns="0" bIns="0" rtlCol="0" anchor="t"/>
          <a:lstStyle/>
          <a:p>
            <a:pPr indent="0" marL="0">
              <a:buNone/>
            </a:pPr>
            <a:r>
              <a:rPr lang="en-US" sz="2200" dirty="0">
                <a:solidFill>
                  <a:srgbClr val="1A1A1A"/>
                </a:solidFill>
                <a:latin typeface="Arial" pitchFamily="34" charset="0"/>
                <a:ea typeface="Arial" pitchFamily="34" charset="-122"/>
                <a:cs typeface="Arial" pitchFamily="34" charset="-120"/>
              </a:rPr>
              <a:t>RUU cukup menegaskan kembali dasar hukum imbalan jasa berdasarkan pedoman Menteri, serta menegaskan bahwa imbalan jasa yang diterima BHP merupakan Penerimaan Negara Bukan Pajak.</a:t>
            </a:r>
            <a:endParaRPr lang="en-US" sz="2200" dirty="0"/>
          </a:p>
        </p:txBody>
      </p:sp>
      <p:sp>
        <p:nvSpPr>
          <p:cNvPr id="13" name="Text 9"/>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14" name="Text 10"/>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25</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9</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11 · USULAN RUMUSAN PASAL  (1/2)</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Kewajiban Penyediaan Data</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3730752"/>
        </p:xfrm>
        <a:graphic>
          <a:graphicData uri="http://schemas.openxmlformats.org/drawingml/2006/table">
            <a:tbl>
              <a:tblPr/>
              <a:tblGrid>
                <a:gridCol w="731520"/>
                <a:gridCol w="594360"/>
                <a:gridCol w="9308592"/>
              </a:tblGrid>
              <a:tr h="438912">
                <a:tc gridSpan="3">
                  <a:txBody>
                    <a:bodyPr/>
                    <a:lstStyle/>
                    <a:p>
                      <a:pPr algn="ctr" indent="0" marL="0">
                        <a:buNone/>
                      </a:pPr>
                      <a:r>
                        <a:rPr lang="en-US" sz="2100" b="1" dirty="0">
                          <a:solidFill>
                            <a:srgbClr val="14284B"/>
                          </a:solidFill>
                          <a:latin typeface="Arial" pitchFamily="34" charset="0"/>
                          <a:ea typeface="Arial" pitchFamily="34" charset="-122"/>
                          <a:cs typeface="Arial" pitchFamily="34" charset="-120"/>
                        </a:rPr>
                        <a:t>Pasal …</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c hMerge="1">
                  <a:tcPr/>
                </a:tc>
              </a:tr>
              <a:tr h="1426464">
                <a:tc>
                  <a:txBody>
                    <a:bodyPr/>
                    <a:lstStyle/>
                    <a:p>
                      <a:pPr indent="0" marL="0">
                        <a:buNone/>
                      </a:pPr>
                      <a:r>
                        <a:rPr lang="en-US" sz="2100" b="1" dirty="0">
                          <a:solidFill>
                            <a:srgbClr val="14284B"/>
                          </a:solidFill>
                          <a:latin typeface="Arial" pitchFamily="34" charset="0"/>
                          <a:ea typeface="Arial" pitchFamily="34" charset="-122"/>
                          <a:cs typeface="Arial" pitchFamily="34" charset="-120"/>
                        </a:rPr>
                        <a:t>(1)</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Kementerian, lembaga, pemerintah daerah, dan badan hukum yang menyimpan data mengenai harta Debitor Pailit </a:t>
                      </a:r>
                      <a:pPr indent="0" marL="0">
                        <a:buNone/>
                      </a:pPr>
                      <a:r>
                        <a:rPr lang="en-US" sz="2100" b="1" dirty="0">
                          <a:solidFill>
                            <a:srgbClr val="14284B"/>
                          </a:solidFill>
                          <a:latin typeface="Arial" pitchFamily="34" charset="0"/>
                          <a:ea typeface="Arial" pitchFamily="34" charset="-122"/>
                          <a:cs typeface="Arial" pitchFamily="34" charset="-120"/>
                        </a:rPr>
                        <a:t>wajib memberikan data tersebut</a:t>
                      </a:r>
                      <a:pPr indent="0" marL="0">
                        <a:buNone/>
                      </a:pPr>
                      <a:r>
                        <a:rPr lang="en-US" sz="2100" dirty="0">
                          <a:solidFill>
                            <a:srgbClr val="1A1A1A"/>
                          </a:solidFill>
                          <a:latin typeface="Arial" pitchFamily="34" charset="0"/>
                          <a:ea typeface="Arial" pitchFamily="34" charset="-122"/>
                          <a:cs typeface="Arial" pitchFamily="34" charset="-120"/>
                        </a:rPr>
                        <a:t> atas permintaan Kurator </a:t>
                      </a:r>
                      <a:pPr indent="0" marL="0">
                        <a:buNone/>
                      </a:pPr>
                      <a:r>
                        <a:rPr lang="en-US" sz="2100" b="1" dirty="0">
                          <a:solidFill>
                            <a:srgbClr val="14284B"/>
                          </a:solidFill>
                          <a:latin typeface="Arial" pitchFamily="34" charset="0"/>
                          <a:ea typeface="Arial" pitchFamily="34" charset="-122"/>
                          <a:cs typeface="Arial" pitchFamily="34" charset="-120"/>
                        </a:rPr>
                        <a:t>paling lama 14 (empat belas) hari kerja</a:t>
                      </a:r>
                      <a:pPr indent="0" marL="0">
                        <a:buNone/>
                      </a:pPr>
                      <a:r>
                        <a:rPr lang="en-US" sz="2100" dirty="0">
                          <a:solidFill>
                            <a:srgbClr val="1A1A1A"/>
                          </a:solidFill>
                          <a:latin typeface="Arial" pitchFamily="34" charset="0"/>
                          <a:ea typeface="Arial" pitchFamily="34" charset="-122"/>
                          <a:cs typeface="Arial" pitchFamily="34" charset="-120"/>
                        </a:rPr>
                        <a:t> terhitung sejak permintaan diterima.</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1097280">
                <a:tc>
                  <a:txBody>
                    <a:bodyPr/>
                    <a:lstStyle/>
                    <a:p>
                      <a:pPr indent="0" marL="0">
                        <a:buNone/>
                      </a:pPr>
                      <a:r>
                        <a:rPr lang="en-US" sz="2100" b="1" dirty="0">
                          <a:solidFill>
                            <a:srgbClr val="14284B"/>
                          </a:solidFill>
                          <a:latin typeface="Arial" pitchFamily="34" charset="0"/>
                          <a:ea typeface="Arial" pitchFamily="34" charset="-122"/>
                          <a:cs typeface="Arial" pitchFamily="34" charset="-120"/>
                        </a:rPr>
                        <a:t>(2)</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Permintaan data sebagaimana dimaksud pada ayat (1) diajukan dengan melampirkan salinan putusan pernyataan pailit dan bukti pengangkatan Kurator.</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768096">
                <a:tc>
                  <a:txBody>
                    <a:bodyPr/>
                    <a:lstStyle/>
                    <a:p>
                      <a:pPr indent="0" marL="0">
                        <a:buNone/>
                      </a:pPr>
                      <a:r>
                        <a:rPr lang="en-US" sz="2100" b="1" dirty="0">
                          <a:solidFill>
                            <a:srgbClr val="14284B"/>
                          </a:solidFill>
                          <a:latin typeface="Arial" pitchFamily="34" charset="0"/>
                          <a:ea typeface="Arial" pitchFamily="34" charset="-122"/>
                          <a:cs typeface="Arial" pitchFamily="34" charset="-120"/>
                        </a:rPr>
                        <a:t>(3)</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b="1" dirty="0">
                          <a:solidFill>
                            <a:srgbClr val="14284B"/>
                          </a:solidFill>
                          <a:latin typeface="Arial" pitchFamily="34" charset="0"/>
                          <a:ea typeface="Arial" pitchFamily="34" charset="-122"/>
                          <a:cs typeface="Arial" pitchFamily="34" charset="-120"/>
                        </a:rPr>
                        <a:t>Ketentuan mengenai rahasia bank tidak berlaku</a:t>
                      </a:r>
                      <a:pPr indent="0" marL="0">
                        <a:buNone/>
                      </a:pPr>
                      <a:r>
                        <a:rPr lang="en-US" sz="2100" dirty="0">
                          <a:solidFill>
                            <a:srgbClr val="1A1A1A"/>
                          </a:solidFill>
                          <a:latin typeface="Arial" pitchFamily="34" charset="0"/>
                          <a:ea typeface="Arial" pitchFamily="34" charset="-122"/>
                          <a:cs typeface="Arial" pitchFamily="34" charset="-120"/>
                        </a:rPr>
                        <a:t> terhadap pemberian data sebagaimana dimaksud pada ayat (1) kepada Kurator.</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26</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9</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11 · USULAN RUMUSAN PASAL  (2/2)</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Kewajiban Penyediaan Data</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1865376"/>
        </p:xfrm>
        <a:graphic>
          <a:graphicData uri="http://schemas.openxmlformats.org/drawingml/2006/table">
            <a:tbl>
              <a:tblPr/>
              <a:tblGrid>
                <a:gridCol w="731520"/>
                <a:gridCol w="594360"/>
                <a:gridCol w="9308592"/>
              </a:tblGrid>
              <a:tr h="768096">
                <a:tc>
                  <a:txBody>
                    <a:bodyPr/>
                    <a:lstStyle/>
                    <a:p>
                      <a:pPr indent="0" marL="0">
                        <a:buNone/>
                      </a:pPr>
                      <a:r>
                        <a:rPr lang="en-US" sz="2100" b="1" dirty="0">
                          <a:solidFill>
                            <a:srgbClr val="14284B"/>
                          </a:solidFill>
                          <a:latin typeface="Arial" pitchFamily="34" charset="0"/>
                          <a:ea typeface="Arial" pitchFamily="34" charset="-122"/>
                          <a:cs typeface="Arial" pitchFamily="34" charset="-120"/>
                        </a:rPr>
                        <a:t>(4)</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Menteri menyelenggarakan sistem informasi Kurator dan Pengurus yang terintegrasi dengan sistem informasi kementerian dan lembaga terkait.</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1097280">
                <a:tc>
                  <a:txBody>
                    <a:bodyPr/>
                    <a:lstStyle/>
                    <a:p>
                      <a:pPr indent="0" marL="0">
                        <a:buNone/>
                      </a:pPr>
                      <a:r>
                        <a:rPr lang="en-US" sz="2100" b="1" dirty="0">
                          <a:solidFill>
                            <a:srgbClr val="14284B"/>
                          </a:solidFill>
                          <a:latin typeface="Arial" pitchFamily="34" charset="0"/>
                          <a:ea typeface="Arial" pitchFamily="34" charset="-122"/>
                          <a:cs typeface="Arial" pitchFamily="34" charset="-120"/>
                        </a:rPr>
                        <a:t>(5)</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Pemberian, pengelolaan, dan penggunaan data sebagaimana dimaksud pada ayat (1) dan ayat (4) dilaksanakan sesuai dengan ketentuan peraturan perundang-undangan di bidang pelindungan data pribadi.</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27</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10</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12 · USULAN RUMUSAN PASAL</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Imbalan Jasa</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2414016"/>
        </p:xfrm>
        <a:graphic>
          <a:graphicData uri="http://schemas.openxmlformats.org/drawingml/2006/table">
            <a:tbl>
              <a:tblPr/>
              <a:tblGrid>
                <a:gridCol w="731520"/>
                <a:gridCol w="594360"/>
                <a:gridCol w="9308592"/>
              </a:tblGrid>
              <a:tr h="438912">
                <a:tc gridSpan="3">
                  <a:txBody>
                    <a:bodyPr/>
                    <a:lstStyle/>
                    <a:p>
                      <a:pPr algn="ctr" indent="0" marL="0">
                        <a:buNone/>
                      </a:pPr>
                      <a:r>
                        <a:rPr lang="en-US" sz="2100" b="1" dirty="0">
                          <a:solidFill>
                            <a:srgbClr val="14284B"/>
                          </a:solidFill>
                          <a:latin typeface="Arial" pitchFamily="34" charset="0"/>
                          <a:ea typeface="Arial" pitchFamily="34" charset="-122"/>
                          <a:cs typeface="Arial" pitchFamily="34" charset="-120"/>
                        </a:rPr>
                        <a:t>Pasal …</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c hMerge="1">
                  <a:tcPr/>
                </a:tc>
              </a:tr>
              <a:tr h="438912">
                <a:tc>
                  <a:txBody>
                    <a:bodyPr/>
                    <a:lstStyle/>
                    <a:p>
                      <a:pPr indent="0" marL="0">
                        <a:buNone/>
                      </a:pPr>
                      <a:r>
                        <a:rPr lang="en-US" sz="2100" b="1" dirty="0">
                          <a:solidFill>
                            <a:srgbClr val="14284B"/>
                          </a:solidFill>
                          <a:latin typeface="Arial" pitchFamily="34" charset="0"/>
                          <a:ea typeface="Arial" pitchFamily="34" charset="-122"/>
                          <a:cs typeface="Arial" pitchFamily="34" charset="-120"/>
                        </a:rPr>
                        <a:t>(1)</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Kurator dan Pengurus berhak atas imbalan jasa.</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768096">
                <a:tc>
                  <a:txBody>
                    <a:bodyPr/>
                    <a:lstStyle/>
                    <a:p>
                      <a:pPr indent="0" marL="0">
                        <a:buNone/>
                      </a:pPr>
                      <a:r>
                        <a:rPr lang="en-US" sz="2100" b="1" dirty="0">
                          <a:solidFill>
                            <a:srgbClr val="14284B"/>
                          </a:solidFill>
                          <a:latin typeface="Arial" pitchFamily="34" charset="0"/>
                          <a:ea typeface="Arial" pitchFamily="34" charset="-122"/>
                          <a:cs typeface="Arial" pitchFamily="34" charset="-120"/>
                        </a:rPr>
                        <a:t>(2)</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Besarnya imbalan jasa sebagaimana dimaksud pada ayat (1) ditetapkan oleh Pengadilan berdasarkan pedoman yang ditetapkan oleh Menteri.</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768096">
                <a:tc>
                  <a:txBody>
                    <a:bodyPr/>
                    <a:lstStyle/>
                    <a:p>
                      <a:pPr indent="0" marL="0">
                        <a:buNone/>
                      </a:pPr>
                      <a:r>
                        <a:rPr lang="en-US" sz="2100" b="1" dirty="0">
                          <a:solidFill>
                            <a:srgbClr val="14284B"/>
                          </a:solidFill>
                          <a:latin typeface="Arial" pitchFamily="34" charset="0"/>
                          <a:ea typeface="Arial" pitchFamily="34" charset="-122"/>
                          <a:cs typeface="Arial" pitchFamily="34" charset="-120"/>
                        </a:rPr>
                        <a:t>(3)</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Imbalan jasa yang diterima Balai Harta Peninggalan selaku Kurator Negara atau Pengurus </a:t>
                      </a:r>
                      <a:pPr indent="0" marL="0">
                        <a:buNone/>
                      </a:pPr>
                      <a:r>
                        <a:rPr lang="en-US" sz="2100" b="1" dirty="0">
                          <a:solidFill>
                            <a:srgbClr val="14284B"/>
                          </a:solidFill>
                          <a:latin typeface="Arial" pitchFamily="34" charset="0"/>
                          <a:ea typeface="Arial" pitchFamily="34" charset="-122"/>
                          <a:cs typeface="Arial" pitchFamily="34" charset="-120"/>
                        </a:rPr>
                        <a:t>merupakan Penerimaan Negara Bukan Pajak</a:t>
                      </a:r>
                      <a:pPr indent="0" marL="0">
                        <a:buNone/>
                      </a:pPr>
                      <a:r>
                        <a:rPr lang="en-US" sz="2100" dirty="0">
                          <a:solidFill>
                            <a:srgbClr val="1A1A1A"/>
                          </a:solidFill>
                          <a:latin typeface="Arial" pitchFamily="34" charset="0"/>
                          <a:ea typeface="Arial" pitchFamily="34" charset="-122"/>
                          <a:cs typeface="Arial" pitchFamily="34" charset="-120"/>
                        </a:rPr>
                        <a:t>.</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28</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7</a:t>
            </a:r>
            <a:endParaRPr lang="en-US" sz="4000" dirty="0"/>
          </a:p>
        </p:txBody>
      </p:sp>
      <p:sp>
        <p:nvSpPr>
          <p:cNvPr id="4" name="Text 2"/>
          <p:cNvSpPr txBox="1"/>
          <p:nvPr/>
        </p:nvSpPr>
        <p:spPr>
          <a:xfrm>
            <a:off x="1783080" y="411480"/>
            <a:ext cx="9859975" cy="960120"/>
          </a:xfrm>
          <a:prstGeom prst="rect">
            <a:avLst/>
          </a:prstGeom>
          <a:noFill/>
          <a:ln/>
        </p:spPr>
        <p:txBody>
          <a:bodyPr wrap="square" lIns="0" tIns="0" rIns="0" bIns="0" rtlCol="0" anchor="ctr"/>
          <a:lstStyle/>
          <a:p>
            <a:pPr indent="0" marL="0">
              <a:buNone/>
            </a:pPr>
            <a:r>
              <a:rPr lang="en-US" sz="3400" b="1" dirty="0">
                <a:solidFill>
                  <a:srgbClr val="14284B"/>
                </a:solidFill>
                <a:latin typeface="Arial" pitchFamily="34" charset="0"/>
                <a:ea typeface="Arial" pitchFamily="34" charset="-122"/>
                <a:cs typeface="Arial" pitchFamily="34" charset="-120"/>
              </a:rPr>
              <a:t>Akuntabilitas Pengelolaan Boedel</a:t>
            </a:r>
            <a:endParaRPr lang="en-US" sz="3400" dirty="0"/>
          </a:p>
        </p:txBody>
      </p:sp>
      <p:sp>
        <p:nvSpPr>
          <p:cNvPr id="5" name="Shape 3"/>
          <p:cNvSpPr/>
          <p:nvPr/>
        </p:nvSpPr>
        <p:spPr>
          <a:xfrm>
            <a:off x="548640" y="1600200"/>
            <a:ext cx="4206240" cy="4572000"/>
          </a:xfrm>
          <a:prstGeom prst="roundRect">
            <a:avLst>
              <a:gd name="adj" fmla="val 2609"/>
            </a:avLst>
          </a:prstGeom>
          <a:solidFill>
            <a:srgbClr val="14284B"/>
          </a:solidFill>
          <a:ln w="12700">
            <a:solidFill>
              <a:srgbClr val="14284B"/>
            </a:solidFill>
            <a:prstDash val="solid"/>
          </a:ln>
        </p:spPr>
      </p:sp>
      <p:sp>
        <p:nvSpPr>
          <p:cNvPr id="6" name="Text 4"/>
          <p:cNvSpPr txBox="1"/>
          <p:nvPr/>
        </p:nvSpPr>
        <p:spPr>
          <a:xfrm>
            <a:off x="548640" y="1737360"/>
            <a:ext cx="4206240" cy="1371600"/>
          </a:xfrm>
          <a:prstGeom prst="rect">
            <a:avLst/>
          </a:prstGeom>
          <a:noFill/>
          <a:ln/>
        </p:spPr>
        <p:txBody>
          <a:bodyPr wrap="square" lIns="0" tIns="0" rIns="0" bIns="0" rtlCol="0" anchor="ctr"/>
          <a:lstStyle/>
          <a:p>
            <a:pPr algn="ctr" indent="0" marL="0">
              <a:buNone/>
            </a:pPr>
            <a:r>
              <a:rPr lang="en-US" sz="9600" b="1" dirty="0">
                <a:solidFill>
                  <a:srgbClr val="E0A526"/>
                </a:solidFill>
                <a:latin typeface="Arial" pitchFamily="34" charset="0"/>
                <a:ea typeface="Arial" pitchFamily="34" charset="-122"/>
                <a:cs typeface="Arial" pitchFamily="34" charset="-120"/>
              </a:rPr>
              <a:t>1</a:t>
            </a:r>
            <a:endParaRPr lang="en-US" sz="9600" dirty="0"/>
          </a:p>
        </p:txBody>
      </p:sp>
      <p:sp>
        <p:nvSpPr>
          <p:cNvPr id="7" name="Text 5"/>
          <p:cNvSpPr txBox="1"/>
          <p:nvPr/>
        </p:nvSpPr>
        <p:spPr>
          <a:xfrm>
            <a:off x="777240" y="3154680"/>
            <a:ext cx="3749040" cy="914400"/>
          </a:xfrm>
          <a:prstGeom prst="rect">
            <a:avLst/>
          </a:prstGeom>
          <a:noFill/>
          <a:ln/>
        </p:spPr>
        <p:txBody>
          <a:bodyPr wrap="square" lIns="0" tIns="0" rIns="0" bIns="0" rtlCol="0" anchor="t"/>
          <a:lstStyle/>
          <a:p>
            <a:pPr algn="ctr" indent="0" marL="0">
              <a:buNone/>
            </a:pPr>
            <a:r>
              <a:rPr lang="en-US" sz="2400" b="1" dirty="0">
                <a:solidFill>
                  <a:srgbClr val="FFFFFF"/>
                </a:solidFill>
                <a:latin typeface="Arial" pitchFamily="34" charset="0"/>
                <a:ea typeface="Arial" pitchFamily="34" charset="-122"/>
                <a:cs typeface="Arial" pitchFamily="34" charset="-120"/>
              </a:rPr>
              <a:t>rekening kepailitan untuk setiap perkara</a:t>
            </a:r>
            <a:endParaRPr lang="en-US" sz="2400" dirty="0"/>
          </a:p>
        </p:txBody>
      </p:sp>
      <p:sp>
        <p:nvSpPr>
          <p:cNvPr id="8" name="Text 6"/>
          <p:cNvSpPr txBox="1"/>
          <p:nvPr/>
        </p:nvSpPr>
        <p:spPr>
          <a:xfrm>
            <a:off x="777240" y="4206240"/>
            <a:ext cx="3749040" cy="1737360"/>
          </a:xfrm>
          <a:prstGeom prst="rect">
            <a:avLst/>
          </a:prstGeom>
          <a:noFill/>
          <a:ln/>
        </p:spPr>
        <p:txBody>
          <a:bodyPr wrap="square" lIns="0" tIns="0" rIns="0" bIns="0" rtlCol="0" anchor="t"/>
          <a:lstStyle/>
          <a:p>
            <a:pPr algn="ctr" indent="0" marL="0">
              <a:buNone/>
            </a:pPr>
            <a:r>
              <a:rPr lang="en-US" sz="1900" dirty="0">
                <a:solidFill>
                  <a:srgbClr val="FFFFFF"/>
                </a:solidFill>
                <a:latin typeface="Arial" pitchFamily="34" charset="0"/>
                <a:ea typeface="Arial" pitchFamily="34" charset="-122"/>
                <a:cs typeface="Arial" pitchFamily="34" charset="-120"/>
              </a:rPr>
              <a:t>Bagi Kurator Negara, rekening dikelola sesuai ketentuan penatausahaan uang pihak ketiga pada BHP.</a:t>
            </a:r>
            <a:endParaRPr lang="en-US" sz="1900" dirty="0"/>
          </a:p>
        </p:txBody>
      </p:sp>
      <p:sp>
        <p:nvSpPr>
          <p:cNvPr id="9" name="Text 7"/>
          <p:cNvSpPr txBox="1"/>
          <p:nvPr/>
        </p:nvSpPr>
        <p:spPr>
          <a:xfrm>
            <a:off x="5120640" y="1600200"/>
            <a:ext cx="6519672" cy="4572000"/>
          </a:xfrm>
          <a:prstGeom prst="rect">
            <a:avLst/>
          </a:prstGeom>
          <a:noFill/>
          <a:ln/>
        </p:spPr>
        <p:txBody>
          <a:bodyPr wrap="square" lIns="0" tIns="0" rIns="0" bIns="0" rtlCol="0" anchor="ctr"/>
          <a:lstStyle/>
          <a:p>
            <a:pPr indent="0" marL="0">
              <a:buNone/>
            </a:pPr>
            <a:r>
              <a:rPr lang="en-US" sz="2500" dirty="0">
                <a:solidFill>
                  <a:srgbClr val="1A1A1A"/>
                </a:solidFill>
                <a:latin typeface="Arial" pitchFamily="34" charset="0"/>
                <a:ea typeface="Arial" pitchFamily="34" charset="-122"/>
                <a:cs typeface="Arial" pitchFamily="34" charset="-120"/>
              </a:rPr>
              <a:t>Untuk pembagian hasil pemberesan, RUU perlu memuat urutan prioritas pembayaran kepada Kreditor sebagai pedoman bagi kurator, dengan memperhatikan Putusan Mahkamah Konstitusi Nomor 67/PUU-XI/2013 mengenai kedudukan upah dan hak pekerja.</a:t>
            </a:r>
            <a:endParaRPr lang="en-US" sz="2500" dirty="0"/>
          </a:p>
        </p:txBody>
      </p:sp>
      <p:sp>
        <p:nvSpPr>
          <p:cNvPr id="10" name="Text 8"/>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11" name="Text 9"/>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29</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7</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9 · USULAN RUMUSAN PASAL  (1/3)</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Rekening Kepailitan dan Urutan Pembayaran</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4279392"/>
        </p:xfrm>
        <a:graphic>
          <a:graphicData uri="http://schemas.openxmlformats.org/drawingml/2006/table">
            <a:tbl>
              <a:tblPr/>
              <a:tblGrid>
                <a:gridCol w="731520"/>
                <a:gridCol w="594360"/>
                <a:gridCol w="9308592"/>
              </a:tblGrid>
              <a:tr h="438912">
                <a:tc gridSpan="3">
                  <a:txBody>
                    <a:bodyPr/>
                    <a:lstStyle/>
                    <a:p>
                      <a:pPr algn="ctr" indent="0" marL="0">
                        <a:buNone/>
                      </a:pPr>
                      <a:r>
                        <a:rPr lang="en-US" sz="2100" b="1" dirty="0">
                          <a:solidFill>
                            <a:srgbClr val="14284B"/>
                          </a:solidFill>
                          <a:latin typeface="Arial" pitchFamily="34" charset="0"/>
                          <a:ea typeface="Arial" pitchFamily="34" charset="-122"/>
                          <a:cs typeface="Arial" pitchFamily="34" charset="-120"/>
                        </a:rPr>
                        <a:t>Pasal …</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c hMerge="1">
                  <a:tcPr/>
                </a:tc>
              </a:tr>
              <a:tr h="768096">
                <a:tc>
                  <a:txBody>
                    <a:bodyPr/>
                    <a:lstStyle/>
                    <a:p>
                      <a:pPr indent="0" marL="0">
                        <a:buNone/>
                      </a:pPr>
                      <a:r>
                        <a:rPr lang="en-US" sz="2100" b="1" dirty="0">
                          <a:solidFill>
                            <a:srgbClr val="14284B"/>
                          </a:solidFill>
                          <a:latin typeface="Arial" pitchFamily="34" charset="0"/>
                          <a:ea typeface="Arial" pitchFamily="34" charset="-122"/>
                          <a:cs typeface="Arial" pitchFamily="34" charset="-120"/>
                        </a:rPr>
                        <a:t>(1)</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Kurator wajib menyimpan seluruh uang harta pailit dalam </a:t>
                      </a:r>
                      <a:pPr indent="0" marL="0">
                        <a:buNone/>
                      </a:pPr>
                      <a:r>
                        <a:rPr lang="en-US" sz="2100" b="1" dirty="0">
                          <a:solidFill>
                            <a:srgbClr val="14284B"/>
                          </a:solidFill>
                          <a:latin typeface="Arial" pitchFamily="34" charset="0"/>
                          <a:ea typeface="Arial" pitchFamily="34" charset="-122"/>
                          <a:cs typeface="Arial" pitchFamily="34" charset="-120"/>
                        </a:rPr>
                        <a:t>1 (satu) rekening kepailitan untuk setiap perkara</a:t>
                      </a:r>
                      <a:pPr indent="0" marL="0">
                        <a:buNone/>
                      </a:pPr>
                      <a:r>
                        <a:rPr lang="en-US" sz="2100" dirty="0">
                          <a:solidFill>
                            <a:srgbClr val="1A1A1A"/>
                          </a:solidFill>
                          <a:latin typeface="Arial" pitchFamily="34" charset="0"/>
                          <a:ea typeface="Arial" pitchFamily="34" charset="-122"/>
                          <a:cs typeface="Arial" pitchFamily="34" charset="-120"/>
                        </a:rPr>
                        <a:t>.</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768096">
                <a:tc>
                  <a:txBody>
                    <a:bodyPr/>
                    <a:lstStyle/>
                    <a:p>
                      <a:pPr indent="0" marL="0">
                        <a:buNone/>
                      </a:pPr>
                      <a:r>
                        <a:rPr lang="en-US" sz="2100" b="1" dirty="0">
                          <a:solidFill>
                            <a:srgbClr val="14284B"/>
                          </a:solidFill>
                          <a:latin typeface="Arial" pitchFamily="34" charset="0"/>
                          <a:ea typeface="Arial" pitchFamily="34" charset="-122"/>
                          <a:cs typeface="Arial" pitchFamily="34" charset="-120"/>
                        </a:rPr>
                        <a:t>(2)</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Setiap penerimaan dan pengeluaran uang harta pailit wajib dicatat, didukung dengan bukti, dan dilaporkan kepada Hakim Pengawas.</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1097280">
                <a:tc>
                  <a:txBody>
                    <a:bodyPr/>
                    <a:lstStyle/>
                    <a:p>
                      <a:pPr indent="0" marL="0">
                        <a:buNone/>
                      </a:pPr>
                      <a:r>
                        <a:rPr lang="en-US" sz="2100" b="1" dirty="0">
                          <a:solidFill>
                            <a:srgbClr val="14284B"/>
                          </a:solidFill>
                          <a:latin typeface="Arial" pitchFamily="34" charset="0"/>
                          <a:ea typeface="Arial" pitchFamily="34" charset="-122"/>
                          <a:cs typeface="Arial" pitchFamily="34" charset="-120"/>
                        </a:rPr>
                        <a:t>(3)</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Rekening kepailitan yang dikelola Kurator Negara ditatausahakan sesuai dengan ketentuan peraturan perundang-undangan mengenai penatausahaan uang pihak ketiga pada Balai Harta Peninggalan.</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438912">
                <a:tc gridSpan="3">
                  <a:txBody>
                    <a:bodyPr/>
                    <a:lstStyle/>
                    <a:p>
                      <a:pPr algn="ctr" indent="0" marL="0">
                        <a:buNone/>
                      </a:pPr>
                      <a:r>
                        <a:rPr lang="en-US" sz="2100" b="1" dirty="0">
                          <a:solidFill>
                            <a:srgbClr val="14284B"/>
                          </a:solidFill>
                          <a:latin typeface="Arial" pitchFamily="34" charset="0"/>
                          <a:ea typeface="Arial" pitchFamily="34" charset="-122"/>
                          <a:cs typeface="Arial" pitchFamily="34" charset="-120"/>
                        </a:rPr>
                        <a:t>Pasal …</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c hMerge="1">
                  <a:tcPr/>
                </a:tc>
              </a:tr>
              <a:tr h="768096">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Dalam melakukan pembagian hasil pemberesan harta pailit, Kurator melakukan pembayaran dengan urutan sebagai berikut:</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30</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7</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9 · USULAN RUMUSAN PASAL  (2/3)</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Rekening Kepailitan dan Urutan Pembayaran</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3291840"/>
        </p:xfrm>
        <a:graphic>
          <a:graphicData uri="http://schemas.openxmlformats.org/drawingml/2006/table">
            <a:tbl>
              <a:tblPr/>
              <a:tblGrid>
                <a:gridCol w="731520"/>
                <a:gridCol w="594360"/>
                <a:gridCol w="9308592"/>
              </a:tblGrid>
              <a:tr h="438912">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a.</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dirty="0">
                          <a:solidFill>
                            <a:srgbClr val="1A1A1A"/>
                          </a:solidFill>
                          <a:latin typeface="Arial" pitchFamily="34" charset="0"/>
                          <a:ea typeface="Arial" pitchFamily="34" charset="-122"/>
                          <a:cs typeface="Arial" pitchFamily="34" charset="-120"/>
                        </a:rPr>
                        <a:t>biaya kepailitan dan imbalan jasa Kurator;</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r>
              <a:tr h="438912">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b.</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upah pekerja yang terutang</a:t>
                      </a:r>
                      <a:pPr indent="0" marL="0">
                        <a:buNone/>
                      </a:pPr>
                      <a:r>
                        <a:rPr lang="en-US" sz="2100" dirty="0">
                          <a:solidFill>
                            <a:srgbClr val="1A1A1A"/>
                          </a:solidFill>
                          <a:latin typeface="Arial" pitchFamily="34" charset="0"/>
                          <a:ea typeface="Arial" pitchFamily="34" charset="-122"/>
                          <a:cs typeface="Arial" pitchFamily="34" charset="-120"/>
                        </a:rPr>
                        <a:t>;</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r>
              <a:tr h="768096">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c.</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dirty="0">
                          <a:solidFill>
                            <a:srgbClr val="1A1A1A"/>
                          </a:solidFill>
                          <a:latin typeface="Arial" pitchFamily="34" charset="0"/>
                          <a:ea typeface="Arial" pitchFamily="34" charset="-122"/>
                          <a:cs typeface="Arial" pitchFamily="34" charset="-120"/>
                        </a:rPr>
                        <a:t>tagihan Kreditor pemegang hak jaminan kebendaan, sebatas hasil penjualan benda yang dibebani jaminan;</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r>
              <a:tr h="438912">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d.</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hak pekerja lainnya</a:t>
                      </a:r>
                      <a:pPr indent="0" marL="0">
                        <a:buNone/>
                      </a:pPr>
                      <a:r>
                        <a:rPr lang="en-US" sz="2100" dirty="0">
                          <a:solidFill>
                            <a:srgbClr val="1A1A1A"/>
                          </a:solidFill>
                          <a:latin typeface="Arial" pitchFamily="34" charset="0"/>
                          <a:ea typeface="Arial" pitchFamily="34" charset="-122"/>
                          <a:cs typeface="Arial" pitchFamily="34" charset="-120"/>
                        </a:rPr>
                        <a:t>;</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r>
              <a:tr h="768096">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e.</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dirty="0">
                          <a:solidFill>
                            <a:srgbClr val="1A1A1A"/>
                          </a:solidFill>
                          <a:latin typeface="Arial" pitchFamily="34" charset="0"/>
                          <a:ea typeface="Arial" pitchFamily="34" charset="-122"/>
                          <a:cs typeface="Arial" pitchFamily="34" charset="-120"/>
                        </a:rPr>
                        <a:t>tagihan negara dan tagihan lain yang menurut undang-undang mempunyai hak didahulukan; dan</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r>
              <a:tr h="438912">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f.</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dirty="0">
                          <a:solidFill>
                            <a:srgbClr val="1A1A1A"/>
                          </a:solidFill>
                          <a:latin typeface="Arial" pitchFamily="34" charset="0"/>
                          <a:ea typeface="Arial" pitchFamily="34" charset="-122"/>
                          <a:cs typeface="Arial" pitchFamily="34" charset="-120"/>
                        </a:rPr>
                        <a:t>tagihan Kreditor konkuren secara seimbang.</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31</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7</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9 · USULAN RUMUSAN PASAL  (3/3)</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Rekening Kepailitan dan Urutan Pembayaran</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1755648"/>
        </p:xfrm>
        <a:graphic>
          <a:graphicData uri="http://schemas.openxmlformats.org/drawingml/2006/table">
            <a:tbl>
              <a:tblPr/>
              <a:tblGrid>
                <a:gridCol w="731520"/>
                <a:gridCol w="594360"/>
                <a:gridCol w="9308592"/>
              </a:tblGrid>
              <a:tr h="1755648">
                <a:tc gridSpan="3">
                  <a:txBody>
                    <a:bodyPr/>
                    <a:lstStyle/>
                    <a:p>
                      <a:pPr indent="0" marL="0">
                        <a:buNone/>
                      </a:pPr>
                      <a:r>
                        <a:rPr lang="en-US" sz="2000" i="1" dirty="0">
                          <a:solidFill>
                            <a:srgbClr val="2D3748"/>
                          </a:solidFill>
                          <a:latin typeface="Arial" pitchFamily="34" charset="0"/>
                          <a:ea typeface="Arial" pitchFamily="34" charset="-122"/>
                          <a:cs typeface="Arial" pitchFamily="34" charset="-120"/>
                        </a:rPr>
                        <a:t>Usulan penjelasan: Urutan huruf b dan huruf d disusun dengan memperhatikan </a:t>
                      </a:r>
                      <a:pPr indent="0" marL="0">
                        <a:buNone/>
                      </a:pPr>
                      <a:r>
                        <a:rPr lang="en-US" sz="2000" b="1" i="1" dirty="0">
                          <a:solidFill>
                            <a:srgbClr val="14284B"/>
                          </a:solidFill>
                          <a:latin typeface="Arial" pitchFamily="34" charset="0"/>
                          <a:ea typeface="Arial" pitchFamily="34" charset="-122"/>
                          <a:cs typeface="Arial" pitchFamily="34" charset="-120"/>
                        </a:rPr>
                        <a:t>Putusan Mahkamah Konstitusi Nomor 67/PUU-XI/2013</a:t>
                      </a:r>
                      <a:pPr indent="0" marL="0">
                        <a:buNone/>
                      </a:pPr>
                      <a:r>
                        <a:rPr lang="en-US" sz="2000" i="1" dirty="0">
                          <a:solidFill>
                            <a:srgbClr val="2D3748"/>
                          </a:solidFill>
                          <a:latin typeface="Arial" pitchFamily="34" charset="0"/>
                          <a:ea typeface="Arial" pitchFamily="34" charset="-122"/>
                          <a:cs typeface="Arial" pitchFamily="34" charset="-120"/>
                        </a:rPr>
                        <a:t>, yang menempatkan upah pekerja di atas semua jenis tagihan, termasuk tagihan Kreditor pemegang hak jaminan kebendaan, serta menempatkan hak pekerja lainnya di atas tagihan negara, kecuali tagihan Kreditor pemegang hak jaminan kebendaan.</a:t>
                      </a:r>
                      <a:endParaRPr lang="en-US" sz="20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solidFill>
                      <a:srgbClr val="F3F6FA"/>
                    </a:solidFill>
                  </a:tcPr>
                </a:tc>
                <a:tc hMerge="1">
                  <a:tcPr/>
                </a:tc>
                <a:tc hMerge="1">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32</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4284B"/>
        </a:solidFill>
      </p:bgPr>
    </p:bg>
    <p:spTree>
      <p:nvGrpSpPr>
        <p:cNvPr id="1" name=""/>
        <p:cNvGrpSpPr/>
        <p:nvPr/>
      </p:nvGrpSpPr>
      <p:grpSpPr>
        <a:xfrm>
          <a:off x="0" y="0"/>
          <a:ext cx="0" cy="0"/>
          <a:chOff x="0" y="0"/>
          <a:chExt cx="0" cy="0"/>
        </a:xfrm>
      </p:grpSpPr>
      <p:sp>
        <p:nvSpPr>
          <p:cNvPr id="2" name="Shape 0"/>
          <p:cNvSpPr/>
          <p:nvPr/>
        </p:nvSpPr>
        <p:spPr>
          <a:xfrm>
            <a:off x="731520" y="548640"/>
            <a:ext cx="2011680" cy="73152"/>
          </a:xfrm>
          <a:prstGeom prst="roundRect">
            <a:avLst>
              <a:gd name="adj" fmla="val 50000"/>
            </a:avLst>
          </a:prstGeom>
          <a:solidFill>
            <a:srgbClr val="8A7A4A"/>
          </a:solidFill>
          <a:ln w="12700">
            <a:solidFill>
              <a:srgbClr val="8A7A4A"/>
            </a:solidFill>
            <a:prstDash val="solid"/>
          </a:ln>
        </p:spPr>
      </p:sp>
      <p:sp>
        <p:nvSpPr>
          <p:cNvPr id="3" name="Shape 1"/>
          <p:cNvSpPr/>
          <p:nvPr/>
        </p:nvSpPr>
        <p:spPr>
          <a:xfrm>
            <a:off x="2907792" y="548640"/>
            <a:ext cx="2011680" cy="73152"/>
          </a:xfrm>
          <a:prstGeom prst="roundRect">
            <a:avLst>
              <a:gd name="adj" fmla="val 50000"/>
            </a:avLst>
          </a:prstGeom>
          <a:solidFill>
            <a:srgbClr val="8A7A4A"/>
          </a:solidFill>
          <a:ln w="12700">
            <a:solidFill>
              <a:srgbClr val="8A7A4A"/>
            </a:solidFill>
            <a:prstDash val="solid"/>
          </a:ln>
        </p:spPr>
      </p:sp>
      <p:sp>
        <p:nvSpPr>
          <p:cNvPr id="4" name="Shape 2"/>
          <p:cNvSpPr/>
          <p:nvPr/>
        </p:nvSpPr>
        <p:spPr>
          <a:xfrm>
            <a:off x="5084064" y="548640"/>
            <a:ext cx="2011680" cy="73152"/>
          </a:xfrm>
          <a:prstGeom prst="roundRect">
            <a:avLst>
              <a:gd name="adj" fmla="val 50000"/>
            </a:avLst>
          </a:prstGeom>
          <a:solidFill>
            <a:srgbClr val="8A7A4A"/>
          </a:solidFill>
          <a:ln w="12700">
            <a:solidFill>
              <a:srgbClr val="8A7A4A"/>
            </a:solidFill>
            <a:prstDash val="solid"/>
          </a:ln>
        </p:spPr>
      </p:sp>
      <p:sp>
        <p:nvSpPr>
          <p:cNvPr id="5" name="Shape 3"/>
          <p:cNvSpPr/>
          <p:nvPr/>
        </p:nvSpPr>
        <p:spPr>
          <a:xfrm>
            <a:off x="7260336" y="548640"/>
            <a:ext cx="2011680" cy="73152"/>
          </a:xfrm>
          <a:prstGeom prst="roundRect">
            <a:avLst>
              <a:gd name="adj" fmla="val 50000"/>
            </a:avLst>
          </a:prstGeom>
          <a:solidFill>
            <a:srgbClr val="E0A526"/>
          </a:solidFill>
          <a:ln w="12700">
            <a:solidFill>
              <a:srgbClr val="E0A526"/>
            </a:solidFill>
            <a:prstDash val="solid"/>
          </a:ln>
        </p:spPr>
      </p:sp>
      <p:sp>
        <p:nvSpPr>
          <p:cNvPr id="6" name="Shape 4"/>
          <p:cNvSpPr/>
          <p:nvPr/>
        </p:nvSpPr>
        <p:spPr>
          <a:xfrm>
            <a:off x="9436608" y="548640"/>
            <a:ext cx="2011680" cy="73152"/>
          </a:xfrm>
          <a:prstGeom prst="roundRect">
            <a:avLst>
              <a:gd name="adj" fmla="val 50000"/>
            </a:avLst>
          </a:prstGeom>
          <a:solidFill>
            <a:srgbClr val="34456A"/>
          </a:solidFill>
          <a:ln w="12700">
            <a:solidFill>
              <a:srgbClr val="34456A"/>
            </a:solidFill>
            <a:prstDash val="solid"/>
          </a:ln>
        </p:spPr>
      </p:sp>
      <p:sp>
        <p:nvSpPr>
          <p:cNvPr id="7" name="Text 5"/>
          <p:cNvSpPr txBox="1"/>
          <p:nvPr/>
        </p:nvSpPr>
        <p:spPr>
          <a:xfrm>
            <a:off x="731520" y="1051560"/>
            <a:ext cx="10698480" cy="457200"/>
          </a:xfrm>
          <a:prstGeom prst="rect">
            <a:avLst/>
          </a:prstGeom>
          <a:noFill/>
          <a:ln/>
        </p:spPr>
        <p:txBody>
          <a:bodyPr wrap="square" lIns="0" tIns="0" rIns="0" bIns="0" rtlCol="0" anchor="t"/>
          <a:lstStyle/>
          <a:p>
            <a:pPr indent="0" marL="0">
              <a:buNone/>
            </a:pPr>
            <a:r>
              <a:rPr lang="en-US" sz="1800" b="1" spc="300" kern="0" dirty="0">
                <a:solidFill>
                  <a:srgbClr val="E0A526"/>
                </a:solidFill>
                <a:latin typeface="Arial" pitchFamily="34" charset="0"/>
                <a:ea typeface="Arial" pitchFamily="34" charset="-122"/>
                <a:cs typeface="Arial" pitchFamily="34" charset="-120"/>
              </a:rPr>
              <a:t>POKOK PEMBAHASAN 4 DARI 5</a:t>
            </a:r>
            <a:endParaRPr lang="en-US" sz="1800" dirty="0"/>
          </a:p>
        </p:txBody>
      </p:sp>
      <p:sp>
        <p:nvSpPr>
          <p:cNvPr id="8" name="Text 6"/>
          <p:cNvSpPr txBox="1"/>
          <p:nvPr/>
        </p:nvSpPr>
        <p:spPr>
          <a:xfrm>
            <a:off x="731520" y="1554480"/>
            <a:ext cx="10698480" cy="100584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Penguatan Kelembagaan BHP</a:t>
            </a:r>
            <a:endParaRPr lang="en-US" sz="4800" dirty="0"/>
          </a:p>
        </p:txBody>
      </p:sp>
      <p:sp>
        <p:nvSpPr>
          <p:cNvPr id="9" name="Text 7"/>
          <p:cNvSpPr txBox="1"/>
          <p:nvPr/>
        </p:nvSpPr>
        <p:spPr>
          <a:xfrm>
            <a:off x="731520" y="2697480"/>
            <a:ext cx="10241280" cy="1188720"/>
          </a:xfrm>
          <a:prstGeom prst="rect">
            <a:avLst/>
          </a:prstGeom>
          <a:noFill/>
          <a:ln/>
        </p:spPr>
        <p:txBody>
          <a:bodyPr wrap="square" lIns="0" tIns="0" rIns="0" bIns="0" rtlCol="0" anchor="t"/>
          <a:lstStyle/>
          <a:p>
            <a:pPr indent="0" marL="0">
              <a:buNone/>
            </a:pPr>
            <a:r>
              <a:rPr lang="en-US" sz="2200" dirty="0">
                <a:solidFill>
                  <a:srgbClr val="DCE4F2"/>
                </a:solidFill>
                <a:latin typeface="Arial" pitchFamily="34" charset="0"/>
                <a:ea typeface="Arial" pitchFamily="34" charset="-122"/>
                <a:cs typeface="Arial" pitchFamily="34" charset="-120"/>
              </a:rPr>
              <a:t>Merumuskan posisi BHP dalam RUU serta koordinasinya dengan Pengadilan Niaga dan organisasi kurator.</a:t>
            </a:r>
            <a:endParaRPr lang="en-US" sz="2200" dirty="0"/>
          </a:p>
        </p:txBody>
      </p:sp>
      <p:sp>
        <p:nvSpPr>
          <p:cNvPr id="10" name="Shape 8"/>
          <p:cNvSpPr/>
          <p:nvPr/>
        </p:nvSpPr>
        <p:spPr>
          <a:xfrm>
            <a:off x="731520" y="4160520"/>
            <a:ext cx="420624" cy="420624"/>
          </a:xfrm>
          <a:prstGeom prst="ellipse">
            <a:avLst/>
          </a:prstGeom>
          <a:solidFill>
            <a:srgbClr val="E0A526"/>
          </a:solidFill>
          <a:ln w="12700">
            <a:solidFill>
              <a:srgbClr val="E0A526"/>
            </a:solidFill>
            <a:prstDash val="solid"/>
          </a:ln>
        </p:spPr>
      </p:sp>
      <p:sp>
        <p:nvSpPr>
          <p:cNvPr id="11" name="Text 9"/>
          <p:cNvSpPr txBox="1"/>
          <p:nvPr/>
        </p:nvSpPr>
        <p:spPr>
          <a:xfrm>
            <a:off x="731520" y="4160520"/>
            <a:ext cx="420624" cy="420624"/>
          </a:xfrm>
          <a:prstGeom prst="rect">
            <a:avLst/>
          </a:prstGeom>
          <a:noFill/>
          <a:ln/>
        </p:spPr>
        <p:txBody>
          <a:bodyPr wrap="square" lIns="0" tIns="0" rIns="0" bIns="0" rtlCol="0" anchor="ctr"/>
          <a:lstStyle/>
          <a:p>
            <a:pPr algn="ctr" indent="0" marL="0">
              <a:buNone/>
            </a:pPr>
            <a:r>
              <a:rPr lang="en-US" sz="1500" b="1" dirty="0">
                <a:solidFill>
                  <a:srgbClr val="14284B"/>
                </a:solidFill>
                <a:latin typeface="Arial" pitchFamily="34" charset="0"/>
                <a:ea typeface="Arial" pitchFamily="34" charset="-122"/>
                <a:cs typeface="Arial" pitchFamily="34" charset="-120"/>
              </a:rPr>
              <a:t>1</a:t>
            </a:r>
            <a:endParaRPr lang="en-US" sz="1500" dirty="0"/>
          </a:p>
        </p:txBody>
      </p:sp>
      <p:sp>
        <p:nvSpPr>
          <p:cNvPr id="12" name="Text 10"/>
          <p:cNvSpPr txBox="1"/>
          <p:nvPr/>
        </p:nvSpPr>
        <p:spPr>
          <a:xfrm>
            <a:off x="1325880" y="4160520"/>
            <a:ext cx="9601200" cy="420624"/>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Batas Jumlah Perkara bagi BHP</a:t>
            </a:r>
            <a:endParaRPr lang="en-US" sz="1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1</a:t>
            </a:r>
            <a:endParaRPr lang="en-US" sz="4000" dirty="0"/>
          </a:p>
        </p:txBody>
      </p:sp>
      <p:sp>
        <p:nvSpPr>
          <p:cNvPr id="4" name="Text 2"/>
          <p:cNvSpPr txBox="1"/>
          <p:nvPr/>
        </p:nvSpPr>
        <p:spPr>
          <a:xfrm>
            <a:off x="1783080" y="411480"/>
            <a:ext cx="9859975" cy="960120"/>
          </a:xfrm>
          <a:prstGeom prst="rect">
            <a:avLst/>
          </a:prstGeom>
          <a:noFill/>
          <a:ln/>
        </p:spPr>
        <p:txBody>
          <a:bodyPr wrap="square" lIns="0" tIns="0" rIns="0" bIns="0" rtlCol="0" anchor="ctr"/>
          <a:lstStyle/>
          <a:p>
            <a:pPr indent="0" marL="0">
              <a:buNone/>
            </a:pPr>
            <a:r>
              <a:rPr lang="en-US" sz="3400" b="1" dirty="0">
                <a:solidFill>
                  <a:srgbClr val="14284B"/>
                </a:solidFill>
                <a:latin typeface="Arial" pitchFamily="34" charset="0"/>
                <a:ea typeface="Arial" pitchFamily="34" charset="-122"/>
                <a:cs typeface="Arial" pitchFamily="34" charset="-120"/>
              </a:rPr>
              <a:t>Batas Jumlah Perkara Juga Berlaku bagi BHP</a:t>
            </a:r>
            <a:endParaRPr lang="en-US" sz="3400" dirty="0"/>
          </a:p>
        </p:txBody>
      </p:sp>
      <p:sp>
        <p:nvSpPr>
          <p:cNvPr id="5" name="Shape 3"/>
          <p:cNvSpPr/>
          <p:nvPr/>
        </p:nvSpPr>
        <p:spPr>
          <a:xfrm>
            <a:off x="548640" y="1600200"/>
            <a:ext cx="3520440" cy="2514600"/>
          </a:xfrm>
          <a:prstGeom prst="roundRect">
            <a:avLst>
              <a:gd name="adj" fmla="val 4364"/>
            </a:avLst>
          </a:prstGeom>
          <a:solidFill>
            <a:srgbClr val="EEF2F8"/>
          </a:solidFill>
          <a:ln w="12700">
            <a:solidFill>
              <a:srgbClr val="EEF2F8"/>
            </a:solidFill>
            <a:prstDash val="solid"/>
          </a:ln>
        </p:spPr>
      </p:sp>
      <p:sp>
        <p:nvSpPr>
          <p:cNvPr id="6" name="Text 4"/>
          <p:cNvSpPr txBox="1"/>
          <p:nvPr/>
        </p:nvSpPr>
        <p:spPr>
          <a:xfrm>
            <a:off x="548640" y="1691640"/>
            <a:ext cx="3520440" cy="1234440"/>
          </a:xfrm>
          <a:prstGeom prst="rect">
            <a:avLst/>
          </a:prstGeom>
          <a:noFill/>
          <a:ln/>
        </p:spPr>
        <p:txBody>
          <a:bodyPr wrap="square" lIns="0" tIns="0" rIns="0" bIns="0" rtlCol="0" anchor="ctr"/>
          <a:lstStyle/>
          <a:p>
            <a:pPr algn="ctr" indent="0" marL="0">
              <a:buNone/>
            </a:pPr>
            <a:r>
              <a:rPr lang="en-US" sz="8000" b="1" dirty="0">
                <a:solidFill>
                  <a:srgbClr val="14284B"/>
                </a:solidFill>
                <a:latin typeface="Arial" pitchFamily="34" charset="0"/>
                <a:ea typeface="Arial" pitchFamily="34" charset="-122"/>
                <a:cs typeface="Arial" pitchFamily="34" charset="-120"/>
              </a:rPr>
              <a:t>3</a:t>
            </a:r>
            <a:endParaRPr lang="en-US" sz="8000" dirty="0"/>
          </a:p>
        </p:txBody>
      </p:sp>
      <p:sp>
        <p:nvSpPr>
          <p:cNvPr id="7" name="Text 5"/>
          <p:cNvSpPr txBox="1"/>
          <p:nvPr/>
        </p:nvSpPr>
        <p:spPr>
          <a:xfrm>
            <a:off x="777240" y="2971800"/>
            <a:ext cx="3063240" cy="1005840"/>
          </a:xfrm>
          <a:prstGeom prst="rect">
            <a:avLst/>
          </a:prstGeom>
          <a:noFill/>
          <a:ln/>
        </p:spPr>
        <p:txBody>
          <a:bodyPr wrap="square" lIns="0" tIns="0" rIns="0" bIns="0" rtlCol="0" anchor="t"/>
          <a:lstStyle/>
          <a:p>
            <a:pPr algn="ctr" indent="0" marL="0">
              <a:buNone/>
            </a:pPr>
            <a:r>
              <a:rPr lang="en-US" sz="2000" dirty="0">
                <a:solidFill>
                  <a:srgbClr val="1A1A1A"/>
                </a:solidFill>
                <a:latin typeface="Arial" pitchFamily="34" charset="0"/>
                <a:ea typeface="Arial" pitchFamily="34" charset="-122"/>
                <a:cs typeface="Arial" pitchFamily="34" charset="-120"/>
              </a:rPr>
              <a:t>orang pejabat Kurator Keperdataan dalam setiap tim</a:t>
            </a:r>
            <a:endParaRPr lang="en-US" sz="2000" dirty="0"/>
          </a:p>
        </p:txBody>
      </p:sp>
      <p:sp>
        <p:nvSpPr>
          <p:cNvPr id="8" name="Shape 6"/>
          <p:cNvSpPr/>
          <p:nvPr/>
        </p:nvSpPr>
        <p:spPr>
          <a:xfrm>
            <a:off x="4343400" y="1600200"/>
            <a:ext cx="3520440" cy="2514600"/>
          </a:xfrm>
          <a:prstGeom prst="roundRect">
            <a:avLst>
              <a:gd name="adj" fmla="val 4364"/>
            </a:avLst>
          </a:prstGeom>
          <a:solidFill>
            <a:srgbClr val="EEF2F8"/>
          </a:solidFill>
          <a:ln w="12700">
            <a:solidFill>
              <a:srgbClr val="EEF2F8"/>
            </a:solidFill>
            <a:prstDash val="solid"/>
          </a:ln>
        </p:spPr>
      </p:sp>
      <p:sp>
        <p:nvSpPr>
          <p:cNvPr id="9" name="Text 7"/>
          <p:cNvSpPr txBox="1"/>
          <p:nvPr/>
        </p:nvSpPr>
        <p:spPr>
          <a:xfrm>
            <a:off x="4343400" y="1691640"/>
            <a:ext cx="3520440" cy="1234440"/>
          </a:xfrm>
          <a:prstGeom prst="rect">
            <a:avLst/>
          </a:prstGeom>
          <a:noFill/>
          <a:ln/>
        </p:spPr>
        <p:txBody>
          <a:bodyPr wrap="square" lIns="0" tIns="0" rIns="0" bIns="0" rtlCol="0" anchor="ctr"/>
          <a:lstStyle/>
          <a:p>
            <a:pPr algn="ctr" indent="0" marL="0">
              <a:buNone/>
            </a:pPr>
            <a:r>
              <a:rPr lang="en-US" sz="8000" b="1" dirty="0">
                <a:solidFill>
                  <a:srgbClr val="14284B"/>
                </a:solidFill>
                <a:latin typeface="Arial" pitchFamily="34" charset="0"/>
                <a:ea typeface="Arial" pitchFamily="34" charset="-122"/>
                <a:cs typeface="Arial" pitchFamily="34" charset="-120"/>
              </a:rPr>
              <a:t>3</a:t>
            </a:r>
            <a:endParaRPr lang="en-US" sz="8000" dirty="0"/>
          </a:p>
        </p:txBody>
      </p:sp>
      <p:sp>
        <p:nvSpPr>
          <p:cNvPr id="10" name="Text 8"/>
          <p:cNvSpPr txBox="1"/>
          <p:nvPr/>
        </p:nvSpPr>
        <p:spPr>
          <a:xfrm>
            <a:off x="4572000" y="2971800"/>
            <a:ext cx="3063240" cy="1005840"/>
          </a:xfrm>
          <a:prstGeom prst="rect">
            <a:avLst/>
          </a:prstGeom>
          <a:noFill/>
          <a:ln/>
        </p:spPr>
        <p:txBody>
          <a:bodyPr wrap="square" lIns="0" tIns="0" rIns="0" bIns="0" rtlCol="0" anchor="t"/>
          <a:lstStyle/>
          <a:p>
            <a:pPr algn="ctr" indent="0" marL="0">
              <a:buNone/>
            </a:pPr>
            <a:r>
              <a:rPr lang="en-US" sz="2000" dirty="0">
                <a:solidFill>
                  <a:srgbClr val="1A1A1A"/>
                </a:solidFill>
                <a:latin typeface="Arial" pitchFamily="34" charset="0"/>
                <a:ea typeface="Arial" pitchFamily="34" charset="-122"/>
                <a:cs typeface="Arial" pitchFamily="34" charset="-120"/>
              </a:rPr>
              <a:t>perkara paling banyak per tim pada waktu yang sama</a:t>
            </a:r>
            <a:endParaRPr lang="en-US" sz="2000" dirty="0"/>
          </a:p>
        </p:txBody>
      </p:sp>
      <p:sp>
        <p:nvSpPr>
          <p:cNvPr id="11" name="Shape 9"/>
          <p:cNvSpPr/>
          <p:nvPr/>
        </p:nvSpPr>
        <p:spPr>
          <a:xfrm>
            <a:off x="8138160" y="1600200"/>
            <a:ext cx="3520440" cy="2514600"/>
          </a:xfrm>
          <a:prstGeom prst="roundRect">
            <a:avLst>
              <a:gd name="adj" fmla="val 4364"/>
            </a:avLst>
          </a:prstGeom>
          <a:solidFill>
            <a:srgbClr val="EEF2F8"/>
          </a:solidFill>
          <a:ln w="12700">
            <a:solidFill>
              <a:srgbClr val="EEF2F8"/>
            </a:solidFill>
            <a:prstDash val="solid"/>
          </a:ln>
        </p:spPr>
      </p:sp>
      <p:sp>
        <p:nvSpPr>
          <p:cNvPr id="12" name="Text 10"/>
          <p:cNvSpPr txBox="1"/>
          <p:nvPr/>
        </p:nvSpPr>
        <p:spPr>
          <a:xfrm>
            <a:off x="8138160" y="1691640"/>
            <a:ext cx="3520440" cy="1234440"/>
          </a:xfrm>
          <a:prstGeom prst="rect">
            <a:avLst/>
          </a:prstGeom>
          <a:noFill/>
          <a:ln/>
        </p:spPr>
        <p:txBody>
          <a:bodyPr wrap="square" lIns="0" tIns="0" rIns="0" bIns="0" rtlCol="0" anchor="ctr"/>
          <a:lstStyle/>
          <a:p>
            <a:pPr algn="ctr" indent="0" marL="0">
              <a:buNone/>
            </a:pPr>
            <a:r>
              <a:rPr lang="en-US" sz="5200" b="1" dirty="0">
                <a:solidFill>
                  <a:srgbClr val="14284B"/>
                </a:solidFill>
                <a:latin typeface="Arial" pitchFamily="34" charset="0"/>
                <a:ea typeface="Arial" pitchFamily="34" charset="-122"/>
                <a:cs typeface="Arial" pitchFamily="34" charset="-120"/>
              </a:rPr>
              <a:t>Tim × 3</a:t>
            </a:r>
            <a:endParaRPr lang="en-US" sz="5200" dirty="0"/>
          </a:p>
        </p:txBody>
      </p:sp>
      <p:sp>
        <p:nvSpPr>
          <p:cNvPr id="13" name="Text 11"/>
          <p:cNvSpPr txBox="1"/>
          <p:nvPr/>
        </p:nvSpPr>
        <p:spPr>
          <a:xfrm>
            <a:off x="8366760" y="2971800"/>
            <a:ext cx="3063240" cy="1005840"/>
          </a:xfrm>
          <a:prstGeom prst="rect">
            <a:avLst/>
          </a:prstGeom>
          <a:noFill/>
          <a:ln/>
        </p:spPr>
        <p:txBody>
          <a:bodyPr wrap="square" lIns="0" tIns="0" rIns="0" bIns="0" rtlCol="0" anchor="t"/>
          <a:lstStyle/>
          <a:p>
            <a:pPr algn="ctr" indent="0" marL="0">
              <a:buNone/>
            </a:pPr>
            <a:r>
              <a:rPr lang="en-US" sz="2000" dirty="0">
                <a:solidFill>
                  <a:srgbClr val="1A1A1A"/>
                </a:solidFill>
                <a:latin typeface="Arial" pitchFamily="34" charset="0"/>
                <a:ea typeface="Arial" pitchFamily="34" charset="-122"/>
                <a:cs typeface="Arial" pitchFamily="34" charset="-120"/>
              </a:rPr>
              <a:t>kapasitas setiap BHP menjadi terukur</a:t>
            </a:r>
            <a:endParaRPr lang="en-US" sz="2000" dirty="0"/>
          </a:p>
        </p:txBody>
      </p:sp>
      <p:sp>
        <p:nvSpPr>
          <p:cNvPr id="14" name="Text 12"/>
          <p:cNvSpPr txBox="1"/>
          <p:nvPr/>
        </p:nvSpPr>
        <p:spPr>
          <a:xfrm>
            <a:off x="548640" y="4389120"/>
            <a:ext cx="11091672" cy="1783080"/>
          </a:xfrm>
          <a:prstGeom prst="rect">
            <a:avLst/>
          </a:prstGeom>
          <a:noFill/>
          <a:ln/>
        </p:spPr>
        <p:txBody>
          <a:bodyPr wrap="square" lIns="0" tIns="0" rIns="0" bIns="0" rtlCol="0" anchor="ctr"/>
          <a:lstStyle/>
          <a:p>
            <a:pPr indent="0" marL="0">
              <a:buNone/>
            </a:pPr>
            <a:r>
              <a:rPr lang="en-US" sz="2400" dirty="0">
                <a:solidFill>
                  <a:srgbClr val="1A1A1A"/>
                </a:solidFill>
                <a:latin typeface="Arial" pitchFamily="34" charset="0"/>
                <a:ea typeface="Arial" pitchFamily="34" charset="-122"/>
                <a:cs typeface="Arial" pitchFamily="34" charset="-120"/>
              </a:rPr>
              <a:t>Pasal 15 ayat (3) UU Kepailitan dan PKPU menentukan bahwa kurator yang diangkat tidak sedang menangani perkara kepailitan lebih dari 3 (tiga) perkara. Oleh karena BHP merupakan kurator berdasarkan Pasal 70 ayat (1), batas tersebut seharusnya juga berlaku bagi BHP.</a:t>
            </a:r>
            <a:endParaRPr lang="en-US" sz="2400" dirty="0"/>
          </a:p>
        </p:txBody>
      </p:sp>
      <p:sp>
        <p:nvSpPr>
          <p:cNvPr id="15" name="Text 13"/>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16" name="Text 14"/>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34</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1</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2 · USULAN RUMUSAN PASAL  (1/3)</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Batas Jumlah Perkara</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3401568"/>
        </p:xfrm>
        <a:graphic>
          <a:graphicData uri="http://schemas.openxmlformats.org/drawingml/2006/table">
            <a:tbl>
              <a:tblPr/>
              <a:tblGrid>
                <a:gridCol w="731520"/>
                <a:gridCol w="594360"/>
                <a:gridCol w="9308592"/>
              </a:tblGrid>
              <a:tr h="438912">
                <a:tc gridSpan="3">
                  <a:txBody>
                    <a:bodyPr/>
                    <a:lstStyle/>
                    <a:p>
                      <a:pPr algn="ctr" indent="0" marL="0">
                        <a:buNone/>
                      </a:pPr>
                      <a:r>
                        <a:rPr lang="en-US" sz="2100" b="1" dirty="0">
                          <a:solidFill>
                            <a:srgbClr val="14284B"/>
                          </a:solidFill>
                          <a:latin typeface="Arial" pitchFamily="34" charset="0"/>
                          <a:ea typeface="Arial" pitchFamily="34" charset="-122"/>
                          <a:cs typeface="Arial" pitchFamily="34" charset="-120"/>
                        </a:rPr>
                        <a:t>Pasal …</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c hMerge="1">
                  <a:tcPr/>
                </a:tc>
              </a:tr>
              <a:tr h="1097280">
                <a:tc>
                  <a:txBody>
                    <a:bodyPr/>
                    <a:lstStyle/>
                    <a:p>
                      <a:pPr indent="0" marL="0">
                        <a:buNone/>
                      </a:pPr>
                      <a:r>
                        <a:rPr lang="en-US" sz="2100" b="1" dirty="0">
                          <a:solidFill>
                            <a:srgbClr val="14284B"/>
                          </a:solidFill>
                          <a:latin typeface="Arial" pitchFamily="34" charset="0"/>
                          <a:ea typeface="Arial" pitchFamily="34" charset="-122"/>
                          <a:cs typeface="Arial" pitchFamily="34" charset="-120"/>
                        </a:rPr>
                        <a:t>(1)</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Kurator Perseorangan dan Pengurus Perseorangan tidak sedang menangani perkara kepailitan dan/atau penundaan kewajiban pembayaran utang lebih dari </a:t>
                      </a:r>
                      <a:pPr indent="0" marL="0">
                        <a:buNone/>
                      </a:pPr>
                      <a:r>
                        <a:rPr lang="en-US" sz="2100" b="1" dirty="0">
                          <a:solidFill>
                            <a:srgbClr val="14284B"/>
                          </a:solidFill>
                          <a:latin typeface="Arial" pitchFamily="34" charset="0"/>
                          <a:ea typeface="Arial" pitchFamily="34" charset="-122"/>
                          <a:cs typeface="Arial" pitchFamily="34" charset="-120"/>
                        </a:rPr>
                        <a:t>3 (tiga) perkara</a:t>
                      </a:r>
                      <a:pPr indent="0" marL="0">
                        <a:buNone/>
                      </a:pPr>
                      <a:r>
                        <a:rPr lang="en-US" sz="2100" dirty="0">
                          <a:solidFill>
                            <a:srgbClr val="1A1A1A"/>
                          </a:solidFill>
                          <a:latin typeface="Arial" pitchFamily="34" charset="0"/>
                          <a:ea typeface="Arial" pitchFamily="34" charset="-122"/>
                          <a:cs typeface="Arial" pitchFamily="34" charset="-120"/>
                        </a:rPr>
                        <a:t>.</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1097280">
                <a:tc>
                  <a:txBody>
                    <a:bodyPr/>
                    <a:lstStyle/>
                    <a:p>
                      <a:pPr indent="0" marL="0">
                        <a:buNone/>
                      </a:pPr>
                      <a:r>
                        <a:rPr lang="en-US" sz="2100" b="1" dirty="0">
                          <a:solidFill>
                            <a:srgbClr val="14284B"/>
                          </a:solidFill>
                          <a:latin typeface="Arial" pitchFamily="34" charset="0"/>
                          <a:ea typeface="Arial" pitchFamily="34" charset="-122"/>
                          <a:cs typeface="Arial" pitchFamily="34" charset="-120"/>
                        </a:rPr>
                        <a:t>(2)</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Batas jumlah perkara sebagaimana dimaksud pada ayat (1) </a:t>
                      </a:r>
                      <a:pPr indent="0" marL="0">
                        <a:buNone/>
                      </a:pPr>
                      <a:r>
                        <a:rPr lang="en-US" sz="2100" b="1" dirty="0">
                          <a:solidFill>
                            <a:srgbClr val="14284B"/>
                          </a:solidFill>
                          <a:latin typeface="Arial" pitchFamily="34" charset="0"/>
                          <a:ea typeface="Arial" pitchFamily="34" charset="-122"/>
                          <a:cs typeface="Arial" pitchFamily="34" charset="-120"/>
                        </a:rPr>
                        <a:t>berlaku juga bagi Balai Harta Peninggalan</a:t>
                      </a:r>
                      <a:pPr indent="0" marL="0">
                        <a:buNone/>
                      </a:pPr>
                      <a:r>
                        <a:rPr lang="en-US" sz="2100" dirty="0">
                          <a:solidFill>
                            <a:srgbClr val="1A1A1A"/>
                          </a:solidFill>
                          <a:latin typeface="Arial" pitchFamily="34" charset="0"/>
                          <a:ea typeface="Arial" pitchFamily="34" charset="-122"/>
                          <a:cs typeface="Arial" pitchFamily="34" charset="-120"/>
                        </a:rPr>
                        <a:t> dan </a:t>
                      </a:r>
                      <a:pPr indent="0" marL="0">
                        <a:buNone/>
                      </a:pPr>
                      <a:r>
                        <a:rPr lang="en-US" sz="2100" b="1" dirty="0">
                          <a:solidFill>
                            <a:srgbClr val="14284B"/>
                          </a:solidFill>
                          <a:latin typeface="Arial" pitchFamily="34" charset="0"/>
                          <a:ea typeface="Arial" pitchFamily="34" charset="-122"/>
                          <a:cs typeface="Arial" pitchFamily="34" charset="-120"/>
                        </a:rPr>
                        <a:t>dihitung untuk setiap Tim Kurator Keperdataan</a:t>
                      </a:r>
                      <a:pPr indent="0" marL="0">
                        <a:buNone/>
                      </a:pPr>
                      <a:r>
                        <a:rPr lang="en-US" sz="2100" dirty="0">
                          <a:solidFill>
                            <a:srgbClr val="1A1A1A"/>
                          </a:solidFill>
                          <a:latin typeface="Arial" pitchFamily="34" charset="0"/>
                          <a:ea typeface="Arial" pitchFamily="34" charset="-122"/>
                          <a:cs typeface="Arial" pitchFamily="34" charset="-120"/>
                        </a:rPr>
                        <a:t>.</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768096">
                <a:tc>
                  <a:txBody>
                    <a:bodyPr/>
                    <a:lstStyle/>
                    <a:p>
                      <a:pPr indent="0" marL="0">
                        <a:buNone/>
                      </a:pPr>
                      <a:r>
                        <a:rPr lang="en-US" sz="2100" b="1" dirty="0">
                          <a:solidFill>
                            <a:srgbClr val="14284B"/>
                          </a:solidFill>
                          <a:latin typeface="Arial" pitchFamily="34" charset="0"/>
                          <a:ea typeface="Arial" pitchFamily="34" charset="-122"/>
                          <a:cs typeface="Arial" pitchFamily="34" charset="-120"/>
                        </a:rPr>
                        <a:t>(3)</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Tim Kurator Keperdataan sebagaimana dimaksud pada ayat (2) terdiri atas 3 (tiga) orang pejabat Kurator Keperdataan.</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35</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1</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2 · USULAN RUMUSAN PASAL  (2/3)</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Batas Jumlah Perkara</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3621024"/>
        </p:xfrm>
        <a:graphic>
          <a:graphicData uri="http://schemas.openxmlformats.org/drawingml/2006/table">
            <a:tbl>
              <a:tblPr/>
              <a:tblGrid>
                <a:gridCol w="731520"/>
                <a:gridCol w="594360"/>
                <a:gridCol w="9308592"/>
              </a:tblGrid>
              <a:tr h="1097280">
                <a:tc>
                  <a:txBody>
                    <a:bodyPr/>
                    <a:lstStyle/>
                    <a:p>
                      <a:pPr indent="0" marL="0">
                        <a:buNone/>
                      </a:pPr>
                      <a:r>
                        <a:rPr lang="en-US" sz="2100" b="1" dirty="0">
                          <a:solidFill>
                            <a:srgbClr val="14284B"/>
                          </a:solidFill>
                          <a:latin typeface="Arial" pitchFamily="34" charset="0"/>
                          <a:ea typeface="Arial" pitchFamily="34" charset="-122"/>
                          <a:cs typeface="Arial" pitchFamily="34" charset="-120"/>
                        </a:rPr>
                        <a:t>(4)</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Perkara penundaan kewajiban pembayaran utang yang ditangani Balai Harta Peninggalan selaku Pengurus diperhitungkan dalam batas jumlah perkara sebagaimana dimaksud pada ayat (2).</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1097280">
                <a:tc>
                  <a:txBody>
                    <a:bodyPr/>
                    <a:lstStyle/>
                    <a:p>
                      <a:pPr indent="0" marL="0">
                        <a:buNone/>
                      </a:pPr>
                      <a:r>
                        <a:rPr lang="en-US" sz="2100" b="1" dirty="0">
                          <a:solidFill>
                            <a:srgbClr val="14284B"/>
                          </a:solidFill>
                          <a:latin typeface="Arial" pitchFamily="34" charset="0"/>
                          <a:ea typeface="Arial" pitchFamily="34" charset="-122"/>
                          <a:cs typeface="Arial" pitchFamily="34" charset="-120"/>
                        </a:rPr>
                        <a:t>(5)</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Perkara penundaan kewajiban pembayaran utang yang berakhir dengan pernyataan pailit dan tetap ditangani Balai Harta Peninggalan selaku Kurator </a:t>
                      </a:r>
                      <a:pPr indent="0" marL="0">
                        <a:buNone/>
                      </a:pPr>
                      <a:r>
                        <a:rPr lang="en-US" sz="2100" b="1" dirty="0">
                          <a:solidFill>
                            <a:srgbClr val="14284B"/>
                          </a:solidFill>
                          <a:latin typeface="Arial" pitchFamily="34" charset="0"/>
                          <a:ea typeface="Arial" pitchFamily="34" charset="-122"/>
                          <a:cs typeface="Arial" pitchFamily="34" charset="-120"/>
                        </a:rPr>
                        <a:t>dihitung sebagai 1 (satu) perkara</a:t>
                      </a:r>
                      <a:pPr indent="0" marL="0">
                        <a:buNone/>
                      </a:pPr>
                      <a:r>
                        <a:rPr lang="en-US" sz="2100" dirty="0">
                          <a:solidFill>
                            <a:srgbClr val="1A1A1A"/>
                          </a:solidFill>
                          <a:latin typeface="Arial" pitchFamily="34" charset="0"/>
                          <a:ea typeface="Arial" pitchFamily="34" charset="-122"/>
                          <a:cs typeface="Arial" pitchFamily="34" charset="-120"/>
                        </a:rPr>
                        <a:t>.</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1426464">
                <a:tc>
                  <a:txBody>
                    <a:bodyPr/>
                    <a:lstStyle/>
                    <a:p>
                      <a:pPr indent="0" marL="0">
                        <a:buNone/>
                      </a:pPr>
                      <a:r>
                        <a:rPr lang="en-US" sz="2100" b="1" dirty="0">
                          <a:solidFill>
                            <a:srgbClr val="14284B"/>
                          </a:solidFill>
                          <a:latin typeface="Arial" pitchFamily="34" charset="0"/>
                          <a:ea typeface="Arial" pitchFamily="34" charset="-122"/>
                          <a:cs typeface="Arial" pitchFamily="34" charset="-120"/>
                        </a:rPr>
                        <a:t>(6)</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Dalam hal seluruh Tim Kurator Keperdataan telah mencapai batas jumlah perkara, Kepala Balai Harta Peninggalan memberitahukan secara tertulis kepada Pengadilan agar Pengadilan mengangkat Kurator atau Pengurus lain.</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36</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1</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2 · USULAN RUMUSAN PASAL  (3/3)</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Batas Jumlah Perkara</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2194560"/>
        </p:xfrm>
        <a:graphic>
          <a:graphicData uri="http://schemas.openxmlformats.org/drawingml/2006/table">
            <a:tbl>
              <a:tblPr/>
              <a:tblGrid>
                <a:gridCol w="731520"/>
                <a:gridCol w="594360"/>
                <a:gridCol w="9308592"/>
              </a:tblGrid>
              <a:tr h="768096">
                <a:tc>
                  <a:txBody>
                    <a:bodyPr/>
                    <a:lstStyle/>
                    <a:p>
                      <a:pPr indent="0" marL="0">
                        <a:buNone/>
                      </a:pPr>
                      <a:r>
                        <a:rPr lang="en-US" sz="2100" b="1" dirty="0">
                          <a:solidFill>
                            <a:srgbClr val="14284B"/>
                          </a:solidFill>
                          <a:latin typeface="Arial" pitchFamily="34" charset="0"/>
                          <a:ea typeface="Arial" pitchFamily="34" charset="-122"/>
                          <a:cs typeface="Arial" pitchFamily="34" charset="-120"/>
                        </a:rPr>
                        <a:t>(7)</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Ketentuan lebih lanjut mengenai pembentukan dan penugasan Tim Kurator Keperdataan diatur dengan Peraturan Menteri.</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1426464">
                <a:tc gridSpan="3">
                  <a:txBody>
                    <a:bodyPr/>
                    <a:lstStyle/>
                    <a:p>
                      <a:pPr indent="0" marL="0">
                        <a:buNone/>
                      </a:pPr>
                      <a:r>
                        <a:rPr lang="en-US" sz="2000" i="1" dirty="0">
                          <a:solidFill>
                            <a:srgbClr val="2D3748"/>
                          </a:solidFill>
                          <a:latin typeface="Arial" pitchFamily="34" charset="0"/>
                          <a:ea typeface="Arial" pitchFamily="34" charset="-122"/>
                          <a:cs typeface="Arial" pitchFamily="34" charset="-120"/>
                        </a:rPr>
                        <a:t>Usulan penjelasan: Batas jumlah perkara bagi Balai Harta Peninggalan dihitung per tim karena Pengadilan mengangkat Balai Harta Peninggalan sebagai lembaga dan pekerjaan dilaksanakan secara tim. Dengan demikian, </a:t>
                      </a:r>
                      <a:pPr indent="0" marL="0">
                        <a:buNone/>
                      </a:pPr>
                      <a:r>
                        <a:rPr lang="en-US" sz="2000" b="1" i="1" dirty="0">
                          <a:solidFill>
                            <a:srgbClr val="14284B"/>
                          </a:solidFill>
                          <a:latin typeface="Arial" pitchFamily="34" charset="0"/>
                          <a:ea typeface="Arial" pitchFamily="34" charset="-122"/>
                          <a:cs typeface="Arial" pitchFamily="34" charset="-120"/>
                        </a:rPr>
                        <a:t>kapasitas Balai Harta Peninggalan sama dengan jumlah Tim Kurator Keperdataan dikalikan 3 (tiga) perkara</a:t>
                      </a:r>
                      <a:pPr indent="0" marL="0">
                        <a:buNone/>
                      </a:pPr>
                      <a:r>
                        <a:rPr lang="en-US" sz="2000" i="1" dirty="0">
                          <a:solidFill>
                            <a:srgbClr val="2D3748"/>
                          </a:solidFill>
                          <a:latin typeface="Arial" pitchFamily="34" charset="0"/>
                          <a:ea typeface="Arial" pitchFamily="34" charset="-122"/>
                          <a:cs typeface="Arial" pitchFamily="34" charset="-120"/>
                        </a:rPr>
                        <a:t>.</a:t>
                      </a:r>
                      <a:endParaRPr lang="en-US" sz="20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solidFill>
                      <a:srgbClr val="F3F6FA"/>
                    </a:solidFill>
                  </a:tcPr>
                </a:tc>
                <a:tc hMerge="1">
                  <a:tcPr/>
                </a:tc>
                <a:tc hMerge="1">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37</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1</a:t>
            </a:r>
            <a:endParaRPr lang="en-US" sz="4000" dirty="0"/>
          </a:p>
        </p:txBody>
      </p:sp>
      <p:sp>
        <p:nvSpPr>
          <p:cNvPr id="4" name="Text 2"/>
          <p:cNvSpPr txBox="1"/>
          <p:nvPr/>
        </p:nvSpPr>
        <p:spPr>
          <a:xfrm>
            <a:off x="1783080" y="411480"/>
            <a:ext cx="9859975" cy="960120"/>
          </a:xfrm>
          <a:prstGeom prst="rect">
            <a:avLst/>
          </a:prstGeom>
          <a:noFill/>
          <a:ln/>
        </p:spPr>
        <p:txBody>
          <a:bodyPr wrap="square" lIns="0" tIns="0" rIns="0" bIns="0" rtlCol="0" anchor="ctr"/>
          <a:lstStyle/>
          <a:p>
            <a:pPr indent="0" marL="0">
              <a:buNone/>
            </a:pPr>
            <a:r>
              <a:rPr lang="en-US" sz="3400" b="1" dirty="0">
                <a:solidFill>
                  <a:srgbClr val="14284B"/>
                </a:solidFill>
                <a:latin typeface="Arial" pitchFamily="34" charset="0"/>
                <a:ea typeface="Arial" pitchFamily="34" charset="-122"/>
                <a:cs typeface="Arial" pitchFamily="34" charset="-120"/>
              </a:rPr>
              <a:t>Pengalihan Kelebihan Perkara sebagai Mitigasi Risiko</a:t>
            </a:r>
            <a:endParaRPr lang="en-US" sz="3400" dirty="0"/>
          </a:p>
        </p:txBody>
      </p:sp>
      <p:sp>
        <p:nvSpPr>
          <p:cNvPr id="5" name="Shape 3"/>
          <p:cNvSpPr/>
          <p:nvPr/>
        </p:nvSpPr>
        <p:spPr>
          <a:xfrm>
            <a:off x="548640" y="1600200"/>
            <a:ext cx="3291840" cy="2468880"/>
          </a:xfrm>
          <a:prstGeom prst="roundRect">
            <a:avLst>
              <a:gd name="adj" fmla="val 4444"/>
            </a:avLst>
          </a:prstGeom>
          <a:solidFill>
            <a:srgbClr val="EEF2F8"/>
          </a:solidFill>
          <a:ln w="12700">
            <a:solidFill>
              <a:srgbClr val="EEF2F8"/>
            </a:solidFill>
            <a:prstDash val="solid"/>
          </a:ln>
        </p:spPr>
      </p:sp>
      <p:sp>
        <p:nvSpPr>
          <p:cNvPr id="6" name="Shape 4"/>
          <p:cNvSpPr/>
          <p:nvPr/>
        </p:nvSpPr>
        <p:spPr>
          <a:xfrm>
            <a:off x="822960" y="1783080"/>
            <a:ext cx="548640" cy="548640"/>
          </a:xfrm>
          <a:prstGeom prst="ellipse">
            <a:avLst/>
          </a:prstGeom>
          <a:solidFill>
            <a:srgbClr val="14284B"/>
          </a:solidFill>
          <a:ln w="12700">
            <a:solidFill>
              <a:srgbClr val="14284B"/>
            </a:solidFill>
            <a:prstDash val="solid"/>
          </a:ln>
        </p:spPr>
      </p:sp>
      <p:sp>
        <p:nvSpPr>
          <p:cNvPr id="7" name="Text 5"/>
          <p:cNvSpPr txBox="1"/>
          <p:nvPr/>
        </p:nvSpPr>
        <p:spPr>
          <a:xfrm>
            <a:off x="822960" y="17830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8" name="Text 6"/>
          <p:cNvSpPr txBox="1"/>
          <p:nvPr/>
        </p:nvSpPr>
        <p:spPr>
          <a:xfrm>
            <a:off x="822960" y="2468880"/>
            <a:ext cx="2788920" cy="1508760"/>
          </a:xfrm>
          <a:prstGeom prst="rect">
            <a:avLst/>
          </a:prstGeom>
          <a:noFill/>
          <a:ln/>
        </p:spPr>
        <p:txBody>
          <a:bodyPr wrap="square" lIns="0" tIns="0" rIns="0" bIns="0" rtlCol="0" anchor="t"/>
          <a:lstStyle/>
          <a:p>
            <a:pPr indent="0" marL="0">
              <a:buNone/>
            </a:pPr>
            <a:r>
              <a:rPr lang="en-US" sz="2100" b="1" dirty="0">
                <a:solidFill>
                  <a:srgbClr val="14284B"/>
                </a:solidFill>
                <a:latin typeface="Arial" pitchFamily="34" charset="0"/>
                <a:ea typeface="Arial" pitchFamily="34" charset="-122"/>
                <a:cs typeface="Arial" pitchFamily="34" charset="-120"/>
              </a:rPr>
              <a:t>Perkara yang sedang ditangani BHP tetap dilaksanakan oleh BHP</a:t>
            </a:r>
            <a:endParaRPr lang="en-US" sz="2100" dirty="0"/>
          </a:p>
        </p:txBody>
      </p:sp>
      <p:pic>
        <p:nvPicPr>
          <p:cNvPr id="9" name="Image 0" descr="preencoded.png">    </p:cNvPr>
          <p:cNvPicPr>
            <a:picLocks noChangeAspect="1"/>
          </p:cNvPicPr>
          <p:nvPr/>
        </p:nvPicPr>
        <p:blipFill>
          <a:blip r:embed="rId1"/>
          <a:stretch>
            <a:fillRect/>
          </a:stretch>
        </p:blipFill>
        <p:spPr>
          <a:xfrm>
            <a:off x="3931920" y="2651760"/>
            <a:ext cx="365760" cy="365760"/>
          </a:xfrm>
          <a:prstGeom prst="rect">
            <a:avLst/>
          </a:prstGeom>
        </p:spPr>
      </p:pic>
      <p:sp>
        <p:nvSpPr>
          <p:cNvPr id="10" name="Shape 7"/>
          <p:cNvSpPr/>
          <p:nvPr/>
        </p:nvSpPr>
        <p:spPr>
          <a:xfrm>
            <a:off x="4343400" y="1600200"/>
            <a:ext cx="3291840" cy="2468880"/>
          </a:xfrm>
          <a:prstGeom prst="roundRect">
            <a:avLst>
              <a:gd name="adj" fmla="val 4444"/>
            </a:avLst>
          </a:prstGeom>
          <a:solidFill>
            <a:srgbClr val="EEF2F8"/>
          </a:solidFill>
          <a:ln w="12700">
            <a:solidFill>
              <a:srgbClr val="EEF2F8"/>
            </a:solidFill>
            <a:prstDash val="solid"/>
          </a:ln>
        </p:spPr>
      </p:sp>
      <p:sp>
        <p:nvSpPr>
          <p:cNvPr id="11" name="Shape 8"/>
          <p:cNvSpPr/>
          <p:nvPr/>
        </p:nvSpPr>
        <p:spPr>
          <a:xfrm>
            <a:off x="4617720" y="1783080"/>
            <a:ext cx="548640" cy="548640"/>
          </a:xfrm>
          <a:prstGeom prst="ellipse">
            <a:avLst/>
          </a:prstGeom>
          <a:solidFill>
            <a:srgbClr val="14284B"/>
          </a:solidFill>
          <a:ln w="12700">
            <a:solidFill>
              <a:srgbClr val="14284B"/>
            </a:solidFill>
            <a:prstDash val="solid"/>
          </a:ln>
        </p:spPr>
      </p:sp>
      <p:sp>
        <p:nvSpPr>
          <p:cNvPr id="12" name="Text 9"/>
          <p:cNvSpPr txBox="1"/>
          <p:nvPr/>
        </p:nvSpPr>
        <p:spPr>
          <a:xfrm>
            <a:off x="4617720" y="17830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3" name="Text 10"/>
          <p:cNvSpPr txBox="1"/>
          <p:nvPr/>
        </p:nvSpPr>
        <p:spPr>
          <a:xfrm>
            <a:off x="4617720" y="2468880"/>
            <a:ext cx="2788920" cy="1508760"/>
          </a:xfrm>
          <a:prstGeom prst="rect">
            <a:avLst/>
          </a:prstGeom>
          <a:noFill/>
          <a:ln/>
        </p:spPr>
        <p:txBody>
          <a:bodyPr wrap="square" lIns="0" tIns="0" rIns="0" bIns="0" rtlCol="0" anchor="t"/>
          <a:lstStyle/>
          <a:p>
            <a:pPr indent="0" marL="0">
              <a:buNone/>
            </a:pPr>
            <a:r>
              <a:rPr lang="en-US" sz="2100" b="1" dirty="0">
                <a:solidFill>
                  <a:srgbClr val="14284B"/>
                </a:solidFill>
                <a:latin typeface="Arial" pitchFamily="34" charset="0"/>
                <a:ea typeface="Arial" pitchFamily="34" charset="-122"/>
                <a:cs typeface="Arial" pitchFamily="34" charset="-120"/>
              </a:rPr>
              <a:t>Pengalihan terlebih dahulu kepada tim lain dalam BHP yang sama</a:t>
            </a:r>
            <a:endParaRPr lang="en-US" sz="2100" dirty="0"/>
          </a:p>
        </p:txBody>
      </p:sp>
      <p:pic>
        <p:nvPicPr>
          <p:cNvPr id="14" name="Image 1" descr="preencoded.png">    </p:cNvPr>
          <p:cNvPicPr>
            <a:picLocks noChangeAspect="1"/>
          </p:cNvPicPr>
          <p:nvPr/>
        </p:nvPicPr>
        <p:blipFill>
          <a:blip r:embed="rId2"/>
          <a:stretch>
            <a:fillRect/>
          </a:stretch>
        </p:blipFill>
        <p:spPr>
          <a:xfrm>
            <a:off x="7726680" y="2651760"/>
            <a:ext cx="365760" cy="365760"/>
          </a:xfrm>
          <a:prstGeom prst="rect">
            <a:avLst/>
          </a:prstGeom>
        </p:spPr>
      </p:pic>
      <p:sp>
        <p:nvSpPr>
          <p:cNvPr id="15" name="Shape 11"/>
          <p:cNvSpPr/>
          <p:nvPr/>
        </p:nvSpPr>
        <p:spPr>
          <a:xfrm>
            <a:off x="8138160" y="1600200"/>
            <a:ext cx="3291840" cy="2468880"/>
          </a:xfrm>
          <a:prstGeom prst="roundRect">
            <a:avLst>
              <a:gd name="adj" fmla="val 4444"/>
            </a:avLst>
          </a:prstGeom>
          <a:solidFill>
            <a:srgbClr val="EEF2F8"/>
          </a:solidFill>
          <a:ln w="12700">
            <a:solidFill>
              <a:srgbClr val="EEF2F8"/>
            </a:solidFill>
            <a:prstDash val="solid"/>
          </a:ln>
        </p:spPr>
      </p:sp>
      <p:sp>
        <p:nvSpPr>
          <p:cNvPr id="16" name="Shape 12"/>
          <p:cNvSpPr/>
          <p:nvPr/>
        </p:nvSpPr>
        <p:spPr>
          <a:xfrm>
            <a:off x="8412480" y="1783080"/>
            <a:ext cx="548640" cy="548640"/>
          </a:xfrm>
          <a:prstGeom prst="ellipse">
            <a:avLst/>
          </a:prstGeom>
          <a:solidFill>
            <a:srgbClr val="14284B"/>
          </a:solidFill>
          <a:ln w="12700">
            <a:solidFill>
              <a:srgbClr val="14284B"/>
            </a:solidFill>
            <a:prstDash val="solid"/>
          </a:ln>
        </p:spPr>
      </p:sp>
      <p:sp>
        <p:nvSpPr>
          <p:cNvPr id="17" name="Text 13"/>
          <p:cNvSpPr txBox="1"/>
          <p:nvPr/>
        </p:nvSpPr>
        <p:spPr>
          <a:xfrm>
            <a:off x="8412480" y="17830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8" name="Text 14"/>
          <p:cNvSpPr txBox="1"/>
          <p:nvPr/>
        </p:nvSpPr>
        <p:spPr>
          <a:xfrm>
            <a:off x="8412480" y="2468880"/>
            <a:ext cx="2788920" cy="1508760"/>
          </a:xfrm>
          <a:prstGeom prst="rect">
            <a:avLst/>
          </a:prstGeom>
          <a:noFill/>
          <a:ln/>
        </p:spPr>
        <p:txBody>
          <a:bodyPr wrap="square" lIns="0" tIns="0" rIns="0" bIns="0" rtlCol="0" anchor="t"/>
          <a:lstStyle/>
          <a:p>
            <a:pPr indent="0" marL="0">
              <a:buNone/>
            </a:pPr>
            <a:r>
              <a:rPr lang="en-US" sz="2100" b="1" dirty="0">
                <a:solidFill>
                  <a:srgbClr val="14284B"/>
                </a:solidFill>
                <a:latin typeface="Arial" pitchFamily="34" charset="0"/>
                <a:ea typeface="Arial" pitchFamily="34" charset="-122"/>
                <a:cs typeface="Arial" pitchFamily="34" charset="-120"/>
              </a:rPr>
              <a:t>Bila tidak tertampung, permohonan penggantian kurator (Pasal 71)</a:t>
            </a:r>
            <a:endParaRPr lang="en-US" sz="2100" dirty="0"/>
          </a:p>
        </p:txBody>
      </p:sp>
      <p:sp>
        <p:nvSpPr>
          <p:cNvPr id="19" name="Shape 15"/>
          <p:cNvSpPr/>
          <p:nvPr/>
        </p:nvSpPr>
        <p:spPr>
          <a:xfrm>
            <a:off x="548640" y="4343400"/>
            <a:ext cx="11091672" cy="1828800"/>
          </a:xfrm>
          <a:prstGeom prst="roundRect">
            <a:avLst>
              <a:gd name="adj" fmla="val 6000"/>
            </a:avLst>
          </a:prstGeom>
          <a:solidFill>
            <a:srgbClr val="14284B"/>
          </a:solidFill>
          <a:ln w="12700">
            <a:solidFill>
              <a:srgbClr val="14284B"/>
            </a:solidFill>
            <a:prstDash val="solid"/>
          </a:ln>
        </p:spPr>
      </p:sp>
      <p:sp>
        <p:nvSpPr>
          <p:cNvPr id="20" name="Text 16"/>
          <p:cNvSpPr txBox="1"/>
          <p:nvPr/>
        </p:nvSpPr>
        <p:spPr>
          <a:xfrm>
            <a:off x="822960" y="4343400"/>
            <a:ext cx="3108960" cy="1828800"/>
          </a:xfrm>
          <a:prstGeom prst="rect">
            <a:avLst/>
          </a:prstGeom>
          <a:noFill/>
          <a:ln/>
        </p:spPr>
        <p:txBody>
          <a:bodyPr wrap="square" lIns="0" tIns="0" rIns="0" bIns="0" rtlCol="0" anchor="ctr"/>
          <a:lstStyle/>
          <a:p>
            <a:pPr indent="0" marL="0">
              <a:buNone/>
            </a:pPr>
            <a:r>
              <a:rPr lang="en-US" sz="4800" b="1" dirty="0">
                <a:solidFill>
                  <a:srgbClr val="E0A526"/>
                </a:solidFill>
                <a:latin typeface="Arial" pitchFamily="34" charset="0"/>
                <a:ea typeface="Arial" pitchFamily="34" charset="-122"/>
                <a:cs typeface="Arial" pitchFamily="34" charset="-120"/>
              </a:rPr>
              <a:t>6 BULAN</a:t>
            </a:r>
            <a:endParaRPr lang="en-US" sz="4800" dirty="0"/>
          </a:p>
        </p:txBody>
      </p:sp>
      <p:sp>
        <p:nvSpPr>
          <p:cNvPr id="21" name="Text 17"/>
          <p:cNvSpPr txBox="1"/>
          <p:nvPr/>
        </p:nvSpPr>
        <p:spPr>
          <a:xfrm>
            <a:off x="3931920" y="4343400"/>
            <a:ext cx="7452360" cy="1828800"/>
          </a:xfrm>
          <a:prstGeom prst="rect">
            <a:avLst/>
          </a:prstGeom>
          <a:noFill/>
          <a:ln/>
        </p:spPr>
        <p:txBody>
          <a:bodyPr wrap="square" lIns="0" tIns="0" rIns="0" bIns="0" rtlCol="0" anchor="ctr"/>
          <a:lstStyle/>
          <a:p>
            <a:pPr indent="0" marL="0">
              <a:buNone/>
            </a:pPr>
            <a:r>
              <a:rPr lang="en-US" sz="2200" dirty="0">
                <a:solidFill>
                  <a:srgbClr val="FFFFFF"/>
                </a:solidFill>
                <a:latin typeface="Arial" pitchFamily="34" charset="0"/>
                <a:ea typeface="Arial" pitchFamily="34" charset="-122"/>
                <a:cs typeface="Arial" pitchFamily="34" charset="-120"/>
              </a:rPr>
              <a:t>Kelebihan perkara wajib dialihkan paling lama 6 (enam) bulan sejak undang-undang diundangkan. Selama jangka waktu tersebut, kelebihan perkara tidak dianggap sebagai pelanggaran batas jumlah perkara.</a:t>
            </a:r>
            <a:endParaRPr lang="en-US" sz="2200" dirty="0"/>
          </a:p>
        </p:txBody>
      </p:sp>
      <p:sp>
        <p:nvSpPr>
          <p:cNvPr id="22" name="Text 18"/>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23" name="Text 19"/>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38</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1</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3 · USULAN RUMUSAN PASAL  (1/3)</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Ketentuan Peralihan</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3730752"/>
        </p:xfrm>
        <a:graphic>
          <a:graphicData uri="http://schemas.openxmlformats.org/drawingml/2006/table">
            <a:tbl>
              <a:tblPr/>
              <a:tblGrid>
                <a:gridCol w="731520"/>
                <a:gridCol w="594360"/>
                <a:gridCol w="9308592"/>
              </a:tblGrid>
              <a:tr h="768096">
                <a:tc gridSpan="3">
                  <a:txBody>
                    <a:bodyPr/>
                    <a:lstStyle/>
                    <a:p>
                      <a:pPr algn="ctr" indent="0" marL="0">
                        <a:buNone/>
                      </a:pPr>
                      <a:r>
                        <a:rPr lang="en-US" sz="2100" b="1" dirty="0">
                          <a:solidFill>
                            <a:srgbClr val="14284B"/>
                          </a:solidFill>
                          <a:latin typeface="Arial" pitchFamily="34" charset="0"/>
                          <a:ea typeface="Arial" pitchFamily="34" charset="-122"/>
                          <a:cs typeface="Arial" pitchFamily="34" charset="-120"/>
                        </a:rPr>
                        <a:t>BAB …</a:t>
                      </a:r>
                      <a:endParaRPr lang="en-US" sz="2100" dirty="0">
                        <a:latin typeface="Arial" charset="0"/>
                        <a:ea typeface="Arial" charset="0"/>
                        <a:cs typeface="Arial" charset="0"/>
                      </a:endParaRPr>
                    </a:p>
                    <a:p>
                      <a:pPr algn="ctr" indent="0" marL="0">
                        <a:buNone/>
                      </a:pPr>
                      <a:r>
                        <a:rPr lang="en-US" sz="2100" b="1" dirty="0">
                          <a:solidFill>
                            <a:srgbClr val="14284B"/>
                          </a:solidFill>
                          <a:latin typeface="Arial" pitchFamily="34" charset="0"/>
                          <a:ea typeface="Arial" pitchFamily="34" charset="-122"/>
                          <a:cs typeface="Arial" pitchFamily="34" charset="-120"/>
                        </a:rPr>
                        <a:t>KETENTUAN PERALIHAN</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c hMerge="1">
                  <a:tcPr/>
                </a:tc>
              </a:tr>
              <a:tr h="438912">
                <a:tc gridSpan="3">
                  <a:txBody>
                    <a:bodyPr/>
                    <a:lstStyle/>
                    <a:p>
                      <a:pPr algn="ctr" indent="0" marL="0">
                        <a:buNone/>
                      </a:pPr>
                      <a:r>
                        <a:rPr lang="en-US" sz="2100" b="1" dirty="0">
                          <a:solidFill>
                            <a:srgbClr val="14284B"/>
                          </a:solidFill>
                          <a:latin typeface="Arial" pitchFamily="34" charset="0"/>
                          <a:ea typeface="Arial" pitchFamily="34" charset="-122"/>
                          <a:cs typeface="Arial" pitchFamily="34" charset="-120"/>
                        </a:rPr>
                        <a:t>Pasal …</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c hMerge="1">
                  <a:tcPr/>
                </a:tc>
              </a:tr>
              <a:tr h="1097280">
                <a:tc>
                  <a:txBody>
                    <a:bodyPr/>
                    <a:lstStyle/>
                    <a:p>
                      <a:pPr indent="0" marL="0">
                        <a:buNone/>
                      </a:pPr>
                      <a:r>
                        <a:rPr lang="en-US" sz="2100" b="1" dirty="0">
                          <a:solidFill>
                            <a:srgbClr val="14284B"/>
                          </a:solidFill>
                          <a:latin typeface="Arial" pitchFamily="34" charset="0"/>
                          <a:ea typeface="Arial" pitchFamily="34" charset="-122"/>
                          <a:cs typeface="Arial" pitchFamily="34" charset="-120"/>
                        </a:rPr>
                        <a:t>(1)</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Pada saat Undang-Undang ini mulai berlaku, perkara kepailitan dan/atau penundaan kewajiban pembayaran utang yang sedang ditangani Balai Harta Peninggalan </a:t>
                      </a:r>
                      <a:pPr indent="0" marL="0">
                        <a:buNone/>
                      </a:pPr>
                      <a:r>
                        <a:rPr lang="en-US" sz="2100" b="1" dirty="0">
                          <a:solidFill>
                            <a:srgbClr val="14284B"/>
                          </a:solidFill>
                          <a:latin typeface="Arial" pitchFamily="34" charset="0"/>
                          <a:ea typeface="Arial" pitchFamily="34" charset="-122"/>
                          <a:cs typeface="Arial" pitchFamily="34" charset="-120"/>
                        </a:rPr>
                        <a:t>tetap dilaksanakan oleh Balai Harta Peninggalan</a:t>
                      </a:r>
                      <a:pPr indent="0" marL="0">
                        <a:buNone/>
                      </a:pPr>
                      <a:r>
                        <a:rPr lang="en-US" sz="2100" dirty="0">
                          <a:solidFill>
                            <a:srgbClr val="1A1A1A"/>
                          </a:solidFill>
                          <a:latin typeface="Arial" pitchFamily="34" charset="0"/>
                          <a:ea typeface="Arial" pitchFamily="34" charset="-122"/>
                          <a:cs typeface="Arial" pitchFamily="34" charset="-120"/>
                        </a:rPr>
                        <a:t>.</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1426464">
                <a:tc>
                  <a:txBody>
                    <a:bodyPr/>
                    <a:lstStyle/>
                    <a:p>
                      <a:pPr indent="0" marL="0">
                        <a:buNone/>
                      </a:pPr>
                      <a:r>
                        <a:rPr lang="en-US" sz="2100" b="1" dirty="0">
                          <a:solidFill>
                            <a:srgbClr val="14284B"/>
                          </a:solidFill>
                          <a:latin typeface="Arial" pitchFamily="34" charset="0"/>
                          <a:ea typeface="Arial" pitchFamily="34" charset="-122"/>
                          <a:cs typeface="Arial" pitchFamily="34" charset="-120"/>
                        </a:rPr>
                        <a:t>(2)</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Dalam hal jumlah perkara sebagaimana dimaksud pada ayat (1) melebihi batas jumlah perkara sebagaimana dimaksud dalam Pasal …, Balai Harta Peninggalan wajib mengalihkan kelebihan perkara </a:t>
                      </a:r>
                      <a:pPr indent="0" marL="0">
                        <a:buNone/>
                      </a:pPr>
                      <a:r>
                        <a:rPr lang="en-US" sz="2100" b="1" dirty="0">
                          <a:solidFill>
                            <a:srgbClr val="14284B"/>
                          </a:solidFill>
                          <a:latin typeface="Arial" pitchFamily="34" charset="0"/>
                          <a:ea typeface="Arial" pitchFamily="34" charset="-122"/>
                          <a:cs typeface="Arial" pitchFamily="34" charset="-120"/>
                        </a:rPr>
                        <a:t>paling lama 6 (enam) bulan</a:t>
                      </a:r>
                      <a:pPr indent="0" marL="0">
                        <a:buNone/>
                      </a:pPr>
                      <a:r>
                        <a:rPr lang="en-US" sz="2100" dirty="0">
                          <a:solidFill>
                            <a:srgbClr val="1A1A1A"/>
                          </a:solidFill>
                          <a:latin typeface="Arial" pitchFamily="34" charset="0"/>
                          <a:ea typeface="Arial" pitchFamily="34" charset="-122"/>
                          <a:cs typeface="Arial" pitchFamily="34" charset="-120"/>
                        </a:rPr>
                        <a:t> terhitung sejak Undang-Undang ini diundangkan.</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39</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1</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3 · USULAN RUMUSAN PASAL  (2/3)</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Ketentuan Peralihan</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4169664"/>
        </p:xfrm>
        <a:graphic>
          <a:graphicData uri="http://schemas.openxmlformats.org/drawingml/2006/table">
            <a:tbl>
              <a:tblPr/>
              <a:tblGrid>
                <a:gridCol w="731520"/>
                <a:gridCol w="594360"/>
                <a:gridCol w="9308592"/>
              </a:tblGrid>
              <a:tr h="768096">
                <a:tc>
                  <a:txBody>
                    <a:bodyPr/>
                    <a:lstStyle/>
                    <a:p>
                      <a:pPr indent="0" marL="0">
                        <a:buNone/>
                      </a:pPr>
                      <a:r>
                        <a:rPr lang="en-US" sz="2100" b="1" dirty="0">
                          <a:solidFill>
                            <a:srgbClr val="14284B"/>
                          </a:solidFill>
                          <a:latin typeface="Arial" pitchFamily="34" charset="0"/>
                          <a:ea typeface="Arial" pitchFamily="34" charset="-122"/>
                          <a:cs typeface="Arial" pitchFamily="34" charset="-120"/>
                        </a:rPr>
                        <a:t>(3)</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Pengalihan kelebihan perkara sebagaimana dimaksud pada ayat (2) dilakukan dengan cara:</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768096">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a.</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dirty="0">
                          <a:solidFill>
                            <a:srgbClr val="1A1A1A"/>
                          </a:solidFill>
                          <a:latin typeface="Arial" pitchFamily="34" charset="0"/>
                          <a:ea typeface="Arial" pitchFamily="34" charset="-122"/>
                          <a:cs typeface="Arial" pitchFamily="34" charset="-120"/>
                        </a:rPr>
                        <a:t>menugaskan Tim Kurator Keperdataan lain pada Balai Harta Peninggalan yang sama; dan/atau</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r>
              <a:tr h="768096">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b.</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dirty="0">
                          <a:solidFill>
                            <a:srgbClr val="1A1A1A"/>
                          </a:solidFill>
                          <a:latin typeface="Arial" pitchFamily="34" charset="0"/>
                          <a:ea typeface="Arial" pitchFamily="34" charset="-122"/>
                          <a:cs typeface="Arial" pitchFamily="34" charset="-120"/>
                        </a:rPr>
                        <a:t>mengajukan permohonan penggantian Kurator atau Pengurus kepada Pengadilan.</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r>
              <a:tr h="1097280">
                <a:tc>
                  <a:txBody>
                    <a:bodyPr/>
                    <a:lstStyle/>
                    <a:p>
                      <a:pPr indent="0" marL="0">
                        <a:buNone/>
                      </a:pPr>
                      <a:r>
                        <a:rPr lang="en-US" sz="2100" b="1" dirty="0">
                          <a:solidFill>
                            <a:srgbClr val="14284B"/>
                          </a:solidFill>
                          <a:latin typeface="Arial" pitchFamily="34" charset="0"/>
                          <a:ea typeface="Arial" pitchFamily="34" charset="-122"/>
                          <a:cs typeface="Arial" pitchFamily="34" charset="-120"/>
                        </a:rPr>
                        <a:t>(4)</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Balai Harta Peninggalan tetap melaksanakan tugas atas perkara sebagaimana dimaksud pada ayat (1) sampai dengan pengalihan sebagaimana dimaksud pada ayat (3) selesai dilaksanakan.</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768096">
                <a:tc>
                  <a:txBody>
                    <a:bodyPr/>
                    <a:lstStyle/>
                    <a:p>
                      <a:pPr indent="0" marL="0">
                        <a:buNone/>
                      </a:pPr>
                      <a:r>
                        <a:rPr lang="en-US" sz="2100" b="1" dirty="0">
                          <a:solidFill>
                            <a:srgbClr val="14284B"/>
                          </a:solidFill>
                          <a:latin typeface="Arial" pitchFamily="34" charset="0"/>
                          <a:ea typeface="Arial" pitchFamily="34" charset="-122"/>
                          <a:cs typeface="Arial" pitchFamily="34" charset="-120"/>
                        </a:rPr>
                        <a:t>(5)</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Kelebihan jumlah perkara selama jangka waktu sebagaimana dimaksud pada ayat (2) </a:t>
                      </a:r>
                      <a:pPr indent="0" marL="0">
                        <a:buNone/>
                      </a:pPr>
                      <a:r>
                        <a:rPr lang="en-US" sz="2100" b="1" dirty="0">
                          <a:solidFill>
                            <a:srgbClr val="14284B"/>
                          </a:solidFill>
                          <a:latin typeface="Arial" pitchFamily="34" charset="0"/>
                          <a:ea typeface="Arial" pitchFamily="34" charset="-122"/>
                          <a:cs typeface="Arial" pitchFamily="34" charset="-120"/>
                        </a:rPr>
                        <a:t>tidak dianggap sebagai pelanggaran</a:t>
                      </a:r>
                      <a:pPr indent="0" marL="0">
                        <a:buNone/>
                      </a:pPr>
                      <a:r>
                        <a:rPr lang="en-US" sz="2100" dirty="0">
                          <a:solidFill>
                            <a:srgbClr val="1A1A1A"/>
                          </a:solidFill>
                          <a:latin typeface="Arial" pitchFamily="34" charset="0"/>
                          <a:ea typeface="Arial" pitchFamily="34" charset="-122"/>
                          <a:cs typeface="Arial" pitchFamily="34" charset="-120"/>
                        </a:rPr>
                        <a:t> batas jumlah perkara.</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40</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1</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3 · USULAN RUMUSAN PASAL  (3/3)</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Ketentuan Peralihan</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1097280"/>
        </p:xfrm>
        <a:graphic>
          <a:graphicData uri="http://schemas.openxmlformats.org/drawingml/2006/table">
            <a:tbl>
              <a:tblPr/>
              <a:tblGrid>
                <a:gridCol w="731520"/>
                <a:gridCol w="594360"/>
                <a:gridCol w="9308592"/>
              </a:tblGrid>
              <a:tr h="1097280">
                <a:tc gridSpan="3">
                  <a:txBody>
                    <a:bodyPr/>
                    <a:lstStyle/>
                    <a:p>
                      <a:pPr indent="0" marL="0">
                        <a:buNone/>
                      </a:pPr>
                      <a:r>
                        <a:rPr lang="en-US" sz="2000" i="1" dirty="0">
                          <a:solidFill>
                            <a:srgbClr val="2D3748"/>
                          </a:solidFill>
                          <a:latin typeface="Arial" pitchFamily="34" charset="0"/>
                          <a:ea typeface="Arial" pitchFamily="34" charset="-122"/>
                          <a:cs typeface="Arial" pitchFamily="34" charset="-120"/>
                        </a:rPr>
                        <a:t>Usulan penjelasan: Pengalihan sebagaimana dimaksud pada ayat (3) huruf a cukup dilakukan melalui </a:t>
                      </a:r>
                      <a:pPr indent="0" marL="0">
                        <a:buNone/>
                      </a:pPr>
                      <a:r>
                        <a:rPr lang="en-US" sz="2000" b="1" i="1" dirty="0">
                          <a:solidFill>
                            <a:srgbClr val="14284B"/>
                          </a:solidFill>
                          <a:latin typeface="Arial" pitchFamily="34" charset="0"/>
                          <a:ea typeface="Arial" pitchFamily="34" charset="-122"/>
                          <a:cs typeface="Arial" pitchFamily="34" charset="-120"/>
                        </a:rPr>
                        <a:t>surat tugas Kepala Balai Harta Peninggalan</a:t>
                      </a:r>
                      <a:pPr indent="0" marL="0">
                        <a:buNone/>
                      </a:pPr>
                      <a:r>
                        <a:rPr lang="en-US" sz="2000" i="1" dirty="0">
                          <a:solidFill>
                            <a:srgbClr val="2D3748"/>
                          </a:solidFill>
                          <a:latin typeface="Arial" pitchFamily="34" charset="0"/>
                          <a:ea typeface="Arial" pitchFamily="34" charset="-122"/>
                          <a:cs typeface="Arial" pitchFamily="34" charset="-120"/>
                        </a:rPr>
                        <a:t> karena Pengadilan mengangkat Balai Harta Peninggalan sebagai lembaga.</a:t>
                      </a:r>
                      <a:endParaRPr lang="en-US" sz="20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solidFill>
                      <a:srgbClr val="F3F6FA"/>
                    </a:solidFill>
                  </a:tcPr>
                </a:tc>
                <a:tc hMerge="1">
                  <a:tcPr/>
                </a:tc>
                <a:tc hMerge="1">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41</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4284B"/>
        </a:solidFill>
      </p:bgPr>
    </p:bg>
    <p:spTree>
      <p:nvGrpSpPr>
        <p:cNvPr id="1" name=""/>
        <p:cNvGrpSpPr/>
        <p:nvPr/>
      </p:nvGrpSpPr>
      <p:grpSpPr>
        <a:xfrm>
          <a:off x="0" y="0"/>
          <a:ext cx="0" cy="0"/>
          <a:chOff x="0" y="0"/>
          <a:chExt cx="0" cy="0"/>
        </a:xfrm>
      </p:grpSpPr>
      <p:sp>
        <p:nvSpPr>
          <p:cNvPr id="2" name="Shape 0"/>
          <p:cNvSpPr/>
          <p:nvPr/>
        </p:nvSpPr>
        <p:spPr>
          <a:xfrm>
            <a:off x="731520" y="548640"/>
            <a:ext cx="2011680" cy="73152"/>
          </a:xfrm>
          <a:prstGeom prst="roundRect">
            <a:avLst>
              <a:gd name="adj" fmla="val 50000"/>
            </a:avLst>
          </a:prstGeom>
          <a:solidFill>
            <a:srgbClr val="8A7A4A"/>
          </a:solidFill>
          <a:ln w="12700">
            <a:solidFill>
              <a:srgbClr val="8A7A4A"/>
            </a:solidFill>
            <a:prstDash val="solid"/>
          </a:ln>
        </p:spPr>
      </p:sp>
      <p:sp>
        <p:nvSpPr>
          <p:cNvPr id="3" name="Shape 1"/>
          <p:cNvSpPr/>
          <p:nvPr/>
        </p:nvSpPr>
        <p:spPr>
          <a:xfrm>
            <a:off x="2907792" y="548640"/>
            <a:ext cx="2011680" cy="73152"/>
          </a:xfrm>
          <a:prstGeom prst="roundRect">
            <a:avLst>
              <a:gd name="adj" fmla="val 50000"/>
            </a:avLst>
          </a:prstGeom>
          <a:solidFill>
            <a:srgbClr val="8A7A4A"/>
          </a:solidFill>
          <a:ln w="12700">
            <a:solidFill>
              <a:srgbClr val="8A7A4A"/>
            </a:solidFill>
            <a:prstDash val="solid"/>
          </a:ln>
        </p:spPr>
      </p:sp>
      <p:sp>
        <p:nvSpPr>
          <p:cNvPr id="4" name="Shape 2"/>
          <p:cNvSpPr/>
          <p:nvPr/>
        </p:nvSpPr>
        <p:spPr>
          <a:xfrm>
            <a:off x="5084064" y="548640"/>
            <a:ext cx="2011680" cy="73152"/>
          </a:xfrm>
          <a:prstGeom prst="roundRect">
            <a:avLst>
              <a:gd name="adj" fmla="val 50000"/>
            </a:avLst>
          </a:prstGeom>
          <a:solidFill>
            <a:srgbClr val="8A7A4A"/>
          </a:solidFill>
          <a:ln w="12700">
            <a:solidFill>
              <a:srgbClr val="8A7A4A"/>
            </a:solidFill>
            <a:prstDash val="solid"/>
          </a:ln>
        </p:spPr>
      </p:sp>
      <p:sp>
        <p:nvSpPr>
          <p:cNvPr id="5" name="Shape 3"/>
          <p:cNvSpPr/>
          <p:nvPr/>
        </p:nvSpPr>
        <p:spPr>
          <a:xfrm>
            <a:off x="7260336" y="548640"/>
            <a:ext cx="2011680" cy="73152"/>
          </a:xfrm>
          <a:prstGeom prst="roundRect">
            <a:avLst>
              <a:gd name="adj" fmla="val 50000"/>
            </a:avLst>
          </a:prstGeom>
          <a:solidFill>
            <a:srgbClr val="8A7A4A"/>
          </a:solidFill>
          <a:ln w="12700">
            <a:solidFill>
              <a:srgbClr val="8A7A4A"/>
            </a:solidFill>
            <a:prstDash val="solid"/>
          </a:ln>
        </p:spPr>
      </p:sp>
      <p:sp>
        <p:nvSpPr>
          <p:cNvPr id="6" name="Shape 4"/>
          <p:cNvSpPr/>
          <p:nvPr/>
        </p:nvSpPr>
        <p:spPr>
          <a:xfrm>
            <a:off x="9436608" y="548640"/>
            <a:ext cx="2011680" cy="73152"/>
          </a:xfrm>
          <a:prstGeom prst="roundRect">
            <a:avLst>
              <a:gd name="adj" fmla="val 50000"/>
            </a:avLst>
          </a:prstGeom>
          <a:solidFill>
            <a:srgbClr val="E0A526"/>
          </a:solidFill>
          <a:ln w="12700">
            <a:solidFill>
              <a:srgbClr val="E0A526"/>
            </a:solidFill>
            <a:prstDash val="solid"/>
          </a:ln>
        </p:spPr>
      </p:sp>
      <p:sp>
        <p:nvSpPr>
          <p:cNvPr id="7" name="Text 5"/>
          <p:cNvSpPr txBox="1"/>
          <p:nvPr/>
        </p:nvSpPr>
        <p:spPr>
          <a:xfrm>
            <a:off x="731520" y="1051560"/>
            <a:ext cx="10698480" cy="457200"/>
          </a:xfrm>
          <a:prstGeom prst="rect">
            <a:avLst/>
          </a:prstGeom>
          <a:noFill/>
          <a:ln/>
        </p:spPr>
        <p:txBody>
          <a:bodyPr wrap="square" lIns="0" tIns="0" rIns="0" bIns="0" rtlCol="0" anchor="t"/>
          <a:lstStyle/>
          <a:p>
            <a:pPr indent="0" marL="0">
              <a:buNone/>
            </a:pPr>
            <a:r>
              <a:rPr lang="en-US" sz="1800" b="1" spc="300" kern="0" dirty="0">
                <a:solidFill>
                  <a:srgbClr val="E0A526"/>
                </a:solidFill>
                <a:latin typeface="Arial" pitchFamily="34" charset="0"/>
                <a:ea typeface="Arial" pitchFamily="34" charset="-122"/>
                <a:cs typeface="Arial" pitchFamily="34" charset="-120"/>
              </a:rPr>
              <a:t>POKOK PEMBAHASAN 5 DARI 5</a:t>
            </a:r>
            <a:endParaRPr lang="en-US" sz="1800" dirty="0"/>
          </a:p>
        </p:txBody>
      </p:sp>
      <p:sp>
        <p:nvSpPr>
          <p:cNvPr id="8" name="Text 6"/>
          <p:cNvSpPr txBox="1"/>
          <p:nvPr/>
        </p:nvSpPr>
        <p:spPr>
          <a:xfrm>
            <a:off x="731520" y="1554480"/>
            <a:ext cx="10698480" cy="100584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Masukan Pengaturan</a:t>
            </a:r>
            <a:endParaRPr lang="en-US" sz="4800" dirty="0"/>
          </a:p>
        </p:txBody>
      </p:sp>
      <p:sp>
        <p:nvSpPr>
          <p:cNvPr id="9" name="Text 7"/>
          <p:cNvSpPr txBox="1"/>
          <p:nvPr/>
        </p:nvSpPr>
        <p:spPr>
          <a:xfrm>
            <a:off x="731520" y="2697480"/>
            <a:ext cx="10241280" cy="1188720"/>
          </a:xfrm>
          <a:prstGeom prst="rect">
            <a:avLst/>
          </a:prstGeom>
          <a:noFill/>
          <a:ln/>
        </p:spPr>
        <p:txBody>
          <a:bodyPr wrap="square" lIns="0" tIns="0" rIns="0" bIns="0" rtlCol="0" anchor="t"/>
          <a:lstStyle/>
          <a:p>
            <a:pPr indent="0" marL="0">
              <a:buNone/>
            </a:pPr>
            <a:r>
              <a:rPr lang="en-US" sz="2200" dirty="0">
                <a:solidFill>
                  <a:srgbClr val="DCE4F2"/>
                </a:solidFill>
                <a:latin typeface="Arial" pitchFamily="34" charset="0"/>
                <a:ea typeface="Arial" pitchFamily="34" charset="-122"/>
                <a:cs typeface="Arial" pitchFamily="34" charset="-120"/>
              </a:rPr>
              <a:t>Mengusulkan materi yang perlu diatur dalam RUU, terutama pengawasan, sertifikasi, dan pertanggungjawaban perdata maupun pidana kurator.</a:t>
            </a:r>
            <a:endParaRPr lang="en-US" sz="2200" dirty="0"/>
          </a:p>
        </p:txBody>
      </p:sp>
      <p:sp>
        <p:nvSpPr>
          <p:cNvPr id="10" name="Shape 8"/>
          <p:cNvSpPr/>
          <p:nvPr/>
        </p:nvSpPr>
        <p:spPr>
          <a:xfrm>
            <a:off x="731520" y="4160520"/>
            <a:ext cx="420624" cy="420624"/>
          </a:xfrm>
          <a:prstGeom prst="ellipse">
            <a:avLst/>
          </a:prstGeom>
          <a:solidFill>
            <a:srgbClr val="E0A526"/>
          </a:solidFill>
          <a:ln w="12700">
            <a:solidFill>
              <a:srgbClr val="E0A526"/>
            </a:solidFill>
            <a:prstDash val="solid"/>
          </a:ln>
        </p:spPr>
      </p:sp>
      <p:sp>
        <p:nvSpPr>
          <p:cNvPr id="11" name="Text 9"/>
          <p:cNvSpPr txBox="1"/>
          <p:nvPr/>
        </p:nvSpPr>
        <p:spPr>
          <a:xfrm>
            <a:off x="731520" y="4160520"/>
            <a:ext cx="420624" cy="420624"/>
          </a:xfrm>
          <a:prstGeom prst="rect">
            <a:avLst/>
          </a:prstGeom>
          <a:noFill/>
          <a:ln/>
        </p:spPr>
        <p:txBody>
          <a:bodyPr wrap="square" lIns="0" tIns="0" rIns="0" bIns="0" rtlCol="0" anchor="ctr"/>
          <a:lstStyle/>
          <a:p>
            <a:pPr algn="ctr" indent="0" marL="0">
              <a:buNone/>
            </a:pPr>
            <a:r>
              <a:rPr lang="en-US" sz="1500" b="1" dirty="0">
                <a:solidFill>
                  <a:srgbClr val="14284B"/>
                </a:solidFill>
                <a:latin typeface="Arial" pitchFamily="34" charset="0"/>
                <a:ea typeface="Arial" pitchFamily="34" charset="-122"/>
                <a:cs typeface="Arial" pitchFamily="34" charset="-120"/>
              </a:rPr>
              <a:t>8</a:t>
            </a:r>
            <a:endParaRPr lang="en-US" sz="1500" dirty="0"/>
          </a:p>
        </p:txBody>
      </p:sp>
      <p:sp>
        <p:nvSpPr>
          <p:cNvPr id="12" name="Text 10"/>
          <p:cNvSpPr txBox="1"/>
          <p:nvPr/>
        </p:nvSpPr>
        <p:spPr>
          <a:xfrm>
            <a:off x="1325880" y="4160520"/>
            <a:ext cx="9601200" cy="420624"/>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Pengawasan Berlapis yang Belum Terpadu</a:t>
            </a:r>
            <a:endParaRPr lang="en-US" sz="1900" dirty="0"/>
          </a:p>
        </p:txBody>
      </p:sp>
      <p:sp>
        <p:nvSpPr>
          <p:cNvPr id="13" name="Shape 11"/>
          <p:cNvSpPr/>
          <p:nvPr/>
        </p:nvSpPr>
        <p:spPr>
          <a:xfrm>
            <a:off x="731520" y="4690872"/>
            <a:ext cx="420624" cy="420624"/>
          </a:xfrm>
          <a:prstGeom prst="ellipse">
            <a:avLst/>
          </a:prstGeom>
          <a:solidFill>
            <a:srgbClr val="E0A526"/>
          </a:solidFill>
          <a:ln w="12700">
            <a:solidFill>
              <a:srgbClr val="E0A526"/>
            </a:solidFill>
            <a:prstDash val="solid"/>
          </a:ln>
        </p:spPr>
      </p:sp>
      <p:sp>
        <p:nvSpPr>
          <p:cNvPr id="14" name="Text 12"/>
          <p:cNvSpPr txBox="1"/>
          <p:nvPr/>
        </p:nvSpPr>
        <p:spPr>
          <a:xfrm>
            <a:off x="731520" y="4690872"/>
            <a:ext cx="420624" cy="420624"/>
          </a:xfrm>
          <a:prstGeom prst="rect">
            <a:avLst/>
          </a:prstGeom>
          <a:noFill/>
          <a:ln/>
        </p:spPr>
        <p:txBody>
          <a:bodyPr wrap="square" lIns="0" tIns="0" rIns="0" bIns="0" rtlCol="0" anchor="ctr"/>
          <a:lstStyle/>
          <a:p>
            <a:pPr algn="ctr" indent="0" marL="0">
              <a:buNone/>
            </a:pPr>
            <a:r>
              <a:rPr lang="en-US" sz="1500" b="1" dirty="0">
                <a:solidFill>
                  <a:srgbClr val="14284B"/>
                </a:solidFill>
                <a:latin typeface="Arial" pitchFamily="34" charset="0"/>
                <a:ea typeface="Arial" pitchFamily="34" charset="-122"/>
                <a:cs typeface="Arial" pitchFamily="34" charset="-120"/>
              </a:rPr>
              <a:t>5</a:t>
            </a:r>
            <a:endParaRPr lang="en-US" sz="1500" dirty="0"/>
          </a:p>
        </p:txBody>
      </p:sp>
      <p:sp>
        <p:nvSpPr>
          <p:cNvPr id="15" name="Text 13"/>
          <p:cNvSpPr txBox="1"/>
          <p:nvPr/>
        </p:nvSpPr>
        <p:spPr>
          <a:xfrm>
            <a:off x="1325880" y="4690872"/>
            <a:ext cx="9601200" cy="420624"/>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Batas Perlindungan dan Tanggung Jawab</a:t>
            </a:r>
            <a:endParaRPr lang="en-US" sz="1900" dirty="0"/>
          </a:p>
        </p:txBody>
      </p:sp>
      <p:sp>
        <p:nvSpPr>
          <p:cNvPr id="16" name="Shape 14"/>
          <p:cNvSpPr/>
          <p:nvPr/>
        </p:nvSpPr>
        <p:spPr>
          <a:xfrm>
            <a:off x="731520" y="5221224"/>
            <a:ext cx="420624" cy="420624"/>
          </a:xfrm>
          <a:prstGeom prst="ellipse">
            <a:avLst/>
          </a:prstGeom>
          <a:solidFill>
            <a:srgbClr val="E0A526"/>
          </a:solidFill>
          <a:ln w="12700">
            <a:solidFill>
              <a:srgbClr val="E0A526"/>
            </a:solidFill>
            <a:prstDash val="solid"/>
          </a:ln>
        </p:spPr>
      </p:sp>
      <p:sp>
        <p:nvSpPr>
          <p:cNvPr id="17" name="Text 15"/>
          <p:cNvSpPr txBox="1"/>
          <p:nvPr/>
        </p:nvSpPr>
        <p:spPr>
          <a:xfrm>
            <a:off x="731520" y="5221224"/>
            <a:ext cx="420624" cy="420624"/>
          </a:xfrm>
          <a:prstGeom prst="rect">
            <a:avLst/>
          </a:prstGeom>
          <a:noFill/>
          <a:ln/>
        </p:spPr>
        <p:txBody>
          <a:bodyPr wrap="square" lIns="0" tIns="0" rIns="0" bIns="0" rtlCol="0" anchor="ctr"/>
          <a:lstStyle/>
          <a:p>
            <a:pPr algn="ctr" indent="0" marL="0">
              <a:buNone/>
            </a:pPr>
            <a:r>
              <a:rPr lang="en-US" sz="1500" b="1" dirty="0">
                <a:solidFill>
                  <a:srgbClr val="14284B"/>
                </a:solidFill>
                <a:latin typeface="Arial" pitchFamily="34" charset="0"/>
                <a:ea typeface="Arial" pitchFamily="34" charset="-122"/>
                <a:cs typeface="Arial" pitchFamily="34" charset="-120"/>
              </a:rPr>
              <a:t>12</a:t>
            </a:r>
            <a:endParaRPr lang="en-US" sz="1500" dirty="0"/>
          </a:p>
        </p:txBody>
      </p:sp>
      <p:sp>
        <p:nvSpPr>
          <p:cNvPr id="18" name="Text 16"/>
          <p:cNvSpPr txBox="1"/>
          <p:nvPr/>
        </p:nvSpPr>
        <p:spPr>
          <a:xfrm>
            <a:off x="1325880" y="5221224"/>
            <a:ext cx="9601200" cy="420624"/>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Perlindungan Pihak Terdampak</a:t>
            </a:r>
            <a:endParaRPr lang="en-US" sz="1900" dirty="0"/>
          </a:p>
        </p:txBody>
      </p:sp>
      <p:sp>
        <p:nvSpPr>
          <p:cNvPr id="19" name="Shape 17"/>
          <p:cNvSpPr/>
          <p:nvPr/>
        </p:nvSpPr>
        <p:spPr>
          <a:xfrm>
            <a:off x="731520" y="5751576"/>
            <a:ext cx="420624" cy="420624"/>
          </a:xfrm>
          <a:prstGeom prst="ellipse">
            <a:avLst/>
          </a:prstGeom>
          <a:solidFill>
            <a:srgbClr val="E0A526"/>
          </a:solidFill>
          <a:ln w="12700">
            <a:solidFill>
              <a:srgbClr val="E0A526"/>
            </a:solidFill>
            <a:prstDash val="solid"/>
          </a:ln>
        </p:spPr>
      </p:sp>
      <p:sp>
        <p:nvSpPr>
          <p:cNvPr id="20" name="Text 18"/>
          <p:cNvSpPr txBox="1"/>
          <p:nvPr/>
        </p:nvSpPr>
        <p:spPr>
          <a:xfrm>
            <a:off x="731520" y="5751576"/>
            <a:ext cx="420624" cy="420624"/>
          </a:xfrm>
          <a:prstGeom prst="rect">
            <a:avLst/>
          </a:prstGeom>
          <a:noFill/>
          <a:ln/>
        </p:spPr>
        <p:txBody>
          <a:bodyPr wrap="square" lIns="0" tIns="0" rIns="0" bIns="0" rtlCol="0" anchor="ctr"/>
          <a:lstStyle/>
          <a:p>
            <a:pPr algn="ctr" indent="0" marL="0">
              <a:buNone/>
            </a:pPr>
            <a:r>
              <a:rPr lang="en-US" sz="1500" b="1" dirty="0">
                <a:solidFill>
                  <a:srgbClr val="14284B"/>
                </a:solidFill>
                <a:latin typeface="Arial" pitchFamily="34" charset="0"/>
                <a:ea typeface="Arial" pitchFamily="34" charset="-122"/>
                <a:cs typeface="Arial" pitchFamily="34" charset="-120"/>
              </a:rPr>
              <a:t>11</a:t>
            </a:r>
            <a:endParaRPr lang="en-US" sz="1500" dirty="0"/>
          </a:p>
        </p:txBody>
      </p:sp>
      <p:sp>
        <p:nvSpPr>
          <p:cNvPr id="21" name="Text 19"/>
          <p:cNvSpPr txBox="1"/>
          <p:nvPr/>
        </p:nvSpPr>
        <p:spPr>
          <a:xfrm>
            <a:off x="1325880" y="5751576"/>
            <a:ext cx="9601200" cy="420624"/>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Kepailitan Lintas Batas</a:t>
            </a:r>
            <a:endParaRPr lang="en-US" sz="1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8</a:t>
            </a:r>
            <a:endParaRPr lang="en-US" sz="4000" dirty="0"/>
          </a:p>
        </p:txBody>
      </p:sp>
      <p:sp>
        <p:nvSpPr>
          <p:cNvPr id="4" name="Text 2"/>
          <p:cNvSpPr txBox="1"/>
          <p:nvPr/>
        </p:nvSpPr>
        <p:spPr>
          <a:xfrm>
            <a:off x="1783080" y="411480"/>
            <a:ext cx="9859975" cy="960120"/>
          </a:xfrm>
          <a:prstGeom prst="rect">
            <a:avLst/>
          </a:prstGeom>
          <a:noFill/>
          <a:ln/>
        </p:spPr>
        <p:txBody>
          <a:bodyPr wrap="square" lIns="0" tIns="0" rIns="0" bIns="0" rtlCol="0" anchor="ctr"/>
          <a:lstStyle/>
          <a:p>
            <a:pPr indent="0" marL="0">
              <a:buNone/>
            </a:pPr>
            <a:r>
              <a:rPr lang="en-US" sz="3400" b="1" dirty="0">
                <a:solidFill>
                  <a:srgbClr val="14284B"/>
                </a:solidFill>
                <a:latin typeface="Arial" pitchFamily="34" charset="0"/>
                <a:ea typeface="Arial" pitchFamily="34" charset="-122"/>
                <a:cs typeface="Arial" pitchFamily="34" charset="-120"/>
              </a:rPr>
              <a:t>Pengawasan Berlapis yang Belum Terpadu</a:t>
            </a:r>
            <a:endParaRPr lang="en-US" sz="3400" dirty="0"/>
          </a:p>
        </p:txBody>
      </p:sp>
      <p:sp>
        <p:nvSpPr>
          <p:cNvPr id="5" name="Shape 3"/>
          <p:cNvSpPr/>
          <p:nvPr/>
        </p:nvSpPr>
        <p:spPr>
          <a:xfrm>
            <a:off x="548640" y="1600200"/>
            <a:ext cx="3520440" cy="3611880"/>
          </a:xfrm>
          <a:prstGeom prst="roundRect">
            <a:avLst>
              <a:gd name="adj" fmla="val 3117"/>
            </a:avLst>
          </a:prstGeom>
          <a:solidFill>
            <a:srgbClr val="EEF2F8"/>
          </a:solidFill>
          <a:ln w="12700">
            <a:solidFill>
              <a:srgbClr val="EEF2F8"/>
            </a:solidFill>
            <a:prstDash val="solid"/>
          </a:ln>
        </p:spPr>
      </p:sp>
      <p:pic>
        <p:nvPicPr>
          <p:cNvPr id="6" name="Image 0" descr="preencoded.png">    </p:cNvPr>
          <p:cNvPicPr>
            <a:picLocks noChangeAspect="1"/>
          </p:cNvPicPr>
          <p:nvPr/>
        </p:nvPicPr>
        <p:blipFill>
          <a:blip r:embed="rId1"/>
          <a:stretch>
            <a:fillRect/>
          </a:stretch>
        </p:blipFill>
        <p:spPr>
          <a:xfrm>
            <a:off x="1892808" y="1828800"/>
            <a:ext cx="822960" cy="822960"/>
          </a:xfrm>
          <a:prstGeom prst="rect">
            <a:avLst/>
          </a:prstGeom>
        </p:spPr>
      </p:pic>
      <p:sp>
        <p:nvSpPr>
          <p:cNvPr id="7" name="Text 4"/>
          <p:cNvSpPr txBox="1"/>
          <p:nvPr/>
        </p:nvSpPr>
        <p:spPr>
          <a:xfrm>
            <a:off x="777240" y="2743200"/>
            <a:ext cx="3063240" cy="868680"/>
          </a:xfrm>
          <a:prstGeom prst="rect">
            <a:avLst/>
          </a:prstGeom>
          <a:noFill/>
          <a:ln/>
        </p:spPr>
        <p:txBody>
          <a:bodyPr wrap="square" lIns="0" tIns="0" rIns="0" bIns="0" rtlCol="0" anchor="ctr"/>
          <a:lstStyle/>
          <a:p>
            <a:pPr algn="ctr" indent="0" marL="0">
              <a:buNone/>
            </a:pPr>
            <a:r>
              <a:rPr lang="en-US" sz="2300" b="1" dirty="0">
                <a:solidFill>
                  <a:srgbClr val="14284B"/>
                </a:solidFill>
                <a:latin typeface="Arial" pitchFamily="34" charset="0"/>
                <a:ea typeface="Arial" pitchFamily="34" charset="-122"/>
                <a:cs typeface="Arial" pitchFamily="34" charset="-120"/>
              </a:rPr>
              <a:t>Hakim Pengawas</a:t>
            </a:r>
            <a:endParaRPr lang="en-US" sz="2300" dirty="0"/>
          </a:p>
        </p:txBody>
      </p:sp>
      <p:sp>
        <p:nvSpPr>
          <p:cNvPr id="8" name="Text 5"/>
          <p:cNvSpPr txBox="1"/>
          <p:nvPr/>
        </p:nvSpPr>
        <p:spPr>
          <a:xfrm>
            <a:off x="822960" y="3657600"/>
            <a:ext cx="2971800" cy="1463040"/>
          </a:xfrm>
          <a:prstGeom prst="rect">
            <a:avLst/>
          </a:prstGeom>
          <a:noFill/>
          <a:ln/>
        </p:spPr>
        <p:txBody>
          <a:bodyPr wrap="square" lIns="0" tIns="0" rIns="0" bIns="0" rtlCol="0" anchor="t"/>
          <a:lstStyle/>
          <a:p>
            <a:pPr algn="ctr" indent="0" marL="0">
              <a:buNone/>
            </a:pPr>
            <a:r>
              <a:rPr lang="en-US" sz="2000" dirty="0">
                <a:solidFill>
                  <a:srgbClr val="1A1A1A"/>
                </a:solidFill>
                <a:latin typeface="Arial" pitchFamily="34" charset="0"/>
                <a:ea typeface="Arial" pitchFamily="34" charset="-122"/>
                <a:cs typeface="Arial" pitchFamily="34" charset="-120"/>
              </a:rPr>
              <a:t>pengawasan yuridis atas pengurusan dan pemberesan harta pailit</a:t>
            </a:r>
            <a:endParaRPr lang="en-US" sz="2000" dirty="0"/>
          </a:p>
        </p:txBody>
      </p:sp>
      <p:sp>
        <p:nvSpPr>
          <p:cNvPr id="9" name="Shape 6"/>
          <p:cNvSpPr/>
          <p:nvPr/>
        </p:nvSpPr>
        <p:spPr>
          <a:xfrm>
            <a:off x="4343400" y="1600200"/>
            <a:ext cx="3520440" cy="3611880"/>
          </a:xfrm>
          <a:prstGeom prst="roundRect">
            <a:avLst>
              <a:gd name="adj" fmla="val 3117"/>
            </a:avLst>
          </a:prstGeom>
          <a:solidFill>
            <a:srgbClr val="EEF2F8"/>
          </a:solidFill>
          <a:ln w="12700">
            <a:solidFill>
              <a:srgbClr val="EEF2F8"/>
            </a:solidFill>
            <a:prstDash val="solid"/>
          </a:ln>
        </p:spPr>
      </p:sp>
      <p:pic>
        <p:nvPicPr>
          <p:cNvPr id="10" name="Image 1" descr="preencoded.png">    </p:cNvPr>
          <p:cNvPicPr>
            <a:picLocks noChangeAspect="1"/>
          </p:cNvPicPr>
          <p:nvPr/>
        </p:nvPicPr>
        <p:blipFill>
          <a:blip r:embed="rId2"/>
          <a:stretch>
            <a:fillRect/>
          </a:stretch>
        </p:blipFill>
        <p:spPr>
          <a:xfrm>
            <a:off x="5687568" y="1828800"/>
            <a:ext cx="822960" cy="822960"/>
          </a:xfrm>
          <a:prstGeom prst="rect">
            <a:avLst/>
          </a:prstGeom>
        </p:spPr>
      </p:pic>
      <p:sp>
        <p:nvSpPr>
          <p:cNvPr id="11" name="Text 7"/>
          <p:cNvSpPr txBox="1"/>
          <p:nvPr/>
        </p:nvSpPr>
        <p:spPr>
          <a:xfrm>
            <a:off x="4572000" y="2743200"/>
            <a:ext cx="3063240" cy="868680"/>
          </a:xfrm>
          <a:prstGeom prst="rect">
            <a:avLst/>
          </a:prstGeom>
          <a:noFill/>
          <a:ln/>
        </p:spPr>
        <p:txBody>
          <a:bodyPr wrap="square" lIns="0" tIns="0" rIns="0" bIns="0" rtlCol="0" anchor="ctr"/>
          <a:lstStyle/>
          <a:p>
            <a:pPr algn="ctr" indent="0" marL="0">
              <a:buNone/>
            </a:pPr>
            <a:r>
              <a:rPr lang="en-US" sz="2300" b="1" dirty="0">
                <a:solidFill>
                  <a:srgbClr val="14284B"/>
                </a:solidFill>
                <a:latin typeface="Arial" pitchFamily="34" charset="0"/>
                <a:ea typeface="Arial" pitchFamily="34" charset="-122"/>
                <a:cs typeface="Arial" pitchFamily="34" charset="-120"/>
              </a:rPr>
              <a:t>Majelis Pengawas Kurator</a:t>
            </a:r>
            <a:endParaRPr lang="en-US" sz="2300" dirty="0"/>
          </a:p>
        </p:txBody>
      </p:sp>
      <p:sp>
        <p:nvSpPr>
          <p:cNvPr id="12" name="Text 8"/>
          <p:cNvSpPr txBox="1"/>
          <p:nvPr/>
        </p:nvSpPr>
        <p:spPr>
          <a:xfrm>
            <a:off x="4617720" y="3657600"/>
            <a:ext cx="2971800" cy="1463040"/>
          </a:xfrm>
          <a:prstGeom prst="rect">
            <a:avLst/>
          </a:prstGeom>
          <a:noFill/>
          <a:ln/>
        </p:spPr>
        <p:txBody>
          <a:bodyPr wrap="square" lIns="0" tIns="0" rIns="0" bIns="0" rtlCol="0" anchor="t"/>
          <a:lstStyle/>
          <a:p>
            <a:pPr algn="ctr" indent="0" marL="0">
              <a:buNone/>
            </a:pPr>
            <a:r>
              <a:rPr lang="en-US" sz="2000" dirty="0">
                <a:solidFill>
                  <a:srgbClr val="1A1A1A"/>
                </a:solidFill>
                <a:latin typeface="Arial" pitchFamily="34" charset="0"/>
                <a:ea typeface="Arial" pitchFamily="34" charset="-122"/>
                <a:cs typeface="Arial" pitchFamily="34" charset="-120"/>
              </a:rPr>
              <a:t>pengawasan teknis dan administratif atas tahapan pelaksanaan pekerjaan kurator</a:t>
            </a:r>
            <a:endParaRPr lang="en-US" sz="2000" dirty="0"/>
          </a:p>
        </p:txBody>
      </p:sp>
      <p:sp>
        <p:nvSpPr>
          <p:cNvPr id="13" name="Shape 9"/>
          <p:cNvSpPr/>
          <p:nvPr/>
        </p:nvSpPr>
        <p:spPr>
          <a:xfrm>
            <a:off x="8138160" y="1600200"/>
            <a:ext cx="3520440" cy="3611880"/>
          </a:xfrm>
          <a:prstGeom prst="roundRect">
            <a:avLst>
              <a:gd name="adj" fmla="val 3117"/>
            </a:avLst>
          </a:prstGeom>
          <a:solidFill>
            <a:srgbClr val="EEF2F8"/>
          </a:solidFill>
          <a:ln w="12700">
            <a:solidFill>
              <a:srgbClr val="EEF2F8"/>
            </a:solidFill>
            <a:prstDash val="solid"/>
          </a:ln>
        </p:spPr>
      </p:sp>
      <p:pic>
        <p:nvPicPr>
          <p:cNvPr id="14" name="Image 2" descr="preencoded.png">    </p:cNvPr>
          <p:cNvPicPr>
            <a:picLocks noChangeAspect="1"/>
          </p:cNvPicPr>
          <p:nvPr/>
        </p:nvPicPr>
        <p:blipFill>
          <a:blip r:embed="rId3"/>
          <a:stretch>
            <a:fillRect/>
          </a:stretch>
        </p:blipFill>
        <p:spPr>
          <a:xfrm>
            <a:off x="9482328" y="1828800"/>
            <a:ext cx="822960" cy="822960"/>
          </a:xfrm>
          <a:prstGeom prst="rect">
            <a:avLst/>
          </a:prstGeom>
        </p:spPr>
      </p:pic>
      <p:sp>
        <p:nvSpPr>
          <p:cNvPr id="15" name="Text 10"/>
          <p:cNvSpPr txBox="1"/>
          <p:nvPr/>
        </p:nvSpPr>
        <p:spPr>
          <a:xfrm>
            <a:off x="8366760" y="2743200"/>
            <a:ext cx="3063240" cy="868680"/>
          </a:xfrm>
          <a:prstGeom prst="rect">
            <a:avLst/>
          </a:prstGeom>
          <a:noFill/>
          <a:ln/>
        </p:spPr>
        <p:txBody>
          <a:bodyPr wrap="square" lIns="0" tIns="0" rIns="0" bIns="0" rtlCol="0" anchor="ctr"/>
          <a:lstStyle/>
          <a:p>
            <a:pPr algn="ctr" indent="0" marL="0">
              <a:buNone/>
            </a:pPr>
            <a:r>
              <a:rPr lang="en-US" sz="2300" b="1" dirty="0">
                <a:solidFill>
                  <a:srgbClr val="14284B"/>
                </a:solidFill>
                <a:latin typeface="Arial" pitchFamily="34" charset="0"/>
                <a:ea typeface="Arial" pitchFamily="34" charset="-122"/>
                <a:cs typeface="Arial" pitchFamily="34" charset="-120"/>
              </a:rPr>
              <a:t>Komite Bersama</a:t>
            </a:r>
            <a:endParaRPr lang="en-US" sz="2300" dirty="0"/>
          </a:p>
        </p:txBody>
      </p:sp>
      <p:sp>
        <p:nvSpPr>
          <p:cNvPr id="16" name="Text 11"/>
          <p:cNvSpPr txBox="1"/>
          <p:nvPr/>
        </p:nvSpPr>
        <p:spPr>
          <a:xfrm>
            <a:off x="8412480" y="3657600"/>
            <a:ext cx="2971800" cy="1463040"/>
          </a:xfrm>
          <a:prstGeom prst="rect">
            <a:avLst/>
          </a:prstGeom>
          <a:noFill/>
          <a:ln/>
        </p:spPr>
        <p:txBody>
          <a:bodyPr wrap="square" lIns="0" tIns="0" rIns="0" bIns="0" rtlCol="0" anchor="t"/>
          <a:lstStyle/>
          <a:p>
            <a:pPr algn="ctr" indent="0" marL="0">
              <a:buNone/>
            </a:pPr>
            <a:r>
              <a:rPr lang="en-US" sz="2000" dirty="0">
                <a:solidFill>
                  <a:srgbClr val="1A1A1A"/>
                </a:solidFill>
                <a:latin typeface="Arial" pitchFamily="34" charset="0"/>
                <a:ea typeface="Arial" pitchFamily="34" charset="-122"/>
                <a:cs typeface="Arial" pitchFamily="34" charset="-120"/>
              </a:rPr>
              <a:t>pengawasan terkait pengembangan profesi dan organisasi kurator</a:t>
            </a:r>
            <a:endParaRPr lang="en-US" sz="2000" dirty="0"/>
          </a:p>
        </p:txBody>
      </p:sp>
      <p:sp>
        <p:nvSpPr>
          <p:cNvPr id="17" name="Text 12"/>
          <p:cNvSpPr txBox="1"/>
          <p:nvPr/>
        </p:nvSpPr>
        <p:spPr>
          <a:xfrm>
            <a:off x="548640" y="5349240"/>
            <a:ext cx="11091672" cy="868680"/>
          </a:xfrm>
          <a:prstGeom prst="rect">
            <a:avLst/>
          </a:prstGeom>
          <a:noFill/>
          <a:ln/>
        </p:spPr>
        <p:txBody>
          <a:bodyPr wrap="square" lIns="0" tIns="0" rIns="0" bIns="0" rtlCol="0" anchor="ctr"/>
          <a:lstStyle/>
          <a:p>
            <a:pPr indent="0" marL="0">
              <a:buNone/>
            </a:pPr>
            <a:r>
              <a:rPr lang="en-US" sz="2100" b="1" dirty="0">
                <a:solidFill>
                  <a:srgbClr val="14284B"/>
                </a:solidFill>
                <a:latin typeface="Arial" pitchFamily="34" charset="0"/>
                <a:ea typeface="Arial" pitchFamily="34" charset="-122"/>
                <a:cs typeface="Arial" pitchFamily="34" charset="-120"/>
              </a:rPr>
              <a:t>Pembagian pengawasan perlu ditegaskan agar hubungan kewenangan Hakim Pengawas, Kementerian Hukum, Komite Bersama, dan organisasi profesi tidak menimbulkan celah atau tumpang tindih.</a:t>
            </a:r>
            <a:endParaRPr lang="en-US" sz="2100" dirty="0"/>
          </a:p>
        </p:txBody>
      </p:sp>
      <p:sp>
        <p:nvSpPr>
          <p:cNvPr id="18" name="Text 13"/>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19" name="Text 14"/>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43</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8</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10 · USULAN RUMUSAN PASAL  (1/2)</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Pembagian Pengawasan</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3950208"/>
        </p:xfrm>
        <a:graphic>
          <a:graphicData uri="http://schemas.openxmlformats.org/drawingml/2006/table">
            <a:tbl>
              <a:tblPr/>
              <a:tblGrid>
                <a:gridCol w="731520"/>
                <a:gridCol w="594360"/>
                <a:gridCol w="9308592"/>
              </a:tblGrid>
              <a:tr h="438912">
                <a:tc gridSpan="3">
                  <a:txBody>
                    <a:bodyPr/>
                    <a:lstStyle/>
                    <a:p>
                      <a:pPr algn="ctr" indent="0" marL="0">
                        <a:buNone/>
                      </a:pPr>
                      <a:r>
                        <a:rPr lang="en-US" sz="2100" b="1" dirty="0">
                          <a:solidFill>
                            <a:srgbClr val="14284B"/>
                          </a:solidFill>
                          <a:latin typeface="Arial" pitchFamily="34" charset="0"/>
                          <a:ea typeface="Arial" pitchFamily="34" charset="-122"/>
                          <a:cs typeface="Arial" pitchFamily="34" charset="-120"/>
                        </a:rPr>
                        <a:t>Pasal …</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c hMerge="1">
                  <a:tcPr/>
                </a:tc>
              </a:tr>
              <a:tr h="438912">
                <a:tc>
                  <a:txBody>
                    <a:bodyPr/>
                    <a:lstStyle/>
                    <a:p>
                      <a:pPr indent="0" marL="0">
                        <a:buNone/>
                      </a:pPr>
                      <a:r>
                        <a:rPr lang="en-US" sz="2100" b="1" dirty="0">
                          <a:solidFill>
                            <a:srgbClr val="14284B"/>
                          </a:solidFill>
                          <a:latin typeface="Arial" pitchFamily="34" charset="0"/>
                          <a:ea typeface="Arial" pitchFamily="34" charset="-122"/>
                          <a:cs typeface="Arial" pitchFamily="34" charset="-120"/>
                        </a:rPr>
                        <a:t>(1)</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Pengawasan terhadap Kurator dan Pengurus dilaksanakan oleh:</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768096">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a.</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Hakim Pengawas</a:t>
                      </a:r>
                      <a:pPr indent="0" marL="0">
                        <a:buNone/>
                      </a:pPr>
                      <a:r>
                        <a:rPr lang="en-US" sz="2100" dirty="0">
                          <a:solidFill>
                            <a:srgbClr val="1A1A1A"/>
                          </a:solidFill>
                          <a:latin typeface="Arial" pitchFamily="34" charset="0"/>
                          <a:ea typeface="Arial" pitchFamily="34" charset="-122"/>
                          <a:cs typeface="Arial" pitchFamily="34" charset="-120"/>
                        </a:rPr>
                        <a:t>, berupa pengawasan yuridis atas pengurusan dan pemberesan harta pailit;</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r>
              <a:tr h="768096">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b.</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Majelis Pengawas Kurator</a:t>
                      </a:r>
                      <a:pPr indent="0" marL="0">
                        <a:buNone/>
                      </a:pPr>
                      <a:r>
                        <a:rPr lang="en-US" sz="2100" dirty="0">
                          <a:solidFill>
                            <a:srgbClr val="1A1A1A"/>
                          </a:solidFill>
                          <a:latin typeface="Arial" pitchFamily="34" charset="0"/>
                          <a:ea typeface="Arial" pitchFamily="34" charset="-122"/>
                          <a:cs typeface="Arial" pitchFamily="34" charset="-120"/>
                        </a:rPr>
                        <a:t>, berupa pengawasan teknis dan administratif atas tahapan pelaksanaan pekerjaan Kurator dan Pengurus; dan</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r>
              <a:tr h="768096">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c.</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2100" b="1" dirty="0">
                          <a:solidFill>
                            <a:srgbClr val="14284B"/>
                          </a:solidFill>
                          <a:latin typeface="Arial" pitchFamily="34" charset="0"/>
                          <a:ea typeface="Arial" pitchFamily="34" charset="-122"/>
                          <a:cs typeface="Arial" pitchFamily="34" charset="-120"/>
                        </a:rPr>
                        <a:t>Komite Bersama</a:t>
                      </a:r>
                      <a:pPr indent="0" marL="0">
                        <a:buNone/>
                      </a:pPr>
                      <a:r>
                        <a:rPr lang="en-US" sz="2100" dirty="0">
                          <a:solidFill>
                            <a:srgbClr val="1A1A1A"/>
                          </a:solidFill>
                          <a:latin typeface="Arial" pitchFamily="34" charset="0"/>
                          <a:ea typeface="Arial" pitchFamily="34" charset="-122"/>
                          <a:cs typeface="Arial" pitchFamily="34" charset="-120"/>
                        </a:rPr>
                        <a:t>, berupa pengawasan terhadap pengembangan profesi dan Organisasi Profesi.</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r>
              <a:tr h="768096">
                <a:tc>
                  <a:txBody>
                    <a:bodyPr/>
                    <a:lstStyle/>
                    <a:p>
                      <a:pPr indent="0" marL="0">
                        <a:buNone/>
                      </a:pPr>
                      <a:r>
                        <a:rPr lang="en-US" sz="2100" b="1" dirty="0">
                          <a:solidFill>
                            <a:srgbClr val="14284B"/>
                          </a:solidFill>
                          <a:latin typeface="Arial" pitchFamily="34" charset="0"/>
                          <a:ea typeface="Arial" pitchFamily="34" charset="-122"/>
                          <a:cs typeface="Arial" pitchFamily="34" charset="-120"/>
                        </a:rPr>
                        <a:t>(2)</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Pengawasan sebagaimana dimaksud pada ayat (1) tidak mengurangi kewenangan Menteri dalam pembinaan kepegawaian pejabat Kurator Keperdataan.</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44</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8</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10 · USULAN RUMUSAN PASAL  (2/2)</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Pembagian Pengawasan</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768096"/>
        </p:xfrm>
        <a:graphic>
          <a:graphicData uri="http://schemas.openxmlformats.org/drawingml/2006/table">
            <a:tbl>
              <a:tblPr/>
              <a:tblGrid>
                <a:gridCol w="731520"/>
                <a:gridCol w="594360"/>
                <a:gridCol w="9308592"/>
              </a:tblGrid>
              <a:tr h="768096">
                <a:tc>
                  <a:txBody>
                    <a:bodyPr/>
                    <a:lstStyle/>
                    <a:p>
                      <a:pPr indent="0" marL="0">
                        <a:buNone/>
                      </a:pPr>
                      <a:r>
                        <a:rPr lang="en-US" sz="2100" b="1" dirty="0">
                          <a:solidFill>
                            <a:srgbClr val="14284B"/>
                          </a:solidFill>
                          <a:latin typeface="Arial" pitchFamily="34" charset="0"/>
                          <a:ea typeface="Arial" pitchFamily="34" charset="-122"/>
                          <a:cs typeface="Arial" pitchFamily="34" charset="-120"/>
                        </a:rPr>
                        <a:t>(3)</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Ketentuan lebih lanjut mengenai tata cara pengawasan diatur dengan Peraturan Pemerintah.</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45</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5</a:t>
            </a:r>
            <a:endParaRPr lang="en-US" sz="4000" dirty="0"/>
          </a:p>
        </p:txBody>
      </p:sp>
      <p:sp>
        <p:nvSpPr>
          <p:cNvPr id="4" name="Text 2"/>
          <p:cNvSpPr txBox="1"/>
          <p:nvPr/>
        </p:nvSpPr>
        <p:spPr>
          <a:xfrm>
            <a:off x="1783080" y="411480"/>
            <a:ext cx="9859975" cy="960120"/>
          </a:xfrm>
          <a:prstGeom prst="rect">
            <a:avLst/>
          </a:prstGeom>
          <a:noFill/>
          <a:ln/>
        </p:spPr>
        <p:txBody>
          <a:bodyPr wrap="square" lIns="0" tIns="0" rIns="0" bIns="0" rtlCol="0" anchor="ctr"/>
          <a:lstStyle/>
          <a:p>
            <a:pPr indent="0" marL="0">
              <a:buNone/>
            </a:pPr>
            <a:r>
              <a:rPr lang="en-US" sz="3400" b="1" dirty="0">
                <a:solidFill>
                  <a:srgbClr val="14284B"/>
                </a:solidFill>
                <a:latin typeface="Arial" pitchFamily="34" charset="0"/>
                <a:ea typeface="Arial" pitchFamily="34" charset="-122"/>
                <a:cs typeface="Arial" pitchFamily="34" charset="-120"/>
              </a:rPr>
              <a:t>Batas Perlindungan dan Tanggung Jawab</a:t>
            </a:r>
            <a:endParaRPr lang="en-US" sz="3400" dirty="0"/>
          </a:p>
        </p:txBody>
      </p:sp>
      <p:sp>
        <p:nvSpPr>
          <p:cNvPr id="5" name="Text 3"/>
          <p:cNvSpPr txBox="1"/>
          <p:nvPr/>
        </p:nvSpPr>
        <p:spPr>
          <a:xfrm>
            <a:off x="548640" y="1554480"/>
            <a:ext cx="6675120" cy="1600200"/>
          </a:xfrm>
          <a:prstGeom prst="rect">
            <a:avLst/>
          </a:prstGeom>
          <a:noFill/>
          <a:ln/>
        </p:spPr>
        <p:txBody>
          <a:bodyPr wrap="square" lIns="0" tIns="0" rIns="0" bIns="0" rtlCol="0" anchor="t"/>
          <a:lstStyle/>
          <a:p>
            <a:pPr indent="0" marL="0">
              <a:buNone/>
            </a:pPr>
            <a:r>
              <a:rPr lang="en-US" sz="2100" dirty="0">
                <a:solidFill>
                  <a:srgbClr val="1A1A1A"/>
                </a:solidFill>
                <a:latin typeface="Arial" pitchFamily="34" charset="0"/>
                <a:ea typeface="Arial" pitchFamily="34" charset="-122"/>
                <a:cs typeface="Arial" pitchFamily="34" charset="-120"/>
              </a:rPr>
              <a:t>RUU perlu membentuk Majelis Kehormatan Kurator. Majelis ini memeriksa lebih dahulu laporan terhadap kurator sebelum kurator dipanggil oleh aparat penegak hukum, untuk membedakan:</a:t>
            </a:r>
            <a:endParaRPr lang="en-US" sz="2100" dirty="0"/>
          </a:p>
        </p:txBody>
      </p:sp>
      <p:sp>
        <p:nvSpPr>
          <p:cNvPr id="6" name="Shape 4"/>
          <p:cNvSpPr/>
          <p:nvPr/>
        </p:nvSpPr>
        <p:spPr>
          <a:xfrm>
            <a:off x="548640" y="3246120"/>
            <a:ext cx="6675120" cy="493776"/>
          </a:xfrm>
          <a:prstGeom prst="roundRect">
            <a:avLst>
              <a:gd name="adj" fmla="val 22222"/>
            </a:avLst>
          </a:prstGeom>
          <a:solidFill>
            <a:srgbClr val="EEF2F8"/>
          </a:solidFill>
          <a:ln w="12700">
            <a:solidFill>
              <a:srgbClr val="EEF2F8"/>
            </a:solidFill>
            <a:prstDash val="solid"/>
          </a:ln>
        </p:spPr>
      </p:sp>
      <p:sp>
        <p:nvSpPr>
          <p:cNvPr id="7" name="Text 5"/>
          <p:cNvSpPr txBox="1"/>
          <p:nvPr/>
        </p:nvSpPr>
        <p:spPr>
          <a:xfrm>
            <a:off x="777240" y="3246120"/>
            <a:ext cx="6309360" cy="493776"/>
          </a:xfrm>
          <a:prstGeom prst="rect">
            <a:avLst/>
          </a:prstGeom>
          <a:noFill/>
          <a:ln/>
        </p:spPr>
        <p:txBody>
          <a:bodyPr wrap="square" lIns="0" tIns="0" rIns="0" bIns="0" rtlCol="0" anchor="ctr"/>
          <a:lstStyle/>
          <a:p>
            <a:pPr indent="0" marL="0">
              <a:buNone/>
            </a:pPr>
            <a:r>
              <a:rPr lang="en-US" sz="2100" b="1" dirty="0">
                <a:solidFill>
                  <a:srgbClr val="14284B"/>
                </a:solidFill>
                <a:latin typeface="Arial" pitchFamily="34" charset="0"/>
                <a:ea typeface="Arial" pitchFamily="34" charset="-122"/>
                <a:cs typeface="Arial" pitchFamily="34" charset="-120"/>
              </a:rPr>
              <a:t>sengketa teknis kepailitan</a:t>
            </a:r>
            <a:endParaRPr lang="en-US" sz="2100" dirty="0"/>
          </a:p>
        </p:txBody>
      </p:sp>
      <p:sp>
        <p:nvSpPr>
          <p:cNvPr id="8" name="Shape 6"/>
          <p:cNvSpPr/>
          <p:nvPr/>
        </p:nvSpPr>
        <p:spPr>
          <a:xfrm>
            <a:off x="548640" y="3831336"/>
            <a:ext cx="6675120" cy="493776"/>
          </a:xfrm>
          <a:prstGeom prst="roundRect">
            <a:avLst>
              <a:gd name="adj" fmla="val 22222"/>
            </a:avLst>
          </a:prstGeom>
          <a:solidFill>
            <a:srgbClr val="EEF2F8"/>
          </a:solidFill>
          <a:ln w="12700">
            <a:solidFill>
              <a:srgbClr val="EEF2F8"/>
            </a:solidFill>
            <a:prstDash val="solid"/>
          </a:ln>
        </p:spPr>
      </p:sp>
      <p:sp>
        <p:nvSpPr>
          <p:cNvPr id="9" name="Text 7"/>
          <p:cNvSpPr txBox="1"/>
          <p:nvPr/>
        </p:nvSpPr>
        <p:spPr>
          <a:xfrm>
            <a:off x="777240" y="3831336"/>
            <a:ext cx="6309360" cy="493776"/>
          </a:xfrm>
          <a:prstGeom prst="rect">
            <a:avLst/>
          </a:prstGeom>
          <a:noFill/>
          <a:ln/>
        </p:spPr>
        <p:txBody>
          <a:bodyPr wrap="square" lIns="0" tIns="0" rIns="0" bIns="0" rtlCol="0" anchor="ctr"/>
          <a:lstStyle/>
          <a:p>
            <a:pPr indent="0" marL="0">
              <a:buNone/>
            </a:pPr>
            <a:r>
              <a:rPr lang="en-US" sz="2100" b="1" dirty="0">
                <a:solidFill>
                  <a:srgbClr val="14284B"/>
                </a:solidFill>
                <a:latin typeface="Arial" pitchFamily="34" charset="0"/>
                <a:ea typeface="Arial" pitchFamily="34" charset="-122"/>
                <a:cs typeface="Arial" pitchFamily="34" charset="-120"/>
              </a:rPr>
              <a:t>pelanggaran etik</a:t>
            </a:r>
            <a:endParaRPr lang="en-US" sz="2100" dirty="0"/>
          </a:p>
        </p:txBody>
      </p:sp>
      <p:sp>
        <p:nvSpPr>
          <p:cNvPr id="10" name="Shape 8"/>
          <p:cNvSpPr/>
          <p:nvPr/>
        </p:nvSpPr>
        <p:spPr>
          <a:xfrm>
            <a:off x="548640" y="4416552"/>
            <a:ext cx="6675120" cy="493776"/>
          </a:xfrm>
          <a:prstGeom prst="roundRect">
            <a:avLst>
              <a:gd name="adj" fmla="val 22222"/>
            </a:avLst>
          </a:prstGeom>
          <a:solidFill>
            <a:srgbClr val="EEF2F8"/>
          </a:solidFill>
          <a:ln w="12700">
            <a:solidFill>
              <a:srgbClr val="EEF2F8"/>
            </a:solidFill>
            <a:prstDash val="solid"/>
          </a:ln>
        </p:spPr>
      </p:sp>
      <p:sp>
        <p:nvSpPr>
          <p:cNvPr id="11" name="Text 9"/>
          <p:cNvSpPr txBox="1"/>
          <p:nvPr/>
        </p:nvSpPr>
        <p:spPr>
          <a:xfrm>
            <a:off x="777240" y="4416552"/>
            <a:ext cx="6309360" cy="493776"/>
          </a:xfrm>
          <a:prstGeom prst="rect">
            <a:avLst/>
          </a:prstGeom>
          <a:noFill/>
          <a:ln/>
        </p:spPr>
        <p:txBody>
          <a:bodyPr wrap="square" lIns="0" tIns="0" rIns="0" bIns="0" rtlCol="0" anchor="ctr"/>
          <a:lstStyle/>
          <a:p>
            <a:pPr indent="0" marL="0">
              <a:buNone/>
            </a:pPr>
            <a:r>
              <a:rPr lang="en-US" sz="2100" b="1" dirty="0">
                <a:solidFill>
                  <a:srgbClr val="14284B"/>
                </a:solidFill>
                <a:latin typeface="Arial" pitchFamily="34" charset="0"/>
                <a:ea typeface="Arial" pitchFamily="34" charset="-122"/>
                <a:cs typeface="Arial" pitchFamily="34" charset="-120"/>
              </a:rPr>
              <a:t>pelanggaran administratif</a:t>
            </a:r>
            <a:endParaRPr lang="en-US" sz="2100" dirty="0"/>
          </a:p>
        </p:txBody>
      </p:sp>
      <p:sp>
        <p:nvSpPr>
          <p:cNvPr id="12" name="Shape 10"/>
          <p:cNvSpPr/>
          <p:nvPr/>
        </p:nvSpPr>
        <p:spPr>
          <a:xfrm>
            <a:off x="548640" y="5001768"/>
            <a:ext cx="6675120" cy="493776"/>
          </a:xfrm>
          <a:prstGeom prst="roundRect">
            <a:avLst>
              <a:gd name="adj" fmla="val 22222"/>
            </a:avLst>
          </a:prstGeom>
          <a:solidFill>
            <a:srgbClr val="EEF2F8"/>
          </a:solidFill>
          <a:ln w="12700">
            <a:solidFill>
              <a:srgbClr val="EEF2F8"/>
            </a:solidFill>
            <a:prstDash val="solid"/>
          </a:ln>
        </p:spPr>
      </p:sp>
      <p:sp>
        <p:nvSpPr>
          <p:cNvPr id="13" name="Text 11"/>
          <p:cNvSpPr txBox="1"/>
          <p:nvPr/>
        </p:nvSpPr>
        <p:spPr>
          <a:xfrm>
            <a:off x="777240" y="5001768"/>
            <a:ext cx="6309360" cy="493776"/>
          </a:xfrm>
          <a:prstGeom prst="rect">
            <a:avLst/>
          </a:prstGeom>
          <a:noFill/>
          <a:ln/>
        </p:spPr>
        <p:txBody>
          <a:bodyPr wrap="square" lIns="0" tIns="0" rIns="0" bIns="0" rtlCol="0" anchor="ctr"/>
          <a:lstStyle/>
          <a:p>
            <a:pPr indent="0" marL="0">
              <a:buNone/>
            </a:pPr>
            <a:r>
              <a:rPr lang="en-US" sz="2100" b="1" dirty="0">
                <a:solidFill>
                  <a:srgbClr val="14284B"/>
                </a:solidFill>
                <a:latin typeface="Arial" pitchFamily="34" charset="0"/>
                <a:ea typeface="Arial" pitchFamily="34" charset="-122"/>
                <a:cs typeface="Arial" pitchFamily="34" charset="-120"/>
              </a:rPr>
              <a:t>tanggung jawab perdata</a:t>
            </a:r>
            <a:endParaRPr lang="en-US" sz="2100" dirty="0"/>
          </a:p>
        </p:txBody>
      </p:sp>
      <p:sp>
        <p:nvSpPr>
          <p:cNvPr id="14" name="Shape 12"/>
          <p:cNvSpPr/>
          <p:nvPr/>
        </p:nvSpPr>
        <p:spPr>
          <a:xfrm>
            <a:off x="548640" y="5586984"/>
            <a:ext cx="6675120" cy="493776"/>
          </a:xfrm>
          <a:prstGeom prst="roundRect">
            <a:avLst>
              <a:gd name="adj" fmla="val 22222"/>
            </a:avLst>
          </a:prstGeom>
          <a:solidFill>
            <a:srgbClr val="EEF2F8"/>
          </a:solidFill>
          <a:ln w="12700">
            <a:solidFill>
              <a:srgbClr val="EEF2F8"/>
            </a:solidFill>
            <a:prstDash val="solid"/>
          </a:ln>
        </p:spPr>
      </p:sp>
      <p:sp>
        <p:nvSpPr>
          <p:cNvPr id="15" name="Text 13"/>
          <p:cNvSpPr txBox="1"/>
          <p:nvPr/>
        </p:nvSpPr>
        <p:spPr>
          <a:xfrm>
            <a:off x="777240" y="5586984"/>
            <a:ext cx="6309360" cy="493776"/>
          </a:xfrm>
          <a:prstGeom prst="rect">
            <a:avLst/>
          </a:prstGeom>
          <a:noFill/>
          <a:ln/>
        </p:spPr>
        <p:txBody>
          <a:bodyPr wrap="square" lIns="0" tIns="0" rIns="0" bIns="0" rtlCol="0" anchor="ctr"/>
          <a:lstStyle/>
          <a:p>
            <a:pPr indent="0" marL="0">
              <a:buNone/>
            </a:pPr>
            <a:r>
              <a:rPr lang="en-US" sz="2100" b="1" dirty="0">
                <a:solidFill>
                  <a:srgbClr val="14284B"/>
                </a:solidFill>
                <a:latin typeface="Arial" pitchFamily="34" charset="0"/>
                <a:ea typeface="Arial" pitchFamily="34" charset="-122"/>
                <a:cs typeface="Arial" pitchFamily="34" charset="-120"/>
              </a:rPr>
              <a:t>tindak pidana</a:t>
            </a:r>
            <a:endParaRPr lang="en-US" sz="2100" dirty="0"/>
          </a:p>
        </p:txBody>
      </p:sp>
      <p:sp>
        <p:nvSpPr>
          <p:cNvPr id="16" name="Shape 14"/>
          <p:cNvSpPr/>
          <p:nvPr/>
        </p:nvSpPr>
        <p:spPr>
          <a:xfrm>
            <a:off x="7543800" y="1600200"/>
            <a:ext cx="4096512" cy="4572000"/>
          </a:xfrm>
          <a:prstGeom prst="roundRect">
            <a:avLst>
              <a:gd name="adj" fmla="val 2679"/>
            </a:avLst>
          </a:prstGeom>
          <a:solidFill>
            <a:srgbClr val="14284B"/>
          </a:solidFill>
          <a:ln w="12700">
            <a:solidFill>
              <a:srgbClr val="14284B"/>
            </a:solidFill>
            <a:prstDash val="solid"/>
          </a:ln>
        </p:spPr>
      </p:sp>
      <p:sp>
        <p:nvSpPr>
          <p:cNvPr id="17" name="Text 15"/>
          <p:cNvSpPr txBox="1"/>
          <p:nvPr/>
        </p:nvSpPr>
        <p:spPr>
          <a:xfrm>
            <a:off x="7543800" y="1737360"/>
            <a:ext cx="4096512" cy="1371600"/>
          </a:xfrm>
          <a:prstGeom prst="rect">
            <a:avLst/>
          </a:prstGeom>
          <a:noFill/>
          <a:ln/>
        </p:spPr>
        <p:txBody>
          <a:bodyPr wrap="square" lIns="0" tIns="0" rIns="0" bIns="0" rtlCol="0" anchor="ctr"/>
          <a:lstStyle/>
          <a:p>
            <a:pPr algn="ctr" indent="0" marL="0">
              <a:buNone/>
            </a:pPr>
            <a:r>
              <a:rPr lang="en-US" sz="9600" b="1" dirty="0">
                <a:solidFill>
                  <a:srgbClr val="E0A526"/>
                </a:solidFill>
                <a:latin typeface="Arial" pitchFamily="34" charset="0"/>
                <a:ea typeface="Arial" pitchFamily="34" charset="-122"/>
                <a:cs typeface="Arial" pitchFamily="34" charset="-120"/>
              </a:rPr>
              <a:t>30</a:t>
            </a:r>
            <a:endParaRPr lang="en-US" sz="9600" dirty="0"/>
          </a:p>
        </p:txBody>
      </p:sp>
      <p:sp>
        <p:nvSpPr>
          <p:cNvPr id="18" name="Text 16"/>
          <p:cNvSpPr txBox="1"/>
          <p:nvPr/>
        </p:nvSpPr>
        <p:spPr>
          <a:xfrm>
            <a:off x="7543800" y="3108960"/>
            <a:ext cx="4096512" cy="502920"/>
          </a:xfrm>
          <a:prstGeom prst="rect">
            <a:avLst/>
          </a:prstGeom>
          <a:noFill/>
          <a:ln/>
        </p:spPr>
        <p:txBody>
          <a:bodyPr wrap="square" lIns="0" tIns="0" rIns="0" bIns="0" rtlCol="0" anchor="t"/>
          <a:lstStyle/>
          <a:p>
            <a:pPr algn="ctr" indent="0" marL="0">
              <a:buNone/>
            </a:pPr>
            <a:r>
              <a:rPr lang="en-US" sz="2400" b="1" dirty="0">
                <a:solidFill>
                  <a:srgbClr val="FFFFFF"/>
                </a:solidFill>
                <a:latin typeface="Arial" pitchFamily="34" charset="0"/>
                <a:ea typeface="Arial" pitchFamily="34" charset="-122"/>
                <a:cs typeface="Arial" pitchFamily="34" charset="-120"/>
              </a:rPr>
              <a:t>hari kerja</a:t>
            </a:r>
            <a:endParaRPr lang="en-US" sz="2400" dirty="0"/>
          </a:p>
        </p:txBody>
      </p:sp>
      <p:sp>
        <p:nvSpPr>
          <p:cNvPr id="19" name="Text 17"/>
          <p:cNvSpPr txBox="1"/>
          <p:nvPr/>
        </p:nvSpPr>
        <p:spPr>
          <a:xfrm>
            <a:off x="7772400" y="3749040"/>
            <a:ext cx="3639312" cy="2286000"/>
          </a:xfrm>
          <a:prstGeom prst="rect">
            <a:avLst/>
          </a:prstGeom>
          <a:noFill/>
          <a:ln/>
        </p:spPr>
        <p:txBody>
          <a:bodyPr wrap="square" lIns="0" tIns="0" rIns="0" bIns="0" rtlCol="0" anchor="ctr"/>
          <a:lstStyle/>
          <a:p>
            <a:pPr algn="ctr" indent="0" marL="0">
              <a:buNone/>
            </a:pPr>
            <a:r>
              <a:rPr lang="en-US" sz="1900" dirty="0">
                <a:solidFill>
                  <a:srgbClr val="FFFFFF"/>
                </a:solidFill>
                <a:latin typeface="Arial" pitchFamily="34" charset="0"/>
                <a:ea typeface="Arial" pitchFamily="34" charset="-122"/>
                <a:cs typeface="Arial" pitchFamily="34" charset="-120"/>
              </a:rPr>
              <a:t>Majelis wajib memberikan jawaban dalam jangka waktu tertentu agar mekanisme ini tidak menjadi imunitas yang menghambat proses hukum.</a:t>
            </a:r>
            <a:endParaRPr lang="en-US" sz="1900" dirty="0"/>
          </a:p>
        </p:txBody>
      </p:sp>
      <p:sp>
        <p:nvSpPr>
          <p:cNvPr id="20" name="Text 18"/>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21" name="Text 19"/>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46</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5</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7 · USULAN RUMUSAN PASAL  (1/2)</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Majelis Kehormatan Kurator</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3621024"/>
        </p:xfrm>
        <a:graphic>
          <a:graphicData uri="http://schemas.openxmlformats.org/drawingml/2006/table">
            <a:tbl>
              <a:tblPr/>
              <a:tblGrid>
                <a:gridCol w="731520"/>
                <a:gridCol w="594360"/>
                <a:gridCol w="9308592"/>
              </a:tblGrid>
              <a:tr h="438912">
                <a:tc gridSpan="3">
                  <a:txBody>
                    <a:bodyPr/>
                    <a:lstStyle/>
                    <a:p>
                      <a:pPr algn="ctr" indent="0" marL="0">
                        <a:buNone/>
                      </a:pPr>
                      <a:r>
                        <a:rPr lang="en-US" sz="2100" b="1" dirty="0">
                          <a:solidFill>
                            <a:srgbClr val="14284B"/>
                          </a:solidFill>
                          <a:latin typeface="Arial" pitchFamily="34" charset="0"/>
                          <a:ea typeface="Arial" pitchFamily="34" charset="-122"/>
                          <a:cs typeface="Arial" pitchFamily="34" charset="-120"/>
                        </a:rPr>
                        <a:t>Pasal …</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c hMerge="1">
                  <a:tcPr/>
                </a:tc>
              </a:tr>
              <a:tr h="1426464">
                <a:tc>
                  <a:txBody>
                    <a:bodyPr/>
                    <a:lstStyle/>
                    <a:p>
                      <a:pPr indent="0" marL="0">
                        <a:buNone/>
                      </a:pPr>
                      <a:r>
                        <a:rPr lang="en-US" sz="2100" b="1" dirty="0">
                          <a:solidFill>
                            <a:srgbClr val="14284B"/>
                          </a:solidFill>
                          <a:latin typeface="Arial" pitchFamily="34" charset="0"/>
                          <a:ea typeface="Arial" pitchFamily="34" charset="-122"/>
                          <a:cs typeface="Arial" pitchFamily="34" charset="-120"/>
                        </a:rPr>
                        <a:t>(1)</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Untuk kepentingan proses peradilan, penyidik, penuntut umum, atau hakim </a:t>
                      </a:r>
                      <a:pPr indent="0" marL="0">
                        <a:buNone/>
                      </a:pPr>
                      <a:r>
                        <a:rPr lang="en-US" sz="2100" b="1" dirty="0">
                          <a:solidFill>
                            <a:srgbClr val="14284B"/>
                          </a:solidFill>
                          <a:latin typeface="Arial" pitchFamily="34" charset="0"/>
                          <a:ea typeface="Arial" pitchFamily="34" charset="-122"/>
                          <a:cs typeface="Arial" pitchFamily="34" charset="-120"/>
                        </a:rPr>
                        <a:t>dengan persetujuan Majelis Kehormatan Kurator</a:t>
                      </a:r>
                      <a:pPr indent="0" marL="0">
                        <a:buNone/>
                      </a:pPr>
                      <a:r>
                        <a:rPr lang="en-US" sz="2100" dirty="0">
                          <a:solidFill>
                            <a:srgbClr val="1A1A1A"/>
                          </a:solidFill>
                          <a:latin typeface="Arial" pitchFamily="34" charset="0"/>
                          <a:ea typeface="Arial" pitchFamily="34" charset="-122"/>
                          <a:cs typeface="Arial" pitchFamily="34" charset="-120"/>
                        </a:rPr>
                        <a:t> berwenang memanggil Kurator atau Pengurus untuk hadir dalam pemeriksaan yang berkaitan dengan tindakan dalam pelaksanaan tugasnya.</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1755648">
                <a:tc>
                  <a:txBody>
                    <a:bodyPr/>
                    <a:lstStyle/>
                    <a:p>
                      <a:pPr indent="0" marL="0">
                        <a:buNone/>
                      </a:pPr>
                      <a:r>
                        <a:rPr lang="en-US" sz="2100" b="1" dirty="0">
                          <a:solidFill>
                            <a:srgbClr val="14284B"/>
                          </a:solidFill>
                          <a:latin typeface="Arial" pitchFamily="34" charset="0"/>
                          <a:ea typeface="Arial" pitchFamily="34" charset="-122"/>
                          <a:cs typeface="Arial" pitchFamily="34" charset="-120"/>
                        </a:rPr>
                        <a:t>(2)</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Dalam memberikan persetujuan sebagaimana dimaksud pada ayat (1), Majelis Kehormatan Kurator terlebih dahulu memeriksa dan menentukan apakah laporan terhadap Kurator atau Pengurus merupakan: a. sengketa teknis kepailitan; b. pelanggaran kode etik; c. pelanggaran administratif; d. tanggung jawab perdata; atau e. dugaan tindak pidana.</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47</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5</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7 · USULAN RUMUSAN PASAL  (2/2)</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Majelis Kehormatan Kurator</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2962656"/>
        </p:xfrm>
        <a:graphic>
          <a:graphicData uri="http://schemas.openxmlformats.org/drawingml/2006/table">
            <a:tbl>
              <a:tblPr/>
              <a:tblGrid>
                <a:gridCol w="731520"/>
                <a:gridCol w="594360"/>
                <a:gridCol w="9308592"/>
              </a:tblGrid>
              <a:tr h="1097280">
                <a:tc>
                  <a:txBody>
                    <a:bodyPr/>
                    <a:lstStyle/>
                    <a:p>
                      <a:pPr indent="0" marL="0">
                        <a:buNone/>
                      </a:pPr>
                      <a:r>
                        <a:rPr lang="en-US" sz="2100" b="1" dirty="0">
                          <a:solidFill>
                            <a:srgbClr val="14284B"/>
                          </a:solidFill>
                          <a:latin typeface="Arial" pitchFamily="34" charset="0"/>
                          <a:ea typeface="Arial" pitchFamily="34" charset="-122"/>
                          <a:cs typeface="Arial" pitchFamily="34" charset="-120"/>
                        </a:rPr>
                        <a:t>(3)</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Majelis Kehormatan Kurator wajib memberikan jawaban menerima atau menolak permintaan persetujuan </a:t>
                      </a:r>
                      <a:pPr indent="0" marL="0">
                        <a:buNone/>
                      </a:pPr>
                      <a:r>
                        <a:rPr lang="en-US" sz="2100" b="1" dirty="0">
                          <a:solidFill>
                            <a:srgbClr val="14284B"/>
                          </a:solidFill>
                          <a:latin typeface="Arial" pitchFamily="34" charset="0"/>
                          <a:ea typeface="Arial" pitchFamily="34" charset="-122"/>
                          <a:cs typeface="Arial" pitchFamily="34" charset="-120"/>
                        </a:rPr>
                        <a:t>paling lama 30 (tiga puluh) hari kerja</a:t>
                      </a:r>
                      <a:pPr indent="0" marL="0">
                        <a:buNone/>
                      </a:pPr>
                      <a:r>
                        <a:rPr lang="en-US" sz="2100" dirty="0">
                          <a:solidFill>
                            <a:srgbClr val="1A1A1A"/>
                          </a:solidFill>
                          <a:latin typeface="Arial" pitchFamily="34" charset="0"/>
                          <a:ea typeface="Arial" pitchFamily="34" charset="-122"/>
                          <a:cs typeface="Arial" pitchFamily="34" charset="-120"/>
                        </a:rPr>
                        <a:t> terhitung sejak permintaan diterima.</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1097280">
                <a:tc>
                  <a:txBody>
                    <a:bodyPr/>
                    <a:lstStyle/>
                    <a:p>
                      <a:pPr indent="0" marL="0">
                        <a:buNone/>
                      </a:pPr>
                      <a:r>
                        <a:rPr lang="en-US" sz="2100" b="1" dirty="0">
                          <a:solidFill>
                            <a:srgbClr val="14284B"/>
                          </a:solidFill>
                          <a:latin typeface="Arial" pitchFamily="34" charset="0"/>
                          <a:ea typeface="Arial" pitchFamily="34" charset="-122"/>
                          <a:cs typeface="Arial" pitchFamily="34" charset="-120"/>
                        </a:rPr>
                        <a:t>(4)</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Dalam hal Majelis Kehormatan Kurator tidak memberikan jawaban dalam jangka waktu sebagaimana dimaksud pada ayat (3), Majelis Kehormatan Kurator </a:t>
                      </a:r>
                      <a:pPr indent="0" marL="0">
                        <a:buNone/>
                      </a:pPr>
                      <a:r>
                        <a:rPr lang="en-US" sz="2100" b="1" dirty="0">
                          <a:solidFill>
                            <a:srgbClr val="14284B"/>
                          </a:solidFill>
                          <a:latin typeface="Arial" pitchFamily="34" charset="0"/>
                          <a:ea typeface="Arial" pitchFamily="34" charset="-122"/>
                          <a:cs typeface="Arial" pitchFamily="34" charset="-120"/>
                        </a:rPr>
                        <a:t>dianggap menerima</a:t>
                      </a:r>
                      <a:pPr indent="0" marL="0">
                        <a:buNone/>
                      </a:pPr>
                      <a:r>
                        <a:rPr lang="en-US" sz="2100" dirty="0">
                          <a:solidFill>
                            <a:srgbClr val="1A1A1A"/>
                          </a:solidFill>
                          <a:latin typeface="Arial" pitchFamily="34" charset="0"/>
                          <a:ea typeface="Arial" pitchFamily="34" charset="-122"/>
                          <a:cs typeface="Arial" pitchFamily="34" charset="-120"/>
                        </a:rPr>
                        <a:t> permintaan persetujuan.</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768096">
                <a:tc>
                  <a:txBody>
                    <a:bodyPr/>
                    <a:lstStyle/>
                    <a:p>
                      <a:pPr indent="0" marL="0">
                        <a:buNone/>
                      </a:pPr>
                      <a:r>
                        <a:rPr lang="en-US" sz="2100" b="1" dirty="0">
                          <a:solidFill>
                            <a:srgbClr val="14284B"/>
                          </a:solidFill>
                          <a:latin typeface="Arial" pitchFamily="34" charset="0"/>
                          <a:ea typeface="Arial" pitchFamily="34" charset="-122"/>
                          <a:cs typeface="Arial" pitchFamily="34" charset="-120"/>
                        </a:rPr>
                        <a:t>(5)</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Majelis Kehormatan Kurator terdiri atas unsur pemerintah, Organisasi Profesi, dan akademisi.</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48</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2200" b="1" dirty="0">
                <a:solidFill>
                  <a:srgbClr val="E0A526"/>
                </a:solidFill>
                <a:latin typeface="Arial" pitchFamily="34" charset="0"/>
                <a:ea typeface="Arial" pitchFamily="34" charset="-122"/>
                <a:cs typeface="Arial" pitchFamily="34" charset="-120"/>
              </a:rPr>
              <a:t>11, 12</a:t>
            </a:r>
            <a:endParaRPr lang="en-US" sz="2200" dirty="0"/>
          </a:p>
        </p:txBody>
      </p:sp>
      <p:sp>
        <p:nvSpPr>
          <p:cNvPr id="4" name="Text 2"/>
          <p:cNvSpPr txBox="1"/>
          <p:nvPr/>
        </p:nvSpPr>
        <p:spPr>
          <a:xfrm>
            <a:off x="1783080" y="411480"/>
            <a:ext cx="9859975" cy="960120"/>
          </a:xfrm>
          <a:prstGeom prst="rect">
            <a:avLst/>
          </a:prstGeom>
          <a:noFill/>
          <a:ln/>
        </p:spPr>
        <p:txBody>
          <a:bodyPr wrap="square" lIns="0" tIns="0" rIns="0" bIns="0" rtlCol="0" anchor="ctr"/>
          <a:lstStyle/>
          <a:p>
            <a:pPr indent="0" marL="0">
              <a:buNone/>
            </a:pPr>
            <a:r>
              <a:rPr lang="en-US" sz="3400" b="1" dirty="0">
                <a:solidFill>
                  <a:srgbClr val="14284B"/>
                </a:solidFill>
                <a:latin typeface="Arial" pitchFamily="34" charset="0"/>
                <a:ea typeface="Arial" pitchFamily="34" charset="-122"/>
                <a:cs typeface="Arial" pitchFamily="34" charset="-120"/>
              </a:rPr>
              <a:t>Kepailitan Lintas Batas; Perlindungan Pihak Terdampak</a:t>
            </a:r>
            <a:endParaRPr lang="en-US" sz="3400" dirty="0"/>
          </a:p>
        </p:txBody>
      </p:sp>
      <p:sp>
        <p:nvSpPr>
          <p:cNvPr id="5" name="Shape 3"/>
          <p:cNvSpPr/>
          <p:nvPr/>
        </p:nvSpPr>
        <p:spPr>
          <a:xfrm>
            <a:off x="548640" y="1600200"/>
            <a:ext cx="5349240" cy="4572000"/>
          </a:xfrm>
          <a:prstGeom prst="roundRect">
            <a:avLst>
              <a:gd name="adj" fmla="val 2400"/>
            </a:avLst>
          </a:prstGeom>
          <a:solidFill>
            <a:srgbClr val="EEF2F8"/>
          </a:solidFill>
          <a:ln w="12700">
            <a:solidFill>
              <a:srgbClr val="EEF2F8"/>
            </a:solidFill>
            <a:prstDash val="solid"/>
          </a:ln>
        </p:spPr>
      </p:sp>
      <p:pic>
        <p:nvPicPr>
          <p:cNvPr id="6" name="Image 0" descr="preencoded.png">    </p:cNvPr>
          <p:cNvPicPr>
            <a:picLocks noChangeAspect="1"/>
          </p:cNvPicPr>
          <p:nvPr/>
        </p:nvPicPr>
        <p:blipFill>
          <a:blip r:embed="rId1"/>
          <a:stretch>
            <a:fillRect/>
          </a:stretch>
        </p:blipFill>
        <p:spPr>
          <a:xfrm>
            <a:off x="822960" y="1810512"/>
            <a:ext cx="548640" cy="548640"/>
          </a:xfrm>
          <a:prstGeom prst="rect">
            <a:avLst/>
          </a:prstGeom>
        </p:spPr>
      </p:pic>
      <p:sp>
        <p:nvSpPr>
          <p:cNvPr id="7" name="Text 4"/>
          <p:cNvSpPr txBox="1"/>
          <p:nvPr/>
        </p:nvSpPr>
        <p:spPr>
          <a:xfrm>
            <a:off x="1554480" y="1783080"/>
            <a:ext cx="4114800" cy="594360"/>
          </a:xfrm>
          <a:prstGeom prst="rect">
            <a:avLst/>
          </a:prstGeom>
          <a:noFill/>
          <a:ln/>
        </p:spPr>
        <p:txBody>
          <a:bodyPr wrap="square" lIns="0" tIns="0" rIns="0" bIns="0" rtlCol="0" anchor="ctr"/>
          <a:lstStyle/>
          <a:p>
            <a:pPr indent="0" marL="0">
              <a:buNone/>
            </a:pPr>
            <a:r>
              <a:rPr lang="en-US" sz="2400" b="1" dirty="0">
                <a:solidFill>
                  <a:srgbClr val="14284B"/>
                </a:solidFill>
                <a:latin typeface="Arial" pitchFamily="34" charset="0"/>
                <a:ea typeface="Arial" pitchFamily="34" charset="-122"/>
                <a:cs typeface="Arial" pitchFamily="34" charset="-120"/>
              </a:rPr>
              <a:t>Lintas batas</a:t>
            </a:r>
            <a:endParaRPr lang="en-US" sz="2400" dirty="0"/>
          </a:p>
        </p:txBody>
      </p:sp>
      <p:sp>
        <p:nvSpPr>
          <p:cNvPr id="8" name="Text 5"/>
          <p:cNvSpPr txBox="1"/>
          <p:nvPr/>
        </p:nvSpPr>
        <p:spPr>
          <a:xfrm>
            <a:off x="822960" y="2606040"/>
            <a:ext cx="4800600" cy="3383280"/>
          </a:xfrm>
          <a:prstGeom prst="rect">
            <a:avLst/>
          </a:prstGeom>
          <a:noFill/>
          <a:ln/>
        </p:spPr>
        <p:txBody>
          <a:bodyPr wrap="square" lIns="0" tIns="0" rIns="0" bIns="0" rtlCol="0" anchor="t"/>
          <a:lstStyle/>
          <a:p>
            <a:pPr indent="0" marL="0">
              <a:buNone/>
            </a:pPr>
            <a:r>
              <a:rPr lang="en-US" sz="2200" dirty="0">
                <a:solidFill>
                  <a:srgbClr val="1A1A1A"/>
                </a:solidFill>
                <a:latin typeface="Arial" pitchFamily="34" charset="0"/>
                <a:ea typeface="Arial" pitchFamily="34" charset="-122"/>
                <a:cs typeface="Arial" pitchFamily="34" charset="-120"/>
              </a:rPr>
              <a:t>Kurator wajib mematuhi ketentuan hukum internasional dan perjanjian internasional yang mengikat Indonesia. UNCITRAL Model Law on Cross-Border Insolvency (1997) dapat dijadikan acuan.</a:t>
            </a:r>
            <a:endParaRPr lang="en-US" sz="2200" dirty="0"/>
          </a:p>
        </p:txBody>
      </p:sp>
      <p:sp>
        <p:nvSpPr>
          <p:cNvPr id="9" name="Shape 6"/>
          <p:cNvSpPr/>
          <p:nvPr/>
        </p:nvSpPr>
        <p:spPr>
          <a:xfrm>
            <a:off x="6291072" y="1600200"/>
            <a:ext cx="5349240" cy="4572000"/>
          </a:xfrm>
          <a:prstGeom prst="roundRect">
            <a:avLst>
              <a:gd name="adj" fmla="val 2400"/>
            </a:avLst>
          </a:prstGeom>
          <a:solidFill>
            <a:srgbClr val="EEF2F8"/>
          </a:solidFill>
          <a:ln w="12700">
            <a:solidFill>
              <a:srgbClr val="EEF2F8"/>
            </a:solidFill>
            <a:prstDash val="solid"/>
          </a:ln>
        </p:spPr>
      </p:sp>
      <p:pic>
        <p:nvPicPr>
          <p:cNvPr id="10" name="Image 1" descr="preencoded.png">    </p:cNvPr>
          <p:cNvPicPr>
            <a:picLocks noChangeAspect="1"/>
          </p:cNvPicPr>
          <p:nvPr/>
        </p:nvPicPr>
        <p:blipFill>
          <a:blip r:embed="rId2"/>
          <a:stretch>
            <a:fillRect/>
          </a:stretch>
        </p:blipFill>
        <p:spPr>
          <a:xfrm>
            <a:off x="6565392" y="1810512"/>
            <a:ext cx="548640" cy="548640"/>
          </a:xfrm>
          <a:prstGeom prst="rect">
            <a:avLst/>
          </a:prstGeom>
        </p:spPr>
      </p:pic>
      <p:sp>
        <p:nvSpPr>
          <p:cNvPr id="11" name="Text 7"/>
          <p:cNvSpPr txBox="1"/>
          <p:nvPr/>
        </p:nvSpPr>
        <p:spPr>
          <a:xfrm>
            <a:off x="7296912" y="1783080"/>
            <a:ext cx="4114800" cy="594360"/>
          </a:xfrm>
          <a:prstGeom prst="rect">
            <a:avLst/>
          </a:prstGeom>
          <a:noFill/>
          <a:ln/>
        </p:spPr>
        <p:txBody>
          <a:bodyPr wrap="square" lIns="0" tIns="0" rIns="0" bIns="0" rtlCol="0" anchor="ctr"/>
          <a:lstStyle/>
          <a:p>
            <a:pPr indent="0" marL="0">
              <a:buNone/>
            </a:pPr>
            <a:r>
              <a:rPr lang="en-US" sz="2400" b="1" dirty="0">
                <a:solidFill>
                  <a:srgbClr val="14284B"/>
                </a:solidFill>
                <a:latin typeface="Arial" pitchFamily="34" charset="0"/>
                <a:ea typeface="Arial" pitchFamily="34" charset="-122"/>
                <a:cs typeface="Arial" pitchFamily="34" charset="-120"/>
              </a:rPr>
              <a:t>Pengaduan</a:t>
            </a:r>
            <a:endParaRPr lang="en-US" sz="2400" dirty="0"/>
          </a:p>
        </p:txBody>
      </p:sp>
      <p:sp>
        <p:nvSpPr>
          <p:cNvPr id="12" name="Text 8"/>
          <p:cNvSpPr txBox="1"/>
          <p:nvPr/>
        </p:nvSpPr>
        <p:spPr>
          <a:xfrm>
            <a:off x="6565392" y="2606040"/>
            <a:ext cx="4800600" cy="3383280"/>
          </a:xfrm>
          <a:prstGeom prst="rect">
            <a:avLst/>
          </a:prstGeom>
          <a:noFill/>
          <a:ln/>
        </p:spPr>
        <p:txBody>
          <a:bodyPr wrap="square" lIns="0" tIns="0" rIns="0" bIns="0" rtlCol="0" anchor="t"/>
          <a:lstStyle/>
          <a:p>
            <a:pPr indent="0" marL="0">
              <a:buNone/>
            </a:pPr>
            <a:r>
              <a:rPr lang="en-US" sz="2200" dirty="0">
                <a:solidFill>
                  <a:srgbClr val="1A1A1A"/>
                </a:solidFill>
                <a:latin typeface="Arial" pitchFamily="34" charset="0"/>
                <a:ea typeface="Arial" pitchFamily="34" charset="-122"/>
                <a:cs typeface="Arial" pitchFamily="34" charset="-120"/>
              </a:rPr>
              <a:t>Setiap pihak yang dirugikan dapat menyampaikan pengaduan melalui prosedur yang terbuka, sederhana, dan memiliki batas waktu penyelesaian yang jelas, tanpa menghentikan proses pengurusan dan pemberesan harta pailit.</a:t>
            </a:r>
            <a:endParaRPr lang="en-US" sz="2200" dirty="0"/>
          </a:p>
        </p:txBody>
      </p:sp>
      <p:sp>
        <p:nvSpPr>
          <p:cNvPr id="13" name="Text 9"/>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14" name="Text 10"/>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49</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11</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13 · USULAN RUMUSAN PASAL</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Kepailitan Lintas Batas</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4498848"/>
        </p:xfrm>
        <a:graphic>
          <a:graphicData uri="http://schemas.openxmlformats.org/drawingml/2006/table">
            <a:tbl>
              <a:tblPr/>
              <a:tblGrid>
                <a:gridCol w="731520"/>
                <a:gridCol w="594360"/>
                <a:gridCol w="9308592"/>
              </a:tblGrid>
              <a:tr h="438912">
                <a:tc gridSpan="3">
                  <a:txBody>
                    <a:bodyPr/>
                    <a:lstStyle/>
                    <a:p>
                      <a:pPr algn="ctr" indent="0" marL="0">
                        <a:buNone/>
                      </a:pPr>
                      <a:r>
                        <a:rPr lang="en-US" sz="2100" b="1" dirty="0">
                          <a:solidFill>
                            <a:srgbClr val="14284B"/>
                          </a:solidFill>
                          <a:latin typeface="Arial" pitchFamily="34" charset="0"/>
                          <a:ea typeface="Arial" pitchFamily="34" charset="-122"/>
                          <a:cs typeface="Arial" pitchFamily="34" charset="-120"/>
                        </a:rPr>
                        <a:t>Pasal …</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c hMerge="1">
                  <a:tcPr/>
                </a:tc>
              </a:tr>
              <a:tr h="1426464">
                <a:tc>
                  <a:txBody>
                    <a:bodyPr/>
                    <a:lstStyle/>
                    <a:p>
                      <a:pPr indent="0" marL="0">
                        <a:buNone/>
                      </a:pPr>
                      <a:r>
                        <a:rPr lang="en-US" sz="2100" b="1" dirty="0">
                          <a:solidFill>
                            <a:srgbClr val="14284B"/>
                          </a:solidFill>
                          <a:latin typeface="Arial" pitchFamily="34" charset="0"/>
                          <a:ea typeface="Arial" pitchFamily="34" charset="-122"/>
                          <a:cs typeface="Arial" pitchFamily="34" charset="-120"/>
                        </a:rPr>
                        <a:t>(1)</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Dalam melaksanakan tugas yang berkaitan dengan harta, Kreditor, atau proses kepailitan di negara lain, Kurator </a:t>
                      </a:r>
                      <a:pPr indent="0" marL="0">
                        <a:buNone/>
                      </a:pPr>
                      <a:r>
                        <a:rPr lang="en-US" sz="2100" b="1" dirty="0">
                          <a:solidFill>
                            <a:srgbClr val="14284B"/>
                          </a:solidFill>
                          <a:latin typeface="Arial" pitchFamily="34" charset="0"/>
                          <a:ea typeface="Arial" pitchFamily="34" charset="-122"/>
                          <a:cs typeface="Arial" pitchFamily="34" charset="-120"/>
                        </a:rPr>
                        <a:t>wajib mematuhi ketentuan hukum internasional dan perjanjian internasional</a:t>
                      </a:r>
                      <a:pPr indent="0" marL="0">
                        <a:buNone/>
                      </a:pPr>
                      <a:r>
                        <a:rPr lang="en-US" sz="2100" dirty="0">
                          <a:solidFill>
                            <a:srgbClr val="1A1A1A"/>
                          </a:solidFill>
                          <a:latin typeface="Arial" pitchFamily="34" charset="0"/>
                          <a:ea typeface="Arial" pitchFamily="34" charset="-122"/>
                          <a:cs typeface="Arial" pitchFamily="34" charset="-120"/>
                        </a:rPr>
                        <a:t> yang mengikat Negara Republik Indonesia.</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768096">
                <a:tc>
                  <a:txBody>
                    <a:bodyPr/>
                    <a:lstStyle/>
                    <a:p>
                      <a:pPr indent="0" marL="0">
                        <a:buNone/>
                      </a:pPr>
                      <a:r>
                        <a:rPr lang="en-US" sz="2100" b="1" dirty="0">
                          <a:solidFill>
                            <a:srgbClr val="14284B"/>
                          </a:solidFill>
                          <a:latin typeface="Arial" pitchFamily="34" charset="0"/>
                          <a:ea typeface="Arial" pitchFamily="34" charset="-122"/>
                          <a:cs typeface="Arial" pitchFamily="34" charset="-120"/>
                        </a:rPr>
                        <a:t>(2)</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Pengadilan dan Kurator dapat bekerja sama dan berkomunikasi dengan pengadilan dan wakil kepailitan di negara lain.</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1097280">
                <a:tc>
                  <a:txBody>
                    <a:bodyPr/>
                    <a:lstStyle/>
                    <a:p>
                      <a:pPr indent="0" marL="0">
                        <a:buNone/>
                      </a:pPr>
                      <a:r>
                        <a:rPr lang="en-US" sz="2100" b="1" dirty="0">
                          <a:solidFill>
                            <a:srgbClr val="14284B"/>
                          </a:solidFill>
                          <a:latin typeface="Arial" pitchFamily="34" charset="0"/>
                          <a:ea typeface="Arial" pitchFamily="34" charset="-122"/>
                          <a:cs typeface="Arial" pitchFamily="34" charset="-120"/>
                        </a:rPr>
                        <a:t>(3)</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Wakil kepailitan asing hanya dapat melakukan tindakan atas harta Debitor yang berada di wilayah Negara Republik Indonesia </a:t>
                      </a:r>
                      <a:pPr indent="0" marL="0">
                        <a:buNone/>
                      </a:pPr>
                      <a:r>
                        <a:rPr lang="en-US" sz="2100" b="1" dirty="0">
                          <a:solidFill>
                            <a:srgbClr val="14284B"/>
                          </a:solidFill>
                          <a:latin typeface="Arial" pitchFamily="34" charset="0"/>
                          <a:ea typeface="Arial" pitchFamily="34" charset="-122"/>
                          <a:cs typeface="Arial" pitchFamily="34" charset="-120"/>
                        </a:rPr>
                        <a:t>bersama dengan Kurator yang terdaftar di Indonesia</a:t>
                      </a:r>
                      <a:pPr indent="0" marL="0">
                        <a:buNone/>
                      </a:pPr>
                      <a:r>
                        <a:rPr lang="en-US" sz="2100" dirty="0">
                          <a:solidFill>
                            <a:srgbClr val="1A1A1A"/>
                          </a:solidFill>
                          <a:latin typeface="Arial" pitchFamily="34" charset="0"/>
                          <a:ea typeface="Arial" pitchFamily="34" charset="-122"/>
                          <a:cs typeface="Arial" pitchFamily="34" charset="-120"/>
                        </a:rPr>
                        <a:t>.</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768096">
                <a:tc>
                  <a:txBody>
                    <a:bodyPr/>
                    <a:lstStyle/>
                    <a:p>
                      <a:pPr indent="0" marL="0">
                        <a:buNone/>
                      </a:pPr>
                      <a:r>
                        <a:rPr lang="en-US" sz="2100" b="1" dirty="0">
                          <a:solidFill>
                            <a:srgbClr val="14284B"/>
                          </a:solidFill>
                          <a:latin typeface="Arial" pitchFamily="34" charset="0"/>
                          <a:ea typeface="Arial" pitchFamily="34" charset="-122"/>
                          <a:cs typeface="Arial" pitchFamily="34" charset="-120"/>
                        </a:rPr>
                        <a:t>(4)</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Ketentuan lebih lanjut mengenai kepailitan lintas batas diatur dengan Peraturan Pemerintah.</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50</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E6ECF5"/>
        </a:solidFill>
      </p:bgPr>
    </p:bg>
    <p:spTree>
      <p:nvGrpSpPr>
        <p:cNvPr id="1" name=""/>
        <p:cNvGrpSpPr/>
        <p:nvPr/>
      </p:nvGrpSpPr>
      <p:grpSpPr>
        <a:xfrm>
          <a:off x="0" y="0"/>
          <a:ext cx="0" cy="0"/>
          <a:chOff x="0" y="0"/>
          <a:chExt cx="0" cy="0"/>
        </a:xfrm>
      </p:grpSpPr>
      <p:sp>
        <p:nvSpPr>
          <p:cNvPr id="2" name="Shape 0"/>
          <p:cNvSpPr/>
          <p:nvPr/>
        </p:nvSpPr>
        <p:spPr>
          <a:xfrm>
            <a:off x="548640" y="411480"/>
            <a:ext cx="960120" cy="960120"/>
          </a:xfrm>
          <a:prstGeom prst="roundRect">
            <a:avLst>
              <a:gd name="adj" fmla="val 14286"/>
            </a:avLst>
          </a:prstGeom>
          <a:solidFill>
            <a:srgbClr val="14284B"/>
          </a:solidFill>
          <a:ln w="12700">
            <a:solidFill>
              <a:srgbClr val="14284B"/>
            </a:solidFill>
            <a:prstDash val="solid"/>
          </a:ln>
        </p:spPr>
      </p:sp>
      <p:sp>
        <p:nvSpPr>
          <p:cNvPr id="3" name="Text 1"/>
          <p:cNvSpPr txBox="1"/>
          <p:nvPr/>
        </p:nvSpPr>
        <p:spPr>
          <a:xfrm>
            <a:off x="548640" y="411480"/>
            <a:ext cx="960120" cy="960120"/>
          </a:xfrm>
          <a:prstGeom prst="rect">
            <a:avLst/>
          </a:prstGeom>
          <a:noFill/>
          <a:ln/>
        </p:spPr>
        <p:txBody>
          <a:bodyPr wrap="square" lIns="0" tIns="0" rIns="0" bIns="0" rtlCol="0" anchor="ctr"/>
          <a:lstStyle/>
          <a:p>
            <a:pPr algn="ctr" indent="0" marL="0">
              <a:buNone/>
            </a:pPr>
            <a:r>
              <a:rPr lang="en-US" sz="4000" b="1" dirty="0">
                <a:solidFill>
                  <a:srgbClr val="E0A526"/>
                </a:solidFill>
                <a:latin typeface="Arial" pitchFamily="34" charset="0"/>
                <a:ea typeface="Arial" pitchFamily="34" charset="-122"/>
                <a:cs typeface="Arial" pitchFamily="34" charset="-120"/>
              </a:rPr>
              <a:t>12</a:t>
            </a:r>
            <a:endParaRPr lang="en-US" sz="4000" dirty="0"/>
          </a:p>
        </p:txBody>
      </p:sp>
      <p:sp>
        <p:nvSpPr>
          <p:cNvPr id="4" name="Text 2"/>
          <p:cNvSpPr txBox="1"/>
          <p:nvPr/>
        </p:nvSpPr>
        <p:spPr>
          <a:xfrm>
            <a:off x="1783080" y="384048"/>
            <a:ext cx="9875520" cy="384048"/>
          </a:xfrm>
          <a:prstGeom prst="rect">
            <a:avLst/>
          </a:prstGeom>
          <a:noFill/>
          <a:ln/>
        </p:spPr>
        <p:txBody>
          <a:bodyPr wrap="square" lIns="0" tIns="0" rIns="0" bIns="0" rtlCol="0" anchor="ctr"/>
          <a:lstStyle/>
          <a:p>
            <a:pPr indent="0" marL="0">
              <a:buNone/>
            </a:pPr>
            <a:r>
              <a:rPr lang="en-US" sz="1800" b="1" spc="200" kern="0" dirty="0">
                <a:solidFill>
                  <a:srgbClr val="8A6100"/>
                </a:solidFill>
                <a:latin typeface="Arial" pitchFamily="34" charset="0"/>
                <a:ea typeface="Arial" pitchFamily="34" charset="-122"/>
                <a:cs typeface="Arial" pitchFamily="34" charset="-120"/>
              </a:rPr>
              <a:t>LAMPIRAN I ANGKA 14 · USULAN RUMUSAN PASAL</a:t>
            </a:r>
            <a:endParaRPr lang="en-US" sz="1800" dirty="0"/>
          </a:p>
        </p:txBody>
      </p:sp>
      <p:sp>
        <p:nvSpPr>
          <p:cNvPr id="5" name="Text 3"/>
          <p:cNvSpPr txBox="1"/>
          <p:nvPr/>
        </p:nvSpPr>
        <p:spPr>
          <a:xfrm>
            <a:off x="1783080" y="768096"/>
            <a:ext cx="9875520" cy="603504"/>
          </a:xfrm>
          <a:prstGeom prst="rect">
            <a:avLst/>
          </a:prstGeom>
          <a:noFill/>
          <a:ln/>
        </p:spPr>
        <p:txBody>
          <a:bodyPr wrap="square" lIns="0" tIns="0" rIns="0" bIns="0" rtlCol="0" anchor="ctr"/>
          <a:lstStyle/>
          <a:p>
            <a:pPr indent="0" marL="0">
              <a:buNone/>
            </a:pPr>
            <a:r>
              <a:rPr lang="en-US" sz="3000" b="1" dirty="0">
                <a:solidFill>
                  <a:srgbClr val="14284B"/>
                </a:solidFill>
                <a:latin typeface="Arial" pitchFamily="34" charset="0"/>
                <a:ea typeface="Arial" pitchFamily="34" charset="-122"/>
                <a:cs typeface="Arial" pitchFamily="34" charset="-120"/>
              </a:rPr>
              <a:t>Pengaduan</a:t>
            </a:r>
            <a:endParaRPr lang="en-US" sz="3000" dirty="0"/>
          </a:p>
        </p:txBody>
      </p:sp>
      <p:sp>
        <p:nvSpPr>
          <p:cNvPr id="6" name="Shape 4"/>
          <p:cNvSpPr/>
          <p:nvPr/>
        </p:nvSpPr>
        <p:spPr>
          <a:xfrm>
            <a:off x="548640" y="1554480"/>
            <a:ext cx="11091672" cy="4709160"/>
          </a:xfrm>
          <a:prstGeom prst="roundRect">
            <a:avLst>
              <a:gd name="adj" fmla="val 2330"/>
            </a:avLst>
          </a:prstGeom>
          <a:solidFill>
            <a:srgbClr val="FFFFFF"/>
          </a:solidFill>
          <a:ln w="12700">
            <a:solidFill>
              <a:srgbClr val="B8C4D8"/>
            </a:solidFill>
            <a:prstDash val="solid"/>
          </a:ln>
        </p:spPr>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4472" cy="3840480"/>
        </p:xfrm>
        <a:graphic>
          <a:graphicData uri="http://schemas.openxmlformats.org/drawingml/2006/table">
            <a:tbl>
              <a:tblPr/>
              <a:tblGrid>
                <a:gridCol w="731520"/>
                <a:gridCol w="594360"/>
                <a:gridCol w="9308592"/>
              </a:tblGrid>
              <a:tr h="768096">
                <a:tc>
                  <a:txBody>
                    <a:bodyPr/>
                    <a:lstStyle/>
                    <a:p>
                      <a:pPr indent="0" marL="0">
                        <a:buNone/>
                      </a:pP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Pembentukan Majelis Pengawas Kurator dan Majelis Kehormatan Kurator mengikuti usulan rumusan pada Lampiran I angka 5 dan angka 7.</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438912">
                <a:tc gridSpan="3">
                  <a:txBody>
                    <a:bodyPr/>
                    <a:lstStyle/>
                    <a:p>
                      <a:pPr algn="ctr" indent="0" marL="0">
                        <a:buNone/>
                      </a:pPr>
                      <a:r>
                        <a:rPr lang="en-US" sz="2100" b="1" dirty="0">
                          <a:solidFill>
                            <a:srgbClr val="14284B"/>
                          </a:solidFill>
                          <a:latin typeface="Arial" pitchFamily="34" charset="0"/>
                          <a:ea typeface="Arial" pitchFamily="34" charset="-122"/>
                          <a:cs typeface="Arial" pitchFamily="34" charset="-120"/>
                        </a:rPr>
                        <a:t>Pasal …</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c hMerge="1">
                  <a:tcPr/>
                </a:tc>
              </a:tr>
              <a:tr h="1097280">
                <a:tc>
                  <a:txBody>
                    <a:bodyPr/>
                    <a:lstStyle/>
                    <a:p>
                      <a:pPr indent="0" marL="0">
                        <a:buNone/>
                      </a:pPr>
                      <a:r>
                        <a:rPr lang="en-US" sz="2100" b="1" dirty="0">
                          <a:solidFill>
                            <a:srgbClr val="14284B"/>
                          </a:solidFill>
                          <a:latin typeface="Arial" pitchFamily="34" charset="0"/>
                          <a:ea typeface="Arial" pitchFamily="34" charset="-122"/>
                          <a:cs typeface="Arial" pitchFamily="34" charset="-120"/>
                        </a:rPr>
                        <a:t>(1)</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Debitor, Kreditor, pekerja, atau pihak lain yang dirugikan oleh tindakan Kurator atau Pengurus </a:t>
                      </a:r>
                      <a:pPr indent="0" marL="0">
                        <a:buNone/>
                      </a:pPr>
                      <a:r>
                        <a:rPr lang="en-US" sz="2100" b="1" dirty="0">
                          <a:solidFill>
                            <a:srgbClr val="14284B"/>
                          </a:solidFill>
                          <a:latin typeface="Arial" pitchFamily="34" charset="0"/>
                          <a:ea typeface="Arial" pitchFamily="34" charset="-122"/>
                          <a:cs typeface="Arial" pitchFamily="34" charset="-120"/>
                        </a:rPr>
                        <a:t>dapat mengajukan pengaduan kepada Majelis Pengawas Kurator</a:t>
                      </a:r>
                      <a:pPr indent="0" marL="0">
                        <a:buNone/>
                      </a:pPr>
                      <a:r>
                        <a:rPr lang="en-US" sz="2100" dirty="0">
                          <a:solidFill>
                            <a:srgbClr val="1A1A1A"/>
                          </a:solidFill>
                          <a:latin typeface="Arial" pitchFamily="34" charset="0"/>
                          <a:ea typeface="Arial" pitchFamily="34" charset="-122"/>
                          <a:cs typeface="Arial" pitchFamily="34" charset="-120"/>
                        </a:rPr>
                        <a:t>.</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768096">
                <a:tc>
                  <a:txBody>
                    <a:bodyPr/>
                    <a:lstStyle/>
                    <a:p>
                      <a:pPr indent="0" marL="0">
                        <a:buNone/>
                      </a:pPr>
                      <a:r>
                        <a:rPr lang="en-US" sz="2100" b="1" dirty="0">
                          <a:solidFill>
                            <a:srgbClr val="14284B"/>
                          </a:solidFill>
                          <a:latin typeface="Arial" pitchFamily="34" charset="0"/>
                          <a:ea typeface="Arial" pitchFamily="34" charset="-122"/>
                          <a:cs typeface="Arial" pitchFamily="34" charset="-120"/>
                        </a:rPr>
                        <a:t>(2)</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Majelis Pengawas Kurator wajib memeriksa dan memutus pengaduan </a:t>
                      </a:r>
                      <a:pPr indent="0" marL="0">
                        <a:buNone/>
                      </a:pPr>
                      <a:r>
                        <a:rPr lang="en-US" sz="2100" b="1" dirty="0">
                          <a:solidFill>
                            <a:srgbClr val="14284B"/>
                          </a:solidFill>
                          <a:latin typeface="Arial" pitchFamily="34" charset="0"/>
                          <a:ea typeface="Arial" pitchFamily="34" charset="-122"/>
                          <a:cs typeface="Arial" pitchFamily="34" charset="-120"/>
                        </a:rPr>
                        <a:t>paling lama 60 (enam puluh) hari</a:t>
                      </a:r>
                      <a:pPr indent="0" marL="0">
                        <a:buNone/>
                      </a:pPr>
                      <a:r>
                        <a:rPr lang="en-US" sz="2100" dirty="0">
                          <a:solidFill>
                            <a:srgbClr val="1A1A1A"/>
                          </a:solidFill>
                          <a:latin typeface="Arial" pitchFamily="34" charset="0"/>
                          <a:ea typeface="Arial" pitchFamily="34" charset="-122"/>
                          <a:cs typeface="Arial" pitchFamily="34" charset="-120"/>
                        </a:rPr>
                        <a:t> terhitung sejak pengaduan diterima.</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r h="768096">
                <a:tc>
                  <a:txBody>
                    <a:bodyPr/>
                    <a:lstStyle/>
                    <a:p>
                      <a:pPr indent="0" marL="0">
                        <a:buNone/>
                      </a:pPr>
                      <a:r>
                        <a:rPr lang="en-US" sz="2100" b="1" dirty="0">
                          <a:solidFill>
                            <a:srgbClr val="14284B"/>
                          </a:solidFill>
                          <a:latin typeface="Arial" pitchFamily="34" charset="0"/>
                          <a:ea typeface="Arial" pitchFamily="34" charset="-122"/>
                          <a:cs typeface="Arial" pitchFamily="34" charset="-120"/>
                        </a:rPr>
                        <a:t>(3)</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gridSpan="2">
                  <a:txBody>
                    <a:bodyPr/>
                    <a:lstStyle/>
                    <a:p>
                      <a:pPr indent="0" marL="0">
                        <a:buNone/>
                      </a:pPr>
                      <a:r>
                        <a:rPr lang="en-US" sz="2100" dirty="0">
                          <a:solidFill>
                            <a:srgbClr val="1A1A1A"/>
                          </a:solidFill>
                          <a:latin typeface="Arial" pitchFamily="34" charset="0"/>
                          <a:ea typeface="Arial" pitchFamily="34" charset="-122"/>
                          <a:cs typeface="Arial" pitchFamily="34" charset="-120"/>
                        </a:rPr>
                        <a:t>Pengajuan pengaduan </a:t>
                      </a:r>
                      <a:pPr indent="0" marL="0">
                        <a:buNone/>
                      </a:pPr>
                      <a:r>
                        <a:rPr lang="en-US" sz="2100" b="1" dirty="0">
                          <a:solidFill>
                            <a:srgbClr val="14284B"/>
                          </a:solidFill>
                          <a:latin typeface="Arial" pitchFamily="34" charset="0"/>
                          <a:ea typeface="Arial" pitchFamily="34" charset="-122"/>
                          <a:cs typeface="Arial" pitchFamily="34" charset="-120"/>
                        </a:rPr>
                        <a:t>tidak menghentikan</a:t>
                      </a:r>
                      <a:pPr indent="0" marL="0">
                        <a:buNone/>
                      </a:pPr>
                      <a:r>
                        <a:rPr lang="en-US" sz="2100" dirty="0">
                          <a:solidFill>
                            <a:srgbClr val="1A1A1A"/>
                          </a:solidFill>
                          <a:latin typeface="Arial" pitchFamily="34" charset="0"/>
                          <a:ea typeface="Arial" pitchFamily="34" charset="-122"/>
                          <a:cs typeface="Arial" pitchFamily="34" charset="-120"/>
                        </a:rPr>
                        <a:t> proses pengurusan dan/atau pemberesan harta pailit.</a:t>
                      </a:r>
                      <a:endParaRPr lang="en-US" sz="2100" dirty="0">
                        <a:latin typeface="Arial" charset="0"/>
                        <a:ea typeface="Arial" charset="0"/>
                        <a:cs typeface="Arial" charset="0"/>
                      </a:endParaRPr>
                    </a:p>
                  </a:txBody>
                  <a:tcPr marL="50800" marR="50800" marT="38100" marB="63500" anchor="t">
                    <a:lnL w="0" cap="flat" cmpd="sng" algn="ctr">
                      <a:noFill/>
                    </a:lnL>
                    <a:lnR w="0" cap="flat" cmpd="sng" algn="ctr">
                      <a:noFill/>
                    </a:lnR>
                    <a:lnT w="0" cap="flat" cmpd="sng" algn="ctr">
                      <a:noFill/>
                    </a:lnT>
                    <a:lnB w="0" cap="flat" cmpd="sng" algn="ctr">
                      <a:noFill/>
                    </a:lnB>
                  </a:tcPr>
                </a:tc>
                <a:tc hMerge="1">
                  <a:tcPr/>
                </a:tc>
              </a:tr>
            </a:tbl>
          </a:graphicData>
        </a:graphic>
      </p:graphicFrame>
      <p:sp>
        <p:nvSpPr>
          <p:cNvPr id="8" name="Text 5"/>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9" name="Text 6"/>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51</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548640" y="411480"/>
            <a:ext cx="11094415" cy="960120"/>
          </a:xfrm>
          <a:prstGeom prst="rect">
            <a:avLst/>
          </a:prstGeom>
          <a:noFill/>
          <a:ln/>
        </p:spPr>
        <p:txBody>
          <a:bodyPr wrap="square" lIns="0" tIns="0" rIns="0" bIns="0" rtlCol="0" anchor="ctr"/>
          <a:lstStyle/>
          <a:p>
            <a:pPr indent="0" marL="0">
              <a:buNone/>
            </a:pPr>
            <a:r>
              <a:rPr lang="en-US" sz="3400" b="1" dirty="0">
                <a:solidFill>
                  <a:srgbClr val="14284B"/>
                </a:solidFill>
                <a:latin typeface="Arial" pitchFamily="34" charset="0"/>
                <a:ea typeface="Arial" pitchFamily="34" charset="-122"/>
                <a:cs typeface="Arial" pitchFamily="34" charset="-120"/>
              </a:rPr>
              <a:t>Disusun di Atas Rujukan yang Kuat</a:t>
            </a:r>
            <a:endParaRPr lang="en-US" sz="3400" dirty="0"/>
          </a:p>
        </p:txBody>
      </p:sp>
      <p:sp>
        <p:nvSpPr>
          <p:cNvPr id="3" name="Shape 1"/>
          <p:cNvSpPr/>
          <p:nvPr/>
        </p:nvSpPr>
        <p:spPr>
          <a:xfrm>
            <a:off x="548640" y="1600200"/>
            <a:ext cx="5349240" cy="1417320"/>
          </a:xfrm>
          <a:prstGeom prst="roundRect">
            <a:avLst>
              <a:gd name="adj" fmla="val 7742"/>
            </a:avLst>
          </a:prstGeom>
          <a:solidFill>
            <a:srgbClr val="EEF2F8"/>
          </a:solidFill>
          <a:ln w="12700">
            <a:solidFill>
              <a:srgbClr val="EEF2F8"/>
            </a:solidFill>
            <a:prstDash val="solid"/>
          </a:ln>
        </p:spPr>
      </p:sp>
      <p:sp>
        <p:nvSpPr>
          <p:cNvPr id="4" name="Text 2"/>
          <p:cNvSpPr txBox="1"/>
          <p:nvPr/>
        </p:nvSpPr>
        <p:spPr>
          <a:xfrm>
            <a:off x="731520" y="1600200"/>
            <a:ext cx="1371600" cy="1417320"/>
          </a:xfrm>
          <a:prstGeom prst="rect">
            <a:avLst/>
          </a:prstGeom>
          <a:noFill/>
          <a:ln/>
        </p:spPr>
        <p:txBody>
          <a:bodyPr wrap="square" lIns="0" tIns="0" rIns="0" bIns="0" rtlCol="0" anchor="ctr"/>
          <a:lstStyle/>
          <a:p>
            <a:pPr algn="ctr" indent="0" marL="0">
              <a:buNone/>
            </a:pPr>
            <a:r>
              <a:rPr lang="en-US" sz="5400" b="1" dirty="0">
                <a:solidFill>
                  <a:srgbClr val="14284B"/>
                </a:solidFill>
                <a:latin typeface="Arial" pitchFamily="34" charset="0"/>
                <a:ea typeface="Arial" pitchFamily="34" charset="-122"/>
                <a:cs typeface="Arial" pitchFamily="34" charset="-120"/>
              </a:rPr>
              <a:t>12</a:t>
            </a:r>
            <a:endParaRPr lang="en-US" sz="5400" dirty="0"/>
          </a:p>
        </p:txBody>
      </p:sp>
      <p:sp>
        <p:nvSpPr>
          <p:cNvPr id="5" name="Text 3"/>
          <p:cNvSpPr txBox="1"/>
          <p:nvPr/>
        </p:nvSpPr>
        <p:spPr>
          <a:xfrm>
            <a:off x="2240280" y="1600200"/>
            <a:ext cx="3474720" cy="1417320"/>
          </a:xfrm>
          <a:prstGeom prst="rect">
            <a:avLst/>
          </a:prstGeom>
          <a:noFill/>
          <a:ln/>
        </p:spPr>
        <p:txBody>
          <a:bodyPr wrap="square" lIns="0" tIns="0" rIns="0" bIns="0" rtlCol="0" anchor="ctr"/>
          <a:lstStyle/>
          <a:p>
            <a:pPr indent="0" marL="0">
              <a:buNone/>
            </a:pPr>
            <a:r>
              <a:rPr lang="en-US" sz="2100" dirty="0">
                <a:solidFill>
                  <a:srgbClr val="1A1A1A"/>
                </a:solidFill>
                <a:latin typeface="Arial" pitchFamily="34" charset="0"/>
                <a:ea typeface="Arial" pitchFamily="34" charset="-122"/>
                <a:cs typeface="Arial" pitchFamily="34" charset="-120"/>
              </a:rPr>
              <a:t>undang-undang dan peraturan setingkat undang-undang</a:t>
            </a:r>
            <a:endParaRPr lang="en-US" sz="2100" dirty="0"/>
          </a:p>
        </p:txBody>
      </p:sp>
      <p:sp>
        <p:nvSpPr>
          <p:cNvPr id="6" name="Shape 4"/>
          <p:cNvSpPr/>
          <p:nvPr/>
        </p:nvSpPr>
        <p:spPr>
          <a:xfrm>
            <a:off x="6291072" y="1600200"/>
            <a:ext cx="5349240" cy="1417320"/>
          </a:xfrm>
          <a:prstGeom prst="roundRect">
            <a:avLst>
              <a:gd name="adj" fmla="val 7742"/>
            </a:avLst>
          </a:prstGeom>
          <a:solidFill>
            <a:srgbClr val="EEF2F8"/>
          </a:solidFill>
          <a:ln w="12700">
            <a:solidFill>
              <a:srgbClr val="EEF2F8"/>
            </a:solidFill>
            <a:prstDash val="solid"/>
          </a:ln>
        </p:spPr>
      </p:sp>
      <p:sp>
        <p:nvSpPr>
          <p:cNvPr id="7" name="Text 5"/>
          <p:cNvSpPr txBox="1"/>
          <p:nvPr/>
        </p:nvSpPr>
        <p:spPr>
          <a:xfrm>
            <a:off x="6473952" y="1600200"/>
            <a:ext cx="1371600" cy="1417320"/>
          </a:xfrm>
          <a:prstGeom prst="rect">
            <a:avLst/>
          </a:prstGeom>
          <a:noFill/>
          <a:ln/>
        </p:spPr>
        <p:txBody>
          <a:bodyPr wrap="square" lIns="0" tIns="0" rIns="0" bIns="0" rtlCol="0" anchor="ctr"/>
          <a:lstStyle/>
          <a:p>
            <a:pPr algn="ctr" indent="0" marL="0">
              <a:buNone/>
            </a:pPr>
            <a:r>
              <a:rPr lang="en-US" sz="5400" b="1" dirty="0">
                <a:solidFill>
                  <a:srgbClr val="14284B"/>
                </a:solidFill>
                <a:latin typeface="Arial" pitchFamily="34" charset="0"/>
                <a:ea typeface="Arial" pitchFamily="34" charset="-122"/>
                <a:cs typeface="Arial" pitchFamily="34" charset="-120"/>
              </a:rPr>
              <a:t>5</a:t>
            </a:r>
            <a:endParaRPr lang="en-US" sz="5400" dirty="0"/>
          </a:p>
        </p:txBody>
      </p:sp>
      <p:sp>
        <p:nvSpPr>
          <p:cNvPr id="8" name="Text 6"/>
          <p:cNvSpPr txBox="1"/>
          <p:nvPr/>
        </p:nvSpPr>
        <p:spPr>
          <a:xfrm>
            <a:off x="7982712" y="1600200"/>
            <a:ext cx="3474720" cy="1417320"/>
          </a:xfrm>
          <a:prstGeom prst="rect">
            <a:avLst/>
          </a:prstGeom>
          <a:noFill/>
          <a:ln/>
        </p:spPr>
        <p:txBody>
          <a:bodyPr wrap="square" lIns="0" tIns="0" rIns="0" bIns="0" rtlCol="0" anchor="ctr"/>
          <a:lstStyle/>
          <a:p>
            <a:pPr indent="0" marL="0">
              <a:buNone/>
            </a:pPr>
            <a:r>
              <a:rPr lang="en-US" sz="2100" dirty="0">
                <a:solidFill>
                  <a:srgbClr val="1A1A1A"/>
                </a:solidFill>
                <a:latin typeface="Arial" pitchFamily="34" charset="0"/>
                <a:ea typeface="Arial" pitchFamily="34" charset="-122"/>
                <a:cs typeface="Arial" pitchFamily="34" charset="-120"/>
              </a:rPr>
              <a:t>peraturan menteri</a:t>
            </a:r>
            <a:endParaRPr lang="en-US" sz="2100" dirty="0"/>
          </a:p>
        </p:txBody>
      </p:sp>
      <p:sp>
        <p:nvSpPr>
          <p:cNvPr id="9" name="Shape 7"/>
          <p:cNvSpPr/>
          <p:nvPr/>
        </p:nvSpPr>
        <p:spPr>
          <a:xfrm>
            <a:off x="548640" y="3200400"/>
            <a:ext cx="5349240" cy="1417320"/>
          </a:xfrm>
          <a:prstGeom prst="roundRect">
            <a:avLst>
              <a:gd name="adj" fmla="val 7742"/>
            </a:avLst>
          </a:prstGeom>
          <a:solidFill>
            <a:srgbClr val="EEF2F8"/>
          </a:solidFill>
          <a:ln w="12700">
            <a:solidFill>
              <a:srgbClr val="EEF2F8"/>
            </a:solidFill>
            <a:prstDash val="solid"/>
          </a:ln>
        </p:spPr>
      </p:sp>
      <p:sp>
        <p:nvSpPr>
          <p:cNvPr id="10" name="Text 8"/>
          <p:cNvSpPr txBox="1"/>
          <p:nvPr/>
        </p:nvSpPr>
        <p:spPr>
          <a:xfrm>
            <a:off x="731520" y="3200400"/>
            <a:ext cx="1371600" cy="1417320"/>
          </a:xfrm>
          <a:prstGeom prst="rect">
            <a:avLst/>
          </a:prstGeom>
          <a:noFill/>
          <a:ln/>
        </p:spPr>
        <p:txBody>
          <a:bodyPr wrap="square" lIns="0" tIns="0" rIns="0" bIns="0" rtlCol="0" anchor="ctr"/>
          <a:lstStyle/>
          <a:p>
            <a:pPr algn="ctr" indent="0" marL="0">
              <a:buNone/>
            </a:pPr>
            <a:r>
              <a:rPr lang="en-US" sz="5400" b="1" dirty="0">
                <a:solidFill>
                  <a:srgbClr val="14284B"/>
                </a:solidFill>
                <a:latin typeface="Arial" pitchFamily="34" charset="0"/>
                <a:ea typeface="Arial" pitchFamily="34" charset="-122"/>
                <a:cs typeface="Arial" pitchFamily="34" charset="-120"/>
              </a:rPr>
              <a:t>1</a:t>
            </a:r>
            <a:endParaRPr lang="en-US" sz="5400" dirty="0"/>
          </a:p>
        </p:txBody>
      </p:sp>
      <p:sp>
        <p:nvSpPr>
          <p:cNvPr id="11" name="Text 9"/>
          <p:cNvSpPr txBox="1"/>
          <p:nvPr/>
        </p:nvSpPr>
        <p:spPr>
          <a:xfrm>
            <a:off x="2240280" y="3200400"/>
            <a:ext cx="3474720" cy="1417320"/>
          </a:xfrm>
          <a:prstGeom prst="rect">
            <a:avLst/>
          </a:prstGeom>
          <a:noFill/>
          <a:ln/>
        </p:spPr>
        <p:txBody>
          <a:bodyPr wrap="square" lIns="0" tIns="0" rIns="0" bIns="0" rtlCol="0" anchor="ctr"/>
          <a:lstStyle/>
          <a:p>
            <a:pPr indent="0" marL="0">
              <a:buNone/>
            </a:pPr>
            <a:r>
              <a:rPr lang="en-US" sz="2100" dirty="0">
                <a:solidFill>
                  <a:srgbClr val="1A1A1A"/>
                </a:solidFill>
                <a:latin typeface="Arial" pitchFamily="34" charset="0"/>
                <a:ea typeface="Arial" pitchFamily="34" charset="-122"/>
                <a:cs typeface="Arial" pitchFamily="34" charset="-120"/>
              </a:rPr>
              <a:t>Putusan Mahkamah Konstitusi Nomor 67/PUU-XI/2013</a:t>
            </a:r>
            <a:endParaRPr lang="en-US" sz="2100" dirty="0"/>
          </a:p>
        </p:txBody>
      </p:sp>
      <p:sp>
        <p:nvSpPr>
          <p:cNvPr id="12" name="Shape 10"/>
          <p:cNvSpPr/>
          <p:nvPr/>
        </p:nvSpPr>
        <p:spPr>
          <a:xfrm>
            <a:off x="6291072" y="3200400"/>
            <a:ext cx="5349240" cy="1417320"/>
          </a:xfrm>
          <a:prstGeom prst="roundRect">
            <a:avLst>
              <a:gd name="adj" fmla="val 7742"/>
            </a:avLst>
          </a:prstGeom>
          <a:solidFill>
            <a:srgbClr val="EEF2F8"/>
          </a:solidFill>
          <a:ln w="12700">
            <a:solidFill>
              <a:srgbClr val="EEF2F8"/>
            </a:solidFill>
            <a:prstDash val="solid"/>
          </a:ln>
        </p:spPr>
      </p:sp>
      <p:sp>
        <p:nvSpPr>
          <p:cNvPr id="13" name="Text 11"/>
          <p:cNvSpPr txBox="1"/>
          <p:nvPr/>
        </p:nvSpPr>
        <p:spPr>
          <a:xfrm>
            <a:off x="6473952" y="3200400"/>
            <a:ext cx="1371600" cy="1417320"/>
          </a:xfrm>
          <a:prstGeom prst="rect">
            <a:avLst/>
          </a:prstGeom>
          <a:noFill/>
          <a:ln/>
        </p:spPr>
        <p:txBody>
          <a:bodyPr wrap="square" lIns="0" tIns="0" rIns="0" bIns="0" rtlCol="0" anchor="ctr"/>
          <a:lstStyle/>
          <a:p>
            <a:pPr algn="ctr" indent="0" marL="0">
              <a:buNone/>
            </a:pPr>
            <a:r>
              <a:rPr lang="en-US" sz="5400" b="1" dirty="0">
                <a:solidFill>
                  <a:srgbClr val="14284B"/>
                </a:solidFill>
                <a:latin typeface="Arial" pitchFamily="34" charset="0"/>
                <a:ea typeface="Arial" pitchFamily="34" charset="-122"/>
                <a:cs typeface="Arial" pitchFamily="34" charset="-120"/>
              </a:rPr>
              <a:t>2</a:t>
            </a:r>
            <a:endParaRPr lang="en-US" sz="5400" dirty="0"/>
          </a:p>
        </p:txBody>
      </p:sp>
      <p:sp>
        <p:nvSpPr>
          <p:cNvPr id="14" name="Text 12"/>
          <p:cNvSpPr txBox="1"/>
          <p:nvPr/>
        </p:nvSpPr>
        <p:spPr>
          <a:xfrm>
            <a:off x="7982712" y="3200400"/>
            <a:ext cx="3474720" cy="1417320"/>
          </a:xfrm>
          <a:prstGeom prst="rect">
            <a:avLst/>
          </a:prstGeom>
          <a:noFill/>
          <a:ln/>
        </p:spPr>
        <p:txBody>
          <a:bodyPr wrap="square" lIns="0" tIns="0" rIns="0" bIns="0" rtlCol="0" anchor="ctr"/>
          <a:lstStyle/>
          <a:p>
            <a:pPr indent="0" marL="0">
              <a:buNone/>
            </a:pPr>
            <a:r>
              <a:rPr lang="en-US" sz="2100" dirty="0">
                <a:solidFill>
                  <a:srgbClr val="1A1A1A"/>
                </a:solidFill>
                <a:latin typeface="Arial" pitchFamily="34" charset="0"/>
                <a:ea typeface="Arial" pitchFamily="34" charset="-122"/>
                <a:cs typeface="Arial" pitchFamily="34" charset="-120"/>
              </a:rPr>
              <a:t>dokumen UNCITRAL tentang hukum kepailitan</a:t>
            </a:r>
            <a:endParaRPr lang="en-US" sz="2100" dirty="0"/>
          </a:p>
        </p:txBody>
      </p:sp>
      <p:sp>
        <p:nvSpPr>
          <p:cNvPr id="15" name="Text 13"/>
          <p:cNvSpPr txBox="1"/>
          <p:nvPr/>
        </p:nvSpPr>
        <p:spPr>
          <a:xfrm>
            <a:off x="548640" y="4892040"/>
            <a:ext cx="11091672" cy="1325880"/>
          </a:xfrm>
          <a:prstGeom prst="rect">
            <a:avLst/>
          </a:prstGeom>
          <a:noFill/>
          <a:ln/>
        </p:spPr>
        <p:txBody>
          <a:bodyPr wrap="square" lIns="0" tIns="0" rIns="0" bIns="0" rtlCol="0" anchor="ctr"/>
          <a:lstStyle/>
          <a:p>
            <a:pPr indent="0" marL="0">
              <a:buNone/>
            </a:pPr>
            <a:r>
              <a:rPr lang="en-US" sz="2000" dirty="0">
                <a:solidFill>
                  <a:srgbClr val="1A1A1A"/>
                </a:solidFill>
                <a:latin typeface="Arial" pitchFamily="34" charset="0"/>
                <a:ea typeface="Arial" pitchFamily="34" charset="-122"/>
                <a:cs typeface="Arial" pitchFamily="34" charset="-120"/>
              </a:rPr>
              <a:t>Termasuk </a:t>
            </a:r>
            <a:pPr indent="0" marL="0">
              <a:buNone/>
            </a:pPr>
            <a:r>
              <a:rPr lang="en-US" sz="2000" b="1" dirty="0">
                <a:solidFill>
                  <a:srgbClr val="14284B"/>
                </a:solidFill>
                <a:latin typeface="Arial" pitchFamily="34" charset="0"/>
                <a:ea typeface="Arial" pitchFamily="34" charset="-122"/>
                <a:cs typeface="Arial" pitchFamily="34" charset="-120"/>
              </a:rPr>
              <a:t>UU 37/2004</a:t>
            </a:r>
            <a:pPr indent="0" marL="0">
              <a:buNone/>
            </a:pPr>
            <a:r>
              <a:rPr lang="en-US" sz="2000" dirty="0">
                <a:solidFill>
                  <a:srgbClr val="1A1A1A"/>
                </a:solidFill>
                <a:latin typeface="Arial" pitchFamily="34" charset="0"/>
                <a:ea typeface="Arial" pitchFamily="34" charset="-122"/>
                <a:cs typeface="Arial" pitchFamily="34" charset="-120"/>
              </a:rPr>
              <a:t> tentang Kepailitan dan PKPU, </a:t>
            </a:r>
            <a:pPr indent="0" marL="0">
              <a:buNone/>
            </a:pPr>
            <a:r>
              <a:rPr lang="en-US" sz="2000" b="1" dirty="0">
                <a:solidFill>
                  <a:srgbClr val="14284B"/>
                </a:solidFill>
                <a:latin typeface="Arial" pitchFamily="34" charset="0"/>
                <a:ea typeface="Arial" pitchFamily="34" charset="-122"/>
                <a:cs typeface="Arial" pitchFamily="34" charset="-120"/>
              </a:rPr>
              <a:t>UU 30/2014</a:t>
            </a:r>
            <a:pPr indent="0" marL="0">
              <a:buNone/>
            </a:pPr>
            <a:r>
              <a:rPr lang="en-US" sz="2000" dirty="0">
                <a:solidFill>
                  <a:srgbClr val="1A1A1A"/>
                </a:solidFill>
                <a:latin typeface="Arial" pitchFamily="34" charset="0"/>
                <a:ea typeface="Arial" pitchFamily="34" charset="-122"/>
                <a:cs typeface="Arial" pitchFamily="34" charset="-120"/>
              </a:rPr>
              <a:t> tentang Administrasi Pemerintahan, </a:t>
            </a:r>
            <a:pPr indent="0" marL="0">
              <a:buNone/>
            </a:pPr>
            <a:r>
              <a:rPr lang="en-US" sz="2000" b="1" dirty="0">
                <a:solidFill>
                  <a:srgbClr val="14284B"/>
                </a:solidFill>
                <a:latin typeface="Arial" pitchFamily="34" charset="0"/>
                <a:ea typeface="Arial" pitchFamily="34" charset="-122"/>
                <a:cs typeface="Arial" pitchFamily="34" charset="-120"/>
              </a:rPr>
              <a:t>UU 9/2018</a:t>
            </a:r>
            <a:pPr indent="0" marL="0">
              <a:buNone/>
            </a:pPr>
            <a:r>
              <a:rPr lang="en-US" sz="2000" dirty="0">
                <a:solidFill>
                  <a:srgbClr val="1A1A1A"/>
                </a:solidFill>
                <a:latin typeface="Arial" pitchFamily="34" charset="0"/>
                <a:ea typeface="Arial" pitchFamily="34" charset="-122"/>
                <a:cs typeface="Arial" pitchFamily="34" charset="-120"/>
              </a:rPr>
              <a:t> tentang PNBP, </a:t>
            </a:r>
            <a:pPr indent="0" marL="0">
              <a:buNone/>
            </a:pPr>
            <a:r>
              <a:rPr lang="en-US" sz="2000" b="1" dirty="0">
                <a:solidFill>
                  <a:srgbClr val="14284B"/>
                </a:solidFill>
                <a:latin typeface="Arial" pitchFamily="34" charset="0"/>
                <a:ea typeface="Arial" pitchFamily="34" charset="-122"/>
                <a:cs typeface="Arial" pitchFamily="34" charset="-120"/>
              </a:rPr>
              <a:t>UU 27/2022</a:t>
            </a:r>
            <a:pPr indent="0" marL="0">
              <a:buNone/>
            </a:pPr>
            <a:r>
              <a:rPr lang="en-US" sz="2000" dirty="0">
                <a:solidFill>
                  <a:srgbClr val="1A1A1A"/>
                </a:solidFill>
                <a:latin typeface="Arial" pitchFamily="34" charset="0"/>
                <a:ea typeface="Arial" pitchFamily="34" charset="-122"/>
                <a:cs typeface="Arial" pitchFamily="34" charset="-120"/>
              </a:rPr>
              <a:t> tentang Pelindungan Data Pribadi, </a:t>
            </a:r>
            <a:pPr indent="0" marL="0">
              <a:buNone/>
            </a:pPr>
            <a:r>
              <a:rPr lang="en-US" sz="2000" b="1" dirty="0">
                <a:solidFill>
                  <a:srgbClr val="14284B"/>
                </a:solidFill>
                <a:latin typeface="Arial" pitchFamily="34" charset="0"/>
                <a:ea typeface="Arial" pitchFamily="34" charset="-122"/>
                <a:cs typeface="Arial" pitchFamily="34" charset="-120"/>
              </a:rPr>
              <a:t>UU 20/2023</a:t>
            </a:r>
            <a:pPr indent="0" marL="0">
              <a:buNone/>
            </a:pPr>
            <a:r>
              <a:rPr lang="en-US" sz="2000" dirty="0">
                <a:solidFill>
                  <a:srgbClr val="1A1A1A"/>
                </a:solidFill>
                <a:latin typeface="Arial" pitchFamily="34" charset="0"/>
                <a:ea typeface="Arial" pitchFamily="34" charset="-122"/>
                <a:cs typeface="Arial" pitchFamily="34" charset="-120"/>
              </a:rPr>
              <a:t> tentang ASN, dan </a:t>
            </a:r>
            <a:pPr indent="0" marL="0">
              <a:buNone/>
            </a:pPr>
            <a:r>
              <a:rPr lang="en-US" sz="2000" b="1" dirty="0">
                <a:solidFill>
                  <a:srgbClr val="14284B"/>
                </a:solidFill>
                <a:latin typeface="Arial" pitchFamily="34" charset="0"/>
                <a:ea typeface="Arial" pitchFamily="34" charset="-122"/>
                <a:cs typeface="Arial" pitchFamily="34" charset="-120"/>
              </a:rPr>
              <a:t>Permenkum 20/2025</a:t>
            </a:r>
            <a:pPr indent="0" marL="0">
              <a:buNone/>
            </a:pPr>
            <a:r>
              <a:rPr lang="en-US" sz="2000" dirty="0">
                <a:solidFill>
                  <a:srgbClr val="1A1A1A"/>
                </a:solidFill>
                <a:latin typeface="Arial" pitchFamily="34" charset="0"/>
                <a:ea typeface="Arial" pitchFamily="34" charset="-122"/>
                <a:cs typeface="Arial" pitchFamily="34" charset="-120"/>
              </a:rPr>
              <a:t> tentang Pedoman Imbalan Jasa bagi Kurator dan Pengurus.</a:t>
            </a:r>
            <a:endParaRPr lang="en-US" sz="2000" dirty="0"/>
          </a:p>
        </p:txBody>
      </p:sp>
      <p:sp>
        <p:nvSpPr>
          <p:cNvPr id="16" name="Text 14"/>
          <p:cNvSpPr txBox="1"/>
          <p:nvPr/>
        </p:nvSpPr>
        <p:spPr>
          <a:xfrm>
            <a:off x="548640" y="6382512"/>
            <a:ext cx="8229600" cy="32004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BHP Medan · RDP Komisi XIII DPR RI · RUU tentang Profesi Kurator</a:t>
            </a:r>
            <a:endParaRPr lang="en-US" sz="1400" dirty="0"/>
          </a:p>
        </p:txBody>
      </p:sp>
      <p:sp>
        <p:nvSpPr>
          <p:cNvPr id="17" name="Text 15"/>
          <p:cNvSpPr txBox="1"/>
          <p:nvPr/>
        </p:nvSpPr>
        <p:spPr>
          <a:xfrm>
            <a:off x="10728655" y="6382512"/>
            <a:ext cx="914400" cy="320040"/>
          </a:xfrm>
          <a:prstGeom prst="rect">
            <a:avLst/>
          </a:prstGeom>
          <a:noFill/>
          <a:ln/>
        </p:spPr>
        <p:txBody>
          <a:bodyPr wrap="square" lIns="0" tIns="0" rIns="0" bIns="0" rtlCol="0" anchor="ctr"/>
          <a:lstStyle/>
          <a:p>
            <a:pPr algn="r" indent="0" marL="0">
              <a:buNone/>
            </a:pPr>
            <a:r>
              <a:rPr lang="en-US" sz="1400" dirty="0">
                <a:solidFill>
                  <a:srgbClr val="4A5568"/>
                </a:solidFill>
                <a:latin typeface="Arial" pitchFamily="34" charset="0"/>
                <a:ea typeface="Arial" pitchFamily="34" charset="-122"/>
                <a:cs typeface="Arial" pitchFamily="34" charset="-120"/>
              </a:rPr>
              <a:t>52</a:t>
            </a:r>
            <a:endParaRPr lang="en-US" sz="1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4284B"/>
        </a:solidFill>
      </p:bgPr>
    </p:bg>
    <p:spTree>
      <p:nvGrpSpPr>
        <p:cNvPr id="1" name=""/>
        <p:cNvGrpSpPr/>
        <p:nvPr/>
      </p:nvGrpSpPr>
      <p:grpSpPr>
        <a:xfrm>
          <a:off x="0" y="0"/>
          <a:ext cx="0" cy="0"/>
          <a:chOff x="0" y="0"/>
          <a:chExt cx="0" cy="0"/>
        </a:xfrm>
      </p:grpSpPr>
      <p:sp>
        <p:nvSpPr>
          <p:cNvPr id="2" name="Text 0"/>
          <p:cNvSpPr txBox="1"/>
          <p:nvPr/>
        </p:nvSpPr>
        <p:spPr>
          <a:xfrm>
            <a:off x="731520" y="457200"/>
            <a:ext cx="10698480" cy="777240"/>
          </a:xfrm>
          <a:prstGeom prst="rect">
            <a:avLst/>
          </a:prstGeom>
          <a:noFill/>
          <a:ln/>
        </p:spPr>
        <p:txBody>
          <a:bodyPr wrap="square" lIns="0" tIns="0" rIns="0" bIns="0" rtlCol="0" anchor="t"/>
          <a:lstStyle/>
          <a:p>
            <a:pPr indent="0" marL="0">
              <a:buNone/>
            </a:pPr>
            <a:r>
              <a:rPr lang="en-US" sz="4000" b="1" dirty="0">
                <a:solidFill>
                  <a:srgbClr val="E0A526"/>
                </a:solidFill>
                <a:latin typeface="Arial" pitchFamily="34" charset="0"/>
                <a:ea typeface="Arial" pitchFamily="34" charset="-122"/>
                <a:cs typeface="Arial" pitchFamily="34" charset="-120"/>
              </a:rPr>
              <a:t>Penutup</a:t>
            </a:r>
            <a:endParaRPr lang="en-US" sz="4000" dirty="0"/>
          </a:p>
        </p:txBody>
      </p:sp>
      <p:sp>
        <p:nvSpPr>
          <p:cNvPr id="3" name="Text 1"/>
          <p:cNvSpPr txBox="1"/>
          <p:nvPr/>
        </p:nvSpPr>
        <p:spPr>
          <a:xfrm>
            <a:off x="731520" y="1325880"/>
            <a:ext cx="10698480" cy="155448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BHP Medan berharap RUU tentang Profesi Kurator dapat memperkuat kedudukan BHP sebagai Kurator Negara.</a:t>
            </a:r>
            <a:endParaRPr lang="en-US" sz="3200" dirty="0"/>
          </a:p>
        </p:txBody>
      </p:sp>
      <p:sp>
        <p:nvSpPr>
          <p:cNvPr id="4" name="Text 2"/>
          <p:cNvSpPr txBox="1"/>
          <p:nvPr/>
        </p:nvSpPr>
        <p:spPr>
          <a:xfrm>
            <a:off x="731520" y="4937760"/>
            <a:ext cx="10698480" cy="822960"/>
          </a:xfrm>
          <a:prstGeom prst="rect">
            <a:avLst/>
          </a:prstGeom>
          <a:noFill/>
          <a:ln/>
        </p:spPr>
        <p:txBody>
          <a:bodyPr wrap="square" lIns="0" tIns="0" rIns="0" bIns="0" rtlCol="0" anchor="t"/>
          <a:lstStyle/>
          <a:p>
            <a:pPr indent="0" marL="0">
              <a:buNone/>
            </a:pPr>
            <a:r>
              <a:rPr lang="en-US" sz="4400" b="1" dirty="0">
                <a:solidFill>
                  <a:srgbClr val="E0A526"/>
                </a:solidFill>
                <a:latin typeface="Arial" pitchFamily="34" charset="0"/>
                <a:ea typeface="Arial" pitchFamily="34" charset="-122"/>
                <a:cs typeface="Arial" pitchFamily="34" charset="-120"/>
              </a:rPr>
              <a:t>Terima kasih</a:t>
            </a:r>
            <a:endParaRPr lang="en-US" sz="4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Bahan Masukan BHP Medan: RUU tentang Profesi Kurator</dc:title>
  <dc:subject>PptxGenJS Presentation</dc:subject>
  <dc:creator>Balai Harta Peninggalan Medan</dc:creator>
  <cp:lastModifiedBy>Balai Harta Peninggalan Medan</cp:lastModifiedBy>
  <cp:revision>1</cp:revision>
  <dcterms:created xsi:type="dcterms:W3CDTF">2026-10-02T09:24:48Z</dcterms:created>
  <dcterms:modified xsi:type="dcterms:W3CDTF">2026-10-02T09:24:48Z</dcterms:modified>
</cp:coreProperties>
</file>